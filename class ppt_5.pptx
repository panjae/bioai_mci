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70" r:id="rId4"/>
    <p:sldId id="263" r:id="rId5"/>
    <p:sldId id="258" r:id="rId6"/>
    <p:sldId id="259" r:id="rId7"/>
    <p:sldId id="260" r:id="rId8"/>
    <p:sldId id="269" r:id="rId9"/>
    <p:sldId id="261" r:id="rId10"/>
    <p:sldId id="268" r:id="rId11"/>
    <p:sldId id="264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5" r:id="rId25"/>
    <p:sldId id="284" r:id="rId26"/>
    <p:sldId id="286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787C8A-914F-483F-9561-89E087F98397}" v="8" dt="2025-11-24T17:12:24.1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68695" autoAdjust="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재은 이" userId="ee07f9e56af2fcf4" providerId="LiveId" clId="{9DAA7C10-E5B0-4CC9-AB0E-CBB8E227BAB7}"/>
    <pc:docChg chg="custSel addSld modSld sldOrd">
      <pc:chgData name="재은 이" userId="ee07f9e56af2fcf4" providerId="LiveId" clId="{9DAA7C10-E5B0-4CC9-AB0E-CBB8E227BAB7}" dt="2025-11-25T02:36:49.960" v="270" actId="20577"/>
      <pc:docMkLst>
        <pc:docMk/>
      </pc:docMkLst>
      <pc:sldChg chg="modSp mod modNotesTx">
        <pc:chgData name="재은 이" userId="ee07f9e56af2fcf4" providerId="LiveId" clId="{9DAA7C10-E5B0-4CC9-AB0E-CBB8E227BAB7}" dt="2025-11-25T02:36:49.960" v="270" actId="20577"/>
        <pc:sldMkLst>
          <pc:docMk/>
          <pc:sldMk cId="2474238016" sldId="256"/>
        </pc:sldMkLst>
        <pc:spChg chg="mod">
          <ac:chgData name="재은 이" userId="ee07f9e56af2fcf4" providerId="LiveId" clId="{9DAA7C10-E5B0-4CC9-AB0E-CBB8E227BAB7}" dt="2025-11-24T17:12:24.192" v="258"/>
          <ac:spMkLst>
            <pc:docMk/>
            <pc:sldMk cId="2474238016" sldId="256"/>
            <ac:spMk id="6" creationId="{C6B6D380-216E-1063-9D12-76271482FCE5}"/>
          </ac:spMkLst>
        </pc:spChg>
      </pc:sldChg>
      <pc:sldChg chg="modSp mod">
        <pc:chgData name="재은 이" userId="ee07f9e56af2fcf4" providerId="LiveId" clId="{9DAA7C10-E5B0-4CC9-AB0E-CBB8E227BAB7}" dt="2025-11-24T17:12:38.105" v="261" actId="20577"/>
        <pc:sldMkLst>
          <pc:docMk/>
          <pc:sldMk cId="3631076941" sldId="270"/>
        </pc:sldMkLst>
        <pc:spChg chg="mod">
          <ac:chgData name="재은 이" userId="ee07f9e56af2fcf4" providerId="LiveId" clId="{9DAA7C10-E5B0-4CC9-AB0E-CBB8E227BAB7}" dt="2025-11-24T17:12:38.105" v="261" actId="20577"/>
          <ac:spMkLst>
            <pc:docMk/>
            <pc:sldMk cId="3631076941" sldId="270"/>
            <ac:spMk id="4" creationId="{ED97570D-B0EF-26F1-6A2C-EE08491EC25A}"/>
          </ac:spMkLst>
        </pc:spChg>
      </pc:sldChg>
      <pc:sldChg chg="ord">
        <pc:chgData name="재은 이" userId="ee07f9e56af2fcf4" providerId="LiveId" clId="{9DAA7C10-E5B0-4CC9-AB0E-CBB8E227BAB7}" dt="2025-11-24T17:03:18.818" v="5"/>
        <pc:sldMkLst>
          <pc:docMk/>
          <pc:sldMk cId="892749365" sldId="271"/>
        </pc:sldMkLst>
      </pc:sldChg>
      <pc:sldChg chg="ord">
        <pc:chgData name="재은 이" userId="ee07f9e56af2fcf4" providerId="LiveId" clId="{9DAA7C10-E5B0-4CC9-AB0E-CBB8E227BAB7}" dt="2025-11-24T17:03:18.818" v="5"/>
        <pc:sldMkLst>
          <pc:docMk/>
          <pc:sldMk cId="4114304855" sldId="272"/>
        </pc:sldMkLst>
      </pc:sldChg>
      <pc:sldChg chg="ord">
        <pc:chgData name="재은 이" userId="ee07f9e56af2fcf4" providerId="LiveId" clId="{9DAA7C10-E5B0-4CC9-AB0E-CBB8E227BAB7}" dt="2025-11-24T17:03:18.818" v="5"/>
        <pc:sldMkLst>
          <pc:docMk/>
          <pc:sldMk cId="1531070336" sldId="273"/>
        </pc:sldMkLst>
      </pc:sldChg>
      <pc:sldChg chg="ord">
        <pc:chgData name="재은 이" userId="ee07f9e56af2fcf4" providerId="LiveId" clId="{9DAA7C10-E5B0-4CC9-AB0E-CBB8E227BAB7}" dt="2025-11-24T17:03:18.818" v="5"/>
        <pc:sldMkLst>
          <pc:docMk/>
          <pc:sldMk cId="2996747566" sldId="274"/>
        </pc:sldMkLst>
      </pc:sldChg>
      <pc:sldChg chg="modSp mod ord">
        <pc:chgData name="재은 이" userId="ee07f9e56af2fcf4" providerId="LiveId" clId="{9DAA7C10-E5B0-4CC9-AB0E-CBB8E227BAB7}" dt="2025-11-24T17:07:28.877" v="25"/>
        <pc:sldMkLst>
          <pc:docMk/>
          <pc:sldMk cId="1885506283" sldId="275"/>
        </pc:sldMkLst>
        <pc:spChg chg="mod">
          <ac:chgData name="재은 이" userId="ee07f9e56af2fcf4" providerId="LiveId" clId="{9DAA7C10-E5B0-4CC9-AB0E-CBB8E227BAB7}" dt="2025-11-24T08:13:34.369" v="0" actId="20577"/>
          <ac:spMkLst>
            <pc:docMk/>
            <pc:sldMk cId="1885506283" sldId="275"/>
            <ac:spMk id="6" creationId="{C6B6D380-216E-1063-9D12-76271482FCE5}"/>
          </ac:spMkLst>
        </pc:spChg>
      </pc:sldChg>
      <pc:sldChg chg="ord">
        <pc:chgData name="재은 이" userId="ee07f9e56af2fcf4" providerId="LiveId" clId="{9DAA7C10-E5B0-4CC9-AB0E-CBB8E227BAB7}" dt="2025-11-24T17:07:28.877" v="25"/>
        <pc:sldMkLst>
          <pc:docMk/>
          <pc:sldMk cId="3874825939" sldId="276"/>
        </pc:sldMkLst>
      </pc:sldChg>
      <pc:sldChg chg="ord">
        <pc:chgData name="재은 이" userId="ee07f9e56af2fcf4" providerId="LiveId" clId="{9DAA7C10-E5B0-4CC9-AB0E-CBB8E227BAB7}" dt="2025-11-24T17:07:28.877" v="25"/>
        <pc:sldMkLst>
          <pc:docMk/>
          <pc:sldMk cId="1121598808" sldId="277"/>
        </pc:sldMkLst>
      </pc:sldChg>
      <pc:sldChg chg="ord">
        <pc:chgData name="재은 이" userId="ee07f9e56af2fcf4" providerId="LiveId" clId="{9DAA7C10-E5B0-4CC9-AB0E-CBB8E227BAB7}" dt="2025-11-24T17:07:28.877" v="25"/>
        <pc:sldMkLst>
          <pc:docMk/>
          <pc:sldMk cId="3362877881" sldId="278"/>
        </pc:sldMkLst>
      </pc:sldChg>
      <pc:sldChg chg="ord">
        <pc:chgData name="재은 이" userId="ee07f9e56af2fcf4" providerId="LiveId" clId="{9DAA7C10-E5B0-4CC9-AB0E-CBB8E227BAB7}" dt="2025-11-24T17:07:28.877" v="25"/>
        <pc:sldMkLst>
          <pc:docMk/>
          <pc:sldMk cId="3455566966" sldId="279"/>
        </pc:sldMkLst>
      </pc:sldChg>
      <pc:sldChg chg="ord">
        <pc:chgData name="재은 이" userId="ee07f9e56af2fcf4" providerId="LiveId" clId="{9DAA7C10-E5B0-4CC9-AB0E-CBB8E227BAB7}" dt="2025-11-24T17:07:28.877" v="25"/>
        <pc:sldMkLst>
          <pc:docMk/>
          <pc:sldMk cId="850978089" sldId="280"/>
        </pc:sldMkLst>
      </pc:sldChg>
      <pc:sldChg chg="ord">
        <pc:chgData name="재은 이" userId="ee07f9e56af2fcf4" providerId="LiveId" clId="{9DAA7C10-E5B0-4CC9-AB0E-CBB8E227BAB7}" dt="2025-11-24T17:07:28.877" v="25"/>
        <pc:sldMkLst>
          <pc:docMk/>
          <pc:sldMk cId="1329660840" sldId="281"/>
        </pc:sldMkLst>
      </pc:sldChg>
      <pc:sldChg chg="ord">
        <pc:chgData name="재은 이" userId="ee07f9e56af2fcf4" providerId="LiveId" clId="{9DAA7C10-E5B0-4CC9-AB0E-CBB8E227BAB7}" dt="2025-11-24T17:07:28.877" v="25"/>
        <pc:sldMkLst>
          <pc:docMk/>
          <pc:sldMk cId="1249196175" sldId="282"/>
        </pc:sldMkLst>
      </pc:sldChg>
      <pc:sldChg chg="addSp modSp add">
        <pc:chgData name="재은 이" userId="ee07f9e56af2fcf4" providerId="LiveId" clId="{9DAA7C10-E5B0-4CC9-AB0E-CBB8E227BAB7}" dt="2025-11-24T17:03:53.615" v="22"/>
        <pc:sldMkLst>
          <pc:docMk/>
          <pc:sldMk cId="2503268170" sldId="284"/>
        </pc:sldMkLst>
        <pc:spChg chg="add mod">
          <ac:chgData name="재은 이" userId="ee07f9e56af2fcf4" providerId="LiveId" clId="{9DAA7C10-E5B0-4CC9-AB0E-CBB8E227BAB7}" dt="2025-11-24T17:03:53.615" v="22"/>
          <ac:spMkLst>
            <pc:docMk/>
            <pc:sldMk cId="2503268170" sldId="284"/>
            <ac:spMk id="5" creationId="{7929EFC8-99F1-7219-D910-682E266C7495}"/>
          </ac:spMkLst>
        </pc:spChg>
      </pc:sldChg>
      <pc:sldChg chg="addSp modSp add mod modNotesTx">
        <pc:chgData name="재은 이" userId="ee07f9e56af2fcf4" providerId="LiveId" clId="{9DAA7C10-E5B0-4CC9-AB0E-CBB8E227BAB7}" dt="2025-11-24T17:11:37.190" v="252" actId="20577"/>
        <pc:sldMkLst>
          <pc:docMk/>
          <pc:sldMk cId="1818202538" sldId="285"/>
        </pc:sldMkLst>
        <pc:spChg chg="add mod">
          <ac:chgData name="재은 이" userId="ee07f9e56af2fcf4" providerId="LiveId" clId="{9DAA7C10-E5B0-4CC9-AB0E-CBB8E227BAB7}" dt="2025-11-24T17:03:41.216" v="21" actId="20577"/>
          <ac:spMkLst>
            <pc:docMk/>
            <pc:sldMk cId="1818202538" sldId="285"/>
            <ac:spMk id="2" creationId="{CFD20468-997D-80AC-9292-5DAE8CD3FC8F}"/>
          </ac:spMkLst>
        </pc:spChg>
      </pc:sldChg>
      <pc:sldChg chg="addSp modSp add">
        <pc:chgData name="재은 이" userId="ee07f9e56af2fcf4" providerId="LiveId" clId="{9DAA7C10-E5B0-4CC9-AB0E-CBB8E227BAB7}" dt="2025-11-24T17:03:55.767" v="23"/>
        <pc:sldMkLst>
          <pc:docMk/>
          <pc:sldMk cId="1778131756" sldId="286"/>
        </pc:sldMkLst>
        <pc:spChg chg="add mod">
          <ac:chgData name="재은 이" userId="ee07f9e56af2fcf4" providerId="LiveId" clId="{9DAA7C10-E5B0-4CC9-AB0E-CBB8E227BAB7}" dt="2025-11-24T17:03:55.767" v="23"/>
          <ac:spMkLst>
            <pc:docMk/>
            <pc:sldMk cId="1778131756" sldId="286"/>
            <ac:spMk id="5" creationId="{EA4CEA88-3D52-CF7D-FF5A-A063AC7999D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FA850F-5C9B-4D3A-AD9A-193DC730DE54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34658A-7774-4B6C-A59B-6AA468B2B3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999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첫 번째 슬라이드는 </a:t>
            </a:r>
            <a:r>
              <a:rPr lang="en-US" altLang="ko-KR" dirty="0"/>
              <a:t>LT, LOVE TALKER</a:t>
            </a:r>
            <a:r>
              <a:rPr lang="ko-KR" altLang="en-US" dirty="0"/>
              <a:t>의 배경과 목표입니다</a:t>
            </a:r>
            <a:r>
              <a:rPr lang="en-US" altLang="ko-KR" dirty="0"/>
              <a:t>. </a:t>
            </a:r>
            <a:r>
              <a:rPr lang="ko-KR" altLang="en-US" dirty="0"/>
              <a:t>사랑</a:t>
            </a:r>
            <a:r>
              <a:rPr lang="en-US" altLang="ko-KR" dirty="0"/>
              <a:t>·</a:t>
            </a:r>
            <a:r>
              <a:rPr lang="ko-KR" altLang="en-US" dirty="0"/>
              <a:t>감사</a:t>
            </a:r>
            <a:r>
              <a:rPr lang="en-US" altLang="ko-KR" dirty="0"/>
              <a:t>·</a:t>
            </a:r>
            <a:r>
              <a:rPr lang="ko-KR" altLang="en-US" dirty="0"/>
              <a:t>기쁨 같은 긍정 감정이 강하게 느껴질 때</a:t>
            </a:r>
            <a:r>
              <a:rPr lang="en-US" altLang="ko-KR" dirty="0"/>
              <a:t>, </a:t>
            </a:r>
            <a:r>
              <a:rPr lang="ko-KR" altLang="en-US" dirty="0"/>
              <a:t>해마와 편도체가 함께 활성화되면서 그 순간의 경험이 더 잘 기억되는 경향이 있습니다</a:t>
            </a:r>
            <a:r>
              <a:rPr lang="en-US" altLang="ko-KR" dirty="0"/>
              <a:t>. </a:t>
            </a:r>
            <a:r>
              <a:rPr lang="ko-KR" altLang="en-US" dirty="0"/>
              <a:t>노년기에도 이런 정서 자극이 기억 유지와 삶의 질에 도움이 될 수 있다는 연구들이 보고되고 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따라서 이를 바탕으로 저희 팀이 추구하는 </a:t>
            </a:r>
            <a:r>
              <a:rPr lang="en-US" altLang="ko-KR" dirty="0"/>
              <a:t>LT</a:t>
            </a:r>
            <a:r>
              <a:rPr lang="ko-KR" altLang="en-US" dirty="0"/>
              <a:t>의 목표는 세 가지입니다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첫째</a:t>
            </a:r>
            <a:r>
              <a:rPr lang="en-US" altLang="ko-KR" dirty="0"/>
              <a:t>, </a:t>
            </a:r>
            <a:r>
              <a:rPr lang="ko-KR" altLang="en-US" dirty="0"/>
              <a:t>대화를 통해 사랑받는 느낌</a:t>
            </a:r>
            <a:r>
              <a:rPr lang="en-US" altLang="ko-KR" dirty="0"/>
              <a:t>, </a:t>
            </a:r>
            <a:r>
              <a:rPr lang="ko-KR" altLang="en-US" dirty="0"/>
              <a:t>소속감</a:t>
            </a:r>
            <a:r>
              <a:rPr lang="en-US" altLang="ko-KR" dirty="0"/>
              <a:t>, </a:t>
            </a:r>
            <a:r>
              <a:rPr lang="ko-KR" altLang="en-US" dirty="0"/>
              <a:t>감사를 반복적으로 경험하게 하는 것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둘째</a:t>
            </a:r>
            <a:r>
              <a:rPr lang="en-US" altLang="ko-KR" dirty="0"/>
              <a:t>, </a:t>
            </a:r>
            <a:r>
              <a:rPr lang="ko-KR" altLang="en-US" dirty="0"/>
              <a:t>그 과정에서 자연스럽게 에피소드 기억과 주의</a:t>
            </a:r>
            <a:r>
              <a:rPr lang="en-US" altLang="ko-KR" dirty="0"/>
              <a:t>·</a:t>
            </a:r>
            <a:r>
              <a:rPr lang="ko-KR" altLang="en-US" dirty="0"/>
              <a:t>작업기억을 쓰게 만드는 것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셋째</a:t>
            </a:r>
            <a:r>
              <a:rPr lang="en-US" altLang="ko-KR" dirty="0"/>
              <a:t>, HF </a:t>
            </a:r>
            <a:r>
              <a:rPr lang="ko-KR" altLang="en-US" dirty="0"/>
              <a:t>성향</a:t>
            </a:r>
            <a:r>
              <a:rPr lang="en-US" altLang="ko-KR" dirty="0"/>
              <a:t>·</a:t>
            </a:r>
            <a:r>
              <a:rPr lang="ko-KR" altLang="en-US" dirty="0"/>
              <a:t>대화 스타일</a:t>
            </a:r>
            <a:r>
              <a:rPr lang="en-US" altLang="ko-KR" dirty="0"/>
              <a:t>·</a:t>
            </a:r>
            <a:r>
              <a:rPr lang="ko-KR" altLang="en-US" dirty="0"/>
              <a:t>목소리 조합에 따른 정서</a:t>
            </a:r>
            <a:r>
              <a:rPr lang="en-US" altLang="ko-KR" dirty="0"/>
              <a:t>·</a:t>
            </a:r>
            <a:r>
              <a:rPr lang="ko-KR" altLang="en-US" dirty="0"/>
              <a:t>기억 효과를 데이터로 검증할 수 있는 플랫폼을 만드는 것입니다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4658A-7774-4B6C-A59B-6AA468B2B31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85309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저희 팀은 목표로 하는 </a:t>
            </a:r>
            <a:r>
              <a:rPr lang="en-US" altLang="ko-KR" dirty="0"/>
              <a:t>LT</a:t>
            </a:r>
            <a:r>
              <a:rPr lang="ko-KR" altLang="en-US" dirty="0"/>
              <a:t>는 크게 세 가지를 결합합니다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첫째</a:t>
            </a:r>
            <a:r>
              <a:rPr lang="en-US" altLang="ko-KR" dirty="0"/>
              <a:t>, HF </a:t>
            </a:r>
            <a:r>
              <a:rPr lang="ko-KR" altLang="en-US" dirty="0"/>
              <a:t>설문으로 환자의 대화 성향을 파악하고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둘째</a:t>
            </a:r>
            <a:r>
              <a:rPr lang="en-US" altLang="ko-KR" dirty="0"/>
              <a:t>, </a:t>
            </a:r>
            <a:r>
              <a:rPr lang="ko-KR" altLang="en-US" dirty="0"/>
              <a:t>대형 언어모델</a:t>
            </a:r>
            <a:r>
              <a:rPr lang="en-US" altLang="ko-KR" dirty="0"/>
              <a:t>(LLM)</a:t>
            </a:r>
            <a:r>
              <a:rPr lang="ko-KR" altLang="en-US" dirty="0"/>
              <a:t>을 사용해 그 성향에 맞는 대사와 질문을 생성하고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셋째</a:t>
            </a:r>
            <a:r>
              <a:rPr lang="en-US" altLang="ko-KR" dirty="0"/>
              <a:t>, </a:t>
            </a:r>
            <a:r>
              <a:rPr lang="ko-KR" altLang="en-US" dirty="0"/>
              <a:t>환자가 편안하게 느끼는 목소리로 이 문장들을 읽어주는 구조입니다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정리하자면</a:t>
            </a:r>
            <a:r>
              <a:rPr lang="en-US" altLang="ko-KR" dirty="0"/>
              <a:t>, HF </a:t>
            </a:r>
            <a:r>
              <a:rPr lang="ko-KR" altLang="en-US" dirty="0"/>
              <a:t>설문으로 ‘어떤 스타일로 말할지’ 를 정하고</a:t>
            </a:r>
            <a:r>
              <a:rPr lang="en-US" altLang="ko-KR" dirty="0"/>
              <a:t>, </a:t>
            </a:r>
            <a:r>
              <a:rPr lang="ko-KR" altLang="en-US" dirty="0"/>
              <a:t>선호 목소리를 선택한 뒤</a:t>
            </a:r>
            <a:r>
              <a:rPr lang="en-US" altLang="ko-KR" dirty="0"/>
              <a:t>, AI</a:t>
            </a:r>
            <a:r>
              <a:rPr lang="ko-KR" altLang="en-US" dirty="0"/>
              <a:t>가 그 스타일과 목소리를 입혀서 스스로 환자와 대화하며 정서와 기억을 동시에 자극하는 도구가 </a:t>
            </a:r>
            <a:r>
              <a:rPr lang="en-US" altLang="ko-KR" dirty="0"/>
              <a:t>LT</a:t>
            </a:r>
            <a:r>
              <a:rPr lang="ko-KR" altLang="en-US" dirty="0"/>
              <a:t>라고 보시면 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4658A-7774-4B6C-A59B-6AA468B2B31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83357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다음으론 </a:t>
            </a:r>
            <a:r>
              <a:rPr lang="en-US" altLang="ko-KR" dirty="0"/>
              <a:t>‘</a:t>
            </a:r>
            <a:r>
              <a:rPr lang="ko-KR" altLang="en-US" dirty="0"/>
              <a:t>사랑 감정을 극대화하는 대화 예시</a:t>
            </a:r>
            <a:r>
              <a:rPr lang="en-US" altLang="ko-KR" dirty="0"/>
              <a:t>‘ </a:t>
            </a:r>
            <a:r>
              <a:rPr lang="ko-KR" altLang="en-US" dirty="0"/>
              <a:t>를 준비해보았습니다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예시로는 ‘공감형 </a:t>
            </a:r>
            <a:r>
              <a:rPr lang="en-US" altLang="ko-KR" dirty="0"/>
              <a:t>× </a:t>
            </a:r>
            <a:r>
              <a:rPr lang="ko-KR" altLang="en-US" dirty="0"/>
              <a:t>관계</a:t>
            </a:r>
            <a:r>
              <a:rPr lang="en-US" altLang="ko-KR" dirty="0"/>
              <a:t>·</a:t>
            </a:r>
            <a:r>
              <a:rPr lang="ko-KR" altLang="en-US" dirty="0"/>
              <a:t>소통형’ 을 들었고</a:t>
            </a:r>
            <a:r>
              <a:rPr lang="en-US" altLang="ko-KR" dirty="0"/>
              <a:t>, </a:t>
            </a:r>
            <a:r>
              <a:rPr lang="ko-KR" altLang="en-US" dirty="0"/>
              <a:t>이런 분들은 가족</a:t>
            </a:r>
            <a:r>
              <a:rPr lang="en-US" altLang="ko-KR" dirty="0"/>
              <a:t>·</a:t>
            </a:r>
            <a:r>
              <a:rPr lang="ko-KR" altLang="en-US" dirty="0"/>
              <a:t>손주처럼 소중한 사람과의 관계 이야기에서 감정이 잘 살아난다고 생각했습니다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따라서 </a:t>
            </a:r>
            <a:r>
              <a:rPr lang="en-US" altLang="ko-KR" dirty="0"/>
              <a:t>LT</a:t>
            </a:r>
            <a:r>
              <a:rPr lang="ko-KR" altLang="en-US" dirty="0"/>
              <a:t>가 먼저 </a:t>
            </a:r>
            <a:r>
              <a:rPr lang="en-US" altLang="ko-KR" dirty="0"/>
              <a:t>“</a:t>
            </a:r>
            <a:r>
              <a:rPr lang="ko-KR" altLang="en-US" dirty="0"/>
              <a:t>요즘 가장 먼저 떠오르는 소중한 분이 누구인지 한 번 떠올려볼까요</a:t>
            </a:r>
            <a:r>
              <a:rPr lang="en-US" altLang="ko-KR" dirty="0"/>
              <a:t>?” </a:t>
            </a:r>
            <a:r>
              <a:rPr lang="ko-KR" altLang="en-US" dirty="0"/>
              <a:t>라고 묻고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환자가 </a:t>
            </a:r>
            <a:r>
              <a:rPr lang="en-US" altLang="ko-KR" dirty="0"/>
              <a:t>“</a:t>
            </a:r>
            <a:r>
              <a:rPr lang="ko-KR" altLang="en-US" dirty="0"/>
              <a:t>손녀요</a:t>
            </a:r>
            <a:r>
              <a:rPr lang="en-US" altLang="ko-KR" dirty="0"/>
              <a:t>” </a:t>
            </a:r>
            <a:r>
              <a:rPr lang="ko-KR" altLang="en-US" dirty="0"/>
              <a:t>라고 답하면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“</a:t>
            </a:r>
            <a:r>
              <a:rPr lang="ko-KR" altLang="en-US" dirty="0"/>
              <a:t>손녀와 함께 했던 순간 중에 정말 행복했던 장면 하나만 </a:t>
            </a:r>
            <a:r>
              <a:rPr lang="ko-KR" altLang="en-US" dirty="0" err="1"/>
              <a:t>이야기해주실래요</a:t>
            </a:r>
            <a:r>
              <a:rPr lang="en-US" altLang="ko-KR" dirty="0"/>
              <a:t>?” </a:t>
            </a:r>
            <a:r>
              <a:rPr lang="ko-KR" altLang="en-US" dirty="0"/>
              <a:t>처럼 이어갑니다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 이러한 대화 형식의 핵심은 사랑하는 대상 </a:t>
            </a:r>
            <a:r>
              <a:rPr lang="en-US" altLang="ko-KR" dirty="0"/>
              <a:t>+ </a:t>
            </a:r>
            <a:r>
              <a:rPr lang="ko-KR" altLang="en-US" dirty="0"/>
              <a:t>구체적인 장면 </a:t>
            </a:r>
            <a:r>
              <a:rPr lang="en-US" altLang="ko-KR" dirty="0"/>
              <a:t>+ </a:t>
            </a:r>
            <a:r>
              <a:rPr lang="ko-KR" altLang="en-US" dirty="0"/>
              <a:t>그때의 감정을 함께 떠올리게 만드는 것이며</a:t>
            </a:r>
            <a:r>
              <a:rPr lang="en-US" altLang="ko-KR" dirty="0"/>
              <a:t>, </a:t>
            </a:r>
            <a:r>
              <a:rPr lang="ko-KR" altLang="en-US" dirty="0"/>
              <a:t>이렇게 해야 감정과 기억이 동시에 자극된다고 생각하여 디자인했습니다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4658A-7774-4B6C-A59B-6AA468B2B31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12249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네 번째 슬라이드는 목소리 개인화</a:t>
            </a:r>
            <a:r>
              <a:rPr lang="en-US" altLang="ko-KR" dirty="0"/>
              <a:t>, </a:t>
            </a:r>
            <a:r>
              <a:rPr lang="ko-KR" altLang="en-US" dirty="0"/>
              <a:t>특히 </a:t>
            </a:r>
            <a:r>
              <a:rPr lang="en-US" altLang="ko-KR" dirty="0" err="1"/>
              <a:t>ElevenLabs</a:t>
            </a:r>
            <a:r>
              <a:rPr lang="en-US" altLang="ko-KR" dirty="0"/>
              <a:t> </a:t>
            </a:r>
            <a:r>
              <a:rPr lang="ko-KR" altLang="en-US" dirty="0"/>
              <a:t>활용에 대한 부분입니다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같은 문장도 어떤 톤의 목소리로 들리느냐 </a:t>
            </a:r>
            <a:r>
              <a:rPr lang="ko-KR" altLang="en-US" dirty="0" err="1"/>
              <a:t>에</a:t>
            </a:r>
            <a:r>
              <a:rPr lang="ko-KR" altLang="en-US" dirty="0"/>
              <a:t> 따라 정서적 반응이 크게 달라지며</a:t>
            </a:r>
            <a:r>
              <a:rPr lang="en-US" altLang="ko-KR" dirty="0"/>
              <a:t>, </a:t>
            </a:r>
            <a:r>
              <a:rPr lang="ko-KR" altLang="en-US" dirty="0"/>
              <a:t>텍스트만 보여주는 것보다</a:t>
            </a:r>
            <a:r>
              <a:rPr lang="en-US" altLang="ko-KR" dirty="0"/>
              <a:t>, </a:t>
            </a:r>
            <a:r>
              <a:rPr lang="ko-KR" altLang="en-US" dirty="0"/>
              <a:t>환자가 편안해 하는 목소리로 들려줄 때 정서적 몰입감과 안정감이 높아지면서 감정의 극대화에 효과적이라 생각했습니다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여기에 사용되는 게 </a:t>
            </a:r>
            <a:r>
              <a:rPr lang="en-US" altLang="ko-KR" dirty="0" err="1"/>
              <a:t>ElevenLabs</a:t>
            </a:r>
            <a:r>
              <a:rPr lang="en-US" altLang="ko-KR" dirty="0"/>
              <a:t> </a:t>
            </a:r>
            <a:r>
              <a:rPr lang="ko-KR" altLang="en-US" dirty="0"/>
              <a:t>인데요</a:t>
            </a:r>
            <a:r>
              <a:rPr lang="en-US" altLang="ko-KR" dirty="0"/>
              <a:t>, </a:t>
            </a:r>
            <a:r>
              <a:rPr lang="ko-KR" altLang="en-US" dirty="0"/>
              <a:t>이를 사용하면</a:t>
            </a:r>
            <a:r>
              <a:rPr lang="en-US" altLang="ko-KR" dirty="0"/>
              <a:t> </a:t>
            </a:r>
            <a:r>
              <a:rPr lang="ko-KR" altLang="en-US" dirty="0"/>
              <a:t>기본 제공 목소리뿐 다양한 목소리 샘플을 </a:t>
            </a:r>
            <a:r>
              <a:rPr lang="en-US" altLang="ko-KR" dirty="0"/>
              <a:t>30~60</a:t>
            </a:r>
            <a:r>
              <a:rPr lang="ko-KR" altLang="en-US" dirty="0"/>
              <a:t>초 정도 녹음해 커스텀 보이스</a:t>
            </a:r>
            <a:r>
              <a:rPr lang="en-US" altLang="ko-KR" dirty="0"/>
              <a:t>(</a:t>
            </a:r>
            <a:r>
              <a:rPr lang="en-US" altLang="ko-KR" dirty="0" err="1"/>
              <a:t>voice_id</a:t>
            </a:r>
            <a:r>
              <a:rPr lang="en-US" altLang="ko-KR" dirty="0"/>
              <a:t>)</a:t>
            </a:r>
            <a:r>
              <a:rPr lang="ko-KR" altLang="en-US" dirty="0"/>
              <a:t>를 만들 수 있습니다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LT</a:t>
            </a:r>
            <a:r>
              <a:rPr lang="ko-KR" altLang="en-US" dirty="0"/>
              <a:t>는 </a:t>
            </a:r>
            <a:r>
              <a:rPr lang="en-US" altLang="ko-KR" dirty="0"/>
              <a:t>AI</a:t>
            </a:r>
            <a:r>
              <a:rPr lang="ko-KR" altLang="en-US" dirty="0"/>
              <a:t>가 만든 문장을 이 </a:t>
            </a:r>
            <a:r>
              <a:rPr lang="en-US" altLang="ko-KR" dirty="0" err="1"/>
              <a:t>voice_id</a:t>
            </a:r>
            <a:r>
              <a:rPr lang="ko-KR" altLang="en-US" dirty="0"/>
              <a:t>와 함께 </a:t>
            </a:r>
            <a:r>
              <a:rPr lang="en-US" altLang="ko-KR" dirty="0" err="1"/>
              <a:t>ElevenLabs</a:t>
            </a:r>
            <a:r>
              <a:rPr lang="ko-KR" altLang="en-US" dirty="0"/>
              <a:t>에 보내 음성으로 변환하고</a:t>
            </a:r>
            <a:r>
              <a:rPr lang="en-US" altLang="ko-KR" dirty="0"/>
              <a:t>, </a:t>
            </a:r>
            <a:r>
              <a:rPr lang="ko-KR" altLang="en-US" dirty="0"/>
              <a:t>환자 단말에서 재생합니다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결과적으로</a:t>
            </a:r>
            <a:r>
              <a:rPr lang="en-US" altLang="ko-KR" dirty="0"/>
              <a:t>, </a:t>
            </a:r>
            <a:r>
              <a:rPr lang="ko-KR" altLang="en-US" dirty="0"/>
              <a:t>각 환자에게는 본인이 선택한</a:t>
            </a:r>
            <a:r>
              <a:rPr lang="en-US" altLang="ko-KR" dirty="0"/>
              <a:t> </a:t>
            </a:r>
            <a:r>
              <a:rPr lang="ko-KR" altLang="en-US" dirty="0"/>
              <a:t>익숙한 목소리를 가진 </a:t>
            </a:r>
            <a:r>
              <a:rPr lang="en-US" altLang="ko-KR" dirty="0"/>
              <a:t>LT</a:t>
            </a:r>
            <a:r>
              <a:rPr lang="ko-KR" altLang="en-US" dirty="0"/>
              <a:t>가 만들어지게 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4658A-7774-4B6C-A59B-6AA468B2B31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95482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지금부턴 </a:t>
            </a:r>
            <a:r>
              <a:rPr lang="en-US" altLang="ko-KR" dirty="0"/>
              <a:t>LT </a:t>
            </a:r>
            <a:r>
              <a:rPr lang="ko-KR" altLang="en-US" dirty="0"/>
              <a:t>디자인에 앞서 </a:t>
            </a:r>
            <a:r>
              <a:rPr lang="en-US" altLang="ko-KR" dirty="0"/>
              <a:t>HF</a:t>
            </a:r>
            <a:r>
              <a:rPr lang="ko-KR" altLang="en-US" dirty="0"/>
              <a:t>와 </a:t>
            </a:r>
            <a:r>
              <a:rPr lang="en-US" altLang="ko-KR" dirty="0"/>
              <a:t>LT</a:t>
            </a:r>
            <a:r>
              <a:rPr lang="ko-KR" altLang="en-US" dirty="0"/>
              <a:t>가 실제로 어떻게 이어질지에 대해 구상해보았습니다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HF</a:t>
            </a:r>
            <a:r>
              <a:rPr lang="ko-KR" altLang="en-US" dirty="0"/>
              <a:t>는 이미 있는 </a:t>
            </a:r>
            <a:r>
              <a:rPr lang="en-US" altLang="ko-KR" dirty="0"/>
              <a:t>HTML </a:t>
            </a:r>
            <a:r>
              <a:rPr lang="ko-KR" altLang="en-US" dirty="0"/>
              <a:t>웹 설문지입니다</a:t>
            </a:r>
            <a:r>
              <a:rPr lang="en-US" altLang="ko-KR" dirty="0"/>
              <a:t>. </a:t>
            </a:r>
            <a:r>
              <a:rPr lang="ko-KR" altLang="en-US" dirty="0"/>
              <a:t>따라서 </a:t>
            </a:r>
            <a:r>
              <a:rPr lang="en-US" altLang="ko-KR" dirty="0"/>
              <a:t>LT</a:t>
            </a:r>
            <a:r>
              <a:rPr lang="ko-KR" altLang="en-US" dirty="0"/>
              <a:t>는 이 설문 화면을 그대로 띄워주고</a:t>
            </a:r>
            <a:r>
              <a:rPr lang="en-US" altLang="ko-KR" dirty="0"/>
              <a:t>, </a:t>
            </a:r>
            <a:r>
              <a:rPr lang="ko-KR" altLang="en-US" dirty="0"/>
              <a:t>환자가 설문을 마치고 ‘제출’ 을 누르면</a:t>
            </a:r>
            <a:r>
              <a:rPr lang="en-US" altLang="ko-KR" dirty="0"/>
              <a:t> </a:t>
            </a:r>
            <a:r>
              <a:rPr lang="ko-KR" altLang="en-US" dirty="0"/>
              <a:t>페이지 내의 스크립트가 응답 값들을 모아 </a:t>
            </a:r>
            <a:r>
              <a:rPr lang="en-US" altLang="ko-KR" dirty="0"/>
              <a:t>LT </a:t>
            </a:r>
            <a:r>
              <a:rPr lang="ko-KR" altLang="en-US" dirty="0"/>
              <a:t>서버로 전송합니다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그리고 </a:t>
            </a:r>
            <a:r>
              <a:rPr lang="en-US" altLang="ko-KR" dirty="0"/>
              <a:t>LT </a:t>
            </a:r>
            <a:r>
              <a:rPr lang="ko-KR" altLang="en-US" dirty="0"/>
              <a:t>서버는 이 데이터를 받아 점수를 계산하고</a:t>
            </a:r>
            <a:r>
              <a:rPr lang="en-US" altLang="ko-KR" dirty="0"/>
              <a:t>, </a:t>
            </a:r>
            <a:r>
              <a:rPr lang="ko-KR" altLang="en-US" dirty="0"/>
              <a:t>미리 정해둔 규칙에 따라 </a:t>
            </a:r>
            <a:r>
              <a:rPr lang="en-US" altLang="ko-KR" dirty="0"/>
              <a:t>16</a:t>
            </a:r>
            <a:r>
              <a:rPr lang="ko-KR" altLang="en-US" dirty="0"/>
              <a:t>가지 </a:t>
            </a:r>
            <a:r>
              <a:rPr lang="en-US" altLang="ko-KR" dirty="0"/>
              <a:t>HF </a:t>
            </a:r>
            <a:r>
              <a:rPr lang="ko-KR" altLang="en-US" dirty="0"/>
              <a:t>대화 타입 중 하나를 선택합니다</a:t>
            </a:r>
            <a:r>
              <a:rPr lang="en-US" altLang="ko-KR" dirty="0"/>
              <a:t>. </a:t>
            </a:r>
            <a:r>
              <a:rPr lang="ko-KR" altLang="en-US" dirty="0"/>
              <a:t>이 타입 정보가 이후 </a:t>
            </a:r>
            <a:r>
              <a:rPr lang="en-US" altLang="ko-KR" dirty="0"/>
              <a:t>LT </a:t>
            </a:r>
            <a:r>
              <a:rPr lang="ko-KR" altLang="en-US" dirty="0"/>
              <a:t>대화 스타일의 기반이 되게 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 HF</a:t>
            </a:r>
            <a:r>
              <a:rPr lang="ko-KR" altLang="en-US" dirty="0"/>
              <a:t>는 ‘성향을 측정하는 전 단계’ 이며</a:t>
            </a:r>
            <a:r>
              <a:rPr lang="en-US" altLang="ko-KR" dirty="0"/>
              <a:t>, LT</a:t>
            </a:r>
            <a:r>
              <a:rPr lang="ko-KR" altLang="en-US" dirty="0"/>
              <a:t>는 그 결과를 받아 실제 대화를 수행하는 본 시스템이라고 보시면 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4658A-7774-4B6C-A59B-6AA468B2B31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0857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따라서 저희가 디자인한 </a:t>
            </a:r>
            <a:r>
              <a:rPr lang="en-US" altLang="ko-KR" dirty="0"/>
              <a:t>HF</a:t>
            </a:r>
            <a:r>
              <a:rPr lang="ko-KR" altLang="en-US" dirty="0"/>
              <a:t>에선 대화 방식과 대화 주제를 각각 </a:t>
            </a:r>
            <a:r>
              <a:rPr lang="en-US" altLang="ko-KR" dirty="0"/>
              <a:t>4</a:t>
            </a:r>
            <a:r>
              <a:rPr lang="ko-KR" altLang="en-US" dirty="0"/>
              <a:t>가지로 분류하여 환자를 </a:t>
            </a:r>
            <a:r>
              <a:rPr lang="en-US" altLang="ko-KR" dirty="0"/>
              <a:t>16</a:t>
            </a:r>
            <a:r>
              <a:rPr lang="ko-KR" altLang="en-US" dirty="0"/>
              <a:t>가지의 타입으로 분류할 수 있으며</a:t>
            </a:r>
            <a:r>
              <a:rPr lang="en-US" altLang="ko-KR" dirty="0"/>
              <a:t>, </a:t>
            </a:r>
          </a:p>
          <a:p>
            <a:r>
              <a:rPr lang="en-US" altLang="ko-KR" dirty="0"/>
              <a:t>LT </a:t>
            </a:r>
            <a:r>
              <a:rPr lang="ko-KR" altLang="en-US" dirty="0"/>
              <a:t>입장에서 이러한 </a:t>
            </a:r>
            <a:r>
              <a:rPr lang="en-US" altLang="ko-KR" dirty="0"/>
              <a:t>HF </a:t>
            </a:r>
            <a:r>
              <a:rPr lang="ko-KR" altLang="en-US" dirty="0"/>
              <a:t>타입은 ‘이 사람에게 어떤 말투를 쓰고</a:t>
            </a:r>
            <a:r>
              <a:rPr lang="en-US" altLang="ko-KR" dirty="0"/>
              <a:t>, </a:t>
            </a:r>
            <a:r>
              <a:rPr lang="ko-KR" altLang="en-US" dirty="0"/>
              <a:t>어떤 주제를 많이 다루고</a:t>
            </a:r>
            <a:r>
              <a:rPr lang="en-US" altLang="ko-KR" dirty="0"/>
              <a:t>, </a:t>
            </a:r>
            <a:r>
              <a:rPr lang="ko-KR" altLang="en-US" dirty="0"/>
              <a:t>어떤 질문 스타일을 사용할지’ 에 대한 대화 레시피 역할을 하게 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예를 들어 공감형 </a:t>
            </a:r>
            <a:r>
              <a:rPr lang="en-US" altLang="ko-KR" dirty="0"/>
              <a:t>× </a:t>
            </a:r>
            <a:r>
              <a:rPr lang="ko-KR" altLang="en-US" dirty="0"/>
              <a:t>관계형 이라면</a:t>
            </a:r>
            <a:r>
              <a:rPr lang="en-US" altLang="ko-KR" dirty="0"/>
              <a:t>, </a:t>
            </a:r>
            <a:r>
              <a:rPr lang="ko-KR" altLang="en-US" dirty="0"/>
              <a:t>부드러운 말투와</a:t>
            </a:r>
            <a:r>
              <a:rPr lang="en-US" altLang="ko-KR" dirty="0"/>
              <a:t> </a:t>
            </a:r>
            <a:r>
              <a:rPr lang="ko-KR" altLang="en-US" dirty="0"/>
              <a:t>가족</a:t>
            </a:r>
            <a:r>
              <a:rPr lang="en-US" altLang="ko-KR" dirty="0"/>
              <a:t>·</a:t>
            </a:r>
            <a:r>
              <a:rPr lang="ko-KR" altLang="en-US" dirty="0"/>
              <a:t>손주 등의 가족 중심적 이야기 비중 증가</a:t>
            </a:r>
            <a:r>
              <a:rPr lang="en-US" altLang="ko-KR" dirty="0"/>
              <a:t>, </a:t>
            </a:r>
            <a:r>
              <a:rPr lang="ko-KR" altLang="en-US" dirty="0"/>
              <a:t>감정 중심 질문이 기본 패턴이 되는 방식입니다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이는 차후 시뮬레이션과 설문을 통해 각 타입별 세부 대화 스타일 및 주제를 구체화하고</a:t>
            </a:r>
            <a:r>
              <a:rPr lang="en-US" altLang="ko-KR" dirty="0"/>
              <a:t>, </a:t>
            </a:r>
            <a:r>
              <a:rPr lang="ko-KR" altLang="en-US" dirty="0"/>
              <a:t>각 타입별 대화를 이끌어가는 방식을 </a:t>
            </a:r>
            <a:r>
              <a:rPr lang="en-US" altLang="ko-KR" dirty="0"/>
              <a:t>AI</a:t>
            </a:r>
            <a:r>
              <a:rPr lang="ko-KR" altLang="en-US" dirty="0"/>
              <a:t>에게 학습시킬 계획입니다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4658A-7774-4B6C-A59B-6AA468B2B31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61619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저희 팀이 디자인한 </a:t>
            </a:r>
            <a:r>
              <a:rPr lang="en-US" altLang="ko-KR" dirty="0"/>
              <a:t>LT</a:t>
            </a:r>
            <a:r>
              <a:rPr lang="ko-KR" altLang="en-US" dirty="0"/>
              <a:t>의 작동 방식은 이렇습니다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사용자 인터페이스에는 </a:t>
            </a:r>
            <a:r>
              <a:rPr lang="en-US" altLang="ko-KR" dirty="0"/>
              <a:t>HF </a:t>
            </a:r>
            <a:r>
              <a:rPr lang="ko-KR" altLang="en-US" dirty="0"/>
              <a:t>설문 화면과 </a:t>
            </a:r>
            <a:r>
              <a:rPr lang="en-US" altLang="ko-KR" dirty="0"/>
              <a:t>LT </a:t>
            </a:r>
            <a:r>
              <a:rPr lang="ko-KR" altLang="en-US" dirty="0"/>
              <a:t>대화 창</a:t>
            </a:r>
            <a:r>
              <a:rPr lang="en-US" altLang="ko-KR" dirty="0"/>
              <a:t>, </a:t>
            </a:r>
            <a:r>
              <a:rPr lang="ko-KR" altLang="en-US" dirty="0"/>
              <a:t>그리고 음성을 재생하는 인터페이스가 포함됩니다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LT</a:t>
            </a:r>
            <a:r>
              <a:rPr lang="ko-KR" altLang="en-US" dirty="0"/>
              <a:t> </a:t>
            </a:r>
            <a:r>
              <a:rPr lang="en-US" altLang="ko-KR" dirty="0"/>
              <a:t>core sever</a:t>
            </a:r>
            <a:r>
              <a:rPr lang="ko-KR" altLang="en-US" dirty="0"/>
              <a:t>는 </a:t>
            </a:r>
            <a:r>
              <a:rPr lang="en-US" altLang="ko-KR" dirty="0"/>
              <a:t>HF </a:t>
            </a:r>
            <a:r>
              <a:rPr lang="ko-KR" altLang="en-US" dirty="0"/>
              <a:t>결과를 받아 타입을 결정하고</a:t>
            </a:r>
            <a:r>
              <a:rPr lang="en-US" altLang="ko-KR" dirty="0"/>
              <a:t>, </a:t>
            </a:r>
            <a:r>
              <a:rPr lang="ko-KR" altLang="en-US" dirty="0"/>
              <a:t>각 세션의 단계</a:t>
            </a:r>
            <a:r>
              <a:rPr lang="en-US" altLang="ko-KR" dirty="0"/>
              <a:t>(</a:t>
            </a:r>
            <a:r>
              <a:rPr lang="ko-KR" altLang="en-US" dirty="0" err="1"/>
              <a:t>웜업</a:t>
            </a:r>
            <a:r>
              <a:rPr lang="en-US" altLang="ko-KR" dirty="0"/>
              <a:t>·</a:t>
            </a:r>
            <a:r>
              <a:rPr lang="ko-KR" altLang="en-US" dirty="0"/>
              <a:t>감정</a:t>
            </a:r>
            <a:r>
              <a:rPr lang="en-US" altLang="ko-KR" dirty="0"/>
              <a:t>·</a:t>
            </a:r>
            <a:r>
              <a:rPr lang="ko-KR" altLang="en-US" dirty="0"/>
              <a:t>기억</a:t>
            </a:r>
            <a:r>
              <a:rPr lang="en-US" altLang="ko-KR" dirty="0"/>
              <a:t>·</a:t>
            </a:r>
            <a:r>
              <a:rPr lang="ko-KR" altLang="en-US" dirty="0"/>
              <a:t>마무리</a:t>
            </a:r>
            <a:r>
              <a:rPr lang="en-US" altLang="ko-KR" dirty="0"/>
              <a:t>)</a:t>
            </a:r>
            <a:r>
              <a:rPr lang="ko-KR" altLang="en-US" dirty="0"/>
              <a:t>를 관리하며</a:t>
            </a:r>
            <a:r>
              <a:rPr lang="en-US" altLang="ko-KR" dirty="0"/>
              <a:t>, </a:t>
            </a:r>
            <a:r>
              <a:rPr lang="ko-KR" altLang="en-US" dirty="0"/>
              <a:t>대화 </a:t>
            </a:r>
            <a:r>
              <a:rPr lang="en-US" altLang="ko-KR" dirty="0"/>
              <a:t>AI</a:t>
            </a:r>
            <a:r>
              <a:rPr lang="ko-KR" altLang="en-US" dirty="0"/>
              <a:t>와 </a:t>
            </a:r>
            <a:r>
              <a:rPr lang="en-US" altLang="ko-KR" dirty="0" err="1"/>
              <a:t>ElevenLabs</a:t>
            </a:r>
            <a:r>
              <a:rPr lang="en-US" altLang="ko-KR" dirty="0"/>
              <a:t> TTS</a:t>
            </a:r>
            <a:r>
              <a:rPr lang="ko-KR" altLang="en-US" dirty="0"/>
              <a:t>를 호출하고</a:t>
            </a:r>
            <a:r>
              <a:rPr lang="en-US" altLang="ko-KR" dirty="0"/>
              <a:t>, </a:t>
            </a:r>
            <a:r>
              <a:rPr lang="ko-KR" altLang="en-US" dirty="0"/>
              <a:t>환자의 기록을 데이터베이스에 저장합니다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또한 외부 서비스로는 이미 말씀드린 것처럼 </a:t>
            </a:r>
            <a:r>
              <a:rPr lang="en-US" altLang="ko-KR" dirty="0"/>
              <a:t>LLM </a:t>
            </a:r>
            <a:r>
              <a:rPr lang="ko-KR" altLang="en-US" dirty="0"/>
              <a:t>기반의 대화 </a:t>
            </a:r>
            <a:r>
              <a:rPr lang="en-US" altLang="ko-KR" dirty="0"/>
              <a:t>AI</a:t>
            </a:r>
            <a:r>
              <a:rPr lang="ko-KR" altLang="en-US" dirty="0"/>
              <a:t>와 </a:t>
            </a:r>
            <a:r>
              <a:rPr lang="en-US" altLang="ko-KR" dirty="0" err="1"/>
              <a:t>ElevenLabs</a:t>
            </a:r>
            <a:r>
              <a:rPr lang="ko-KR" altLang="en-US" dirty="0"/>
              <a:t>를 사용할 예정이고</a:t>
            </a:r>
            <a:r>
              <a:rPr lang="en-US" altLang="ko-KR" dirty="0"/>
              <a:t>, HF </a:t>
            </a:r>
            <a:r>
              <a:rPr lang="ko-KR" altLang="en-US" dirty="0"/>
              <a:t>결과와 세션 기록을 모아두는 </a:t>
            </a:r>
            <a:r>
              <a:rPr lang="en-US" altLang="ko-KR" dirty="0"/>
              <a:t>DB</a:t>
            </a:r>
            <a:r>
              <a:rPr lang="ko-KR" altLang="en-US" dirty="0"/>
              <a:t>와 연구자용 대시보드를 서버와 연결하여 유기적으로 관리할 계획입니다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4658A-7774-4B6C-A59B-6AA468B2B31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85372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이렇게 수집된 </a:t>
            </a:r>
            <a:r>
              <a:rPr lang="en-US" altLang="ko-KR" dirty="0"/>
              <a:t>LT</a:t>
            </a:r>
            <a:r>
              <a:rPr lang="ko-KR" altLang="en-US" dirty="0"/>
              <a:t> 데이터를 어떻게 활용할지에 대해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LT</a:t>
            </a:r>
            <a:r>
              <a:rPr lang="ko-KR" altLang="en-US" dirty="0"/>
              <a:t>는 세션마다 자동으로 다음 정보를 저장합니다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1. HF </a:t>
            </a:r>
            <a:r>
              <a:rPr lang="ko-KR" altLang="en-US" dirty="0"/>
              <a:t>결과와 최종 대화 타입</a:t>
            </a:r>
          </a:p>
          <a:p>
            <a:r>
              <a:rPr lang="en-US" altLang="ko-KR" dirty="0"/>
              <a:t>2. </a:t>
            </a:r>
            <a:r>
              <a:rPr lang="ko-KR" altLang="en-US" dirty="0"/>
              <a:t>선택된 목소리 종류</a:t>
            </a:r>
          </a:p>
          <a:p>
            <a:r>
              <a:rPr lang="en-US" altLang="ko-KR" dirty="0"/>
              <a:t>3. </a:t>
            </a:r>
            <a:r>
              <a:rPr lang="ko-KR" altLang="en-US" dirty="0"/>
              <a:t>세션 날짜</a:t>
            </a:r>
            <a:r>
              <a:rPr lang="en-US" altLang="ko-KR" dirty="0"/>
              <a:t>, </a:t>
            </a:r>
            <a:r>
              <a:rPr lang="ko-KR" altLang="en-US" dirty="0"/>
              <a:t>시간</a:t>
            </a:r>
            <a:r>
              <a:rPr lang="en-US" altLang="ko-KR" dirty="0"/>
              <a:t>, </a:t>
            </a:r>
            <a:r>
              <a:rPr lang="ko-KR" altLang="en-US" dirty="0"/>
              <a:t>길이</a:t>
            </a:r>
            <a:r>
              <a:rPr lang="en-US" altLang="ko-KR" dirty="0"/>
              <a:t>, </a:t>
            </a:r>
            <a:r>
              <a:rPr lang="ko-KR" altLang="en-US" dirty="0"/>
              <a:t>횟수</a:t>
            </a:r>
          </a:p>
          <a:p>
            <a:r>
              <a:rPr lang="en-US" altLang="ko-KR" dirty="0"/>
              <a:t>4. </a:t>
            </a:r>
            <a:r>
              <a:rPr lang="ko-KR" altLang="en-US" dirty="0"/>
              <a:t>기억 퀴즈의 정답</a:t>
            </a:r>
            <a:r>
              <a:rPr lang="en-US" altLang="ko-KR" dirty="0"/>
              <a:t>·</a:t>
            </a:r>
            <a:r>
              <a:rPr lang="ko-KR" altLang="en-US" dirty="0"/>
              <a:t>오답</a:t>
            </a:r>
            <a:r>
              <a:rPr lang="en-US" altLang="ko-KR" dirty="0"/>
              <a:t>·</a:t>
            </a:r>
            <a:r>
              <a:rPr lang="ko-KR" altLang="en-US" dirty="0"/>
              <a:t>반응 시간</a:t>
            </a:r>
          </a:p>
          <a:p>
            <a:r>
              <a:rPr lang="en-US" altLang="ko-KR" dirty="0"/>
              <a:t>5. </a:t>
            </a:r>
            <a:r>
              <a:rPr lang="ko-KR" altLang="en-US" dirty="0"/>
              <a:t>환자</a:t>
            </a:r>
            <a:r>
              <a:rPr lang="en-US" altLang="ko-KR" dirty="0"/>
              <a:t>·</a:t>
            </a:r>
            <a:r>
              <a:rPr lang="ko-KR" altLang="en-US" dirty="0"/>
              <a:t>보호자의 만족도 점수</a:t>
            </a:r>
          </a:p>
          <a:p>
            <a:r>
              <a:rPr lang="ko-KR" altLang="en-US" dirty="0"/>
              <a:t>이러한 데이터들은 대시보드에서 시각화해 볼 수 있고</a:t>
            </a:r>
            <a:r>
              <a:rPr lang="en-US" altLang="ko-KR" dirty="0"/>
              <a:t>, </a:t>
            </a:r>
            <a:r>
              <a:rPr lang="ko-KR" altLang="en-US" dirty="0"/>
              <a:t>개인별로는 사용 빈도와 기억 퀴즈 변화</a:t>
            </a:r>
            <a:r>
              <a:rPr lang="en-US" altLang="ko-KR" dirty="0"/>
              <a:t>, </a:t>
            </a:r>
            <a:r>
              <a:rPr lang="ko-KR" altLang="en-US" dirty="0"/>
              <a:t>집단별로는 </a:t>
            </a:r>
            <a:r>
              <a:rPr lang="en-US" altLang="ko-KR" dirty="0"/>
              <a:t>HF </a:t>
            </a:r>
            <a:r>
              <a:rPr lang="ko-KR" altLang="en-US" dirty="0"/>
              <a:t>타입별 반응 차이</a:t>
            </a:r>
            <a:r>
              <a:rPr lang="en-US" altLang="ko-KR" dirty="0"/>
              <a:t>, </a:t>
            </a:r>
            <a:r>
              <a:rPr lang="ko-KR" altLang="en-US" dirty="0"/>
              <a:t>목소리 유형별 차이 등을 비교할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또한 장기적으로는 인지검사 점수와 </a:t>
            </a:r>
            <a:r>
              <a:rPr lang="en-US" altLang="ko-KR" dirty="0"/>
              <a:t>LT </a:t>
            </a:r>
            <a:r>
              <a:rPr lang="ko-KR" altLang="en-US" dirty="0"/>
              <a:t>데이터를 연결하여 어떤 대화</a:t>
            </a:r>
            <a:r>
              <a:rPr lang="en-US" altLang="ko-KR" dirty="0"/>
              <a:t>·</a:t>
            </a:r>
            <a:r>
              <a:rPr lang="ko-KR" altLang="en-US" dirty="0"/>
              <a:t>목소리 조합이 인지 유지에 더 효과적인지 탐색하는 것을 목표로 하고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4658A-7774-4B6C-A59B-6AA468B2B31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8969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LT</a:t>
            </a:r>
            <a:r>
              <a:rPr lang="ko-KR" altLang="en-US" dirty="0"/>
              <a:t>의 </a:t>
            </a:r>
            <a:r>
              <a:rPr lang="en-US" altLang="ko-KR" dirty="0"/>
              <a:t>Session flow</a:t>
            </a:r>
            <a:r>
              <a:rPr lang="ko-KR" altLang="en-US" dirty="0"/>
              <a:t>에 대해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먼저 사용자의 입장에서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준비 단계에서</a:t>
            </a:r>
            <a:r>
              <a:rPr lang="en-US" altLang="ko-KR" dirty="0"/>
              <a:t> </a:t>
            </a:r>
            <a:r>
              <a:rPr lang="ko-KR" altLang="en-US" dirty="0"/>
              <a:t>환자는 </a:t>
            </a:r>
            <a:r>
              <a:rPr lang="en-US" altLang="ko-KR" dirty="0"/>
              <a:t>HF </a:t>
            </a:r>
            <a:r>
              <a:rPr lang="ko-KR" altLang="en-US" dirty="0"/>
              <a:t>설문을 완료하고</a:t>
            </a:r>
            <a:r>
              <a:rPr lang="en-US" altLang="ko-KR" dirty="0"/>
              <a:t>, LT</a:t>
            </a:r>
            <a:r>
              <a:rPr lang="ko-KR" altLang="en-US" dirty="0"/>
              <a:t>는 그 결과로 대화 타입을 결정합니다</a:t>
            </a:r>
            <a:r>
              <a:rPr lang="en-US" altLang="ko-KR" dirty="0"/>
              <a:t>. </a:t>
            </a:r>
            <a:r>
              <a:rPr lang="ko-KR" altLang="en-US" dirty="0"/>
              <a:t>이후 환자는 기본 목소리들 중 하나를 고르거나</a:t>
            </a:r>
            <a:r>
              <a:rPr lang="en-US" altLang="ko-KR" dirty="0"/>
              <a:t>, </a:t>
            </a:r>
            <a:r>
              <a:rPr lang="ko-KR" altLang="en-US" dirty="0"/>
              <a:t>보호자</a:t>
            </a:r>
            <a:r>
              <a:rPr lang="en-US" altLang="ko-KR" dirty="0"/>
              <a:t>/</a:t>
            </a:r>
            <a:r>
              <a:rPr lang="ko-KR" altLang="en-US" dirty="0"/>
              <a:t>본인 목소리를 이용해 </a:t>
            </a:r>
            <a:r>
              <a:rPr lang="ko-KR" altLang="en-US" dirty="0" err="1"/>
              <a:t>클로닝한</a:t>
            </a:r>
            <a:r>
              <a:rPr lang="ko-KR" altLang="en-US" dirty="0"/>
              <a:t> 목소리를 선택합니다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그리고 이어지는 대화 세션은 </a:t>
            </a:r>
            <a:r>
              <a:rPr lang="en-US" altLang="ko-KR" dirty="0"/>
              <a:t>15</a:t>
            </a:r>
            <a:r>
              <a:rPr lang="ko-KR" altLang="en-US" dirty="0"/>
              <a:t>분 정도로 구성할 계획이며</a:t>
            </a:r>
            <a:r>
              <a:rPr lang="en-US" altLang="ko-KR" dirty="0"/>
              <a:t>, </a:t>
            </a:r>
            <a:r>
              <a:rPr lang="ko-KR" altLang="en-US" dirty="0"/>
              <a:t>초반 </a:t>
            </a:r>
            <a:r>
              <a:rPr lang="en-US" altLang="ko-KR" dirty="0"/>
              <a:t>3</a:t>
            </a:r>
            <a:r>
              <a:rPr lang="ko-KR" altLang="en-US" dirty="0"/>
              <a:t>분은 인사와 기분을 나누는 </a:t>
            </a:r>
            <a:r>
              <a:rPr lang="ko-KR" altLang="en-US" dirty="0" err="1"/>
              <a:t>웜업</a:t>
            </a:r>
            <a:r>
              <a:rPr lang="en-US" altLang="ko-KR" dirty="0"/>
              <a:t>, </a:t>
            </a:r>
            <a:r>
              <a:rPr lang="ko-KR" altLang="en-US" dirty="0"/>
              <a:t>중간 </a:t>
            </a:r>
            <a:r>
              <a:rPr lang="en-US" altLang="ko-KR" dirty="0"/>
              <a:t>5</a:t>
            </a:r>
            <a:r>
              <a:rPr lang="ko-KR" altLang="en-US" dirty="0"/>
              <a:t>분은 사랑</a:t>
            </a:r>
            <a:r>
              <a:rPr lang="en-US" altLang="ko-KR" dirty="0"/>
              <a:t>·</a:t>
            </a:r>
            <a:r>
              <a:rPr lang="ko-KR" altLang="en-US" dirty="0"/>
              <a:t>감사</a:t>
            </a:r>
            <a:r>
              <a:rPr lang="en-US" altLang="ko-KR" dirty="0"/>
              <a:t>·</a:t>
            </a:r>
            <a:r>
              <a:rPr lang="ko-KR" altLang="en-US" dirty="0"/>
              <a:t>행복을 떠올리는 감정 활성</a:t>
            </a:r>
            <a:r>
              <a:rPr lang="en-US" altLang="ko-KR" dirty="0"/>
              <a:t>, </a:t>
            </a:r>
            <a:r>
              <a:rPr lang="ko-KR" altLang="en-US" dirty="0"/>
              <a:t>다음 </a:t>
            </a:r>
            <a:r>
              <a:rPr lang="en-US" altLang="ko-KR" dirty="0"/>
              <a:t>5</a:t>
            </a:r>
            <a:r>
              <a:rPr lang="ko-KR" altLang="en-US" dirty="0"/>
              <a:t>분은 방금 이야기한 내용을 되짚는 기억 자극</a:t>
            </a:r>
            <a:r>
              <a:rPr lang="en-US" altLang="ko-KR" dirty="0"/>
              <a:t>, </a:t>
            </a:r>
            <a:r>
              <a:rPr lang="ko-KR" altLang="en-US" dirty="0"/>
              <a:t>마지막 </a:t>
            </a:r>
            <a:r>
              <a:rPr lang="en-US" altLang="ko-KR" dirty="0"/>
              <a:t>2</a:t>
            </a:r>
            <a:r>
              <a:rPr lang="ko-KR" altLang="en-US" dirty="0"/>
              <a:t>분은 요약과 칭찬을 하는 마무리 단계로 구성하였습니다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이러한 전 과정에서</a:t>
            </a:r>
            <a:r>
              <a:rPr lang="en-US" altLang="ko-KR" dirty="0"/>
              <a:t>, LT</a:t>
            </a:r>
            <a:r>
              <a:rPr lang="ko-KR" altLang="en-US" dirty="0"/>
              <a:t>는 세션 정보와 기억 퀴즈</a:t>
            </a:r>
            <a:r>
              <a:rPr lang="en-US" altLang="ko-KR" dirty="0"/>
              <a:t>, </a:t>
            </a:r>
            <a:r>
              <a:rPr lang="ko-KR" altLang="en-US" dirty="0"/>
              <a:t>만족도 등을 자동으로 기록하도록 만들 예정입니다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4658A-7774-4B6C-A59B-6AA468B2B311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18031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다음은 시스템의 관정에서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세션이 시작되면</a:t>
            </a:r>
            <a:r>
              <a:rPr lang="en-US" altLang="ko-KR" dirty="0"/>
              <a:t>, LT </a:t>
            </a:r>
            <a:r>
              <a:rPr lang="ko-KR" altLang="en-US" dirty="0"/>
              <a:t>서버는 해당 환자의 </a:t>
            </a:r>
            <a:r>
              <a:rPr lang="en-US" altLang="ko-KR" dirty="0"/>
              <a:t>HF </a:t>
            </a:r>
            <a:r>
              <a:rPr lang="ko-KR" altLang="en-US" dirty="0"/>
              <a:t>타입과 선택된 </a:t>
            </a:r>
            <a:r>
              <a:rPr lang="en-US" altLang="ko-KR" dirty="0" err="1"/>
              <a:t>voice_id</a:t>
            </a:r>
            <a:r>
              <a:rPr lang="en-US" altLang="ko-KR" dirty="0"/>
              <a:t> </a:t>
            </a:r>
            <a:r>
              <a:rPr lang="ko-KR" altLang="en-US" dirty="0"/>
              <a:t>를 불러오고 현재 단계를 </a:t>
            </a:r>
            <a:r>
              <a:rPr lang="en-US" altLang="ko-KR" dirty="0"/>
              <a:t>WARMUP</a:t>
            </a:r>
            <a:r>
              <a:rPr lang="ko-KR" altLang="en-US" dirty="0"/>
              <a:t>으로 설정합니다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그리고 각 턴마다</a:t>
            </a:r>
            <a:r>
              <a:rPr lang="en-US" altLang="ko-KR" dirty="0"/>
              <a:t> </a:t>
            </a:r>
            <a:r>
              <a:rPr lang="ko-KR" altLang="en-US" dirty="0"/>
              <a:t>환자의 입력이 서버로 들어오면</a:t>
            </a:r>
            <a:r>
              <a:rPr lang="en-US" altLang="ko-KR" dirty="0"/>
              <a:t>, </a:t>
            </a:r>
            <a:r>
              <a:rPr lang="ko-KR" altLang="en-US" dirty="0"/>
              <a:t>서버는 </a:t>
            </a:r>
            <a:r>
              <a:rPr lang="en-US" altLang="ko-KR" dirty="0"/>
              <a:t>HF </a:t>
            </a:r>
            <a:r>
              <a:rPr lang="ko-KR" altLang="en-US" dirty="0"/>
              <a:t>타입과 현재 단계 정보</a:t>
            </a:r>
            <a:r>
              <a:rPr lang="en-US" altLang="ko-KR" dirty="0"/>
              <a:t>(WARMUP, EMOTION, MEMORY, CLOSING)</a:t>
            </a:r>
            <a:r>
              <a:rPr lang="ko-KR" altLang="en-US" dirty="0"/>
              <a:t>를 대화 </a:t>
            </a:r>
            <a:r>
              <a:rPr lang="en-US" altLang="ko-KR" dirty="0"/>
              <a:t>AI</a:t>
            </a:r>
            <a:r>
              <a:rPr lang="ko-KR" altLang="en-US" dirty="0"/>
              <a:t>에게 전달합니다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이후 </a:t>
            </a:r>
            <a:r>
              <a:rPr lang="en-US" altLang="ko-KR" dirty="0"/>
              <a:t>AI</a:t>
            </a:r>
            <a:r>
              <a:rPr lang="ko-KR" altLang="en-US" dirty="0"/>
              <a:t>가 응답 텍스트를 만들면</a:t>
            </a:r>
            <a:r>
              <a:rPr lang="en-US" altLang="ko-KR" dirty="0"/>
              <a:t>, </a:t>
            </a:r>
            <a:r>
              <a:rPr lang="ko-KR" altLang="en-US" dirty="0"/>
              <a:t>서버는 이 텍스트와 </a:t>
            </a:r>
            <a:r>
              <a:rPr lang="en-US" altLang="ko-KR" dirty="0" err="1"/>
              <a:t>voice_id</a:t>
            </a:r>
            <a:r>
              <a:rPr lang="ko-KR" altLang="en-US" dirty="0"/>
              <a:t>를 </a:t>
            </a:r>
            <a:r>
              <a:rPr lang="en-US" altLang="ko-KR" dirty="0" err="1"/>
              <a:t>ElevenLabs</a:t>
            </a:r>
            <a:r>
              <a:rPr lang="ko-KR" altLang="en-US" dirty="0"/>
              <a:t>로 보내서 음성으로 변환하고</a:t>
            </a:r>
            <a:r>
              <a:rPr lang="en-US" altLang="ko-KR" dirty="0"/>
              <a:t>, </a:t>
            </a:r>
            <a:r>
              <a:rPr lang="ko-KR" altLang="en-US" dirty="0"/>
              <a:t>그 결과를 다시 사용자 화면으로 전달하게 할 예정입니다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이러한 가운데 음성의 선택은</a:t>
            </a:r>
            <a:r>
              <a:rPr lang="en-US" altLang="ko-KR" dirty="0"/>
              <a:t>, </a:t>
            </a:r>
            <a:r>
              <a:rPr lang="ko-KR" altLang="en-US" dirty="0"/>
              <a:t>현재 </a:t>
            </a:r>
            <a:r>
              <a:rPr lang="en-US" altLang="ko-KR" dirty="0"/>
              <a:t>HF</a:t>
            </a:r>
            <a:r>
              <a:rPr lang="ko-KR" altLang="en-US" dirty="0"/>
              <a:t>를 통해 조사할 지</a:t>
            </a:r>
            <a:r>
              <a:rPr lang="en-US" altLang="ko-KR" dirty="0"/>
              <a:t>, </a:t>
            </a:r>
            <a:r>
              <a:rPr lang="ko-KR" altLang="en-US" dirty="0"/>
              <a:t>자연스런 대화를 통해 조정해 나갈지 구상 중에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따라서 저희 팀이 구상 중인 </a:t>
            </a:r>
            <a:r>
              <a:rPr lang="en-US" altLang="ko-KR" dirty="0"/>
              <a:t>LT</a:t>
            </a:r>
            <a:r>
              <a:rPr lang="ko-KR" altLang="en-US" dirty="0"/>
              <a:t>는 시간이나 턴 수에 따라 </a:t>
            </a:r>
            <a:r>
              <a:rPr lang="ko-KR" altLang="en-US" dirty="0" err="1"/>
              <a:t>웜업</a:t>
            </a:r>
            <a:r>
              <a:rPr lang="ko-KR" altLang="en-US" dirty="0"/>
              <a:t> → 감정 → 기억 → 마무리 순서로 넘어가고</a:t>
            </a:r>
            <a:r>
              <a:rPr lang="en-US" altLang="ko-KR" dirty="0"/>
              <a:t>, </a:t>
            </a:r>
            <a:r>
              <a:rPr lang="ko-KR" altLang="en-US" dirty="0"/>
              <a:t>이 단계 정보가 항상 </a:t>
            </a:r>
            <a:r>
              <a:rPr lang="en-US" altLang="ko-KR" dirty="0"/>
              <a:t>AI</a:t>
            </a:r>
            <a:r>
              <a:rPr lang="ko-KR" altLang="en-US" dirty="0"/>
              <a:t>에 함께 전달되어 각 단계에 맞는 질문과 대사만 나오도록 제어하는 구조입니다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4658A-7774-4B6C-A59B-6AA468B2B311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77181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이렇게 구상된 </a:t>
            </a:r>
            <a:r>
              <a:rPr lang="en-US" altLang="ko-KR" dirty="0"/>
              <a:t>LT</a:t>
            </a:r>
            <a:r>
              <a:rPr lang="ko-KR" altLang="en-US" dirty="0"/>
              <a:t>를 사용할 때의 기대 효과에 대해 정리해 보았습니다</a:t>
            </a:r>
            <a:r>
              <a:rPr lang="en-US" altLang="ko-KR" dirty="0"/>
              <a:t>.</a:t>
            </a:r>
          </a:p>
          <a:p>
            <a:r>
              <a:rPr lang="ko-KR" altLang="en-US" b="0" dirty="0"/>
              <a:t>먼저 환자 입장에서는</a:t>
            </a:r>
            <a:r>
              <a:rPr lang="en-US" altLang="ko-KR" b="0" dirty="0"/>
              <a:t>, LT</a:t>
            </a:r>
            <a:r>
              <a:rPr lang="ko-KR" altLang="en-US" b="0" dirty="0"/>
              <a:t>와의 시간이 단순한 훈련이나 검사 시간이 아니라 사랑받고 이해 받는 대화 시간처럼 느껴지는 것이 중요합니다</a:t>
            </a:r>
            <a:r>
              <a:rPr lang="en-US" altLang="ko-KR" b="0" dirty="0"/>
              <a:t>.</a:t>
            </a:r>
            <a:br>
              <a:rPr lang="en-US" altLang="ko-KR" b="0" dirty="0"/>
            </a:br>
            <a:r>
              <a:rPr lang="ko-KR" altLang="en-US" b="0" dirty="0"/>
              <a:t>따라서 그 속에서 자연스럽게 기억을 떠올리고</a:t>
            </a:r>
            <a:r>
              <a:rPr lang="en-US" altLang="ko-KR" b="0" dirty="0"/>
              <a:t>, </a:t>
            </a:r>
            <a:r>
              <a:rPr lang="ko-KR" altLang="en-US" b="0" dirty="0"/>
              <a:t>작은 기억 퀴즈를 통해 인지 기능을 자극할 수 있다는 기대 효과를 갖고 있습니다</a:t>
            </a:r>
            <a:r>
              <a:rPr lang="en-US" altLang="ko-KR" b="0" dirty="0"/>
              <a:t>.</a:t>
            </a:r>
          </a:p>
          <a:p>
            <a:r>
              <a:rPr lang="ko-KR" altLang="en-US" b="0" dirty="0"/>
              <a:t>보호자</a:t>
            </a:r>
            <a:r>
              <a:rPr lang="en-US" altLang="ko-KR" b="0" dirty="0"/>
              <a:t>·</a:t>
            </a:r>
            <a:r>
              <a:rPr lang="ko-KR" altLang="en-US" b="0" dirty="0"/>
              <a:t>임상의 입장에서는</a:t>
            </a:r>
            <a:r>
              <a:rPr lang="en-US" altLang="ko-KR" b="0" dirty="0"/>
              <a:t>, </a:t>
            </a:r>
            <a:r>
              <a:rPr lang="ko-KR" altLang="en-US" b="0" dirty="0"/>
              <a:t>시간과 에너지의 한계를 보완해 줄 정서적 대화 보조 도구가 될 수 있고</a:t>
            </a:r>
            <a:r>
              <a:rPr lang="en-US" altLang="ko-KR" b="0" dirty="0"/>
              <a:t>, </a:t>
            </a:r>
            <a:r>
              <a:rPr lang="ko-KR" altLang="en-US" b="0" dirty="0"/>
              <a:t>자동 저장되는 세션 기록을 통해 환자의 상태 변화를 조금 더 객관적으로 모니터링할 수 있는 장점이 있습니다</a:t>
            </a:r>
            <a:r>
              <a:rPr lang="en-US" altLang="ko-KR" b="0" dirty="0"/>
              <a:t>.</a:t>
            </a:r>
          </a:p>
          <a:p>
            <a:r>
              <a:rPr lang="ko-KR" altLang="en-US" b="0" dirty="0"/>
              <a:t>마지막으로 연구자에게는</a:t>
            </a:r>
            <a:r>
              <a:rPr lang="en-US" altLang="ko-KR" b="0" dirty="0"/>
              <a:t>, HF </a:t>
            </a:r>
            <a:r>
              <a:rPr lang="ko-KR" altLang="en-US" b="0" dirty="0"/>
              <a:t>성향</a:t>
            </a:r>
            <a:r>
              <a:rPr lang="en-US" altLang="ko-KR" b="0" dirty="0"/>
              <a:t>, </a:t>
            </a:r>
            <a:r>
              <a:rPr lang="ko-KR" altLang="en-US" b="0" dirty="0"/>
              <a:t>대화 스타일</a:t>
            </a:r>
            <a:r>
              <a:rPr lang="en-US" altLang="ko-KR" b="0" dirty="0"/>
              <a:t>, </a:t>
            </a:r>
            <a:r>
              <a:rPr lang="ko-KR" altLang="en-US" b="0" dirty="0"/>
              <a:t>목소리 조합에 따라</a:t>
            </a:r>
            <a:br>
              <a:rPr lang="ko-KR" altLang="en-US" b="0" dirty="0"/>
            </a:br>
            <a:r>
              <a:rPr lang="ko-KR" altLang="en-US" b="0" dirty="0"/>
              <a:t>정서</a:t>
            </a:r>
            <a:r>
              <a:rPr lang="en-US" altLang="ko-KR" b="0" dirty="0"/>
              <a:t>·</a:t>
            </a:r>
            <a:r>
              <a:rPr lang="ko-KR" altLang="en-US" b="0" dirty="0"/>
              <a:t>인지 지표가 어떻게 달라지는지를 확인하여 데이터 기반으로 분석할 수 있는 새로운 플랫폼이 될 수 있습니다</a:t>
            </a:r>
            <a:r>
              <a:rPr lang="en-US" altLang="ko-KR" b="0" dirty="0"/>
              <a:t>.</a:t>
            </a:r>
            <a:br>
              <a:rPr lang="en-US" altLang="ko-KR" b="0" dirty="0"/>
            </a:br>
            <a:r>
              <a:rPr lang="ko-KR" altLang="en-US" b="0" dirty="0"/>
              <a:t>종합적으로 </a:t>
            </a:r>
            <a:r>
              <a:rPr lang="en-US" altLang="ko-KR" b="0" dirty="0"/>
              <a:t>LT</a:t>
            </a:r>
            <a:r>
              <a:rPr lang="ko-KR" altLang="en-US" b="0" dirty="0"/>
              <a:t>를 디지털 감정</a:t>
            </a:r>
            <a:r>
              <a:rPr lang="en-US" altLang="ko-KR" b="0" dirty="0"/>
              <a:t>·</a:t>
            </a:r>
            <a:r>
              <a:rPr lang="ko-KR" altLang="en-US" b="0" dirty="0"/>
              <a:t>인지 개입 도구로 발전시킬 수 있을 것으로 기대하고 있습니다</a:t>
            </a:r>
            <a:r>
              <a:rPr lang="en-US" altLang="ko-KR" b="0" dirty="0"/>
              <a:t>.</a:t>
            </a:r>
            <a:endParaRPr lang="ko-KR" altLang="en-US" b="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4658A-7774-4B6C-A59B-6AA468B2B311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75847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AI</a:t>
            </a:r>
            <a:r>
              <a:rPr lang="ko-KR" altLang="en-US" dirty="0"/>
              <a:t>에게 </a:t>
            </a:r>
            <a:r>
              <a:rPr lang="en-US" altLang="ko-KR" dirty="0"/>
              <a:t>MCI</a:t>
            </a:r>
            <a:r>
              <a:rPr lang="ko-KR" altLang="en-US" dirty="0"/>
              <a:t>환자와의 대화 시뮬레이션을 진행하기에 앞서 각 </a:t>
            </a:r>
            <a:r>
              <a:rPr lang="en-US" altLang="ko-KR" dirty="0"/>
              <a:t>HF </a:t>
            </a:r>
            <a:r>
              <a:rPr lang="ko-KR" altLang="en-US" dirty="0"/>
              <a:t>유형별로 선호하는 </a:t>
            </a:r>
            <a:r>
              <a:rPr lang="en-US" altLang="ko-KR" dirty="0"/>
              <a:t>emotional talk</a:t>
            </a:r>
            <a:r>
              <a:rPr lang="ko-KR" altLang="en-US" dirty="0"/>
              <a:t>를 학습시켰습니다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HF</a:t>
            </a:r>
            <a:r>
              <a:rPr lang="ko-KR" altLang="en-US" dirty="0"/>
              <a:t>를 통해서 판별된 선호하는 대화방식과 대화주제에 따라서 다른 내용의 대화를 진행 할 수 있도록 설계하였습니다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우선 공감형 대화방식 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공감형 대화방식은 감정 공유</a:t>
            </a:r>
            <a:r>
              <a:rPr lang="en-US" altLang="ko-KR" dirty="0"/>
              <a:t>, </a:t>
            </a:r>
            <a:r>
              <a:rPr lang="ko-KR" altLang="en-US" dirty="0"/>
              <a:t>따뜻한 인정</a:t>
            </a:r>
            <a:r>
              <a:rPr lang="en-US" altLang="ko-KR" dirty="0"/>
              <a:t>, </a:t>
            </a:r>
            <a:r>
              <a:rPr lang="ko-KR" altLang="en-US" dirty="0"/>
              <a:t>내 마음을 알아주는 느낌에 가장 반응하는 그룹입니다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공감이 가장 큰 영향을 줍니다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밑에 있는 부분은 각각 유형에서의 예시입니다</a:t>
            </a:r>
            <a:r>
              <a:rPr lang="en-US" altLang="ko-KR" dirty="0"/>
              <a:t>. 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4658A-7774-4B6C-A59B-6AA468B2B311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81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다음은 인지형 대화방식 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인지형 대화방식은 </a:t>
            </a:r>
            <a:r>
              <a:rPr lang="ko-KR" altLang="en-US" dirty="0" err="1"/>
              <a:t>의미찾기</a:t>
            </a:r>
            <a:r>
              <a:rPr lang="en-US" altLang="ko-KR" dirty="0"/>
              <a:t>, </a:t>
            </a:r>
            <a:r>
              <a:rPr lang="ko-KR" altLang="en-US" dirty="0"/>
              <a:t>상황해석</a:t>
            </a:r>
            <a:r>
              <a:rPr lang="en-US" altLang="ko-KR" dirty="0"/>
              <a:t>, </a:t>
            </a:r>
            <a:r>
              <a:rPr lang="ko-KR" altLang="en-US" dirty="0"/>
              <a:t>이해 통찰 제공이 감정적 보상으로 작동합니다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이제 이해가 </a:t>
            </a:r>
            <a:r>
              <a:rPr lang="ko-KR" altLang="en-US" dirty="0" err="1"/>
              <a:t>된다라는</a:t>
            </a:r>
            <a:r>
              <a:rPr lang="ko-KR" altLang="en-US" dirty="0"/>
              <a:t> 말이 감정적 트리거로 작동할 수 있습니다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밑에 있는 부분은 각각 유형에서의 예시입니다</a:t>
            </a:r>
            <a:r>
              <a:rPr lang="en-US" altLang="ko-KR" dirty="0"/>
              <a:t>. 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4658A-7774-4B6C-A59B-6AA468B2B311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0802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다음은 동기형 대화방식 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동기형 대화방식은 인정</a:t>
            </a:r>
            <a:r>
              <a:rPr lang="en-US" altLang="ko-KR" dirty="0"/>
              <a:t>, </a:t>
            </a:r>
            <a:r>
              <a:rPr lang="ko-KR" altLang="en-US" dirty="0"/>
              <a:t>가능성</a:t>
            </a:r>
            <a:r>
              <a:rPr lang="en-US" altLang="ko-KR" dirty="0"/>
              <a:t>, </a:t>
            </a:r>
            <a:r>
              <a:rPr lang="ko-KR" altLang="en-US" dirty="0"/>
              <a:t>강점 강화</a:t>
            </a:r>
            <a:r>
              <a:rPr lang="en-US" altLang="ko-KR" dirty="0"/>
              <a:t>, </a:t>
            </a:r>
            <a:r>
              <a:rPr lang="ko-KR" altLang="en-US" dirty="0"/>
              <a:t>미래 긍정 기대가 감정적 트리거로 작동 할 수 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할 수 있을 것 같다는 감정이 인지기능을 끌어올릴 수 있습니다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밑에 있는 부분은 각각 유형에서의 예시입니다</a:t>
            </a:r>
            <a:r>
              <a:rPr lang="en-US" altLang="ko-KR" dirty="0"/>
              <a:t>. 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4658A-7774-4B6C-A59B-6AA468B2B311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96269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다음은 행동형 대화방식 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행동형 대화방식은 행동 실행</a:t>
            </a:r>
            <a:r>
              <a:rPr lang="en-US" altLang="ko-KR" dirty="0"/>
              <a:t>, </a:t>
            </a:r>
            <a:r>
              <a:rPr lang="ko-KR" altLang="en-US" dirty="0"/>
              <a:t>즉각적 실천</a:t>
            </a:r>
            <a:r>
              <a:rPr lang="en-US" altLang="ko-KR" dirty="0"/>
              <a:t>, </a:t>
            </a:r>
            <a:r>
              <a:rPr lang="ko-KR" altLang="en-US" dirty="0"/>
              <a:t>체험기반 활동이 감정적 트리거로 작동할 수 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해보니까 된다 라는 말이 감정적 보상을 받고 이로 인해 인지 활성화를 유도할 수 있습니다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밑에 있는 부분은 각각 유형에서의 예시입니다</a:t>
            </a:r>
            <a:r>
              <a:rPr lang="en-US" altLang="ko-KR" dirty="0"/>
              <a:t>. 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4658A-7774-4B6C-A59B-6AA468B2B311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0847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AI</a:t>
            </a:r>
            <a:r>
              <a:rPr lang="ko-KR" altLang="en-US" dirty="0"/>
              <a:t>에게 대화 시뮬레이션을 시키는 과정에 설정한 내용들입니다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우선 </a:t>
            </a:r>
            <a:r>
              <a:rPr lang="en-US" altLang="ko-KR" dirty="0"/>
              <a:t>MCI </a:t>
            </a:r>
            <a:r>
              <a:rPr lang="ko-KR" altLang="en-US" dirty="0"/>
              <a:t>환자의 경우 평균적인 수준의 인지기능을 기준으로 </a:t>
            </a:r>
            <a:r>
              <a:rPr lang="en-US" altLang="ko-KR" dirty="0"/>
              <a:t>AI</a:t>
            </a:r>
            <a:r>
              <a:rPr lang="ko-KR" altLang="en-US" dirty="0"/>
              <a:t>에게 학습시켰습니다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각각의 </a:t>
            </a:r>
            <a:r>
              <a:rPr lang="en-US" altLang="ko-KR" dirty="0"/>
              <a:t>HF </a:t>
            </a:r>
            <a:r>
              <a:rPr lang="ko-KR" altLang="en-US" dirty="0"/>
              <a:t>유형에 따라 선호하는</a:t>
            </a:r>
            <a:r>
              <a:rPr lang="en-US" altLang="ko-KR" dirty="0"/>
              <a:t> Emotional talk</a:t>
            </a:r>
            <a:r>
              <a:rPr lang="ko-KR" altLang="en-US" dirty="0"/>
              <a:t>를 진행하도록 설계하였습니다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대화를 주고 받는 것이 </a:t>
            </a:r>
            <a:r>
              <a:rPr lang="en-US" altLang="ko-KR" dirty="0"/>
              <a:t>1</a:t>
            </a:r>
            <a:r>
              <a:rPr lang="ko-KR" altLang="en-US" dirty="0"/>
              <a:t>턴이라고 </a:t>
            </a:r>
            <a:r>
              <a:rPr lang="ko-KR" altLang="en-US" dirty="0" err="1"/>
              <a:t>가정하였을때</a:t>
            </a:r>
            <a:r>
              <a:rPr lang="en-US" altLang="ko-KR" dirty="0"/>
              <a:t>, </a:t>
            </a:r>
            <a:r>
              <a:rPr lang="ko-KR" altLang="en-US" dirty="0"/>
              <a:t>약 </a:t>
            </a:r>
            <a:r>
              <a:rPr lang="en-US" altLang="ko-KR" dirty="0"/>
              <a:t>25~30</a:t>
            </a:r>
            <a:r>
              <a:rPr lang="ko-KR" altLang="en-US" dirty="0"/>
              <a:t>턴을 한번의 대화로 설정하여 학습하였습니다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대화의 구조는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감정자극</a:t>
            </a:r>
            <a:r>
              <a:rPr lang="en-US" altLang="ko-KR" dirty="0"/>
              <a:t> 2. </a:t>
            </a:r>
            <a:r>
              <a:rPr lang="ko-KR" altLang="en-US" dirty="0"/>
              <a:t>인지활성 </a:t>
            </a:r>
            <a:r>
              <a:rPr lang="en-US" altLang="ko-KR" dirty="0"/>
              <a:t>3, </a:t>
            </a:r>
            <a:r>
              <a:rPr lang="ko-KR" altLang="en-US" dirty="0"/>
              <a:t>감정조절</a:t>
            </a:r>
            <a:r>
              <a:rPr lang="en-US" altLang="ko-KR" dirty="0"/>
              <a:t> 4. </a:t>
            </a:r>
            <a:r>
              <a:rPr lang="ko-KR" altLang="en-US" dirty="0"/>
              <a:t>회복력 탐색 </a:t>
            </a:r>
            <a:r>
              <a:rPr lang="en-US" altLang="ko-KR" dirty="0"/>
              <a:t>5. </a:t>
            </a:r>
            <a:r>
              <a:rPr lang="ko-KR" altLang="en-US" dirty="0"/>
              <a:t>관계 소통 재해석 </a:t>
            </a:r>
            <a:r>
              <a:rPr lang="en-US" altLang="ko-KR" dirty="0"/>
              <a:t>6. </a:t>
            </a:r>
            <a:r>
              <a:rPr lang="ko-KR" altLang="en-US" dirty="0"/>
              <a:t>행동</a:t>
            </a:r>
            <a:r>
              <a:rPr lang="en-US" altLang="ko-KR" dirty="0"/>
              <a:t>/</a:t>
            </a:r>
            <a:r>
              <a:rPr lang="ko-KR" altLang="en-US" dirty="0"/>
              <a:t>습관 실천제안 </a:t>
            </a:r>
            <a:r>
              <a:rPr lang="en-US" altLang="ko-KR" dirty="0"/>
              <a:t>7. </a:t>
            </a:r>
            <a:r>
              <a:rPr lang="ko-KR" altLang="en-US" dirty="0"/>
              <a:t>마무리 동기부여의 구조로 진행하였습니다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다음과 같은 구조의 대화로 감정자극</a:t>
            </a:r>
            <a:r>
              <a:rPr lang="en-US" altLang="ko-KR" dirty="0"/>
              <a:t>, </a:t>
            </a:r>
            <a:r>
              <a:rPr lang="ko-KR" altLang="en-US" dirty="0"/>
              <a:t>인지활성</a:t>
            </a:r>
            <a:r>
              <a:rPr lang="en-US" altLang="ko-KR" dirty="0"/>
              <a:t>, </a:t>
            </a:r>
            <a:r>
              <a:rPr lang="ko-KR" altLang="en-US" dirty="0"/>
              <a:t>행동변화 까지 정신치료적 흐름을 </a:t>
            </a:r>
            <a:r>
              <a:rPr lang="ko-KR" altLang="en-US" dirty="0" err="1"/>
              <a:t>재현가능하도록</a:t>
            </a:r>
            <a:r>
              <a:rPr lang="ko-KR" altLang="en-US" dirty="0"/>
              <a:t> 설계하였습니다</a:t>
            </a:r>
            <a:r>
              <a:rPr lang="en-US" altLang="ko-KR" dirty="0"/>
              <a:t>. 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4658A-7774-4B6C-A59B-6AA468B2B311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60741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예시로 선호하는 대화방식은 공감형</a:t>
            </a:r>
            <a:r>
              <a:rPr lang="en-US" altLang="ko-KR" dirty="0"/>
              <a:t>, </a:t>
            </a:r>
            <a:r>
              <a:rPr lang="ko-KR" altLang="en-US" dirty="0"/>
              <a:t>대화주제는 관계소통인 유형의 대화를 하나 소개하겠습니다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1</a:t>
            </a:r>
            <a:r>
              <a:rPr lang="ko-KR" altLang="en-US" dirty="0"/>
              <a:t>단계 감정자극 단계입니다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MCI </a:t>
            </a:r>
            <a:r>
              <a:rPr lang="ko-KR" altLang="en-US" dirty="0"/>
              <a:t>환자가 흔하게 접할 수 있는 사건 언급을 통해 감정 자극을 유도합니다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이후에 선호하는 대화방식이 </a:t>
            </a:r>
            <a:r>
              <a:rPr lang="ko-KR" altLang="en-US" dirty="0" err="1"/>
              <a:t>공감형이기</a:t>
            </a:r>
            <a:r>
              <a:rPr lang="ko-KR" altLang="en-US" dirty="0"/>
              <a:t> 때문에 공감을 통해 위로하는 대화진행을 볼 수 있습니다</a:t>
            </a:r>
            <a:r>
              <a:rPr lang="en-US" altLang="ko-KR" dirty="0"/>
              <a:t>. 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4658A-7774-4B6C-A59B-6AA468B2B311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22621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단계 인지활성 단계입니다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앞서 언급된 상황에서의 감정을 상담자와 공유하며 위로를 유도할 수 있습니다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4658A-7774-4B6C-A59B-6AA468B2B311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02530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3</a:t>
            </a:r>
            <a:r>
              <a:rPr lang="ko-KR" altLang="en-US" dirty="0"/>
              <a:t>단계 감정조절 단계입니다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4658A-7774-4B6C-A59B-6AA468B2B311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6949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4</a:t>
            </a:r>
            <a:r>
              <a:rPr lang="ko-KR" altLang="en-US" dirty="0"/>
              <a:t>단계 회복력 탐색입니다</a:t>
            </a:r>
            <a:r>
              <a:rPr lang="en-US" altLang="ko-KR" dirty="0"/>
              <a:t>. 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4658A-7774-4B6C-A59B-6AA468B2B311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56472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5</a:t>
            </a:r>
            <a:r>
              <a:rPr lang="ko-KR" altLang="en-US" dirty="0"/>
              <a:t>단계 관계 소통 재해석 단계입니다</a:t>
            </a:r>
            <a:r>
              <a:rPr lang="en-US" altLang="ko-KR" dirty="0"/>
              <a:t>. 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4658A-7774-4B6C-A59B-6AA468B2B311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83168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6</a:t>
            </a:r>
            <a:r>
              <a:rPr lang="ko-KR" altLang="en-US" dirty="0"/>
              <a:t>단계 행동 습관 실천 제안 단계입니다</a:t>
            </a:r>
            <a:r>
              <a:rPr lang="en-US" altLang="ko-KR" dirty="0"/>
              <a:t>. 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4658A-7774-4B6C-A59B-6AA468B2B311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5141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7</a:t>
            </a:r>
            <a:r>
              <a:rPr lang="ko-KR" altLang="en-US" dirty="0"/>
              <a:t>단계 마무리 동기부여 단계입니다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현재 각 유형마다 대화를 </a:t>
            </a:r>
            <a:r>
              <a:rPr lang="en-US" altLang="ko-KR" dirty="0"/>
              <a:t>5</a:t>
            </a:r>
            <a:r>
              <a:rPr lang="ko-KR" altLang="en-US" dirty="0"/>
              <a:t>개씩 진행을 완료하였습니다</a:t>
            </a:r>
            <a:r>
              <a:rPr lang="en-US" altLang="ko-KR" dirty="0"/>
              <a:t>. </a:t>
            </a:r>
            <a:r>
              <a:rPr lang="ko-KR" altLang="en-US" dirty="0"/>
              <a:t>이후에 이 대화들을 통해서 새로운 </a:t>
            </a:r>
            <a:r>
              <a:rPr lang="en-US" altLang="ko-KR" dirty="0"/>
              <a:t>ai</a:t>
            </a:r>
            <a:r>
              <a:rPr lang="ko-KR" altLang="en-US" dirty="0"/>
              <a:t>에게 학습을 시킬 경우를 대비하여 스크립트로 저장을 </a:t>
            </a:r>
            <a:r>
              <a:rPr lang="ko-KR" altLang="en-US" dirty="0" err="1"/>
              <a:t>해놓았고</a:t>
            </a:r>
            <a:r>
              <a:rPr lang="en-US" altLang="ko-KR" dirty="0"/>
              <a:t>, </a:t>
            </a:r>
            <a:r>
              <a:rPr lang="ko-KR" altLang="en-US" dirty="0"/>
              <a:t>유형별로 대화의 개수는 점차 늘려갈 생각입니다</a:t>
            </a:r>
            <a:r>
              <a:rPr lang="en-US" altLang="ko-KR" dirty="0"/>
              <a:t>. 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4658A-7774-4B6C-A59B-6AA468B2B311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26250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앞서 세분화 되어있는 </a:t>
            </a:r>
            <a:r>
              <a:rPr lang="en-US" altLang="ko-KR" dirty="0"/>
              <a:t>16</a:t>
            </a:r>
            <a:r>
              <a:rPr lang="ko-KR" altLang="en-US" dirty="0"/>
              <a:t>가지 유형으로 먼저 시범적으로 </a:t>
            </a:r>
            <a:r>
              <a:rPr lang="en-US" altLang="ko-KR" dirty="0"/>
              <a:t>AI</a:t>
            </a:r>
            <a:r>
              <a:rPr lang="ko-KR" altLang="en-US" dirty="0"/>
              <a:t>를 통해 시뮬레이션을 해 본 결과이며</a:t>
            </a:r>
            <a:r>
              <a:rPr lang="en-US" altLang="ko-KR"/>
              <a:t>,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/>
              <a:t>추가로 </a:t>
            </a:r>
            <a:r>
              <a:rPr lang="ko-KR" altLang="en-US" dirty="0"/>
              <a:t>저희는 지난 시간 </a:t>
            </a:r>
            <a:r>
              <a:rPr lang="en-US" altLang="ko-KR" dirty="0"/>
              <a:t>HF</a:t>
            </a:r>
            <a:r>
              <a:rPr lang="ko-KR" altLang="en-US" dirty="0"/>
              <a:t>에 대해 피드백 주신 내용을 기반으로</a:t>
            </a:r>
            <a:r>
              <a:rPr lang="en-US" altLang="ko-KR" dirty="0"/>
              <a:t> 16</a:t>
            </a:r>
            <a:r>
              <a:rPr lang="ko-KR" altLang="en-US" dirty="0"/>
              <a:t>가지의 유형을 </a:t>
            </a:r>
            <a:r>
              <a:rPr lang="en-US" altLang="ko-KR" dirty="0"/>
              <a:t>6</a:t>
            </a:r>
            <a:r>
              <a:rPr lang="ko-KR" altLang="en-US" dirty="0"/>
              <a:t>가지 유형으로 축소하고 신뢰도와 타당도 부분을 보완하기 위해 수정 중에 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78F6B9-E431-4997-B567-C365F3378351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66022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우선 </a:t>
            </a:r>
            <a:r>
              <a:rPr lang="en-US" altLang="ko-KR" dirty="0"/>
              <a:t>16</a:t>
            </a:r>
            <a:r>
              <a:rPr lang="ko-KR" altLang="en-US" dirty="0"/>
              <a:t>가지의 유형을 </a:t>
            </a:r>
            <a:r>
              <a:rPr lang="en-US" altLang="ko-KR" dirty="0"/>
              <a:t>6</a:t>
            </a:r>
            <a:r>
              <a:rPr lang="ko-KR" altLang="en-US" dirty="0"/>
              <a:t>가지로 매핑하는데 있어</a:t>
            </a:r>
            <a:r>
              <a:rPr lang="en-US" altLang="ko-KR" dirty="0"/>
              <a:t>, </a:t>
            </a:r>
            <a:r>
              <a:rPr lang="ko-KR" altLang="en-US" b="0" dirty="0"/>
              <a:t>심리학의 두 가지 이론</a:t>
            </a:r>
            <a:r>
              <a:rPr lang="ko-KR" altLang="en-US" dirty="0"/>
              <a:t>을 근거로 사용하였습니다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첫 번째 근거는 </a:t>
            </a:r>
            <a:r>
              <a:rPr lang="en-US" altLang="ko-KR" b="1" dirty="0"/>
              <a:t>ACT, </a:t>
            </a:r>
            <a:r>
              <a:rPr lang="ko-KR" altLang="en-US" b="1" dirty="0" err="1"/>
              <a:t>수용전념치료의</a:t>
            </a:r>
            <a:r>
              <a:rPr lang="ko-KR" altLang="en-US" b="1" dirty="0"/>
              <a:t> </a:t>
            </a:r>
            <a:r>
              <a:rPr lang="en-US" altLang="ko-KR" b="1" dirty="0"/>
              <a:t>6 Core Processes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ACT</a:t>
            </a:r>
            <a:r>
              <a:rPr lang="ko-KR" altLang="en-US" dirty="0"/>
              <a:t>는 인간의 심리 작용을 </a:t>
            </a:r>
            <a:r>
              <a:rPr lang="en-US" altLang="ko-KR" dirty="0"/>
              <a:t>‘</a:t>
            </a:r>
            <a:r>
              <a:rPr lang="ko-KR" altLang="en-US" dirty="0"/>
              <a:t>정서</a:t>
            </a:r>
            <a:r>
              <a:rPr lang="en-US" altLang="ko-KR" dirty="0"/>
              <a:t>, </a:t>
            </a:r>
            <a:r>
              <a:rPr lang="ko-KR" altLang="en-US" dirty="0"/>
              <a:t>인지</a:t>
            </a:r>
            <a:r>
              <a:rPr lang="en-US" altLang="ko-KR" dirty="0"/>
              <a:t>, </a:t>
            </a:r>
            <a:r>
              <a:rPr lang="ko-KR" altLang="en-US" dirty="0"/>
              <a:t>자기성찰</a:t>
            </a:r>
            <a:r>
              <a:rPr lang="en-US" altLang="ko-KR" dirty="0"/>
              <a:t>, </a:t>
            </a:r>
            <a:r>
              <a:rPr lang="ko-KR" altLang="en-US" dirty="0"/>
              <a:t>가치</a:t>
            </a:r>
            <a:r>
              <a:rPr lang="en-US" altLang="ko-KR" dirty="0"/>
              <a:t>, </a:t>
            </a:r>
            <a:r>
              <a:rPr lang="ko-KR" altLang="en-US" dirty="0"/>
              <a:t>동기</a:t>
            </a:r>
            <a:r>
              <a:rPr lang="en-US" altLang="ko-KR" dirty="0"/>
              <a:t>, </a:t>
            </a:r>
            <a:r>
              <a:rPr lang="ko-KR" altLang="en-US" dirty="0"/>
              <a:t>행동</a:t>
            </a:r>
            <a:r>
              <a:rPr lang="en-US" altLang="ko-KR" dirty="0"/>
              <a:t>’</a:t>
            </a:r>
            <a:r>
              <a:rPr lang="ko-KR" altLang="en-US" dirty="0"/>
              <a:t>의 여섯 기능으로 설명합니다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이는 저희가 새롭게 정리한 </a:t>
            </a:r>
            <a:r>
              <a:rPr lang="en-US" altLang="ko-KR" dirty="0"/>
              <a:t>‘</a:t>
            </a:r>
            <a:r>
              <a:rPr lang="ko-KR" altLang="en-US" dirty="0"/>
              <a:t>정서 공감형</a:t>
            </a:r>
            <a:r>
              <a:rPr lang="en-US" altLang="ko-KR" dirty="0"/>
              <a:t>, </a:t>
            </a:r>
            <a:r>
              <a:rPr lang="ko-KR" altLang="en-US" dirty="0"/>
              <a:t>인지 성찰형</a:t>
            </a:r>
            <a:r>
              <a:rPr lang="en-US" altLang="ko-KR" dirty="0"/>
              <a:t>, </a:t>
            </a:r>
            <a:r>
              <a:rPr lang="ko-KR" altLang="en-US" dirty="0"/>
              <a:t>동기 촉진형</a:t>
            </a:r>
            <a:r>
              <a:rPr lang="en-US" altLang="ko-KR" dirty="0"/>
              <a:t>, </a:t>
            </a:r>
            <a:r>
              <a:rPr lang="ko-KR" altLang="en-US" dirty="0"/>
              <a:t>행동 실천형</a:t>
            </a:r>
            <a:r>
              <a:rPr lang="en-US" altLang="ko-KR" dirty="0"/>
              <a:t>, </a:t>
            </a:r>
            <a:r>
              <a:rPr lang="ko-KR" altLang="en-US" dirty="0"/>
              <a:t>관계 조율형</a:t>
            </a:r>
            <a:r>
              <a:rPr lang="en-US" altLang="ko-KR" dirty="0"/>
              <a:t>, </a:t>
            </a:r>
            <a:r>
              <a:rPr lang="ko-KR" altLang="en-US" dirty="0"/>
              <a:t>회복 유지형</a:t>
            </a:r>
            <a:r>
              <a:rPr lang="en-US" altLang="ko-KR" dirty="0"/>
              <a:t>’</a:t>
            </a:r>
            <a:r>
              <a:rPr lang="ko-KR" altLang="en-US" dirty="0"/>
              <a:t>과 거의 </a:t>
            </a:r>
            <a:r>
              <a:rPr lang="en-US" altLang="ko-KR" dirty="0"/>
              <a:t>1</a:t>
            </a:r>
            <a:r>
              <a:rPr lang="ko-KR" altLang="en-US" dirty="0"/>
              <a:t>대</a:t>
            </a:r>
            <a:r>
              <a:rPr lang="en-US" altLang="ko-KR" dirty="0"/>
              <a:t>1</a:t>
            </a:r>
            <a:r>
              <a:rPr lang="ko-KR" altLang="en-US" dirty="0"/>
              <a:t>로 대응됩니다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en-US" altLang="ko-KR" b="1" dirty="0"/>
              <a:t>ACT</a:t>
            </a:r>
            <a:r>
              <a:rPr lang="ko-KR" altLang="en-US" b="1" dirty="0"/>
              <a:t>의 </a:t>
            </a:r>
            <a:r>
              <a:rPr lang="en-US" altLang="ko-KR" b="1" dirty="0"/>
              <a:t>6</a:t>
            </a:r>
            <a:r>
              <a:rPr lang="ko-KR" altLang="en-US" b="1" dirty="0"/>
              <a:t>가지 심리 기능을 반영하도록 기존 유형을 재구조화한 것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두 번째 근거는 </a:t>
            </a:r>
            <a:r>
              <a:rPr lang="en-US" altLang="ko-KR" b="1" dirty="0"/>
              <a:t>Lazarus</a:t>
            </a:r>
            <a:r>
              <a:rPr lang="ko-KR" altLang="en-US" b="1" dirty="0"/>
              <a:t>의 스트레스</a:t>
            </a:r>
            <a:r>
              <a:rPr lang="en-US" altLang="ko-KR" b="1" dirty="0"/>
              <a:t>·</a:t>
            </a:r>
            <a:r>
              <a:rPr lang="ko-KR" altLang="en-US" b="1" dirty="0"/>
              <a:t>대처 이론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Lazarus</a:t>
            </a:r>
            <a:r>
              <a:rPr lang="ko-KR" altLang="en-US" dirty="0"/>
              <a:t>는 인간의 반응을 정서</a:t>
            </a:r>
            <a:r>
              <a:rPr lang="en-US" altLang="ko-KR" dirty="0"/>
              <a:t>, </a:t>
            </a:r>
            <a:r>
              <a:rPr lang="ko-KR" altLang="en-US" dirty="0"/>
              <a:t>인지</a:t>
            </a:r>
            <a:r>
              <a:rPr lang="en-US" altLang="ko-KR" dirty="0"/>
              <a:t>, </a:t>
            </a:r>
            <a:r>
              <a:rPr lang="ko-KR" altLang="en-US" dirty="0"/>
              <a:t>행동의 </a:t>
            </a:r>
            <a:r>
              <a:rPr lang="en-US" altLang="ko-KR" dirty="0"/>
              <a:t>3</a:t>
            </a:r>
            <a:r>
              <a:rPr lang="ko-KR" altLang="en-US" dirty="0"/>
              <a:t>요소로 설명하며</a:t>
            </a:r>
            <a:br>
              <a:rPr lang="ko-KR" altLang="en-US" dirty="0"/>
            </a:br>
            <a:r>
              <a:rPr lang="ko-KR" altLang="en-US" dirty="0"/>
              <a:t>현대 연구에서는 여기에 동기</a:t>
            </a:r>
            <a:r>
              <a:rPr lang="en-US" altLang="ko-KR" dirty="0"/>
              <a:t>, </a:t>
            </a:r>
            <a:r>
              <a:rPr lang="ko-KR" altLang="en-US" dirty="0"/>
              <a:t>회복</a:t>
            </a:r>
            <a:r>
              <a:rPr lang="en-US" altLang="ko-KR" dirty="0"/>
              <a:t>, </a:t>
            </a:r>
            <a:r>
              <a:rPr lang="ko-KR" altLang="en-US" dirty="0"/>
              <a:t>관계 조절이 확장 요소로 포함됩니다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따라서 저희의 </a:t>
            </a:r>
            <a:r>
              <a:rPr lang="en-US" altLang="ko-KR" dirty="0"/>
              <a:t>6</a:t>
            </a:r>
            <a:r>
              <a:rPr lang="ko-KR" altLang="en-US" dirty="0"/>
              <a:t>유형은 전통적인 ‘정서</a:t>
            </a:r>
            <a:r>
              <a:rPr lang="en-US" altLang="ko-KR" dirty="0"/>
              <a:t>–</a:t>
            </a:r>
            <a:r>
              <a:rPr lang="ko-KR" altLang="en-US" dirty="0"/>
              <a:t>인지</a:t>
            </a:r>
            <a:r>
              <a:rPr lang="en-US" altLang="ko-KR" dirty="0"/>
              <a:t>–</a:t>
            </a:r>
            <a:r>
              <a:rPr lang="ko-KR" altLang="en-US" dirty="0"/>
              <a:t>행동’ 모델과 현대적 확장 요소까지 자연스럽게 포괄합니다</a:t>
            </a:r>
            <a:r>
              <a:rPr lang="en-US" altLang="ko-KR" dirty="0"/>
              <a:t>.</a:t>
            </a:r>
          </a:p>
          <a:p>
            <a:br>
              <a:rPr lang="en-US" altLang="ko-KR" dirty="0"/>
            </a:br>
            <a:r>
              <a:rPr lang="ko-KR" altLang="en-US" dirty="0"/>
              <a:t>새로운 </a:t>
            </a:r>
            <a:r>
              <a:rPr lang="en-US" altLang="ko-KR" b="1" dirty="0"/>
              <a:t>6</a:t>
            </a:r>
            <a:r>
              <a:rPr lang="ko-KR" altLang="en-US" b="1" dirty="0"/>
              <a:t>유형은 실제 인간의 심리 기능과 대화 패턴</a:t>
            </a:r>
            <a:r>
              <a:rPr lang="ko-KR" altLang="en-US" dirty="0"/>
              <a:t>을 반영하는 보다 </a:t>
            </a:r>
            <a:r>
              <a:rPr lang="ko-KR" altLang="en-US" b="1" dirty="0"/>
              <a:t>이론적으로 타당한 구조로 수정하였습니다</a:t>
            </a:r>
            <a:r>
              <a:rPr lang="en-US" altLang="ko-KR" b="1" dirty="0"/>
              <a:t>.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78F6B9-E431-4997-B567-C365F3378351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047894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선행연구에서는 </a:t>
            </a:r>
            <a:r>
              <a:rPr lang="en-US" altLang="ko-KR" dirty="0"/>
              <a:t>Big Five </a:t>
            </a:r>
            <a:r>
              <a:rPr lang="ko-KR" altLang="en-US" dirty="0"/>
              <a:t>성격요인이 공감</a:t>
            </a:r>
            <a:r>
              <a:rPr lang="en-US" altLang="ko-KR" dirty="0"/>
              <a:t>, </a:t>
            </a:r>
            <a:r>
              <a:rPr lang="ko-KR" altLang="en-US" dirty="0"/>
              <a:t>자기조절</a:t>
            </a:r>
            <a:r>
              <a:rPr lang="en-US" altLang="ko-KR" dirty="0"/>
              <a:t>, </a:t>
            </a:r>
            <a:r>
              <a:rPr lang="ko-KR" altLang="en-US" dirty="0"/>
              <a:t>관계 조정</a:t>
            </a:r>
            <a:r>
              <a:rPr lang="en-US" altLang="ko-KR" dirty="0"/>
              <a:t>, </a:t>
            </a:r>
            <a:r>
              <a:rPr lang="ko-KR" altLang="en-US" dirty="0"/>
              <a:t>회복탄력성 등 다양한 정서</a:t>
            </a:r>
            <a:r>
              <a:rPr lang="en-US" altLang="ko-KR" dirty="0"/>
              <a:t>·</a:t>
            </a:r>
            <a:r>
              <a:rPr lang="ko-KR" altLang="en-US" dirty="0"/>
              <a:t>인지</a:t>
            </a:r>
            <a:r>
              <a:rPr lang="en-US" altLang="ko-KR" dirty="0"/>
              <a:t>·</a:t>
            </a:r>
            <a:r>
              <a:rPr lang="ko-KR" altLang="en-US" dirty="0"/>
              <a:t>행동적 특성과 밀접하게 연관된 것으로 보고되고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이러한 근거를 바탕으로</a:t>
            </a:r>
            <a:r>
              <a:rPr lang="en-US" altLang="ko-KR" dirty="0"/>
              <a:t>, </a:t>
            </a:r>
            <a:r>
              <a:rPr lang="ko-KR" altLang="en-US" dirty="0"/>
              <a:t>저희 팀이 개발한 </a:t>
            </a:r>
            <a:r>
              <a:rPr lang="en-US" altLang="ko-KR" dirty="0"/>
              <a:t>6</a:t>
            </a:r>
            <a:r>
              <a:rPr lang="ko-KR" altLang="en-US" dirty="0"/>
              <a:t>가지 대화유형 역시 개인의 정서</a:t>
            </a:r>
            <a:r>
              <a:rPr lang="en-US" altLang="ko-KR" dirty="0"/>
              <a:t>·</a:t>
            </a:r>
            <a:r>
              <a:rPr lang="ko-KR" altLang="en-US" dirty="0"/>
              <a:t>사고</a:t>
            </a:r>
            <a:r>
              <a:rPr lang="en-US" altLang="ko-KR" dirty="0"/>
              <a:t>·</a:t>
            </a:r>
            <a:r>
              <a:rPr lang="ko-KR" altLang="en-US" dirty="0"/>
              <a:t>행동 경향성을 반영하여 구성되었으며</a:t>
            </a:r>
            <a:r>
              <a:rPr lang="en-US" altLang="ko-KR" dirty="0"/>
              <a:t>, </a:t>
            </a:r>
            <a:r>
              <a:rPr lang="ko-KR" altLang="en-US" dirty="0"/>
              <a:t>성격 </a:t>
            </a:r>
            <a:r>
              <a:rPr lang="en-US" altLang="ko-KR" dirty="0"/>
              <a:t>5</a:t>
            </a:r>
            <a:r>
              <a:rPr lang="ko-KR" altLang="en-US" dirty="0"/>
              <a:t>요인과 개념적으로 대응될 수 있는 구조적 기반을 갖추고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따라서 분석 과정에서 각 대화유형과 특정 성격요인 간에 유의한 상관이 확인된다면</a:t>
            </a:r>
            <a:r>
              <a:rPr lang="en-US" altLang="ko-KR" dirty="0"/>
              <a:t>, </a:t>
            </a:r>
            <a:r>
              <a:rPr lang="ko-KR" altLang="en-US" dirty="0"/>
              <a:t>이는 추후에 </a:t>
            </a:r>
            <a:r>
              <a:rPr lang="ko-KR" altLang="en-US" b="1" dirty="0"/>
              <a:t>준거 타당도</a:t>
            </a:r>
            <a:r>
              <a:rPr lang="ko-KR" altLang="en-US" dirty="0"/>
              <a:t>를 뒷받침하는 중요한 근거가 될 수 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이러한 이유로 기존 문항에 성격 </a:t>
            </a:r>
            <a:r>
              <a:rPr lang="en-US" altLang="ko-KR" dirty="0"/>
              <a:t>5</a:t>
            </a:r>
            <a:r>
              <a:rPr lang="ko-KR" altLang="en-US" dirty="0"/>
              <a:t>요인을 추가하여 설문 문항을 보완</a:t>
            </a:r>
            <a:r>
              <a:rPr lang="en-US" altLang="ko-KR" dirty="0"/>
              <a:t>·</a:t>
            </a:r>
            <a:r>
              <a:rPr lang="ko-KR" altLang="en-US" dirty="0"/>
              <a:t>수정하였습니다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유형 축소와 유형에 따른 문항 수정 등의 사항으로 </a:t>
            </a:r>
            <a:r>
              <a:rPr lang="en-US" altLang="ko-KR" dirty="0"/>
              <a:t>HF </a:t>
            </a:r>
            <a:r>
              <a:rPr lang="ko-KR" altLang="en-US" dirty="0"/>
              <a:t>부분을 보완 중에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78F6B9-E431-4997-B567-C365F3378351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2779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DB5273-3285-CDA5-73A9-5042F25CA4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0C221D5-3D03-B503-C363-C9AA2279E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F94CB4-431B-F65C-ED27-58D4A1649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6401A-9FD7-4C12-9792-661E5F08F94B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3E1837-0F38-E403-93CA-CD8D3DC1A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F28BE8-B34B-4EB1-1D54-152600835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ABA39-38C1-452A-A1DE-032E336C5F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0473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33EDC5-E6BA-F9F2-6A11-77B664FF6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754CB1-BD9D-0721-96B5-1290AF4BD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6614CF-25D9-3A9B-1EE7-8A889BB3D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6401A-9FD7-4C12-9792-661E5F08F94B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D46DAD-101D-AEE9-B003-7604EF1BC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45DB50-C3BF-FCD4-A2C8-3938AA4B4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ABA39-38C1-452A-A1DE-032E336C5F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7222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C08606-E86B-8E85-9D0F-80CE2DA5D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AB4E29-84E4-8357-BA0F-88C05EE667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285EE9-2B6E-B14A-68C3-648246BDE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6401A-9FD7-4C12-9792-661E5F08F94B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4CA1A9-238E-3225-5BCE-3DA7869DB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FE7B14-96DA-C627-EFAA-1B170A6B5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ABA39-38C1-452A-A1DE-032E336C5F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6281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7128A5-7127-7AF6-6BA8-635ADB7B3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302E6E-26E2-F604-4897-7D840DE1AD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D4C73A1-57CD-EE41-AE99-2DE6193E6E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52CCDFA-7F64-B5D7-89A5-D825B95A6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6401A-9FD7-4C12-9792-661E5F08F94B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04122C2-F839-1F24-7CB5-C7C39925F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F2B43E0-4AE8-9C6D-E4A5-CE9DD7E0A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ABA39-38C1-452A-A1DE-032E336C5F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361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A22526-8ACE-1358-8C21-51A1EF731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EF7206-83A2-EB81-CFCD-D45F55C9F1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642724D-9400-7F9C-BD8E-F17074B1B0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3B8EC13-9614-8368-599C-69EFE2E780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E59E09E-039A-1070-FBEC-093C7F627A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6E75945-43A8-FB03-FA85-0FB36D9B2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6401A-9FD7-4C12-9792-661E5F08F94B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EC36A3F-4265-6AAA-9E7E-984AF8DCC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2D86BB4-D326-1881-9F8E-B0FA262A3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ABA39-38C1-452A-A1DE-032E336C5F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4770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D5D124-F9A1-422B-EFED-28579BE9E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A6E16D5-7764-5CF1-04FE-D7BEDA13C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6401A-9FD7-4C12-9792-661E5F08F94B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7CEA9A4-CBD1-F26B-1996-1FFD7D945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B972D07-6700-8971-AB93-3B966F820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ABA39-38C1-452A-A1DE-032E336C5F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3399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B463F2A-A72B-88D8-2960-5FDFB17D0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6401A-9FD7-4C12-9792-661E5F08F94B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EFDB2A1-0C19-69B5-E332-14B77E42E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A48751-541B-D44D-80DE-730832850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ABA39-38C1-452A-A1DE-032E336C5F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5094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79073E-A0A2-6158-9A4A-28113AB4D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1B2F64-AF46-41E0-D9CB-FECD280D0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00C5665-173F-F72F-B301-28BB5F1F90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CB11253-14BF-7CCD-B6B3-48AA42155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6401A-9FD7-4C12-9792-661E5F08F94B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AFDD8FC-CAE6-A80A-E5AB-D39499D57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710C3E4-28B2-AFA9-589B-AB9924ACE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ABA39-38C1-452A-A1DE-032E336C5F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9576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7229F3-4A93-632C-4A28-0C50C76F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AFB4F94-39EC-94F3-6B1E-25385A44EF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2E019BE-000B-72B8-0377-8DB4FA6DCA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99C0AF-1A18-7532-2A98-1BB96275E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6401A-9FD7-4C12-9792-661E5F08F94B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C042C4-CDD4-AA84-DCCD-33D9316FC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21EB551-D6D1-AB10-CF1F-B3F8CB410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ABA39-38C1-452A-A1DE-032E336C5F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9598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0DFEA9-CFAB-696A-2F57-B7DCA18AE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A7D4142-FA39-DB58-7B30-439CA3F034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D3562B-7CDF-814D-C259-9021B62BC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6401A-9FD7-4C12-9792-661E5F08F94B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AE9CD1-AD36-924E-478D-E2273A7BF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1C4A90-7097-9610-3469-DC4B90F8B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ABA39-38C1-452A-A1DE-032E336C5F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8704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A5B1DB1-C01F-2C17-3D30-0B74580810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5C28860-8A35-88B7-C8D0-2F254AF05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B4996A-66FE-2E39-D0B4-C6152E6A9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6401A-9FD7-4C12-9792-661E5F08F94B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F4B645-EB96-F580-6987-A44A74111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D24FA8-4A1A-0D59-8315-E4DBF3396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ABA39-38C1-452A-A1DE-032E336C5F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9062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8F4A7EF-38DF-D055-C9C5-FDA696043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3F04BA-ED8B-D2F2-C496-B2C3E22B68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34A107-5830-E09B-B5E6-024A0F2E1A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36401A-9FD7-4C12-9792-661E5F08F94B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D0D2B2-FBC1-1728-47AA-F73B266E1B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091F41-BAEA-3E0C-07C1-4EFD3A5C4B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0ABA39-38C1-452A-A1DE-032E336C5F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2327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F82478-4FC4-1266-C424-6C635E3FCE4E}"/>
              </a:ext>
            </a:extLst>
          </p:cNvPr>
          <p:cNvSpPr txBox="1"/>
          <p:nvPr/>
        </p:nvSpPr>
        <p:spPr>
          <a:xfrm>
            <a:off x="174171" y="176512"/>
            <a:ext cx="341600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/>
              <a:t>LT, AI </a:t>
            </a:r>
            <a:r>
              <a:rPr lang="ko-KR" altLang="en-US" b="1" dirty="0"/>
              <a:t>기반의 맞춤형 대화 </a:t>
            </a:r>
            <a:r>
              <a:rPr lang="en-US" altLang="ko-KR" b="1" dirty="0"/>
              <a:t>Tool</a:t>
            </a:r>
            <a:endParaRPr lang="ko-KR" alt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379606-B09B-98E5-740A-4EC8EEF03DB4}"/>
              </a:ext>
            </a:extLst>
          </p:cNvPr>
          <p:cNvSpPr txBox="1"/>
          <p:nvPr/>
        </p:nvSpPr>
        <p:spPr>
          <a:xfrm>
            <a:off x="174171" y="753290"/>
            <a:ext cx="19352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Background</a:t>
            </a:r>
            <a:endParaRPr lang="ko-KR" altLang="en-US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B6D380-216E-1063-9D12-76271482FCE5}"/>
              </a:ext>
            </a:extLst>
          </p:cNvPr>
          <p:cNvSpPr txBox="1"/>
          <p:nvPr/>
        </p:nvSpPr>
        <p:spPr>
          <a:xfrm>
            <a:off x="253520" y="1422401"/>
            <a:ext cx="978505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■ 감정과 기억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사랑</a:t>
            </a:r>
            <a:r>
              <a:rPr lang="en-US" altLang="ko-KR" dirty="0"/>
              <a:t>, </a:t>
            </a:r>
            <a:r>
              <a:rPr lang="ko-KR" altLang="en-US" dirty="0"/>
              <a:t>감사</a:t>
            </a:r>
            <a:r>
              <a:rPr lang="en-US" altLang="ko-KR" dirty="0"/>
              <a:t>, </a:t>
            </a:r>
            <a:r>
              <a:rPr lang="ko-KR" altLang="en-US" dirty="0"/>
              <a:t>즐거움 등의 감정이 강하게 느껴질 때 </a:t>
            </a:r>
            <a:endParaRPr lang="en-US" altLang="ko-KR" dirty="0"/>
          </a:p>
          <a:p>
            <a:r>
              <a:rPr lang="ko-KR" altLang="en-US" dirty="0"/>
              <a:t>→ 해마</a:t>
            </a:r>
            <a:r>
              <a:rPr lang="en-US" altLang="ko-KR" dirty="0"/>
              <a:t>(</a:t>
            </a:r>
            <a:r>
              <a:rPr lang="ko-KR" altLang="en-US" dirty="0"/>
              <a:t>기억</a:t>
            </a:r>
            <a:r>
              <a:rPr lang="en-US" altLang="ko-KR" dirty="0"/>
              <a:t>), </a:t>
            </a:r>
            <a:r>
              <a:rPr lang="ko-KR" altLang="en-US" dirty="0" err="1"/>
              <a:t>편도체</a:t>
            </a:r>
            <a:r>
              <a:rPr lang="en-US" altLang="ko-KR" dirty="0"/>
              <a:t>(</a:t>
            </a:r>
            <a:r>
              <a:rPr lang="ko-KR" altLang="en-US" dirty="0"/>
              <a:t>감정</a:t>
            </a:r>
            <a:r>
              <a:rPr lang="en-US" altLang="ko-KR" dirty="0"/>
              <a:t>) </a:t>
            </a:r>
            <a:r>
              <a:rPr lang="ko-KR" altLang="en-US" dirty="0"/>
              <a:t>회로가 함께 활성화</a:t>
            </a:r>
            <a:endParaRPr lang="en-US" altLang="ko-KR" dirty="0"/>
          </a:p>
          <a:p>
            <a:r>
              <a:rPr lang="ko-KR" altLang="en-US" dirty="0"/>
              <a:t>→ 그 때의 경험이 더 잘 저장 및 회상되는 경향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노년기에서도 긍정의 정서적 자극은 기억유지</a:t>
            </a:r>
            <a:r>
              <a:rPr lang="en-US" altLang="ko-KR" dirty="0"/>
              <a:t>, </a:t>
            </a:r>
            <a:r>
              <a:rPr lang="ko-KR" altLang="en-US" dirty="0"/>
              <a:t>삶의 질 개선에 의미 있는 영향을 줄 수 있음</a:t>
            </a:r>
            <a:r>
              <a:rPr lang="en-US" altLang="ko-KR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A7C2DF-BE5D-DD7D-550D-2F7DF8635857}"/>
              </a:ext>
            </a:extLst>
          </p:cNvPr>
          <p:cNvSpPr txBox="1"/>
          <p:nvPr/>
        </p:nvSpPr>
        <p:spPr>
          <a:xfrm>
            <a:off x="174172" y="3428394"/>
            <a:ext cx="6806672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■ </a:t>
            </a:r>
            <a:r>
              <a:rPr lang="en-US" altLang="ko-KR" dirty="0"/>
              <a:t>LT</a:t>
            </a:r>
            <a:r>
              <a:rPr lang="ko-KR" altLang="en-US" dirty="0"/>
              <a:t>의 목표</a:t>
            </a:r>
          </a:p>
          <a:p>
            <a:r>
              <a:rPr lang="en-US" altLang="ko-KR" dirty="0"/>
              <a:t>1. </a:t>
            </a:r>
            <a:r>
              <a:rPr lang="ko-KR" altLang="en-US" dirty="0"/>
              <a:t>정서 목표</a:t>
            </a:r>
          </a:p>
          <a:p>
            <a:pPr lvl="1"/>
            <a:r>
              <a:rPr lang="ko-KR" altLang="en-US" dirty="0"/>
              <a:t>“사랑받는 느낌</a:t>
            </a:r>
            <a:r>
              <a:rPr lang="en-US" altLang="ko-KR" dirty="0"/>
              <a:t>, </a:t>
            </a:r>
            <a:r>
              <a:rPr lang="ko-KR" altLang="en-US" dirty="0"/>
              <a:t>소속감</a:t>
            </a:r>
            <a:r>
              <a:rPr lang="en-US" altLang="ko-KR" dirty="0"/>
              <a:t>, </a:t>
            </a:r>
            <a:r>
              <a:rPr lang="ko-KR" altLang="en-US" dirty="0"/>
              <a:t>감사” 를 반복적으로 경험하게 하기</a:t>
            </a:r>
            <a:endParaRPr lang="en-US" altLang="ko-KR" dirty="0"/>
          </a:p>
          <a:p>
            <a:pPr lvl="1"/>
            <a:endParaRPr lang="ko-KR" altLang="en-US" dirty="0"/>
          </a:p>
          <a:p>
            <a:r>
              <a:rPr lang="en-US" altLang="ko-KR" dirty="0"/>
              <a:t>2. </a:t>
            </a:r>
            <a:r>
              <a:rPr lang="ko-KR" altLang="en-US" dirty="0"/>
              <a:t>인지 목표</a:t>
            </a:r>
          </a:p>
          <a:p>
            <a:pPr lvl="1"/>
            <a:r>
              <a:rPr lang="ko-KR" altLang="en-US" dirty="0"/>
              <a:t>대화 중에 자연스럽게</a:t>
            </a:r>
            <a:br>
              <a:rPr lang="ko-KR" altLang="en-US" dirty="0"/>
            </a:br>
            <a:r>
              <a:rPr lang="ko-KR" altLang="en-US" dirty="0"/>
              <a:t>에피소드 기억</a:t>
            </a:r>
            <a:r>
              <a:rPr lang="en-US" altLang="ko-KR" dirty="0"/>
              <a:t>, </a:t>
            </a:r>
            <a:r>
              <a:rPr lang="ko-KR" altLang="en-US" dirty="0"/>
              <a:t>작업기억</a:t>
            </a:r>
            <a:r>
              <a:rPr lang="en-US" altLang="ko-KR" dirty="0"/>
              <a:t>, </a:t>
            </a:r>
            <a:r>
              <a:rPr lang="ko-KR" altLang="en-US" dirty="0"/>
              <a:t>주의 집중을 쓰도록 유도</a:t>
            </a:r>
            <a:endParaRPr lang="en-US" altLang="ko-KR" dirty="0"/>
          </a:p>
          <a:p>
            <a:pPr lvl="1"/>
            <a:endParaRPr lang="ko-KR" altLang="en-US" dirty="0"/>
          </a:p>
          <a:p>
            <a:r>
              <a:rPr lang="en-US" altLang="ko-KR" dirty="0"/>
              <a:t>3. </a:t>
            </a:r>
            <a:r>
              <a:rPr lang="ko-KR" altLang="en-US" dirty="0"/>
              <a:t>연구 목표</a:t>
            </a:r>
          </a:p>
          <a:p>
            <a:pPr lvl="1"/>
            <a:r>
              <a:rPr lang="en-US" altLang="ko-KR" dirty="0"/>
              <a:t>HF </a:t>
            </a:r>
            <a:r>
              <a:rPr lang="ko-KR" altLang="en-US" dirty="0"/>
              <a:t>성향 </a:t>
            </a:r>
            <a:r>
              <a:rPr lang="en-US" altLang="ko-KR" dirty="0"/>
              <a:t>× </a:t>
            </a:r>
            <a:r>
              <a:rPr lang="ko-KR" altLang="en-US" dirty="0"/>
              <a:t>대화 스타일 </a:t>
            </a:r>
            <a:r>
              <a:rPr lang="en-US" altLang="ko-KR" dirty="0"/>
              <a:t>× </a:t>
            </a:r>
            <a:r>
              <a:rPr lang="ko-KR" altLang="en-US" dirty="0"/>
              <a:t>목소리 조건에 따른</a:t>
            </a:r>
            <a:br>
              <a:rPr lang="ko-KR" altLang="en-US" dirty="0"/>
            </a:br>
            <a:r>
              <a:rPr lang="ko-KR" altLang="en-US" dirty="0"/>
              <a:t>정서</a:t>
            </a:r>
            <a:r>
              <a:rPr lang="en-US" altLang="ko-KR" dirty="0"/>
              <a:t>·</a:t>
            </a:r>
            <a:r>
              <a:rPr lang="ko-KR" altLang="en-US" dirty="0"/>
              <a:t>기억 효과를 데이터로 확인할 수 있는 플랫폼 구축</a:t>
            </a:r>
          </a:p>
        </p:txBody>
      </p:sp>
    </p:spTree>
    <p:extLst>
      <p:ext uri="{BB962C8B-B14F-4D97-AF65-F5344CB8AC3E}">
        <p14:creationId xmlns:p14="http://schemas.microsoft.com/office/powerpoint/2010/main" val="2474238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D742D-8305-1CEE-9763-6D5C27A8B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812E77-E1A9-858C-1CE3-DA6D16883082}"/>
              </a:ext>
            </a:extLst>
          </p:cNvPr>
          <p:cNvSpPr txBox="1"/>
          <p:nvPr/>
        </p:nvSpPr>
        <p:spPr>
          <a:xfrm>
            <a:off x="174171" y="176512"/>
            <a:ext cx="341600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/>
              <a:t>LT, AI </a:t>
            </a:r>
            <a:r>
              <a:rPr lang="ko-KR" altLang="en-US" b="1" dirty="0"/>
              <a:t>기반의 맞춤형 대화 </a:t>
            </a:r>
            <a:r>
              <a:rPr lang="en-US" altLang="ko-KR" b="1" dirty="0"/>
              <a:t>Tool</a:t>
            </a:r>
            <a:endParaRPr lang="ko-KR" alt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A38383-BA27-FB6F-4D75-B524C8EF9EAE}"/>
              </a:ext>
            </a:extLst>
          </p:cNvPr>
          <p:cNvSpPr txBox="1"/>
          <p:nvPr/>
        </p:nvSpPr>
        <p:spPr>
          <a:xfrm>
            <a:off x="174171" y="1423071"/>
            <a:ext cx="111924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■ 개발 목표</a:t>
            </a:r>
            <a:endParaRPr lang="en-US" altLang="ko-KR" dirty="0"/>
          </a:p>
          <a:p>
            <a:r>
              <a:rPr lang="en-US" altLang="ko-KR" dirty="0"/>
              <a:t>- HF </a:t>
            </a:r>
            <a:r>
              <a:rPr lang="ko-KR" altLang="en-US" dirty="0"/>
              <a:t>설문을</a:t>
            </a:r>
            <a:r>
              <a:rPr lang="en-US" altLang="ko-KR" dirty="0"/>
              <a:t> </a:t>
            </a:r>
            <a:r>
              <a:rPr lang="ko-KR" altLang="en-US" dirty="0"/>
              <a:t>통한 선호 대화 방식 및 대화 주세 확인 </a:t>
            </a:r>
            <a:r>
              <a:rPr lang="en-US" altLang="ko-KR" dirty="0"/>
              <a:t>+ LLM(Large Language Model) + </a:t>
            </a:r>
            <a:r>
              <a:rPr lang="ko-KR" altLang="en-US" dirty="0"/>
              <a:t>사용자 선호 목소리</a:t>
            </a:r>
            <a:endParaRPr lang="en-US" altLang="ko-KR" dirty="0"/>
          </a:p>
          <a:p>
            <a:r>
              <a:rPr lang="en-US" altLang="ko-KR" dirty="0"/>
              <a:t>= </a:t>
            </a:r>
            <a:r>
              <a:rPr lang="ko-KR" altLang="en-US" dirty="0"/>
              <a:t>환자 개인 맞춤형 </a:t>
            </a:r>
            <a:r>
              <a:rPr lang="en-US" altLang="ko-KR" dirty="0"/>
              <a:t>LT</a:t>
            </a:r>
            <a:r>
              <a:rPr lang="ko-KR" altLang="en-US" dirty="0"/>
              <a:t> </a:t>
            </a:r>
            <a:r>
              <a:rPr lang="en-US" altLang="ko-KR" dirty="0"/>
              <a:t>tool.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E331C3-ABD2-08CA-7149-B2F8DB5E95BF}"/>
              </a:ext>
            </a:extLst>
          </p:cNvPr>
          <p:cNvSpPr txBox="1"/>
          <p:nvPr/>
        </p:nvSpPr>
        <p:spPr>
          <a:xfrm>
            <a:off x="174171" y="3223628"/>
            <a:ext cx="81860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■ </a:t>
            </a:r>
            <a:r>
              <a:rPr lang="en-US" altLang="ko-KR" dirty="0"/>
              <a:t>LT</a:t>
            </a:r>
            <a:r>
              <a:rPr lang="ko-KR" altLang="en-US" dirty="0"/>
              <a:t>가 하는 일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HF</a:t>
            </a:r>
            <a:r>
              <a:rPr lang="ko-KR" altLang="en-US" dirty="0"/>
              <a:t> 설문으로 </a:t>
            </a:r>
            <a:r>
              <a:rPr lang="en-US" altLang="ko-KR" dirty="0"/>
              <a:t>“</a:t>
            </a:r>
            <a:r>
              <a:rPr lang="ko-KR" altLang="en-US" dirty="0"/>
              <a:t>이 사람은 어떤 대화 방식을 좋아하는지</a:t>
            </a:r>
            <a:r>
              <a:rPr lang="en-US" altLang="ko-KR" dirty="0"/>
              <a:t>“ </a:t>
            </a:r>
            <a:r>
              <a:rPr lang="ko-KR" altLang="en-US" dirty="0"/>
              <a:t>파악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환자가 편안해 하는 목소리를 선택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그 정보를 바탕으로 </a:t>
            </a:r>
            <a:r>
              <a:rPr lang="en-US" altLang="ko-KR" dirty="0"/>
              <a:t>AI</a:t>
            </a:r>
            <a:r>
              <a:rPr lang="ko-KR" altLang="en-US" dirty="0"/>
              <a:t>가 스스로 환자와 대화하면서 사랑</a:t>
            </a:r>
            <a:r>
              <a:rPr lang="en-US" altLang="ko-KR" dirty="0"/>
              <a:t>, </a:t>
            </a:r>
            <a:r>
              <a:rPr lang="ko-KR" altLang="en-US" dirty="0"/>
              <a:t>감사</a:t>
            </a:r>
            <a:r>
              <a:rPr lang="en-US" altLang="ko-KR" dirty="0"/>
              <a:t>, </a:t>
            </a:r>
            <a:r>
              <a:rPr lang="ko-KR" altLang="en-US" dirty="0"/>
              <a:t>행복 같은 긍정 감정과 기억을 동시에 자극하는 도구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29728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FEBFF-3114-4DBF-65A2-B25D3A6C4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A0D3B1-1E94-06C0-C352-7317795CB3AF}"/>
              </a:ext>
            </a:extLst>
          </p:cNvPr>
          <p:cNvSpPr txBox="1"/>
          <p:nvPr/>
        </p:nvSpPr>
        <p:spPr>
          <a:xfrm>
            <a:off x="174171" y="176512"/>
            <a:ext cx="341600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/>
              <a:t>LT, AI </a:t>
            </a:r>
            <a:r>
              <a:rPr lang="ko-KR" altLang="en-US" b="1" dirty="0"/>
              <a:t>기반의 맞춤형 대화 </a:t>
            </a:r>
            <a:r>
              <a:rPr lang="en-US" altLang="ko-KR" b="1" dirty="0"/>
              <a:t>Tool</a:t>
            </a:r>
            <a:endParaRPr lang="ko-KR" alt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670C3A-FD45-A22A-77E6-F448E4E5B237}"/>
              </a:ext>
            </a:extLst>
          </p:cNvPr>
          <p:cNvSpPr txBox="1"/>
          <p:nvPr/>
        </p:nvSpPr>
        <p:spPr>
          <a:xfrm>
            <a:off x="3817256" y="130345"/>
            <a:ext cx="4929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사랑 감정을 극대화하는 대화 예시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97570D-B0EF-26F1-6A2C-EE08491EC25A}"/>
              </a:ext>
            </a:extLst>
          </p:cNvPr>
          <p:cNvSpPr txBox="1"/>
          <p:nvPr/>
        </p:nvSpPr>
        <p:spPr>
          <a:xfrm>
            <a:off x="333828" y="1391614"/>
            <a:ext cx="927462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예시 </a:t>
            </a:r>
            <a:r>
              <a:rPr lang="en-US" altLang="ko-KR" b="1" dirty="0"/>
              <a:t>1)</a:t>
            </a:r>
            <a:r>
              <a:rPr lang="en-US" altLang="ko-KR" dirty="0"/>
              <a:t> </a:t>
            </a:r>
            <a:r>
              <a:rPr lang="ko-KR" altLang="en-US" dirty="0"/>
              <a:t>공감형 </a:t>
            </a:r>
            <a:r>
              <a:rPr lang="en-US" altLang="ko-KR" dirty="0"/>
              <a:t>× </a:t>
            </a:r>
            <a:r>
              <a:rPr lang="ko-KR" altLang="en-US" dirty="0"/>
              <a:t>관계</a:t>
            </a:r>
            <a:r>
              <a:rPr lang="en-US" altLang="ko-KR" dirty="0"/>
              <a:t>·</a:t>
            </a:r>
            <a:r>
              <a:rPr lang="ko-KR" altLang="en-US" dirty="0"/>
              <a:t>소통형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b="1" dirty="0"/>
              <a:t>목표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가족</a:t>
            </a:r>
            <a:r>
              <a:rPr lang="en-US" altLang="ko-KR" dirty="0"/>
              <a:t>·</a:t>
            </a:r>
            <a:r>
              <a:rPr lang="ko-KR" altLang="en-US" dirty="0"/>
              <a:t>손주에 대한 애착과 따뜻한 기억을 불러오기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LT(</a:t>
            </a:r>
            <a:r>
              <a:rPr lang="ko-KR" altLang="en-US" dirty="0"/>
              <a:t>따뜻한 톤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“요즘 가장 먼저 떠오르는 소중한 분이 누구인지 한 번 떠올려볼까요</a:t>
            </a:r>
            <a:r>
              <a:rPr lang="en-US" altLang="ko-KR" dirty="0"/>
              <a:t>?”</a:t>
            </a:r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환자</a:t>
            </a:r>
            <a:endParaRPr lang="en-US" altLang="ko-KR" dirty="0"/>
          </a:p>
          <a:p>
            <a:r>
              <a:rPr lang="ko-KR" altLang="en-US" dirty="0"/>
              <a:t>“손녀요</a:t>
            </a:r>
            <a:r>
              <a:rPr lang="en-US" altLang="ko-KR" dirty="0"/>
              <a:t>.”</a:t>
            </a:r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LT</a:t>
            </a:r>
          </a:p>
          <a:p>
            <a:r>
              <a:rPr lang="ko-KR" altLang="en-US" dirty="0"/>
              <a:t>“손녀 생각만 해도 얼굴이 조금 밝아 지시는 것 같아요</a:t>
            </a:r>
            <a:r>
              <a:rPr lang="en-US" altLang="ko-KR" dirty="0"/>
              <a:t>. </a:t>
            </a:r>
            <a:r>
              <a:rPr lang="ko-KR" altLang="en-US" dirty="0"/>
              <a:t>😊</a:t>
            </a:r>
            <a:endParaRPr lang="en-US" altLang="ko-KR" dirty="0"/>
          </a:p>
          <a:p>
            <a:r>
              <a:rPr lang="ko-KR" altLang="en-US" dirty="0"/>
              <a:t>손녀와 함께 했던 순간 중에</a:t>
            </a:r>
            <a:r>
              <a:rPr lang="en-US" altLang="ko-KR" dirty="0"/>
              <a:t>, ‘</a:t>
            </a:r>
            <a:r>
              <a:rPr lang="ko-KR" altLang="en-US" dirty="0"/>
              <a:t>정말 행복했다’ 싶은 장면 하나만 이야기 해 </a:t>
            </a:r>
            <a:r>
              <a:rPr lang="ko-KR" altLang="en-US" dirty="0" err="1"/>
              <a:t>주실래요</a:t>
            </a:r>
            <a:r>
              <a:rPr lang="en-US" altLang="ko-KR" dirty="0"/>
              <a:t>?”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26F257-74B9-B138-23F6-C9E7453AC3AF}"/>
              </a:ext>
            </a:extLst>
          </p:cNvPr>
          <p:cNvSpPr txBox="1"/>
          <p:nvPr/>
        </p:nvSpPr>
        <p:spPr>
          <a:xfrm>
            <a:off x="333828" y="5838372"/>
            <a:ext cx="10885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→ 사랑하는 대상 </a:t>
            </a:r>
            <a:r>
              <a:rPr lang="en-US" altLang="ko-KR" b="1" dirty="0"/>
              <a:t>+ </a:t>
            </a:r>
            <a:r>
              <a:rPr lang="ko-KR" altLang="en-US" b="1" dirty="0"/>
              <a:t>구체적인 장면 </a:t>
            </a:r>
            <a:r>
              <a:rPr lang="en-US" altLang="ko-KR" b="1" dirty="0"/>
              <a:t>+ </a:t>
            </a:r>
            <a:r>
              <a:rPr lang="ko-KR" altLang="en-US" b="1" dirty="0"/>
              <a:t>당시 감정을 떠올리게 하는 구조</a:t>
            </a:r>
            <a:r>
              <a:rPr lang="en-US" altLang="ko-KR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31076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F0A39-3CED-4BD2-CBFB-BEEBAF462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ADEDB8-2E88-9811-4881-523607A2FB35}"/>
              </a:ext>
            </a:extLst>
          </p:cNvPr>
          <p:cNvSpPr txBox="1"/>
          <p:nvPr/>
        </p:nvSpPr>
        <p:spPr>
          <a:xfrm>
            <a:off x="174171" y="176512"/>
            <a:ext cx="341600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/>
              <a:t>LT, AI </a:t>
            </a:r>
            <a:r>
              <a:rPr lang="ko-KR" altLang="en-US" b="1" dirty="0"/>
              <a:t>기반의 맞춤형 대화 </a:t>
            </a:r>
            <a:r>
              <a:rPr lang="en-US" altLang="ko-KR" b="1" dirty="0"/>
              <a:t>Tool</a:t>
            </a:r>
            <a:endParaRPr lang="ko-KR" alt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994A4B-27F1-0E49-A5BD-0565A36308E7}"/>
              </a:ext>
            </a:extLst>
          </p:cNvPr>
          <p:cNvSpPr txBox="1"/>
          <p:nvPr/>
        </p:nvSpPr>
        <p:spPr>
          <a:xfrm>
            <a:off x="174171" y="753290"/>
            <a:ext cx="52965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Eleven Labs</a:t>
            </a:r>
            <a:r>
              <a:rPr lang="ko-KR" altLang="en-US" sz="2400" b="1" dirty="0"/>
              <a:t>를 활용한 목소리 개인화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7CEEBE-D974-BCBC-E32C-24D9C9A3253F}"/>
              </a:ext>
            </a:extLst>
          </p:cNvPr>
          <p:cNvSpPr txBox="1"/>
          <p:nvPr/>
        </p:nvSpPr>
        <p:spPr>
          <a:xfrm>
            <a:off x="174171" y="1362898"/>
            <a:ext cx="814197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■ 목소리의 중요성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텍스트만 읽는 것보다</a:t>
            </a:r>
            <a:r>
              <a:rPr lang="en-US" altLang="ko-KR" dirty="0"/>
              <a:t> </a:t>
            </a:r>
            <a:r>
              <a:rPr lang="ko-KR" altLang="en-US" dirty="0"/>
              <a:t>목소리가 있을 때 감정 전달 효과가 훨씬 커짐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특히 보호자</a:t>
            </a:r>
            <a:r>
              <a:rPr lang="en-US" altLang="ko-KR" dirty="0"/>
              <a:t>/</a:t>
            </a:r>
            <a:r>
              <a:rPr lang="ko-KR" altLang="en-US" dirty="0"/>
              <a:t>가족과 비슷한 톤의 목소리 </a:t>
            </a:r>
            <a:endParaRPr lang="en-US" altLang="ko-KR" dirty="0"/>
          </a:p>
          <a:p>
            <a:r>
              <a:rPr lang="en-US" altLang="ko-KR" dirty="0"/>
              <a:t>    </a:t>
            </a:r>
            <a:r>
              <a:rPr lang="ko-KR" altLang="en-US" dirty="0"/>
              <a:t>또는 스스로 선택한 편안한 목소리는 정서적 안전감과 몰입도를 향상시킴</a:t>
            </a:r>
            <a:r>
              <a:rPr lang="en-US" altLang="ko-KR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3BCDB3-E9BF-6B8E-2D0C-DDB9275AC8C7}"/>
              </a:ext>
            </a:extLst>
          </p:cNvPr>
          <p:cNvSpPr txBox="1"/>
          <p:nvPr/>
        </p:nvSpPr>
        <p:spPr>
          <a:xfrm>
            <a:off x="174171" y="3265168"/>
            <a:ext cx="11308160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■ </a:t>
            </a:r>
            <a:r>
              <a:rPr lang="en-US" altLang="ko-KR" dirty="0" err="1"/>
              <a:t>ElevenLabs</a:t>
            </a:r>
            <a:r>
              <a:rPr lang="en-US" altLang="ko-KR" dirty="0"/>
              <a:t> </a:t>
            </a:r>
            <a:r>
              <a:rPr lang="ko-KR" altLang="en-US" dirty="0"/>
              <a:t>적용 흐름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1. </a:t>
            </a:r>
            <a:r>
              <a:rPr lang="ko-KR" altLang="en-US" dirty="0"/>
              <a:t>목소리 준비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기본 목소리 </a:t>
            </a:r>
            <a:r>
              <a:rPr lang="en-US" altLang="ko-KR" dirty="0"/>
              <a:t>(</a:t>
            </a:r>
            <a:r>
              <a:rPr lang="ko-KR" altLang="en-US" dirty="0"/>
              <a:t>예 </a:t>
            </a:r>
            <a:r>
              <a:rPr lang="en-US" altLang="ko-KR" dirty="0"/>
              <a:t>: </a:t>
            </a:r>
            <a:r>
              <a:rPr lang="ko-KR" altLang="en-US" dirty="0"/>
              <a:t>따뜻한 여성</a:t>
            </a:r>
            <a:r>
              <a:rPr lang="en-US" altLang="ko-KR" dirty="0"/>
              <a:t>, </a:t>
            </a:r>
            <a:r>
              <a:rPr lang="ko-KR" altLang="en-US" dirty="0"/>
              <a:t>차분한 남성 등</a:t>
            </a:r>
            <a:r>
              <a:rPr lang="en-US" altLang="ko-KR" dirty="0"/>
              <a:t>) </a:t>
            </a:r>
            <a:r>
              <a:rPr lang="ko-KR" altLang="en-US" dirty="0"/>
              <a:t>의 다수 샘플 준비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필요 시 보호자</a:t>
            </a:r>
            <a:r>
              <a:rPr lang="en-US" altLang="ko-KR" dirty="0"/>
              <a:t>/</a:t>
            </a:r>
            <a:r>
              <a:rPr lang="ko-KR" altLang="en-US" dirty="0"/>
              <a:t>환자 혹은 개인적으로 선호하는 목소리 샘플 녹음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 err="1"/>
              <a:t>클로닝</a:t>
            </a:r>
            <a:r>
              <a:rPr lang="ko-KR" altLang="en-US" dirty="0"/>
              <a:t> </a:t>
            </a:r>
            <a:r>
              <a:rPr lang="en-US" altLang="ko-KR" dirty="0"/>
              <a:t>&amp; </a:t>
            </a:r>
            <a:r>
              <a:rPr lang="ko-KR" altLang="en-US" dirty="0"/>
              <a:t>등록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 err="1"/>
              <a:t>ElevenLabs</a:t>
            </a:r>
            <a:r>
              <a:rPr lang="ko-KR" altLang="en-US" dirty="0"/>
              <a:t>에 샘플 업로드 → 커스텀 보이스 생성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각 환자에게 해당 보이스의 </a:t>
            </a:r>
            <a:r>
              <a:rPr lang="en-US" altLang="ko-KR" dirty="0" err="1"/>
              <a:t>voice_id</a:t>
            </a:r>
            <a:r>
              <a:rPr lang="en-US" altLang="ko-KR" dirty="0"/>
              <a:t> </a:t>
            </a:r>
            <a:r>
              <a:rPr lang="ko-KR" altLang="en-US" dirty="0"/>
              <a:t>를 부여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r>
              <a:rPr lang="en-US" altLang="ko-KR" dirty="0"/>
              <a:t>3. </a:t>
            </a:r>
            <a:r>
              <a:rPr lang="ko-KR" altLang="en-US" dirty="0"/>
              <a:t>세션 중 사용</a:t>
            </a:r>
            <a:endParaRPr lang="en-US" altLang="ko-KR" dirty="0"/>
          </a:p>
          <a:p>
            <a:r>
              <a:rPr lang="en-US" altLang="ko-KR" dirty="0"/>
              <a:t>- AI</a:t>
            </a:r>
            <a:r>
              <a:rPr lang="ko-KR" altLang="en-US" dirty="0"/>
              <a:t>가 생성한 문장을 </a:t>
            </a:r>
            <a:r>
              <a:rPr lang="en-US" altLang="ko-KR" dirty="0" err="1"/>
              <a:t>voice_id</a:t>
            </a:r>
            <a:r>
              <a:rPr lang="ko-KR" altLang="en-US" dirty="0"/>
              <a:t>와 함께 </a:t>
            </a:r>
            <a:r>
              <a:rPr lang="en-US" altLang="ko-KR" dirty="0"/>
              <a:t>Eleven Labs API</a:t>
            </a:r>
            <a:r>
              <a:rPr lang="ko-KR" altLang="en-US" dirty="0"/>
              <a:t>에 전달 → 반환된 음성을 클라이언트에 반영 후 재생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3080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7F75E-C167-40BD-E326-F1236E3DA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FAD3F9-E84A-B8FC-8EB5-142E9BE3249A}"/>
              </a:ext>
            </a:extLst>
          </p:cNvPr>
          <p:cNvSpPr txBox="1"/>
          <p:nvPr/>
        </p:nvSpPr>
        <p:spPr>
          <a:xfrm>
            <a:off x="174171" y="176512"/>
            <a:ext cx="341600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/>
              <a:t>LT, AI </a:t>
            </a:r>
            <a:r>
              <a:rPr lang="ko-KR" altLang="en-US" b="1" dirty="0"/>
              <a:t>기반의 맞춤형 대화 </a:t>
            </a:r>
            <a:r>
              <a:rPr lang="en-US" altLang="ko-KR" b="1" dirty="0"/>
              <a:t>Tool</a:t>
            </a:r>
            <a:endParaRPr lang="ko-KR" alt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2876E0-35CA-9467-2433-F77EA82F7F84}"/>
              </a:ext>
            </a:extLst>
          </p:cNvPr>
          <p:cNvSpPr txBox="1"/>
          <p:nvPr/>
        </p:nvSpPr>
        <p:spPr>
          <a:xfrm>
            <a:off x="174171" y="753290"/>
            <a:ext cx="21493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HF </a:t>
            </a:r>
            <a:r>
              <a:rPr lang="ko-KR" altLang="en-US" sz="2400" b="1" dirty="0"/>
              <a:t>↔</a:t>
            </a:r>
            <a:r>
              <a:rPr lang="en-US" altLang="ko-KR" sz="2400" b="1" dirty="0"/>
              <a:t> LT </a:t>
            </a:r>
            <a:r>
              <a:rPr lang="ko-KR" altLang="en-US" sz="2400" b="1" dirty="0"/>
              <a:t>연계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28621F-4A0B-9FF6-E75C-03EBAE70955D}"/>
              </a:ext>
            </a:extLst>
          </p:cNvPr>
          <p:cNvSpPr txBox="1"/>
          <p:nvPr/>
        </p:nvSpPr>
        <p:spPr>
          <a:xfrm>
            <a:off x="174171" y="1728657"/>
            <a:ext cx="818605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■ </a:t>
            </a:r>
            <a:r>
              <a:rPr lang="en-US" altLang="ko-KR" dirty="0"/>
              <a:t>LT</a:t>
            </a:r>
            <a:r>
              <a:rPr lang="ko-KR" altLang="en-US" dirty="0"/>
              <a:t>와의 연결 방식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LT </a:t>
            </a:r>
            <a:r>
              <a:rPr lang="ko-KR" altLang="en-US" dirty="0"/>
              <a:t>웹</a:t>
            </a:r>
            <a:r>
              <a:rPr lang="en-US" altLang="ko-KR" dirty="0"/>
              <a:t>/</a:t>
            </a:r>
            <a:r>
              <a:rPr lang="ko-KR" altLang="en-US" dirty="0"/>
              <a:t>앱 안에서 </a:t>
            </a:r>
            <a:r>
              <a:rPr lang="en-US" altLang="ko-KR" dirty="0"/>
              <a:t>HF HTML</a:t>
            </a:r>
            <a:r>
              <a:rPr lang="ko-KR" altLang="en-US" dirty="0"/>
              <a:t>을 그대로 띄움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웹 </a:t>
            </a:r>
            <a:r>
              <a:rPr lang="en-US" altLang="ko-KR" dirty="0"/>
              <a:t>: </a:t>
            </a:r>
            <a:r>
              <a:rPr lang="en-US" altLang="ko-KR" dirty="0" err="1"/>
              <a:t>iframe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앱 </a:t>
            </a:r>
            <a:r>
              <a:rPr lang="en-US" altLang="ko-KR" dirty="0"/>
              <a:t>: </a:t>
            </a:r>
            <a:r>
              <a:rPr lang="en-US" altLang="ko-KR" dirty="0" err="1"/>
              <a:t>webview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환자가 설문을 마치고 “</a:t>
            </a:r>
            <a:r>
              <a:rPr lang="ko-KR" altLang="en-US" dirty="0" err="1"/>
              <a:t>제출”을</a:t>
            </a:r>
            <a:r>
              <a:rPr lang="ko-KR" altLang="en-US" dirty="0"/>
              <a:t> 누르면</a:t>
            </a:r>
            <a:r>
              <a:rPr lang="en-US" altLang="ko-KR" dirty="0"/>
              <a:t>HF </a:t>
            </a:r>
            <a:r>
              <a:rPr lang="ko-KR" altLang="en-US" dirty="0"/>
              <a:t>페이지의 </a:t>
            </a:r>
            <a:r>
              <a:rPr lang="en-US" altLang="ko-KR" dirty="0"/>
              <a:t>JavaScript</a:t>
            </a:r>
            <a:r>
              <a:rPr lang="ko-KR" altLang="en-US" dirty="0"/>
              <a:t>가 각 문항의 응답 값을 모아서 </a:t>
            </a:r>
            <a:r>
              <a:rPr lang="en-US" altLang="ko-KR" dirty="0"/>
              <a:t>LT </a:t>
            </a:r>
            <a:r>
              <a:rPr lang="ko-KR" altLang="en-US" dirty="0"/>
              <a:t>서버로 </a:t>
            </a:r>
            <a:r>
              <a:rPr lang="en-US" altLang="ko-KR" dirty="0"/>
              <a:t>JSON </a:t>
            </a:r>
            <a:r>
              <a:rPr lang="ko-KR" altLang="en-US" dirty="0"/>
              <a:t>형태로 전송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3. LT </a:t>
            </a:r>
            <a:r>
              <a:rPr lang="ko-KR" altLang="en-US" dirty="0"/>
              <a:t>서버는 이 데이터를 받아 점수를 계산하고</a:t>
            </a:r>
            <a:r>
              <a:rPr lang="en-US" altLang="ko-KR" dirty="0"/>
              <a:t>, 16</a:t>
            </a:r>
            <a:r>
              <a:rPr lang="ko-KR" altLang="en-US" dirty="0"/>
              <a:t>가지 </a:t>
            </a:r>
            <a:r>
              <a:rPr lang="en-US" altLang="ko-KR" dirty="0"/>
              <a:t>HF </a:t>
            </a:r>
            <a:r>
              <a:rPr lang="ko-KR" altLang="en-US" dirty="0"/>
              <a:t>대화 타입 중 하나를 결정</a:t>
            </a:r>
            <a:r>
              <a:rPr lang="en-US" altLang="ko-KR" dirty="0"/>
              <a:t>. </a:t>
            </a:r>
            <a:r>
              <a:rPr lang="ko-KR" altLang="en-US" dirty="0"/>
              <a:t>→ 이 결과를 환자의 </a:t>
            </a:r>
            <a:r>
              <a:rPr lang="en-US" altLang="ko-KR" dirty="0"/>
              <a:t>LT </a:t>
            </a:r>
            <a:r>
              <a:rPr lang="ko-KR" altLang="en-US" dirty="0"/>
              <a:t>프로필에 저장</a:t>
            </a:r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FEB3AF-A311-44F9-5024-BE2B18E38D8D}"/>
              </a:ext>
            </a:extLst>
          </p:cNvPr>
          <p:cNvSpPr txBox="1"/>
          <p:nvPr/>
        </p:nvSpPr>
        <p:spPr>
          <a:xfrm>
            <a:off x="174170" y="5301343"/>
            <a:ext cx="10885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en-US" altLang="ko-KR" b="1" dirty="0"/>
              <a:t>HF</a:t>
            </a:r>
            <a:r>
              <a:rPr lang="ko-KR" altLang="en-US" b="1" dirty="0"/>
              <a:t>는</a:t>
            </a:r>
            <a:r>
              <a:rPr lang="ko-KR" altLang="en-US" dirty="0"/>
              <a:t> </a:t>
            </a:r>
            <a:r>
              <a:rPr lang="ko-KR" altLang="en-US" b="1" dirty="0"/>
              <a:t>“대화 성향 검사 화면”</a:t>
            </a:r>
            <a:r>
              <a:rPr lang="en-US" altLang="ko-KR" dirty="0"/>
              <a:t>, </a:t>
            </a:r>
            <a:r>
              <a:rPr lang="en-US" altLang="ko-KR" b="1" dirty="0"/>
              <a:t>LT</a:t>
            </a:r>
            <a:r>
              <a:rPr lang="ko-KR" altLang="en-US" b="1" dirty="0"/>
              <a:t>는</a:t>
            </a:r>
            <a:r>
              <a:rPr lang="ko-KR" altLang="en-US" dirty="0"/>
              <a:t> </a:t>
            </a:r>
            <a:r>
              <a:rPr lang="ko-KR" altLang="en-US" b="1" dirty="0"/>
              <a:t>“검사 결과를 받아 실제 대화까지 이어주는 시스템”</a:t>
            </a:r>
            <a:r>
              <a:rPr lang="en-US" altLang="ko-KR" dirty="0"/>
              <a:t>. </a:t>
            </a:r>
            <a:r>
              <a:rPr lang="ko-KR" altLang="en-US" dirty="0"/>
              <a:t>으로 디자인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27388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00182-1C4D-2259-309A-EF15E88DB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262F85-8D74-04B7-1D3A-0232AD2355A9}"/>
              </a:ext>
            </a:extLst>
          </p:cNvPr>
          <p:cNvSpPr txBox="1"/>
          <p:nvPr/>
        </p:nvSpPr>
        <p:spPr>
          <a:xfrm>
            <a:off x="174171" y="176512"/>
            <a:ext cx="341600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/>
              <a:t>LT, AI </a:t>
            </a:r>
            <a:r>
              <a:rPr lang="ko-KR" altLang="en-US" b="1" dirty="0"/>
              <a:t>기반의 맞춤형 대화 </a:t>
            </a:r>
            <a:r>
              <a:rPr lang="en-US" altLang="ko-KR" b="1" dirty="0"/>
              <a:t>Tool</a:t>
            </a:r>
            <a:endParaRPr lang="ko-KR" altLang="en-US" b="1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464511A-F54F-4F94-71D3-8FD0A86585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4323273"/>
              </p:ext>
            </p:extLst>
          </p:nvPr>
        </p:nvGraphicFramePr>
        <p:xfrm>
          <a:off x="304800" y="1191380"/>
          <a:ext cx="5631545" cy="51803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6309">
                  <a:extLst>
                    <a:ext uri="{9D8B030D-6E8A-4147-A177-3AD203B41FA5}">
                      <a16:colId xmlns:a16="http://schemas.microsoft.com/office/drawing/2014/main" val="1015192608"/>
                    </a:ext>
                  </a:extLst>
                </a:gridCol>
                <a:gridCol w="1126309">
                  <a:extLst>
                    <a:ext uri="{9D8B030D-6E8A-4147-A177-3AD203B41FA5}">
                      <a16:colId xmlns:a16="http://schemas.microsoft.com/office/drawing/2014/main" val="2495189228"/>
                    </a:ext>
                  </a:extLst>
                </a:gridCol>
                <a:gridCol w="1126309">
                  <a:extLst>
                    <a:ext uri="{9D8B030D-6E8A-4147-A177-3AD203B41FA5}">
                      <a16:colId xmlns:a16="http://schemas.microsoft.com/office/drawing/2014/main" val="3436534975"/>
                    </a:ext>
                  </a:extLst>
                </a:gridCol>
                <a:gridCol w="1126309">
                  <a:extLst>
                    <a:ext uri="{9D8B030D-6E8A-4147-A177-3AD203B41FA5}">
                      <a16:colId xmlns:a16="http://schemas.microsoft.com/office/drawing/2014/main" val="3629799288"/>
                    </a:ext>
                  </a:extLst>
                </a:gridCol>
                <a:gridCol w="1126309">
                  <a:extLst>
                    <a:ext uri="{9D8B030D-6E8A-4147-A177-3AD203B41FA5}">
                      <a16:colId xmlns:a16="http://schemas.microsoft.com/office/drawing/2014/main" val="625596551"/>
                    </a:ext>
                  </a:extLst>
                </a:gridCol>
              </a:tblGrid>
              <a:tr h="10246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대화 방식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대화 주제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공감형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인지형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동기형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행동형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189366"/>
                  </a:ext>
                </a:extLst>
              </a:tr>
              <a:tr h="10389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자기인식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정서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공감형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자기인식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정서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인지형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X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자기인식</a:t>
                      </a: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정서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동기형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X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자기인식</a:t>
                      </a: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정서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행동형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X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자기인식</a:t>
                      </a: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정서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068618"/>
                  </a:ext>
                </a:extLst>
              </a:tr>
              <a:tr h="10389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관계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</a:t>
                      </a:r>
                    </a:p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소통</a:t>
                      </a:r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공감형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X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관계</a:t>
                      </a: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소통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인지형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X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관계</a:t>
                      </a: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소통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동기형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X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관계</a:t>
                      </a: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소통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행동형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X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관계</a:t>
                      </a: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소통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363877"/>
                  </a:ext>
                </a:extLst>
              </a:tr>
              <a:tr h="10389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회복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</a:t>
                      </a:r>
                    </a:p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적응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공감형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X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회복</a:t>
                      </a: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적응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인지형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X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회복</a:t>
                      </a: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적응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동기형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X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회복</a:t>
                      </a: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적응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행동형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X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회복</a:t>
                      </a: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적응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3567992"/>
                  </a:ext>
                </a:extLst>
              </a:tr>
              <a:tr h="10389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행동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</a:t>
                      </a:r>
                    </a:p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습관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공감형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X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행동</a:t>
                      </a: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습관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인지형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X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행동</a:t>
                      </a: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습관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동기형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X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행동</a:t>
                      </a: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습관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행동형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X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행동</a:t>
                      </a: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습관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8486802"/>
                  </a:ext>
                </a:extLst>
              </a:tr>
            </a:tbl>
          </a:graphicData>
        </a:graphic>
      </p:graphicFrame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44966C9-D5C1-880D-1DF9-9B693CB6466B}"/>
              </a:ext>
            </a:extLst>
          </p:cNvPr>
          <p:cNvCxnSpPr/>
          <p:nvPr/>
        </p:nvCxnSpPr>
        <p:spPr>
          <a:xfrm>
            <a:off x="304800" y="1480457"/>
            <a:ext cx="1132114" cy="4644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C5BFE41-C383-ED1B-CD3A-995DA136F8E5}"/>
              </a:ext>
            </a:extLst>
          </p:cNvPr>
          <p:cNvSpPr txBox="1"/>
          <p:nvPr/>
        </p:nvSpPr>
        <p:spPr>
          <a:xfrm>
            <a:off x="6096000" y="5725442"/>
            <a:ext cx="4296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→ 대화 방식 </a:t>
            </a:r>
            <a:r>
              <a:rPr lang="en-US" altLang="ko-KR" dirty="0"/>
              <a:t>4 </a:t>
            </a:r>
            <a:r>
              <a:rPr lang="ko-KR" altLang="en-US" dirty="0"/>
              <a:t>유형 </a:t>
            </a:r>
            <a:r>
              <a:rPr lang="en-US" altLang="ko-KR" dirty="0"/>
              <a:t>X </a:t>
            </a:r>
            <a:r>
              <a:rPr lang="ko-KR" altLang="en-US" dirty="0"/>
              <a:t>대화 주제 </a:t>
            </a:r>
            <a:r>
              <a:rPr lang="en-US" altLang="ko-KR" dirty="0"/>
              <a:t>4 </a:t>
            </a:r>
            <a:r>
              <a:rPr lang="ko-KR" altLang="en-US" dirty="0"/>
              <a:t>유형 </a:t>
            </a:r>
            <a:endParaRPr lang="en-US" altLang="ko-KR" dirty="0"/>
          </a:p>
          <a:p>
            <a:r>
              <a:rPr lang="en-US" altLang="ko-KR" dirty="0"/>
              <a:t>= 16 </a:t>
            </a:r>
            <a:r>
              <a:rPr lang="ko-KR" altLang="en-US" dirty="0"/>
              <a:t>타입으로 환자 분류</a:t>
            </a:r>
            <a:r>
              <a:rPr lang="en-US" altLang="ko-KR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C7CB60-2D6D-CFF8-2A46-B31522857829}"/>
              </a:ext>
            </a:extLst>
          </p:cNvPr>
          <p:cNvSpPr txBox="1"/>
          <p:nvPr/>
        </p:nvSpPr>
        <p:spPr>
          <a:xfrm>
            <a:off x="6096000" y="1712685"/>
            <a:ext cx="505097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■ </a:t>
            </a:r>
            <a:r>
              <a:rPr lang="en-US" altLang="ko-KR" sz="2000" dirty="0"/>
              <a:t>LT </a:t>
            </a:r>
            <a:r>
              <a:rPr lang="ko-KR" altLang="en-US" sz="2000" dirty="0"/>
              <a:t>입장에서 </a:t>
            </a:r>
            <a:r>
              <a:rPr lang="en-US" altLang="ko-KR" sz="2000" dirty="0"/>
              <a:t>HF </a:t>
            </a:r>
            <a:r>
              <a:rPr lang="ko-KR" altLang="en-US" sz="2000" dirty="0"/>
              <a:t>타입이 의미하는 것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en-US" altLang="ko-KR" sz="2000" dirty="0"/>
              <a:t>“</a:t>
            </a:r>
            <a:r>
              <a:rPr lang="ko-KR" altLang="en-US" sz="2000" dirty="0"/>
              <a:t>이 환자에게 어떤 말투</a:t>
            </a:r>
            <a:r>
              <a:rPr lang="en-US" altLang="ko-KR" sz="2000" dirty="0"/>
              <a:t>, </a:t>
            </a:r>
            <a:r>
              <a:rPr lang="ko-KR" altLang="en-US" sz="2000" dirty="0"/>
              <a:t>어떤 주제 비율</a:t>
            </a:r>
            <a:r>
              <a:rPr lang="en-US" altLang="ko-KR" sz="2000" dirty="0"/>
              <a:t>, </a:t>
            </a:r>
          </a:p>
          <a:p>
            <a:r>
              <a:rPr lang="ko-KR" altLang="en-US" sz="2000" dirty="0"/>
              <a:t>   어떤 질문 스타일을 쓸 지</a:t>
            </a:r>
            <a:r>
              <a:rPr lang="en-US" altLang="ko-KR" sz="2000" dirty="0"/>
              <a:t>“</a:t>
            </a:r>
          </a:p>
          <a:p>
            <a:endParaRPr lang="en-US" altLang="ko-KR" sz="2000" dirty="0"/>
          </a:p>
          <a:p>
            <a:r>
              <a:rPr lang="ko-KR" altLang="en-US" sz="2000" dirty="0"/>
              <a:t>→ 대화 스타일의 레시피 역할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703490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1F6B4-291B-35E1-2F5B-A5707AC4F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29F791-948E-FBE5-58FA-7299459AE991}"/>
              </a:ext>
            </a:extLst>
          </p:cNvPr>
          <p:cNvSpPr txBox="1"/>
          <p:nvPr/>
        </p:nvSpPr>
        <p:spPr>
          <a:xfrm>
            <a:off x="174171" y="176512"/>
            <a:ext cx="341600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/>
              <a:t>LT, AI </a:t>
            </a:r>
            <a:r>
              <a:rPr lang="ko-KR" altLang="en-US" b="1" dirty="0"/>
              <a:t>기반의 맞춤형 대화 </a:t>
            </a:r>
            <a:r>
              <a:rPr lang="en-US" altLang="ko-KR" b="1" dirty="0"/>
              <a:t>Tool</a:t>
            </a:r>
            <a:endParaRPr lang="ko-KR" alt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EE52AC-53CD-55D3-6C2E-0B24ABF7D704}"/>
              </a:ext>
            </a:extLst>
          </p:cNvPr>
          <p:cNvSpPr txBox="1"/>
          <p:nvPr/>
        </p:nvSpPr>
        <p:spPr>
          <a:xfrm>
            <a:off x="3817256" y="130345"/>
            <a:ext cx="12243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LT </a:t>
            </a:r>
            <a:r>
              <a:rPr lang="ko-KR" altLang="en-US" sz="2400" b="1" dirty="0"/>
              <a:t>구조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2630B4-B08B-9DF9-34FE-16D9AC46BE27}"/>
              </a:ext>
            </a:extLst>
          </p:cNvPr>
          <p:cNvSpPr txBox="1"/>
          <p:nvPr/>
        </p:nvSpPr>
        <p:spPr>
          <a:xfrm>
            <a:off x="701858" y="1045029"/>
            <a:ext cx="4688115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■ 클라이언트</a:t>
            </a:r>
            <a:r>
              <a:rPr lang="en-US" altLang="ko-KR" dirty="0"/>
              <a:t>(</a:t>
            </a:r>
            <a:r>
              <a:rPr lang="ko-KR" altLang="en-US" dirty="0"/>
              <a:t>환자 및 보호자</a:t>
            </a:r>
            <a:r>
              <a:rPr lang="en-US" altLang="ko-KR" dirty="0"/>
              <a:t>)</a:t>
            </a:r>
            <a:r>
              <a:rPr lang="ko-KR" altLang="en-US" dirty="0"/>
              <a:t>가 보는 화면</a:t>
            </a:r>
            <a:r>
              <a:rPr lang="en-US" altLang="ko-KR" dirty="0"/>
              <a:t> 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형태 </a:t>
            </a:r>
            <a:r>
              <a:rPr lang="en-US" altLang="ko-KR" dirty="0"/>
              <a:t>: </a:t>
            </a:r>
            <a:r>
              <a:rPr lang="ko-KR" altLang="en-US" dirty="0"/>
              <a:t>웹 페이지 또는 태블릿</a:t>
            </a:r>
            <a:r>
              <a:rPr lang="en-US" altLang="ko-KR" dirty="0"/>
              <a:t>/PC </a:t>
            </a:r>
            <a:r>
              <a:rPr lang="ko-KR" altLang="en-US" dirty="0"/>
              <a:t>용 앱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기능</a:t>
            </a:r>
            <a:endParaRPr lang="en-US" altLang="ko-KR" dirty="0"/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Arial" panose="020B0604020202020204" pitchFamily="34" charset="0"/>
              </a:rPr>
              <a:t>1. </a:t>
            </a:r>
            <a:r>
              <a:rPr lang="ko-KR" altLang="ko-KR" dirty="0">
                <a:latin typeface="Arial" panose="020B0604020202020204" pitchFamily="34" charset="0"/>
              </a:rPr>
              <a:t>HF 설문 화면(HF HTML </a:t>
            </a:r>
            <a:r>
              <a:rPr lang="ko-KR" altLang="ko-KR" dirty="0" err="1">
                <a:latin typeface="Arial" panose="020B0604020202020204" pitchFamily="34" charset="0"/>
              </a:rPr>
              <a:t>임베드</a:t>
            </a:r>
            <a:r>
              <a:rPr lang="ko-KR" altLang="ko-KR" dirty="0">
                <a:latin typeface="Arial" panose="020B0604020202020204" pitchFamily="34" charset="0"/>
              </a:rPr>
              <a:t>)</a:t>
            </a:r>
            <a:endParaRPr lang="en-US" altLang="ko-KR" dirty="0">
              <a:latin typeface="Arial" panose="020B0604020202020204" pitchFamily="34" charset="0"/>
            </a:endParaRPr>
          </a:p>
          <a:p>
            <a:pPr marL="342900" lvl="0" indent="-342900" eaLnBrk="0" fontAlgn="base" latinLnBrk="0" hangingPunct="0">
              <a:spcBef>
                <a:spcPct val="0"/>
              </a:spcBef>
              <a:spcAft>
                <a:spcPct val="0"/>
              </a:spcAft>
              <a:buAutoNum type="arabicPeriod"/>
            </a:pPr>
            <a:endParaRPr lang="ko-KR" altLang="ko-KR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Arial" panose="020B0604020202020204" pitchFamily="34" charset="0"/>
              </a:rPr>
              <a:t>2. </a:t>
            </a:r>
            <a:r>
              <a:rPr lang="ko-KR" altLang="ko-KR" dirty="0">
                <a:latin typeface="Arial" panose="020B0604020202020204" pitchFamily="34" charset="0"/>
              </a:rPr>
              <a:t>LT 대화 화면(말풍선, </a:t>
            </a:r>
            <a:r>
              <a:rPr lang="ko-KR" altLang="ko-KR" dirty="0" err="1">
                <a:latin typeface="Arial" panose="020B0604020202020204" pitchFamily="34" charset="0"/>
              </a:rPr>
              <a:t>이모지</a:t>
            </a:r>
            <a:r>
              <a:rPr lang="ko-KR" altLang="ko-KR" dirty="0">
                <a:latin typeface="Arial" panose="020B0604020202020204" pitchFamily="34" charset="0"/>
              </a:rPr>
              <a:t>, 큰 버튼)</a:t>
            </a:r>
            <a:endParaRPr lang="en-US" altLang="ko-KR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ko-KR" altLang="ko-KR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Arial" panose="020B0604020202020204" pitchFamily="34" charset="0"/>
              </a:rPr>
              <a:t>3. </a:t>
            </a:r>
            <a:r>
              <a:rPr lang="ko-KR" altLang="en-US" dirty="0">
                <a:latin typeface="Arial" panose="020B0604020202020204" pitchFamily="34" charset="0"/>
              </a:rPr>
              <a:t>대화 재생 및 멈춤 </a:t>
            </a:r>
            <a:r>
              <a:rPr lang="en-US" altLang="ko-KR" dirty="0">
                <a:latin typeface="Arial" panose="020B0604020202020204" pitchFamily="34" charset="0"/>
              </a:rPr>
              <a:t>: </a:t>
            </a:r>
            <a:r>
              <a:rPr lang="ko-KR" altLang="en-US" dirty="0">
                <a:latin typeface="Arial" panose="020B0604020202020204" pitchFamily="34" charset="0"/>
              </a:rPr>
              <a:t>시작</a:t>
            </a:r>
            <a:r>
              <a:rPr lang="ko-KR" altLang="ko-KR" dirty="0">
                <a:latin typeface="Arial" panose="020B0604020202020204" pitchFamily="34" charset="0"/>
              </a:rPr>
              <a:t>/</a:t>
            </a:r>
            <a:r>
              <a:rPr lang="ko-KR" altLang="en-US" dirty="0">
                <a:latin typeface="Arial" panose="020B0604020202020204" pitchFamily="34" charset="0"/>
              </a:rPr>
              <a:t>종료</a:t>
            </a:r>
            <a:r>
              <a:rPr lang="ko-KR" altLang="ko-KR" dirty="0">
                <a:latin typeface="Arial" panose="020B0604020202020204" pitchFamily="34" charset="0"/>
              </a:rPr>
              <a:t> 버튼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89BD1C-FF91-9EAC-C91C-2E4AFF3BACDA}"/>
              </a:ext>
            </a:extLst>
          </p:cNvPr>
          <p:cNvSpPr txBox="1"/>
          <p:nvPr/>
        </p:nvSpPr>
        <p:spPr>
          <a:xfrm>
            <a:off x="6802027" y="1030516"/>
            <a:ext cx="4688115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■ </a:t>
            </a:r>
            <a:r>
              <a:rPr lang="ko-KR" altLang="en-US" dirty="0" err="1"/>
              <a:t>백엔드</a:t>
            </a:r>
            <a:r>
              <a:rPr lang="ko-KR" altLang="en-US" dirty="0"/>
              <a:t> 서버 </a:t>
            </a:r>
            <a:r>
              <a:rPr lang="en-US" altLang="ko-KR" dirty="0"/>
              <a:t>(LT Core)</a:t>
            </a:r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역할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HF </a:t>
            </a:r>
            <a:r>
              <a:rPr lang="ko-KR" altLang="en-US" dirty="0"/>
              <a:t>설문 결과 수신 및 점수 계산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HF </a:t>
            </a:r>
            <a:r>
              <a:rPr lang="ko-KR" altLang="en-US" dirty="0"/>
              <a:t>타입 → </a:t>
            </a:r>
            <a:r>
              <a:rPr lang="en-US" altLang="ko-KR" dirty="0"/>
              <a:t>LT </a:t>
            </a:r>
            <a:r>
              <a:rPr lang="ko-KR" altLang="en-US" dirty="0"/>
              <a:t>대화 스타일 매핑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세션 시작</a:t>
            </a:r>
            <a:r>
              <a:rPr lang="en-US" altLang="ko-KR" dirty="0"/>
              <a:t>/</a:t>
            </a:r>
            <a:r>
              <a:rPr lang="ko-KR" altLang="en-US" dirty="0"/>
              <a:t>종료 관리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AI </a:t>
            </a:r>
            <a:r>
              <a:rPr lang="ko-KR" altLang="en-US" dirty="0"/>
              <a:t>서비스</a:t>
            </a:r>
            <a:r>
              <a:rPr lang="en-US" altLang="ko-KR" dirty="0"/>
              <a:t>(</a:t>
            </a:r>
            <a:r>
              <a:rPr lang="ko-KR" altLang="en-US" dirty="0"/>
              <a:t>대화 모델</a:t>
            </a:r>
            <a:r>
              <a:rPr lang="en-US" altLang="ko-KR" dirty="0"/>
              <a:t>) </a:t>
            </a:r>
            <a:r>
              <a:rPr lang="ko-KR" altLang="en-US" dirty="0"/>
              <a:t>호출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/>
              <a:t>ElevenLabs</a:t>
            </a:r>
            <a:r>
              <a:rPr lang="en-US" altLang="ko-KR" dirty="0"/>
              <a:t> TTS </a:t>
            </a:r>
            <a:r>
              <a:rPr lang="ko-KR" altLang="en-US" dirty="0"/>
              <a:t>호출데이터 저장</a:t>
            </a:r>
            <a:endParaRPr lang="ko-KR" altLang="ko-KR" dirty="0"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B9AA1B-C926-3E15-C7CF-82E453B5DAAD}"/>
              </a:ext>
            </a:extLst>
          </p:cNvPr>
          <p:cNvSpPr txBox="1"/>
          <p:nvPr/>
        </p:nvSpPr>
        <p:spPr>
          <a:xfrm>
            <a:off x="701857" y="3940629"/>
            <a:ext cx="4688115" cy="25545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■ 외부 </a:t>
            </a:r>
            <a:r>
              <a:rPr lang="en-US" altLang="ko-KR" dirty="0"/>
              <a:t>AI·</a:t>
            </a:r>
            <a:r>
              <a:rPr lang="ko-KR" altLang="en-US" dirty="0"/>
              <a:t>음성 서비스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형태 </a:t>
            </a:r>
            <a:r>
              <a:rPr lang="en-US" altLang="ko-KR" dirty="0"/>
              <a:t>: </a:t>
            </a:r>
            <a:r>
              <a:rPr lang="ko-KR" altLang="en-US" dirty="0"/>
              <a:t>웹 페이지 또는 태블릿</a:t>
            </a:r>
            <a:r>
              <a:rPr lang="en-US" altLang="ko-KR" dirty="0"/>
              <a:t>/PC </a:t>
            </a:r>
            <a:r>
              <a:rPr lang="ko-KR" altLang="en-US" dirty="0"/>
              <a:t>용 액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기능</a:t>
            </a:r>
            <a:endParaRPr lang="en-US" altLang="ko-KR" dirty="0"/>
          </a:p>
          <a:p>
            <a:pPr marL="342900" lvl="0" indent="-342900" eaLnBrk="0" fontAlgn="base" latinLnBrk="0" hangingPunc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ko-KR" altLang="en-US" sz="1600" dirty="0">
                <a:latin typeface="Arial" panose="020B0604020202020204" pitchFamily="34" charset="0"/>
              </a:rPr>
              <a:t>대화 </a:t>
            </a:r>
            <a:r>
              <a:rPr lang="en-US" altLang="ko-KR" sz="1600" dirty="0">
                <a:latin typeface="Arial" panose="020B0604020202020204" pitchFamily="34" charset="0"/>
              </a:rPr>
              <a:t>AI: ChatGPT </a:t>
            </a:r>
            <a:r>
              <a:rPr lang="ko-KR" altLang="en-US" sz="1600" dirty="0">
                <a:latin typeface="Arial" panose="020B0604020202020204" pitchFamily="34" charset="0"/>
              </a:rPr>
              <a:t>계열 대형 언어모델</a:t>
            </a:r>
            <a:r>
              <a:rPr lang="en-US" altLang="ko-KR" sz="1600" dirty="0">
                <a:latin typeface="Arial" panose="020B0604020202020204" pitchFamily="34" charset="0"/>
              </a:rPr>
              <a:t>(API)</a:t>
            </a:r>
          </a:p>
          <a:p>
            <a:pPr marL="342900" lvl="0" indent="-342900" eaLnBrk="0" fontAlgn="base" latinLnBrk="0" hangingPunct="0">
              <a:spcBef>
                <a:spcPct val="0"/>
              </a:spcBef>
              <a:spcAft>
                <a:spcPct val="0"/>
              </a:spcAft>
              <a:buAutoNum type="arabicPeriod"/>
            </a:pPr>
            <a:endParaRPr lang="en-US" altLang="ko-KR" dirty="0">
              <a:latin typeface="Arial" panose="020B0604020202020204" pitchFamily="34" charset="0"/>
            </a:endParaRPr>
          </a:p>
          <a:p>
            <a:pPr marL="342900" lvl="0" indent="-342900" eaLnBrk="0" fontAlgn="base" latinLnBrk="0" hangingPunc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ko-KR" dirty="0">
                <a:latin typeface="Arial" panose="020B0604020202020204" pitchFamily="34" charset="0"/>
              </a:rPr>
              <a:t>TTS(</a:t>
            </a:r>
            <a:r>
              <a:rPr lang="ko-KR" altLang="en-US" dirty="0">
                <a:latin typeface="Arial" panose="020B0604020202020204" pitchFamily="34" charset="0"/>
              </a:rPr>
              <a:t>음성</a:t>
            </a:r>
            <a:r>
              <a:rPr lang="en-US" altLang="ko-KR" dirty="0">
                <a:latin typeface="Arial" panose="020B0604020202020204" pitchFamily="34" charset="0"/>
              </a:rPr>
              <a:t>): </a:t>
            </a:r>
            <a:r>
              <a:rPr lang="en-US" altLang="ko-KR" dirty="0" err="1">
                <a:latin typeface="Arial" panose="020B0604020202020204" pitchFamily="34" charset="0"/>
              </a:rPr>
              <a:t>ElevenLabs</a:t>
            </a:r>
            <a:r>
              <a:rPr lang="en-US" altLang="ko-KR" dirty="0">
                <a:latin typeface="Arial" panose="020B0604020202020204" pitchFamily="34" charset="0"/>
              </a:rPr>
              <a:t> API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Arial" panose="020B0604020202020204" pitchFamily="34" charset="0"/>
              </a:rPr>
              <a:t>- </a:t>
            </a:r>
            <a:r>
              <a:rPr lang="ko-KR" altLang="en-US" dirty="0">
                <a:latin typeface="Arial" panose="020B0604020202020204" pitchFamily="34" charset="0"/>
              </a:rPr>
              <a:t>미리 설정한 </a:t>
            </a:r>
            <a:r>
              <a:rPr lang="en-US" altLang="ko-KR" dirty="0" err="1">
                <a:latin typeface="Arial" panose="020B0604020202020204" pitchFamily="34" charset="0"/>
              </a:rPr>
              <a:t>voice_id</a:t>
            </a:r>
            <a:r>
              <a:rPr lang="ko-KR" altLang="en-US" dirty="0">
                <a:latin typeface="Arial" panose="020B0604020202020204" pitchFamily="34" charset="0"/>
              </a:rPr>
              <a:t>로 텍스트를 음성으로 변환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40D9F1-790C-53D4-4C4D-DE1E9CF33770}"/>
              </a:ext>
            </a:extLst>
          </p:cNvPr>
          <p:cNvSpPr txBox="1"/>
          <p:nvPr/>
        </p:nvSpPr>
        <p:spPr>
          <a:xfrm>
            <a:off x="6802026" y="3940628"/>
            <a:ext cx="4688115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■ 데이터 베이스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HF </a:t>
            </a:r>
            <a:r>
              <a:rPr lang="ko-KR" altLang="en-US" dirty="0"/>
              <a:t>결과</a:t>
            </a:r>
            <a:r>
              <a:rPr lang="en-US" altLang="ko-KR" dirty="0"/>
              <a:t>, LT </a:t>
            </a:r>
            <a:r>
              <a:rPr lang="ko-KR" altLang="en-US" dirty="0"/>
              <a:t>타입</a:t>
            </a:r>
            <a:r>
              <a:rPr lang="en-US" altLang="ko-KR" dirty="0"/>
              <a:t>, </a:t>
            </a:r>
            <a:r>
              <a:rPr lang="ko-KR" altLang="en-US" dirty="0"/>
              <a:t>세션 로그</a:t>
            </a:r>
            <a:r>
              <a:rPr lang="en-US" altLang="ko-KR" dirty="0"/>
              <a:t>, </a:t>
            </a:r>
            <a:r>
              <a:rPr lang="ko-KR" altLang="en-US" dirty="0"/>
              <a:t>기억 퀴즈</a:t>
            </a:r>
            <a:r>
              <a:rPr lang="en-US" altLang="ko-KR" dirty="0"/>
              <a:t>, </a:t>
            </a:r>
            <a:r>
              <a:rPr lang="ko-KR" altLang="en-US" dirty="0"/>
              <a:t>만족도 등을 저장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ko-KR" altLang="en-US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예</a:t>
            </a:r>
            <a:r>
              <a:rPr lang="en-US" altLang="ko-KR" dirty="0"/>
              <a:t>: PostgreSQL/MySQL </a:t>
            </a:r>
            <a:r>
              <a:rPr lang="ko-KR" altLang="en-US" dirty="0"/>
              <a:t>같은 표 기반 </a:t>
            </a:r>
            <a:r>
              <a:rPr lang="en-US" altLang="ko-KR" dirty="0"/>
              <a:t>DB</a:t>
            </a:r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15794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66DA6-63DB-9808-CC34-7DCF072A2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344C54-0B45-13F9-909C-7219D7A8A60B}"/>
              </a:ext>
            </a:extLst>
          </p:cNvPr>
          <p:cNvSpPr txBox="1"/>
          <p:nvPr/>
        </p:nvSpPr>
        <p:spPr>
          <a:xfrm>
            <a:off x="174171" y="176512"/>
            <a:ext cx="341600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/>
              <a:t>LT, AI </a:t>
            </a:r>
            <a:r>
              <a:rPr lang="ko-KR" altLang="en-US" b="1" dirty="0"/>
              <a:t>기반의 맞춤형 대화 </a:t>
            </a:r>
            <a:r>
              <a:rPr lang="en-US" altLang="ko-KR" b="1" dirty="0"/>
              <a:t>Tool</a:t>
            </a:r>
            <a:endParaRPr lang="ko-KR" alt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94DB82-89B2-CFA0-7E84-9FB00B5755C4}"/>
              </a:ext>
            </a:extLst>
          </p:cNvPr>
          <p:cNvSpPr txBox="1"/>
          <p:nvPr/>
        </p:nvSpPr>
        <p:spPr>
          <a:xfrm>
            <a:off x="3817256" y="130345"/>
            <a:ext cx="42707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데이터 수집 </a:t>
            </a:r>
            <a:r>
              <a:rPr lang="en-US" altLang="ko-KR" sz="2400" b="1" dirty="0"/>
              <a:t>&amp; </a:t>
            </a:r>
            <a:r>
              <a:rPr lang="ko-KR" altLang="en-US" sz="2400" b="1" dirty="0"/>
              <a:t>대시보드 활용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AACD7D-16CC-7EB5-79FB-E281454C86E0}"/>
              </a:ext>
            </a:extLst>
          </p:cNvPr>
          <p:cNvSpPr txBox="1"/>
          <p:nvPr/>
        </p:nvSpPr>
        <p:spPr>
          <a:xfrm>
            <a:off x="319314" y="1599487"/>
            <a:ext cx="577668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■ </a:t>
            </a:r>
            <a:r>
              <a:rPr lang="en-US" altLang="ko-KR" sz="2000" dirty="0"/>
              <a:t>LT</a:t>
            </a:r>
            <a:r>
              <a:rPr lang="ko-KR" altLang="en-US" sz="2000" dirty="0"/>
              <a:t>가 자동으로 축적하는 데이터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en-US" altLang="ko-KR" sz="2000" dirty="0"/>
              <a:t>- HF </a:t>
            </a:r>
            <a:r>
              <a:rPr lang="ko-KR" altLang="en-US" sz="2000" dirty="0"/>
              <a:t>결과 및 최종 대화 타입</a:t>
            </a:r>
            <a:r>
              <a:rPr lang="en-US" altLang="ko-KR" sz="2000" dirty="0"/>
              <a:t>(16</a:t>
            </a:r>
            <a:r>
              <a:rPr lang="ko-KR" altLang="en-US" sz="2000" dirty="0"/>
              <a:t>개 중 하나</a:t>
            </a:r>
            <a:r>
              <a:rPr lang="en-US" altLang="ko-KR" sz="2000" dirty="0"/>
              <a:t>)</a:t>
            </a:r>
          </a:p>
          <a:p>
            <a:r>
              <a:rPr lang="en-US" altLang="ko-KR" sz="2000" dirty="0"/>
              <a:t>- </a:t>
            </a:r>
            <a:r>
              <a:rPr lang="ko-KR" altLang="en-US" sz="2000" dirty="0"/>
              <a:t>선택한 목소리 종류</a:t>
            </a:r>
            <a:r>
              <a:rPr lang="en-US" altLang="ko-KR" sz="2000" dirty="0"/>
              <a:t>(</a:t>
            </a:r>
            <a:r>
              <a:rPr lang="ko-KR" altLang="en-US" sz="2000" dirty="0"/>
              <a:t>기본</a:t>
            </a:r>
            <a:r>
              <a:rPr lang="en-US" altLang="ko-KR" sz="2000" dirty="0"/>
              <a:t>/</a:t>
            </a:r>
            <a:r>
              <a:rPr lang="ko-KR" altLang="en-US" sz="2000" dirty="0"/>
              <a:t>클론</a:t>
            </a:r>
            <a:r>
              <a:rPr lang="en-US" altLang="ko-KR" sz="2000" dirty="0"/>
              <a:t>, </a:t>
            </a:r>
            <a:r>
              <a:rPr lang="ko-KR" altLang="en-US" sz="2000" dirty="0"/>
              <a:t>목소리 성격</a:t>
            </a:r>
            <a:r>
              <a:rPr lang="en-US" altLang="ko-KR" sz="2000" dirty="0"/>
              <a:t>)</a:t>
            </a:r>
          </a:p>
          <a:p>
            <a:r>
              <a:rPr lang="en-US" altLang="ko-KR" sz="2000" dirty="0"/>
              <a:t>- </a:t>
            </a:r>
            <a:r>
              <a:rPr lang="ko-KR" altLang="en-US" sz="2000" dirty="0"/>
              <a:t>세션 정보</a:t>
            </a:r>
            <a:r>
              <a:rPr lang="en-US" altLang="ko-KR" sz="2000" dirty="0"/>
              <a:t>: </a:t>
            </a:r>
            <a:r>
              <a:rPr lang="ko-KR" altLang="en-US" sz="2000" dirty="0"/>
              <a:t>날짜</a:t>
            </a:r>
            <a:r>
              <a:rPr lang="en-US" altLang="ko-KR" sz="2000" dirty="0"/>
              <a:t>, </a:t>
            </a:r>
            <a:r>
              <a:rPr lang="ko-KR" altLang="en-US" sz="2000" dirty="0"/>
              <a:t>길이</a:t>
            </a:r>
            <a:r>
              <a:rPr lang="en-US" altLang="ko-KR" sz="2000" dirty="0"/>
              <a:t>, </a:t>
            </a:r>
            <a:r>
              <a:rPr lang="ko-KR" altLang="en-US" sz="2000" dirty="0"/>
              <a:t>횟수</a:t>
            </a:r>
            <a:r>
              <a:rPr lang="en-US" altLang="ko-KR" sz="2000" dirty="0"/>
              <a:t>, </a:t>
            </a:r>
            <a:r>
              <a:rPr lang="ko-KR" altLang="en-US" sz="2000" dirty="0"/>
              <a:t>중단 여부</a:t>
            </a:r>
          </a:p>
          <a:p>
            <a:r>
              <a:rPr lang="en-US" altLang="ko-KR" sz="2000" dirty="0"/>
              <a:t>- </a:t>
            </a:r>
            <a:r>
              <a:rPr lang="ko-KR" altLang="en-US" sz="2000" dirty="0"/>
              <a:t>기억 퀴즈</a:t>
            </a:r>
            <a:r>
              <a:rPr lang="en-US" altLang="ko-KR" sz="2000" dirty="0"/>
              <a:t>: </a:t>
            </a:r>
            <a:r>
              <a:rPr lang="ko-KR" altLang="en-US" sz="2000" dirty="0"/>
              <a:t>문제</a:t>
            </a:r>
            <a:r>
              <a:rPr lang="en-US" altLang="ko-KR" sz="2000" dirty="0"/>
              <a:t>·</a:t>
            </a:r>
            <a:r>
              <a:rPr lang="ko-KR" altLang="en-US" sz="2000" dirty="0"/>
              <a:t>정답</a:t>
            </a:r>
            <a:r>
              <a:rPr lang="en-US" altLang="ko-KR" sz="2000" dirty="0"/>
              <a:t>·</a:t>
            </a:r>
            <a:r>
              <a:rPr lang="ko-KR" altLang="en-US" sz="2000" dirty="0"/>
              <a:t>오답</a:t>
            </a:r>
            <a:r>
              <a:rPr lang="en-US" altLang="ko-KR" sz="2000" dirty="0"/>
              <a:t>·</a:t>
            </a:r>
            <a:r>
              <a:rPr lang="ko-KR" altLang="en-US" sz="2000" dirty="0"/>
              <a:t>반응 시간</a:t>
            </a:r>
          </a:p>
          <a:p>
            <a:r>
              <a:rPr lang="en-US" altLang="ko-KR" sz="2000" dirty="0"/>
              <a:t>- </a:t>
            </a:r>
            <a:r>
              <a:rPr lang="ko-KR" altLang="en-US" sz="2000" dirty="0"/>
              <a:t>환자</a:t>
            </a:r>
            <a:r>
              <a:rPr lang="en-US" altLang="ko-KR" sz="2000" dirty="0"/>
              <a:t>/</a:t>
            </a:r>
            <a:r>
              <a:rPr lang="ko-KR" altLang="en-US" sz="2000" dirty="0"/>
              <a:t>보호자 만족도</a:t>
            </a:r>
            <a:r>
              <a:rPr lang="en-US" altLang="ko-KR" sz="2000" dirty="0"/>
              <a:t>(</a:t>
            </a:r>
            <a:r>
              <a:rPr lang="ko-KR" altLang="en-US" sz="2000" dirty="0"/>
              <a:t>예</a:t>
            </a:r>
            <a:r>
              <a:rPr lang="en-US" altLang="ko-KR" sz="2000" dirty="0"/>
              <a:t>: 1~5</a:t>
            </a:r>
            <a:r>
              <a:rPr lang="ko-KR" altLang="en-US" sz="2000" dirty="0"/>
              <a:t>점 척도</a:t>
            </a:r>
            <a:r>
              <a:rPr lang="en-US" altLang="ko-KR" sz="2000" dirty="0"/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0BA536-67FA-C974-E8BF-20A16FD651BD}"/>
              </a:ext>
            </a:extLst>
          </p:cNvPr>
          <p:cNvSpPr txBox="1"/>
          <p:nvPr/>
        </p:nvSpPr>
        <p:spPr>
          <a:xfrm>
            <a:off x="6096000" y="1539972"/>
            <a:ext cx="577668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■ 대시보드를 통해 볼 수 있는 것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en-US" altLang="ko-KR" sz="2000" dirty="0"/>
              <a:t>- </a:t>
            </a:r>
            <a:r>
              <a:rPr lang="ko-KR" altLang="en-US" sz="2000" dirty="0"/>
              <a:t>개인별</a:t>
            </a:r>
          </a:p>
          <a:p>
            <a:r>
              <a:rPr lang="en-US" altLang="ko-KR" sz="2000" dirty="0"/>
              <a:t>* </a:t>
            </a:r>
            <a:r>
              <a:rPr lang="ko-KR" altLang="en-US" sz="2000" dirty="0"/>
              <a:t>세션 사용 패턴</a:t>
            </a:r>
            <a:r>
              <a:rPr lang="en-US" altLang="ko-KR" sz="2000" dirty="0"/>
              <a:t>(</a:t>
            </a:r>
            <a:r>
              <a:rPr lang="ko-KR" altLang="en-US" sz="2000" dirty="0"/>
              <a:t>주</a:t>
            </a:r>
            <a:r>
              <a:rPr lang="en-US" altLang="ko-KR" sz="2000" dirty="0"/>
              <a:t>/</a:t>
            </a:r>
            <a:r>
              <a:rPr lang="ko-KR" altLang="en-US" sz="2000" dirty="0"/>
              <a:t>월</a:t>
            </a:r>
            <a:r>
              <a:rPr lang="en-US" altLang="ko-KR" sz="2000" dirty="0"/>
              <a:t>), </a:t>
            </a:r>
            <a:r>
              <a:rPr lang="ko-KR" altLang="en-US" sz="2000" dirty="0"/>
              <a:t>평균 기억 퀴즈 </a:t>
            </a:r>
            <a:r>
              <a:rPr lang="ko-KR" altLang="en-US" sz="2000" dirty="0" err="1"/>
              <a:t>정답률</a:t>
            </a:r>
            <a:endParaRPr lang="ko-KR" altLang="en-US" sz="2000" dirty="0"/>
          </a:p>
          <a:p>
            <a:r>
              <a:rPr lang="en-US" altLang="ko-KR" sz="2000" dirty="0"/>
              <a:t>* </a:t>
            </a:r>
            <a:r>
              <a:rPr lang="ko-KR" altLang="en-US" sz="2000" dirty="0"/>
              <a:t>어떤 주제</a:t>
            </a:r>
            <a:r>
              <a:rPr lang="en-US" altLang="ko-KR" sz="2000" dirty="0"/>
              <a:t>/</a:t>
            </a:r>
            <a:r>
              <a:rPr lang="ko-KR" altLang="en-US" sz="2000" dirty="0"/>
              <a:t>스타일에서 반응이 </a:t>
            </a:r>
            <a:r>
              <a:rPr lang="ko-KR" altLang="en-US" sz="2000" dirty="0" err="1"/>
              <a:t>좋은지</a:t>
            </a:r>
            <a:endParaRPr lang="ko-KR" altLang="en-US" sz="2000" dirty="0"/>
          </a:p>
          <a:p>
            <a:endParaRPr lang="en-US" altLang="ko-KR" sz="2000" dirty="0"/>
          </a:p>
          <a:p>
            <a:r>
              <a:rPr lang="en-US" altLang="ko-KR" sz="2000" dirty="0"/>
              <a:t>- </a:t>
            </a:r>
            <a:r>
              <a:rPr lang="ko-KR" altLang="en-US" sz="2000" dirty="0"/>
              <a:t>집단별</a:t>
            </a:r>
          </a:p>
          <a:p>
            <a:r>
              <a:rPr lang="en-US" altLang="ko-KR" sz="2000" dirty="0"/>
              <a:t>* HF </a:t>
            </a:r>
            <a:r>
              <a:rPr lang="ko-KR" altLang="en-US" sz="2000" dirty="0"/>
              <a:t>타입별 사용량</a:t>
            </a:r>
            <a:r>
              <a:rPr lang="en-US" altLang="ko-KR" sz="2000" dirty="0"/>
              <a:t>, </a:t>
            </a:r>
            <a:r>
              <a:rPr lang="ko-KR" altLang="en-US" sz="2000" dirty="0"/>
              <a:t>기억 퀴즈 평균</a:t>
            </a:r>
          </a:p>
          <a:p>
            <a:r>
              <a:rPr lang="en-US" altLang="ko-KR" sz="2000" dirty="0"/>
              <a:t>* </a:t>
            </a:r>
            <a:r>
              <a:rPr lang="ko-KR" altLang="en-US" sz="2000" dirty="0"/>
              <a:t>목소리 유형별 반응 차이</a:t>
            </a:r>
          </a:p>
          <a:p>
            <a:endParaRPr lang="en-US" altLang="ko-KR" sz="2000" dirty="0"/>
          </a:p>
          <a:p>
            <a:r>
              <a:rPr lang="en-US" altLang="ko-KR" sz="2000" dirty="0"/>
              <a:t>- </a:t>
            </a:r>
            <a:r>
              <a:rPr lang="ko-KR" altLang="en-US" sz="2000" dirty="0"/>
              <a:t>장기적으로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/>
              <a:t>인지검사 점수</a:t>
            </a:r>
            <a:r>
              <a:rPr lang="en-US" altLang="ko-KR" sz="2000" dirty="0"/>
              <a:t>(MMSE, MoCA </a:t>
            </a:r>
            <a:r>
              <a:rPr lang="ko-KR" altLang="en-US" sz="2000" dirty="0"/>
              <a:t>등</a:t>
            </a:r>
            <a:r>
              <a:rPr lang="en-US" altLang="ko-KR" sz="2000" dirty="0"/>
              <a:t>)</a:t>
            </a:r>
            <a:r>
              <a:rPr lang="ko-KR" altLang="en-US" sz="2000" dirty="0"/>
              <a:t>와 </a:t>
            </a:r>
            <a:endParaRPr lang="en-US" altLang="ko-KR" sz="2000" dirty="0"/>
          </a:p>
          <a:p>
            <a:r>
              <a:rPr lang="en-US" altLang="ko-KR" sz="2000" dirty="0"/>
              <a:t>    LT </a:t>
            </a:r>
            <a:r>
              <a:rPr lang="ko-KR" altLang="en-US" sz="2000" dirty="0"/>
              <a:t>데이터의 경향을 비교</a:t>
            </a:r>
          </a:p>
        </p:txBody>
      </p:sp>
    </p:spTree>
    <p:extLst>
      <p:ext uri="{BB962C8B-B14F-4D97-AF65-F5344CB8AC3E}">
        <p14:creationId xmlns:p14="http://schemas.microsoft.com/office/powerpoint/2010/main" val="902424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A6F8F-81B0-4FFE-7725-91564F6D7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DD31EA-01A9-5E54-65DD-D417946C500D}"/>
              </a:ext>
            </a:extLst>
          </p:cNvPr>
          <p:cNvSpPr txBox="1"/>
          <p:nvPr/>
        </p:nvSpPr>
        <p:spPr>
          <a:xfrm>
            <a:off x="174171" y="176512"/>
            <a:ext cx="341600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/>
              <a:t>LT, AI </a:t>
            </a:r>
            <a:r>
              <a:rPr lang="ko-KR" altLang="en-US" b="1" dirty="0"/>
              <a:t>기반의 맞춤형 대화 </a:t>
            </a:r>
            <a:r>
              <a:rPr lang="en-US" altLang="ko-KR" b="1" dirty="0"/>
              <a:t>Tool</a:t>
            </a:r>
            <a:endParaRPr lang="ko-KR" alt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34C33C-5AD8-B589-C896-C3FB6FA92EFE}"/>
              </a:ext>
            </a:extLst>
          </p:cNvPr>
          <p:cNvSpPr txBox="1"/>
          <p:nvPr/>
        </p:nvSpPr>
        <p:spPr>
          <a:xfrm>
            <a:off x="3817256" y="130345"/>
            <a:ext cx="49391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Session Flow : </a:t>
            </a:r>
            <a:r>
              <a:rPr lang="ko-KR" altLang="en-US" sz="2400" b="1" dirty="0"/>
              <a:t>사용자의 입장에서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3E5607-1A9A-3808-2980-86828EAC46CB}"/>
              </a:ext>
            </a:extLst>
          </p:cNvPr>
          <p:cNvSpPr txBox="1"/>
          <p:nvPr/>
        </p:nvSpPr>
        <p:spPr>
          <a:xfrm>
            <a:off x="570371" y="764405"/>
            <a:ext cx="8186058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ko-KR" altLang="en-US" dirty="0"/>
              <a:t>준비 단계</a:t>
            </a:r>
            <a:endParaRPr lang="en-US" altLang="ko-KR" dirty="0"/>
          </a:p>
          <a:p>
            <a:r>
              <a:rPr lang="en-US" altLang="ko-KR" sz="1600" dirty="0"/>
              <a:t>- HF </a:t>
            </a:r>
            <a:r>
              <a:rPr lang="ko-KR" altLang="en-US" sz="1600" dirty="0"/>
              <a:t>설문 완료 → </a:t>
            </a:r>
            <a:r>
              <a:rPr lang="en-US" altLang="ko-KR" sz="1600" dirty="0"/>
              <a:t>LT</a:t>
            </a:r>
            <a:r>
              <a:rPr lang="ko-KR" altLang="en-US" sz="1600" dirty="0"/>
              <a:t>가 “대화 타입” 결정</a:t>
            </a:r>
          </a:p>
          <a:p>
            <a:endParaRPr lang="en-US" altLang="ko-KR" sz="1600" dirty="0"/>
          </a:p>
          <a:p>
            <a:r>
              <a:rPr lang="en-US" altLang="ko-KR" sz="1600" dirty="0"/>
              <a:t>- </a:t>
            </a:r>
            <a:r>
              <a:rPr lang="ko-KR" altLang="en-US" sz="1600" dirty="0"/>
              <a:t>목소리 선택</a:t>
            </a:r>
          </a:p>
          <a:p>
            <a:r>
              <a:rPr lang="en-US" altLang="ko-KR" sz="1600" dirty="0"/>
              <a:t>* </a:t>
            </a:r>
            <a:r>
              <a:rPr lang="ko-KR" altLang="en-US" sz="1600" dirty="0"/>
              <a:t>기본 목소리 </a:t>
            </a:r>
            <a:r>
              <a:rPr lang="en-US" altLang="ko-KR" sz="1600" dirty="0"/>
              <a:t>4~6</a:t>
            </a:r>
            <a:r>
              <a:rPr lang="ko-KR" altLang="en-US" sz="1600" dirty="0"/>
              <a:t>개 중 고르거나</a:t>
            </a:r>
          </a:p>
          <a:p>
            <a:r>
              <a:rPr lang="en-US" altLang="ko-KR" sz="1600" dirty="0"/>
              <a:t>* </a:t>
            </a:r>
            <a:r>
              <a:rPr lang="ko-KR" altLang="en-US" sz="1600" dirty="0"/>
              <a:t>보호자</a:t>
            </a:r>
            <a:r>
              <a:rPr lang="en-US" altLang="ko-KR" sz="1600" dirty="0"/>
              <a:t>/</a:t>
            </a:r>
            <a:r>
              <a:rPr lang="ko-KR" altLang="en-US" sz="1600" dirty="0"/>
              <a:t>본인 목소리 샘플을 녹음해 </a:t>
            </a:r>
            <a:r>
              <a:rPr lang="en-US" altLang="ko-KR" sz="1600" dirty="0" err="1"/>
              <a:t>ElevenLabs</a:t>
            </a:r>
            <a:r>
              <a:rPr lang="ko-KR" altLang="en-US" sz="1600" dirty="0"/>
              <a:t>로 </a:t>
            </a:r>
            <a:r>
              <a:rPr lang="ko-KR" altLang="en-US" sz="1600" dirty="0" err="1"/>
              <a:t>클로닝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8D0727-3AEB-6DAB-7951-39078C1A361F}"/>
              </a:ext>
            </a:extLst>
          </p:cNvPr>
          <p:cNvSpPr txBox="1"/>
          <p:nvPr/>
        </p:nvSpPr>
        <p:spPr>
          <a:xfrm>
            <a:off x="570371" y="2673988"/>
            <a:ext cx="818605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2) LT</a:t>
            </a:r>
            <a:r>
              <a:rPr lang="ko-KR" altLang="en-US" dirty="0"/>
              <a:t>와의 대화 세션 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15</a:t>
            </a:r>
            <a:r>
              <a:rPr lang="ko-KR" altLang="en-US" dirty="0"/>
              <a:t>분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sz="1600" dirty="0"/>
              <a:t>- </a:t>
            </a:r>
            <a:r>
              <a:rPr lang="ko-KR" altLang="en-US" sz="1600" dirty="0"/>
              <a:t>목소리 선택</a:t>
            </a:r>
          </a:p>
          <a:p>
            <a:r>
              <a:rPr lang="en-US" altLang="ko-KR" sz="1600" dirty="0"/>
              <a:t>1. </a:t>
            </a:r>
            <a:r>
              <a:rPr lang="ko-KR" altLang="en-US" sz="1600" dirty="0" err="1"/>
              <a:t>웜업</a:t>
            </a:r>
            <a:r>
              <a:rPr lang="ko-KR" altLang="en-US" sz="1600" dirty="0"/>
              <a:t> </a:t>
            </a:r>
            <a:r>
              <a:rPr lang="en-US" altLang="ko-KR" sz="1600" dirty="0"/>
              <a:t>(3</a:t>
            </a:r>
            <a:r>
              <a:rPr lang="ko-KR" altLang="en-US" sz="1600" dirty="0"/>
              <a:t>분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인사</a:t>
            </a:r>
            <a:r>
              <a:rPr lang="en-US" altLang="ko-KR" sz="1600" dirty="0"/>
              <a:t>, </a:t>
            </a:r>
            <a:r>
              <a:rPr lang="ko-KR" altLang="en-US" sz="1600" dirty="0"/>
              <a:t>오늘 기분</a:t>
            </a:r>
            <a:r>
              <a:rPr lang="en-US" altLang="ko-KR" sz="1600" dirty="0"/>
              <a:t>·</a:t>
            </a:r>
            <a:r>
              <a:rPr lang="ko-KR" altLang="en-US" sz="1600" dirty="0"/>
              <a:t>컨디션</a:t>
            </a:r>
            <a:r>
              <a:rPr lang="en-US" altLang="ko-KR" sz="1600" dirty="0"/>
              <a:t>·</a:t>
            </a:r>
            <a:r>
              <a:rPr lang="ko-KR" altLang="en-US" sz="1600" dirty="0"/>
              <a:t>날짜 이야기</a:t>
            </a:r>
            <a:endParaRPr lang="en-US" altLang="ko-KR" sz="1600" dirty="0"/>
          </a:p>
          <a:p>
            <a:endParaRPr lang="ko-KR" altLang="en-US" sz="1600" dirty="0"/>
          </a:p>
          <a:p>
            <a:r>
              <a:rPr lang="en-US" altLang="ko-KR" sz="1600" dirty="0"/>
              <a:t>2. </a:t>
            </a:r>
            <a:r>
              <a:rPr lang="ko-KR" altLang="en-US" sz="1600" dirty="0"/>
              <a:t>감정 활성 </a:t>
            </a:r>
            <a:r>
              <a:rPr lang="en-US" altLang="ko-KR" sz="1600" dirty="0"/>
              <a:t>(5</a:t>
            </a:r>
            <a:r>
              <a:rPr lang="ko-KR" altLang="en-US" sz="1600" dirty="0"/>
              <a:t>분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사랑</a:t>
            </a:r>
            <a:r>
              <a:rPr lang="en-US" altLang="ko-KR" sz="1600" dirty="0"/>
              <a:t>·</a:t>
            </a:r>
            <a:r>
              <a:rPr lang="ko-KR" altLang="en-US" sz="1600" dirty="0"/>
              <a:t>감사</a:t>
            </a:r>
            <a:r>
              <a:rPr lang="en-US" altLang="ko-KR" sz="1600" dirty="0"/>
              <a:t>·</a:t>
            </a:r>
            <a:r>
              <a:rPr lang="ko-KR" altLang="en-US" sz="1600" dirty="0"/>
              <a:t>행복을 떠올리게 하는 질문</a:t>
            </a:r>
          </a:p>
          <a:p>
            <a:r>
              <a:rPr lang="ko-KR" altLang="en-US" sz="1600" dirty="0"/>
              <a:t>가족</a:t>
            </a:r>
            <a:r>
              <a:rPr lang="en-US" altLang="ko-KR" sz="1600" dirty="0"/>
              <a:t>·</a:t>
            </a:r>
            <a:r>
              <a:rPr lang="ko-KR" altLang="en-US" sz="1600" dirty="0"/>
              <a:t>손주</a:t>
            </a:r>
            <a:r>
              <a:rPr lang="en-US" altLang="ko-KR" sz="1600" dirty="0"/>
              <a:t>·</a:t>
            </a:r>
            <a:r>
              <a:rPr lang="ko-KR" altLang="en-US" sz="1600" dirty="0"/>
              <a:t>배우자</a:t>
            </a:r>
            <a:r>
              <a:rPr lang="en-US" altLang="ko-KR" sz="1600" dirty="0"/>
              <a:t>·</a:t>
            </a:r>
            <a:r>
              <a:rPr lang="ko-KR" altLang="en-US" sz="1600" dirty="0"/>
              <a:t>친한 친구 이야기</a:t>
            </a:r>
            <a:endParaRPr lang="en-US" altLang="ko-KR" sz="1600" dirty="0"/>
          </a:p>
          <a:p>
            <a:endParaRPr lang="ko-KR" altLang="en-US" sz="1600" dirty="0"/>
          </a:p>
          <a:p>
            <a:r>
              <a:rPr lang="en-US" altLang="ko-KR" sz="1600" dirty="0"/>
              <a:t>3. </a:t>
            </a:r>
            <a:r>
              <a:rPr lang="ko-KR" altLang="en-US" sz="1600" dirty="0"/>
              <a:t>기억 자극 </a:t>
            </a:r>
            <a:r>
              <a:rPr lang="en-US" altLang="ko-KR" sz="1600" dirty="0"/>
              <a:t>(5</a:t>
            </a:r>
            <a:r>
              <a:rPr lang="ko-KR" altLang="en-US" sz="1600" dirty="0"/>
              <a:t>분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방금 나눈 이야기의 인물</a:t>
            </a:r>
            <a:r>
              <a:rPr lang="en-US" altLang="ko-KR" sz="1600" dirty="0"/>
              <a:t>·</a:t>
            </a:r>
            <a:r>
              <a:rPr lang="ko-KR" altLang="en-US" sz="1600" dirty="0"/>
              <a:t>장소</a:t>
            </a:r>
            <a:r>
              <a:rPr lang="en-US" altLang="ko-KR" sz="1600" dirty="0"/>
              <a:t>·</a:t>
            </a:r>
            <a:r>
              <a:rPr lang="ko-KR" altLang="en-US" sz="1600" dirty="0"/>
              <a:t>순서에 대한</a:t>
            </a:r>
            <a:br>
              <a:rPr lang="ko-KR" altLang="en-US" sz="1600" dirty="0"/>
            </a:br>
            <a:r>
              <a:rPr lang="ko-KR" altLang="en-US" sz="1600" dirty="0"/>
              <a:t>간단 회상 질문 </a:t>
            </a:r>
            <a:r>
              <a:rPr lang="en-US" altLang="ko-KR" sz="1600" dirty="0"/>
              <a:t>2~3</a:t>
            </a:r>
            <a:r>
              <a:rPr lang="ko-KR" altLang="en-US" sz="1600" dirty="0"/>
              <a:t>개</a:t>
            </a:r>
            <a:endParaRPr lang="en-US" altLang="ko-KR" sz="1600" dirty="0"/>
          </a:p>
          <a:p>
            <a:endParaRPr lang="ko-KR" altLang="en-US" sz="1600" dirty="0"/>
          </a:p>
          <a:p>
            <a:r>
              <a:rPr lang="en-US" altLang="ko-KR" sz="1600" dirty="0"/>
              <a:t>4. </a:t>
            </a:r>
            <a:r>
              <a:rPr lang="ko-KR" altLang="en-US" sz="1600" dirty="0"/>
              <a:t>마무리 </a:t>
            </a:r>
            <a:r>
              <a:rPr lang="en-US" altLang="ko-KR" sz="1600" dirty="0"/>
              <a:t>(2</a:t>
            </a:r>
            <a:r>
              <a:rPr lang="ko-KR" altLang="en-US" sz="1600" dirty="0"/>
              <a:t>분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오늘 대화 요약</a:t>
            </a:r>
            <a:r>
              <a:rPr lang="en-US" altLang="ko-KR" sz="1600" dirty="0"/>
              <a:t>, </a:t>
            </a:r>
            <a:r>
              <a:rPr lang="ko-KR" altLang="en-US" sz="1600" dirty="0"/>
              <a:t>칭찬</a:t>
            </a:r>
            <a:r>
              <a:rPr lang="en-US" altLang="ko-KR" sz="1600" dirty="0"/>
              <a:t>, </a:t>
            </a:r>
            <a:r>
              <a:rPr lang="ko-KR" altLang="en-US" sz="1600" dirty="0"/>
              <a:t>다음 대화 예고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25D76F-A11A-FE97-68E5-F1ECB3378D60}"/>
              </a:ext>
            </a:extLst>
          </p:cNvPr>
          <p:cNvSpPr txBox="1"/>
          <p:nvPr/>
        </p:nvSpPr>
        <p:spPr>
          <a:xfrm>
            <a:off x="6286842" y="2673988"/>
            <a:ext cx="574040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3) </a:t>
            </a:r>
            <a:r>
              <a:rPr lang="ko-KR" altLang="en-US" dirty="0"/>
              <a:t>자동 기록</a:t>
            </a:r>
            <a:endParaRPr lang="en-US" altLang="ko-KR" dirty="0"/>
          </a:p>
          <a:p>
            <a:r>
              <a:rPr lang="ko-KR" altLang="en-US" sz="1600" dirty="0"/>
              <a:t>세션 시간</a:t>
            </a:r>
            <a:r>
              <a:rPr lang="en-US" altLang="ko-KR" sz="1600" dirty="0"/>
              <a:t>, </a:t>
            </a:r>
            <a:r>
              <a:rPr lang="ko-KR" altLang="en-US" sz="1600" dirty="0"/>
              <a:t>내용</a:t>
            </a:r>
            <a:r>
              <a:rPr lang="en-US" altLang="ko-KR" sz="1600" dirty="0"/>
              <a:t>, </a:t>
            </a:r>
            <a:r>
              <a:rPr lang="ko-KR" altLang="en-US" sz="1600" dirty="0"/>
              <a:t>기억 퀴즈 결과</a:t>
            </a:r>
            <a:r>
              <a:rPr lang="en-US" altLang="ko-KR" sz="1600" dirty="0"/>
              <a:t>, </a:t>
            </a:r>
            <a:r>
              <a:rPr lang="ko-KR" altLang="en-US" sz="1600" dirty="0"/>
              <a:t>만족도 등을</a:t>
            </a:r>
            <a:r>
              <a:rPr lang="en-US" altLang="ko-KR" sz="1600" dirty="0"/>
              <a:t>LT</a:t>
            </a:r>
            <a:r>
              <a:rPr lang="ko-KR" altLang="en-US" sz="1600" dirty="0"/>
              <a:t>가 자동 저장 </a:t>
            </a:r>
            <a:endParaRPr lang="en-US" altLang="ko-KR" sz="1600" dirty="0"/>
          </a:p>
          <a:p>
            <a:r>
              <a:rPr lang="ko-KR" altLang="en-US" sz="1600" dirty="0"/>
              <a:t>→ 연구</a:t>
            </a:r>
            <a:r>
              <a:rPr lang="en-US" altLang="ko-KR" sz="1600" dirty="0"/>
              <a:t>·</a:t>
            </a:r>
            <a:r>
              <a:rPr lang="ko-KR" altLang="en-US" sz="1600" dirty="0"/>
              <a:t>모니터링에 사용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280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F66F0-1253-90C9-90A5-6ED867144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755E84-1921-8873-CB4E-93CF20A06BE9}"/>
              </a:ext>
            </a:extLst>
          </p:cNvPr>
          <p:cNvSpPr txBox="1"/>
          <p:nvPr/>
        </p:nvSpPr>
        <p:spPr>
          <a:xfrm>
            <a:off x="174171" y="176512"/>
            <a:ext cx="341600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/>
              <a:t>LT, AI </a:t>
            </a:r>
            <a:r>
              <a:rPr lang="ko-KR" altLang="en-US" b="1" dirty="0"/>
              <a:t>기반의 맞춤형 대화 </a:t>
            </a:r>
            <a:r>
              <a:rPr lang="en-US" altLang="ko-KR" b="1" dirty="0"/>
              <a:t>Tool</a:t>
            </a:r>
            <a:endParaRPr lang="ko-KR" alt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1513C8-E994-3854-F424-891AA4DCE5CB}"/>
              </a:ext>
            </a:extLst>
          </p:cNvPr>
          <p:cNvSpPr txBox="1"/>
          <p:nvPr/>
        </p:nvSpPr>
        <p:spPr>
          <a:xfrm>
            <a:off x="3817256" y="130345"/>
            <a:ext cx="70641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Session Flow : </a:t>
            </a:r>
            <a:r>
              <a:rPr lang="ko-KR" altLang="en-US" sz="2400" b="1" dirty="0"/>
              <a:t>시스템</a:t>
            </a:r>
            <a:r>
              <a:rPr lang="en-US" altLang="ko-KR" sz="2400" b="1" dirty="0"/>
              <a:t>/AI </a:t>
            </a:r>
            <a:r>
              <a:rPr lang="ko-KR" altLang="en-US" sz="2400" b="1" dirty="0"/>
              <a:t>관점</a:t>
            </a:r>
            <a:r>
              <a:rPr lang="en-US" altLang="ko-KR" sz="2400" b="1" dirty="0"/>
              <a:t>(LT </a:t>
            </a:r>
            <a:r>
              <a:rPr lang="ko-KR" altLang="en-US" sz="2400" b="1" dirty="0"/>
              <a:t>내부에서 처리</a:t>
            </a:r>
            <a:r>
              <a:rPr lang="en-US" altLang="ko-KR" sz="2400" b="1" dirty="0"/>
              <a:t>)</a:t>
            </a:r>
            <a:endParaRPr lang="ko-KR" altLang="en-US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B1BF09-60F4-D841-73CC-17231C8BBDEE}"/>
              </a:ext>
            </a:extLst>
          </p:cNvPr>
          <p:cNvSpPr txBox="1"/>
          <p:nvPr/>
        </p:nvSpPr>
        <p:spPr>
          <a:xfrm>
            <a:off x="174171" y="833477"/>
            <a:ext cx="81860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1) </a:t>
            </a:r>
            <a:r>
              <a:rPr lang="ko-KR" altLang="en-US" dirty="0"/>
              <a:t>세션 시작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서버가 환자의 </a:t>
            </a:r>
            <a:r>
              <a:rPr lang="en-US" altLang="ko-KR" dirty="0"/>
              <a:t>HF </a:t>
            </a:r>
            <a:r>
              <a:rPr lang="ko-KR" altLang="en-US" dirty="0"/>
              <a:t>타입</a:t>
            </a:r>
            <a:r>
              <a:rPr lang="en-US" altLang="ko-KR" dirty="0"/>
              <a:t>, </a:t>
            </a:r>
            <a:r>
              <a:rPr lang="ko-KR" altLang="en-US" dirty="0"/>
              <a:t>선택된 목소리</a:t>
            </a:r>
            <a:r>
              <a:rPr lang="en-US" altLang="ko-KR" dirty="0"/>
              <a:t>(</a:t>
            </a:r>
            <a:r>
              <a:rPr lang="en-US" altLang="ko-KR" dirty="0" err="1"/>
              <a:t>voice_id</a:t>
            </a:r>
            <a:r>
              <a:rPr lang="en-US" altLang="ko-KR" dirty="0"/>
              <a:t>)</a:t>
            </a:r>
            <a:r>
              <a:rPr lang="ko-KR" altLang="en-US" dirty="0"/>
              <a:t>를 조회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현재 단계</a:t>
            </a:r>
            <a:r>
              <a:rPr lang="en-US" altLang="ko-KR" dirty="0"/>
              <a:t>(stage)</a:t>
            </a:r>
            <a:r>
              <a:rPr lang="ko-KR" altLang="en-US" dirty="0"/>
              <a:t>를 </a:t>
            </a:r>
            <a:r>
              <a:rPr lang="en-US" altLang="ko-KR" dirty="0"/>
              <a:t>WARMUP</a:t>
            </a:r>
            <a:r>
              <a:rPr lang="ko-KR" altLang="en-US" dirty="0"/>
              <a:t>으로 설정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9AC694-6777-CB0E-F756-1F0AB269E2CB}"/>
              </a:ext>
            </a:extLst>
          </p:cNvPr>
          <p:cNvSpPr txBox="1"/>
          <p:nvPr/>
        </p:nvSpPr>
        <p:spPr>
          <a:xfrm>
            <a:off x="174171" y="2128644"/>
            <a:ext cx="8186058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2) </a:t>
            </a:r>
            <a:r>
              <a:rPr lang="ko-KR" altLang="en-US" dirty="0"/>
              <a:t>한 턴</a:t>
            </a:r>
            <a:r>
              <a:rPr lang="en-US" altLang="ko-KR" dirty="0"/>
              <a:t>(turn)</a:t>
            </a:r>
            <a:r>
              <a:rPr lang="ko-KR" altLang="en-US" dirty="0"/>
              <a:t> 대화 과정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1. </a:t>
            </a:r>
            <a:r>
              <a:rPr lang="ko-KR" altLang="en-US" dirty="0"/>
              <a:t>환자 본인이 결과 및 버튼 입력</a:t>
            </a:r>
            <a:endParaRPr lang="en-US" altLang="ko-KR" dirty="0"/>
          </a:p>
          <a:p>
            <a:r>
              <a:rPr lang="en-US" altLang="ko-KR" dirty="0"/>
              <a:t>2. LT </a:t>
            </a:r>
            <a:r>
              <a:rPr lang="ko-KR" altLang="en-US" dirty="0"/>
              <a:t>서버 → 대화 </a:t>
            </a:r>
            <a:r>
              <a:rPr lang="en-US" altLang="ko-KR" dirty="0"/>
              <a:t>AI </a:t>
            </a:r>
            <a:r>
              <a:rPr lang="ko-KR" altLang="en-US" dirty="0"/>
              <a:t>호출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함께 넘겨주는 정보 </a:t>
            </a:r>
            <a:r>
              <a:rPr lang="en-US" altLang="ko-KR" dirty="0"/>
              <a:t>: HF </a:t>
            </a:r>
            <a:r>
              <a:rPr lang="ko-KR" altLang="en-US" dirty="0"/>
              <a:t>타입 기반 페르소나 텍스트</a:t>
            </a:r>
            <a:r>
              <a:rPr lang="en-US" altLang="ko-KR" dirty="0"/>
              <a:t>, </a:t>
            </a:r>
            <a:r>
              <a:rPr lang="ko-KR" altLang="en-US" dirty="0"/>
              <a:t>현재 단계</a:t>
            </a:r>
            <a:r>
              <a:rPr lang="en-US" altLang="ko-KR" dirty="0"/>
              <a:t>(WARMUP/EMOTION/MEMORY/CLOSING)</a:t>
            </a:r>
          </a:p>
          <a:p>
            <a:r>
              <a:rPr lang="en-US" altLang="ko-KR" dirty="0"/>
              <a:t>3. </a:t>
            </a:r>
            <a:r>
              <a:rPr lang="ko-KR" altLang="en-US" dirty="0"/>
              <a:t>대화 </a:t>
            </a:r>
            <a:r>
              <a:rPr lang="en-US" altLang="ko-KR" dirty="0"/>
              <a:t>AI</a:t>
            </a:r>
            <a:r>
              <a:rPr lang="ko-KR" altLang="en-US" dirty="0"/>
              <a:t>가 한국어 답변 텍스트 생성</a:t>
            </a:r>
            <a:endParaRPr lang="en-US" altLang="ko-KR" dirty="0"/>
          </a:p>
          <a:p>
            <a:r>
              <a:rPr lang="en-US" altLang="ko-KR" dirty="0"/>
              <a:t>4. LT </a:t>
            </a:r>
            <a:r>
              <a:rPr lang="ko-KR" altLang="en-US" dirty="0"/>
              <a:t>서버 → </a:t>
            </a:r>
            <a:r>
              <a:rPr lang="en-US" altLang="ko-KR" dirty="0" err="1"/>
              <a:t>ElevenLabs</a:t>
            </a:r>
            <a:r>
              <a:rPr lang="en-US" altLang="ko-KR" dirty="0"/>
              <a:t> TTS </a:t>
            </a:r>
            <a:r>
              <a:rPr lang="ko-KR" altLang="en-US" dirty="0"/>
              <a:t>호출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sz="2000" dirty="0" err="1"/>
              <a:t>voice_id</a:t>
            </a:r>
            <a:r>
              <a:rPr lang="en-US" altLang="ko-KR" sz="2000" dirty="0"/>
              <a:t> + </a:t>
            </a:r>
            <a:r>
              <a:rPr lang="ko-KR" altLang="en-US" sz="2000" dirty="0"/>
              <a:t>텍스트</a:t>
            </a:r>
            <a:r>
              <a:rPr lang="ko-KR" altLang="en-US" dirty="0"/>
              <a:t> 전달 → 음성 파일 생성</a:t>
            </a:r>
            <a:endParaRPr lang="en-US" altLang="ko-KR" dirty="0"/>
          </a:p>
          <a:p>
            <a:r>
              <a:rPr lang="en-US" altLang="ko-KR" dirty="0"/>
              <a:t>5. </a:t>
            </a:r>
            <a:r>
              <a:rPr lang="ko-KR" altLang="en-US" dirty="0"/>
              <a:t>클라이언트로 </a:t>
            </a:r>
            <a:r>
              <a:rPr lang="ko-KR" altLang="en-US" sz="2000" dirty="0"/>
              <a:t>텍스트 </a:t>
            </a:r>
            <a:r>
              <a:rPr lang="en-US" altLang="ko-KR" sz="2000" dirty="0"/>
              <a:t>+ </a:t>
            </a:r>
            <a:r>
              <a:rPr lang="ko-KR" altLang="en-US" sz="2000" dirty="0"/>
              <a:t>음성</a:t>
            </a:r>
            <a:r>
              <a:rPr lang="ko-KR" altLang="en-US" dirty="0"/>
              <a:t> 전달 → 화면 표시</a:t>
            </a:r>
            <a:r>
              <a:rPr lang="en-US" altLang="ko-KR" dirty="0"/>
              <a:t>·</a:t>
            </a:r>
            <a:r>
              <a:rPr lang="ko-KR" altLang="en-US" dirty="0"/>
              <a:t>음성 재생</a:t>
            </a:r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25CDD6-E8E2-C4E7-0A18-031B676BC0CC}"/>
              </a:ext>
            </a:extLst>
          </p:cNvPr>
          <p:cNvSpPr txBox="1"/>
          <p:nvPr/>
        </p:nvSpPr>
        <p:spPr>
          <a:xfrm>
            <a:off x="174171" y="5424358"/>
            <a:ext cx="81860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3) </a:t>
            </a:r>
            <a:r>
              <a:rPr lang="ko-KR" altLang="en-US" dirty="0"/>
              <a:t>단계 전환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전체 시간 또는 턴 수에 따라</a:t>
            </a:r>
            <a:br>
              <a:rPr lang="ko-KR" altLang="en-US" dirty="0"/>
            </a:br>
            <a:r>
              <a:rPr lang="en-US" altLang="ko-KR" dirty="0"/>
              <a:t>WARMUP → EMOTION → MEMORY → CLOSING </a:t>
            </a:r>
            <a:r>
              <a:rPr lang="ko-KR" altLang="en-US" dirty="0"/>
              <a:t>순서로 단계 변경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단계 정보도 매번 대화 </a:t>
            </a:r>
            <a:r>
              <a:rPr lang="en-US" altLang="ko-KR" dirty="0"/>
              <a:t>AI</a:t>
            </a:r>
            <a:r>
              <a:rPr lang="ko-KR" altLang="en-US" dirty="0"/>
              <a:t>에 함께 전달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54316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B9D94-9DBC-8ECD-8D66-D95339D2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37C7FC-1110-9A30-BB24-FCE078A6D1FE}"/>
              </a:ext>
            </a:extLst>
          </p:cNvPr>
          <p:cNvSpPr txBox="1"/>
          <p:nvPr/>
        </p:nvSpPr>
        <p:spPr>
          <a:xfrm>
            <a:off x="174171" y="176512"/>
            <a:ext cx="341600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/>
              <a:t>LT, AI </a:t>
            </a:r>
            <a:r>
              <a:rPr lang="ko-KR" altLang="en-US" b="1" dirty="0"/>
              <a:t>기반의 맞춤형 대화 </a:t>
            </a:r>
            <a:r>
              <a:rPr lang="en-US" altLang="ko-KR" b="1" dirty="0"/>
              <a:t>Tool</a:t>
            </a:r>
            <a:endParaRPr lang="ko-KR" alt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E07150-41BF-8338-26D1-DFCABD9FD431}"/>
              </a:ext>
            </a:extLst>
          </p:cNvPr>
          <p:cNvSpPr txBox="1"/>
          <p:nvPr/>
        </p:nvSpPr>
        <p:spPr>
          <a:xfrm>
            <a:off x="174171" y="753290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기대 효과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8004DF-8DFA-5A2D-9C56-0C2A2DFDE8E1}"/>
              </a:ext>
            </a:extLst>
          </p:cNvPr>
          <p:cNvSpPr txBox="1"/>
          <p:nvPr/>
        </p:nvSpPr>
        <p:spPr>
          <a:xfrm>
            <a:off x="246742" y="1690062"/>
            <a:ext cx="859245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2000" dirty="0"/>
              <a:t>환자</a:t>
            </a:r>
            <a:endParaRPr lang="en-US" altLang="ko-KR" sz="2000" dirty="0"/>
          </a:p>
          <a:p>
            <a:pPr marL="285750" indent="-285750">
              <a:buFontTx/>
              <a:buChar char="-"/>
            </a:pPr>
            <a:r>
              <a:rPr lang="ko-KR" altLang="en-US" sz="2000" dirty="0"/>
              <a:t>“검사 받는 느낌” 이 아닌</a:t>
            </a:r>
            <a:r>
              <a:rPr lang="en-US" altLang="ko-KR" sz="2000" dirty="0"/>
              <a:t>, </a:t>
            </a:r>
            <a:r>
              <a:rPr lang="ko-KR" altLang="en-US" sz="2000" dirty="0"/>
              <a:t>사랑받고 이해 받는 느낌의 대화 경험 </a:t>
            </a:r>
            <a:endParaRPr lang="en-US" altLang="ko-KR" sz="2000" dirty="0"/>
          </a:p>
          <a:p>
            <a:pPr marL="285750" indent="-285750">
              <a:buFontTx/>
              <a:buChar char="-"/>
            </a:pPr>
            <a:r>
              <a:rPr lang="ko-KR" altLang="en-US" sz="2000" dirty="0"/>
              <a:t>그 안에서 자연스럽게 이루어지는 기억 자극</a:t>
            </a:r>
            <a:endParaRPr lang="en-US" altLang="ko-KR" sz="2000" dirty="0"/>
          </a:p>
          <a:p>
            <a:pPr marL="285750" indent="-285750">
              <a:buFontTx/>
              <a:buChar char="-"/>
            </a:pPr>
            <a:endParaRPr lang="en-US" altLang="ko-KR" sz="2000" dirty="0"/>
          </a:p>
          <a:p>
            <a:r>
              <a:rPr lang="en-US" altLang="ko-KR" sz="2000" dirty="0"/>
              <a:t>2. </a:t>
            </a:r>
            <a:r>
              <a:rPr lang="ko-KR" altLang="en-US" sz="2000" dirty="0"/>
              <a:t>보호자</a:t>
            </a:r>
            <a:r>
              <a:rPr lang="en-US" altLang="ko-KR" sz="2000" dirty="0"/>
              <a:t>·</a:t>
            </a:r>
            <a:r>
              <a:rPr lang="ko-KR" altLang="en-US" sz="2000" dirty="0"/>
              <a:t>임상의</a:t>
            </a:r>
            <a:endParaRPr lang="en-US" altLang="ko-KR" sz="2000" dirty="0"/>
          </a:p>
          <a:p>
            <a:pPr marL="285750" indent="-285750">
              <a:buFontTx/>
              <a:buChar char="-"/>
            </a:pPr>
            <a:r>
              <a:rPr lang="ko-KR" altLang="en-US" sz="2000" dirty="0"/>
              <a:t>바쁠 때도 환자에게 정서적인 대화 시간을 제공할 수 있는 보조 도구</a:t>
            </a:r>
            <a:endParaRPr lang="en-US" altLang="ko-KR" sz="2000" dirty="0"/>
          </a:p>
          <a:p>
            <a:pPr marL="285750" indent="-285750">
              <a:buFontTx/>
              <a:buChar char="-"/>
            </a:pPr>
            <a:r>
              <a:rPr lang="ko-KR" altLang="en-US" sz="2000" dirty="0"/>
              <a:t>객관적인 기록을 활용한 상태 모니터링</a:t>
            </a:r>
            <a:endParaRPr lang="en-US" altLang="ko-KR" sz="2000" dirty="0"/>
          </a:p>
          <a:p>
            <a:pPr marL="285750" indent="-285750">
              <a:buFontTx/>
              <a:buChar char="-"/>
            </a:pPr>
            <a:endParaRPr lang="en-US" altLang="ko-KR" sz="2000" dirty="0"/>
          </a:p>
          <a:p>
            <a:r>
              <a:rPr lang="en-US" altLang="ko-KR" sz="2000" dirty="0"/>
              <a:t>3. </a:t>
            </a:r>
            <a:r>
              <a:rPr lang="ko-KR" altLang="en-US" sz="2000" dirty="0"/>
              <a:t>연구자</a:t>
            </a:r>
            <a:endParaRPr lang="en-US" altLang="ko-KR" sz="2000" dirty="0"/>
          </a:p>
          <a:p>
            <a:r>
              <a:rPr lang="en-US" altLang="ko-KR" sz="2000" dirty="0"/>
              <a:t>- HF </a:t>
            </a:r>
            <a:r>
              <a:rPr lang="ko-KR" altLang="en-US" sz="2000" dirty="0"/>
              <a:t>성향</a:t>
            </a:r>
            <a:r>
              <a:rPr lang="en-US" altLang="ko-KR" sz="2000" dirty="0"/>
              <a:t>, </a:t>
            </a:r>
            <a:r>
              <a:rPr lang="ko-KR" altLang="en-US" sz="2000" dirty="0"/>
              <a:t>대화 스타일</a:t>
            </a:r>
            <a:r>
              <a:rPr lang="en-US" altLang="ko-KR" sz="2000" dirty="0"/>
              <a:t>, </a:t>
            </a:r>
            <a:r>
              <a:rPr lang="ko-KR" altLang="en-US" sz="2000" dirty="0"/>
              <a:t>목소리 조합에 따라 정서</a:t>
            </a:r>
            <a:r>
              <a:rPr lang="en-US" altLang="ko-KR" sz="2000" dirty="0"/>
              <a:t>·</a:t>
            </a:r>
            <a:r>
              <a:rPr lang="ko-KR" altLang="en-US" sz="2000" dirty="0"/>
              <a:t>인지 효과를 데이터로 분석할 수 있는 새로운 플랫폼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4602038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1F6B4-291B-35E1-2F5B-A5707AC4F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29F791-948E-FBE5-58FA-7299459AE991}"/>
              </a:ext>
            </a:extLst>
          </p:cNvPr>
          <p:cNvSpPr txBox="1"/>
          <p:nvPr/>
        </p:nvSpPr>
        <p:spPr>
          <a:xfrm>
            <a:off x="174171" y="176512"/>
            <a:ext cx="165462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/>
              <a:t>AI </a:t>
            </a:r>
            <a:r>
              <a:rPr lang="ko-KR" altLang="en-US" b="1" dirty="0"/>
              <a:t>시뮬레이션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EE52AC-53CD-55D3-6C2E-0B24ABF7D704}"/>
              </a:ext>
            </a:extLst>
          </p:cNvPr>
          <p:cNvSpPr txBox="1"/>
          <p:nvPr/>
        </p:nvSpPr>
        <p:spPr>
          <a:xfrm>
            <a:off x="55233" y="630943"/>
            <a:ext cx="5609138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대화방식 </a:t>
            </a:r>
            <a:r>
              <a:rPr lang="en-US" altLang="ko-KR" sz="1600" b="1" dirty="0"/>
              <a:t>: </a:t>
            </a:r>
            <a:r>
              <a:rPr lang="ko-KR" altLang="en-US" sz="1600" b="1" dirty="0"/>
              <a:t>공감형</a:t>
            </a:r>
            <a:endParaRPr lang="en-US" altLang="ko-KR" sz="1600" b="1" dirty="0"/>
          </a:p>
          <a:p>
            <a:r>
              <a:rPr lang="en-US" altLang="ko-KR" sz="1200" dirty="0"/>
              <a:t>- </a:t>
            </a:r>
            <a:r>
              <a:rPr lang="ko-KR" altLang="en-US" sz="1200" dirty="0"/>
              <a:t>감정 공유</a:t>
            </a:r>
            <a:r>
              <a:rPr lang="en-US" altLang="ko-KR" sz="1200" dirty="0"/>
              <a:t>, </a:t>
            </a:r>
            <a:r>
              <a:rPr lang="ko-KR" altLang="en-US" sz="1200" dirty="0"/>
              <a:t>따뜻한 인정</a:t>
            </a:r>
            <a:r>
              <a:rPr lang="en-US" altLang="ko-KR" sz="1200" dirty="0"/>
              <a:t>, “</a:t>
            </a:r>
            <a:r>
              <a:rPr lang="ko-KR" altLang="en-US" sz="1200" dirty="0"/>
              <a:t>내 마음을 알아주는 느낌에 가장 반응하는 그룹</a:t>
            </a:r>
            <a:r>
              <a:rPr lang="en-US" altLang="ko-KR" sz="1200" dirty="0"/>
              <a:t>”</a:t>
            </a:r>
          </a:p>
          <a:p>
            <a:r>
              <a:rPr lang="en-US" altLang="ko-KR" sz="1200" dirty="0"/>
              <a:t>- </a:t>
            </a:r>
            <a:r>
              <a:rPr lang="ko-KR" altLang="en-US" sz="1200" dirty="0"/>
              <a:t>공감이 큰 영향을 줌</a:t>
            </a:r>
            <a:endParaRPr lang="en-US" altLang="ko-KR" sz="1200" dirty="0"/>
          </a:p>
          <a:p>
            <a:endParaRPr lang="en-US" altLang="ko-KR" sz="1600" b="1" dirty="0"/>
          </a:p>
          <a:p>
            <a:endParaRPr lang="ko-KR" altLang="en-US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2630B4-B08B-9DF9-34FE-16D9AC46BE27}"/>
              </a:ext>
            </a:extLst>
          </p:cNvPr>
          <p:cNvSpPr txBox="1"/>
          <p:nvPr/>
        </p:nvSpPr>
        <p:spPr>
          <a:xfrm>
            <a:off x="98191" y="1508472"/>
            <a:ext cx="5842341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600" b="1" dirty="0">
                <a:latin typeface="Arial" panose="020B0604020202020204" pitchFamily="34" charset="0"/>
              </a:rPr>
              <a:t>공감형 </a:t>
            </a:r>
            <a:r>
              <a:rPr lang="en-US" altLang="ko-KR" sz="1600" b="1" dirty="0">
                <a:latin typeface="Arial" panose="020B0604020202020204" pitchFamily="34" charset="0"/>
              </a:rPr>
              <a:t>X </a:t>
            </a:r>
            <a:r>
              <a:rPr lang="ko-KR" altLang="en-US" sz="1600" b="1" dirty="0">
                <a:latin typeface="Arial" panose="020B0604020202020204" pitchFamily="34" charset="0"/>
              </a:rPr>
              <a:t>자기인식 정서조절</a:t>
            </a:r>
            <a:endParaRPr lang="en-US" altLang="ko-KR" sz="1600" b="1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600" dirty="0">
                <a:latin typeface="Arial" panose="020B0604020202020204" pitchFamily="34" charset="0"/>
              </a:rPr>
              <a:t>선호하는 감정적 대화</a:t>
            </a: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Arial" panose="020B0604020202020204" pitchFamily="34" charset="0"/>
              </a:rPr>
              <a:t>- “</a:t>
            </a:r>
            <a:r>
              <a:rPr lang="ko-KR" altLang="en-US" sz="1400" dirty="0">
                <a:latin typeface="Arial" panose="020B0604020202020204" pitchFamily="34" charset="0"/>
              </a:rPr>
              <a:t>내가 느끼는 혼란</a:t>
            </a:r>
            <a:r>
              <a:rPr lang="en-US" altLang="ko-KR" sz="1400" dirty="0">
                <a:latin typeface="Arial" panose="020B0604020202020204" pitchFamily="34" charset="0"/>
              </a:rPr>
              <a:t>, </a:t>
            </a:r>
            <a:r>
              <a:rPr lang="ko-KR" altLang="en-US" sz="1400" dirty="0">
                <a:latin typeface="Arial" panose="020B0604020202020204" pitchFamily="34" charset="0"/>
              </a:rPr>
              <a:t>불안</a:t>
            </a:r>
            <a:r>
              <a:rPr lang="en-US" altLang="ko-KR" sz="1400" dirty="0">
                <a:latin typeface="Arial" panose="020B0604020202020204" pitchFamily="34" charset="0"/>
              </a:rPr>
              <a:t>, </a:t>
            </a:r>
            <a:r>
              <a:rPr lang="ko-KR" altLang="en-US" sz="1400" dirty="0">
                <a:latin typeface="Arial" panose="020B0604020202020204" pitchFamily="34" charset="0"/>
              </a:rPr>
              <a:t>당황을 정확히 말로 표현해주는 공감</a:t>
            </a:r>
            <a:endParaRPr lang="en-US" altLang="ko-KR" sz="14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Arial" panose="020B0604020202020204" pitchFamily="34" charset="0"/>
              </a:rPr>
              <a:t>- “</a:t>
            </a:r>
            <a:r>
              <a:rPr lang="ko-KR" altLang="en-US" sz="1400" dirty="0">
                <a:latin typeface="Arial" panose="020B0604020202020204" pitchFamily="34" charset="0"/>
              </a:rPr>
              <a:t>지금 느끼는 감정이 정당하다는 확인</a:t>
            </a:r>
            <a:endParaRPr lang="en-US" altLang="ko-KR" sz="14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600" dirty="0">
                <a:latin typeface="Arial" panose="020B0604020202020204" pitchFamily="34" charset="0"/>
              </a:rPr>
              <a:t>효과적인 문장</a:t>
            </a: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Arial" panose="020B0604020202020204" pitchFamily="34" charset="0"/>
              </a:rPr>
              <a:t>- “</a:t>
            </a:r>
            <a:r>
              <a:rPr lang="ko-KR" altLang="en-US" sz="1400" dirty="0">
                <a:latin typeface="Arial" panose="020B0604020202020204" pitchFamily="34" charset="0"/>
              </a:rPr>
              <a:t>요즘 마음이 자주 흔들려서 스스로도 답답하셨죠</a:t>
            </a:r>
            <a:r>
              <a:rPr lang="en-US" altLang="ko-KR" sz="1400" dirty="0">
                <a:latin typeface="Arial" panose="020B0604020202020204" pitchFamily="34" charset="0"/>
              </a:rPr>
              <a:t>?”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dirty="0"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9D634C-186B-2607-B852-D74AA3D520C1}"/>
              </a:ext>
            </a:extLst>
          </p:cNvPr>
          <p:cNvSpPr txBox="1"/>
          <p:nvPr/>
        </p:nvSpPr>
        <p:spPr>
          <a:xfrm>
            <a:off x="1871759" y="138263"/>
            <a:ext cx="56091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HF</a:t>
            </a:r>
            <a:r>
              <a:rPr lang="ko-KR" altLang="en-US" sz="2400" b="1" dirty="0"/>
              <a:t> 유형별 선호 </a:t>
            </a:r>
            <a:r>
              <a:rPr lang="en-US" altLang="ko-KR" sz="2400" b="1" dirty="0"/>
              <a:t>emotional talk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85226D-3042-66AC-4976-5B4B1E73C55E}"/>
              </a:ext>
            </a:extLst>
          </p:cNvPr>
          <p:cNvSpPr txBox="1"/>
          <p:nvPr/>
        </p:nvSpPr>
        <p:spPr>
          <a:xfrm>
            <a:off x="98190" y="4226143"/>
            <a:ext cx="5842341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600" b="1" dirty="0">
                <a:latin typeface="Arial" panose="020B0604020202020204" pitchFamily="34" charset="0"/>
              </a:rPr>
              <a:t>공감형 </a:t>
            </a:r>
            <a:r>
              <a:rPr lang="en-US" altLang="ko-KR" sz="1600" b="1" dirty="0">
                <a:latin typeface="Arial" panose="020B0604020202020204" pitchFamily="34" charset="0"/>
              </a:rPr>
              <a:t>X </a:t>
            </a:r>
            <a:r>
              <a:rPr lang="ko-KR" altLang="en-US" sz="1600" b="1" dirty="0">
                <a:latin typeface="Arial" panose="020B0604020202020204" pitchFamily="34" charset="0"/>
              </a:rPr>
              <a:t>회복 적응</a:t>
            </a:r>
            <a:endParaRPr lang="en-US" altLang="ko-KR" sz="1600" b="1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600" dirty="0">
                <a:latin typeface="Arial" panose="020B0604020202020204" pitchFamily="34" charset="0"/>
              </a:rPr>
              <a:t>선호하는 감정적 대화</a:t>
            </a: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Arial" panose="020B0604020202020204" pitchFamily="34" charset="0"/>
              </a:rPr>
              <a:t>- </a:t>
            </a:r>
            <a:r>
              <a:rPr lang="ko-KR" altLang="en-US" sz="1400" dirty="0">
                <a:latin typeface="Arial" panose="020B0604020202020204" pitchFamily="34" charset="0"/>
              </a:rPr>
              <a:t>힘든 상황을 견딘 자신에 대한 공감</a:t>
            </a:r>
            <a:endParaRPr lang="en-US" altLang="ko-KR" sz="14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Arial" panose="020B0604020202020204" pitchFamily="34" charset="0"/>
              </a:rPr>
              <a:t>- </a:t>
            </a:r>
            <a:r>
              <a:rPr lang="ko-KR" altLang="en-US" sz="1400" dirty="0">
                <a:latin typeface="Arial" panose="020B0604020202020204" pitchFamily="34" charset="0"/>
              </a:rPr>
              <a:t>“그동안 너무 잘 </a:t>
            </a:r>
            <a:r>
              <a:rPr lang="ko-KR" altLang="en-US" sz="1400" dirty="0" err="1">
                <a:latin typeface="Arial" panose="020B0604020202020204" pitchFamily="34" charset="0"/>
              </a:rPr>
              <a:t>버티셨다”는</a:t>
            </a:r>
            <a:r>
              <a:rPr lang="ko-KR" altLang="en-US" sz="1400" dirty="0">
                <a:latin typeface="Arial" panose="020B0604020202020204" pitchFamily="34" charset="0"/>
              </a:rPr>
              <a:t> 인내의 감정 인식</a:t>
            </a:r>
            <a:endParaRPr lang="en-US" altLang="ko-KR" sz="14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600" dirty="0">
                <a:latin typeface="Arial" panose="020B0604020202020204" pitchFamily="34" charset="0"/>
              </a:rPr>
              <a:t>효과적인 문장</a:t>
            </a: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Arial" panose="020B0604020202020204" pitchFamily="34" charset="0"/>
              </a:rPr>
              <a:t>- </a:t>
            </a:r>
            <a:r>
              <a:rPr lang="ko-KR" altLang="en-US" sz="1400" dirty="0">
                <a:latin typeface="Arial" panose="020B0604020202020204" pitchFamily="34" charset="0"/>
              </a:rPr>
              <a:t>“이만큼 </a:t>
            </a:r>
            <a:r>
              <a:rPr lang="ko-KR" altLang="en-US" sz="1400" dirty="0" err="1">
                <a:latin typeface="Arial" panose="020B0604020202020204" pitchFamily="34" charset="0"/>
              </a:rPr>
              <a:t>버텨오신</a:t>
            </a:r>
            <a:r>
              <a:rPr lang="ko-KR" altLang="en-US" sz="1400" dirty="0">
                <a:latin typeface="Arial" panose="020B0604020202020204" pitchFamily="34" charset="0"/>
              </a:rPr>
              <a:t> 게 정말 쉽지 않았을 거예요</a:t>
            </a:r>
            <a:r>
              <a:rPr lang="en-US" altLang="ko-KR" sz="1400" dirty="0">
                <a:latin typeface="Arial" panose="020B0604020202020204" pitchFamily="34" charset="0"/>
              </a:rPr>
              <a:t>.”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dirty="0"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FA2799-F88C-14FE-677F-1E857462497C}"/>
              </a:ext>
            </a:extLst>
          </p:cNvPr>
          <p:cNvSpPr txBox="1"/>
          <p:nvPr/>
        </p:nvSpPr>
        <p:spPr>
          <a:xfrm>
            <a:off x="6251468" y="1508471"/>
            <a:ext cx="5842341" cy="22775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600" b="1" dirty="0">
                <a:latin typeface="Arial" panose="020B0604020202020204" pitchFamily="34" charset="0"/>
              </a:rPr>
              <a:t>공감형 </a:t>
            </a:r>
            <a:r>
              <a:rPr lang="en-US" altLang="ko-KR" sz="1600" b="1" dirty="0">
                <a:latin typeface="Arial" panose="020B0604020202020204" pitchFamily="34" charset="0"/>
              </a:rPr>
              <a:t>X </a:t>
            </a:r>
            <a:r>
              <a:rPr lang="ko-KR" altLang="en-US" sz="1600" b="1" dirty="0">
                <a:latin typeface="Arial" panose="020B0604020202020204" pitchFamily="34" charset="0"/>
              </a:rPr>
              <a:t>관계 소통</a:t>
            </a:r>
            <a:endParaRPr lang="en-US" altLang="ko-KR" sz="1600" b="1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600" dirty="0">
                <a:latin typeface="Arial" panose="020B0604020202020204" pitchFamily="34" charset="0"/>
              </a:rPr>
              <a:t>선호하는 감정적 대화</a:t>
            </a: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Arial" panose="020B0604020202020204" pitchFamily="34" charset="0"/>
              </a:rPr>
              <a:t>- </a:t>
            </a:r>
            <a:r>
              <a:rPr lang="ko-KR" altLang="en-US" sz="1400" dirty="0">
                <a:latin typeface="Arial" panose="020B0604020202020204" pitchFamily="34" charset="0"/>
              </a:rPr>
              <a:t>인간관계의 상처 또는 따뜻함을 함께 느껴주는 감정 공감</a:t>
            </a:r>
            <a:endParaRPr lang="en-US" altLang="ko-KR" sz="14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Arial" panose="020B0604020202020204" pitchFamily="34" charset="0"/>
              </a:rPr>
              <a:t>- </a:t>
            </a:r>
            <a:r>
              <a:rPr lang="ko-KR" altLang="en-US" sz="1600" dirty="0"/>
              <a:t>“</a:t>
            </a:r>
            <a:r>
              <a:rPr lang="ko-KR" altLang="en-US" sz="1600" dirty="0" err="1"/>
              <a:t>사람들과의</a:t>
            </a:r>
            <a:r>
              <a:rPr lang="ko-KR" altLang="en-US" sz="1600" dirty="0"/>
              <a:t> 오해</a:t>
            </a:r>
            <a:r>
              <a:rPr lang="en-US" altLang="ko-KR" sz="1600" dirty="0"/>
              <a:t>·</a:t>
            </a:r>
            <a:r>
              <a:rPr lang="ko-KR" altLang="en-US" sz="1600" dirty="0"/>
              <a:t>서운함</a:t>
            </a:r>
            <a:r>
              <a:rPr lang="en-US" altLang="ko-KR" sz="1600" dirty="0"/>
              <a:t>·</a:t>
            </a:r>
            <a:r>
              <a:rPr lang="ko-KR" altLang="en-US" sz="1600" dirty="0" err="1"/>
              <a:t>그리움”을</a:t>
            </a:r>
            <a:r>
              <a:rPr lang="ko-KR" altLang="en-US" sz="1600" dirty="0"/>
              <a:t> 이해해주는 대화</a:t>
            </a:r>
            <a:endParaRPr lang="en-US" altLang="ko-KR" sz="1600" dirty="0"/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600" dirty="0">
                <a:latin typeface="Arial" panose="020B0604020202020204" pitchFamily="34" charset="0"/>
              </a:rPr>
              <a:t>효과적인 문장</a:t>
            </a: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Arial" panose="020B0604020202020204" pitchFamily="34" charset="0"/>
              </a:rPr>
              <a:t>- </a:t>
            </a:r>
            <a:r>
              <a:rPr lang="ko-KR" altLang="en-US" sz="1400" dirty="0">
                <a:latin typeface="Arial" panose="020B0604020202020204" pitchFamily="34" charset="0"/>
              </a:rPr>
              <a:t>“그 말을 들었을 때 마음이 꽤 </a:t>
            </a:r>
            <a:r>
              <a:rPr lang="ko-KR" altLang="en-US" sz="1400" dirty="0" err="1">
                <a:latin typeface="Arial" panose="020B0604020202020204" pitchFamily="34" charset="0"/>
              </a:rPr>
              <a:t>아프셨겠어요</a:t>
            </a:r>
            <a:r>
              <a:rPr lang="en-US" altLang="ko-KR" sz="1400" dirty="0">
                <a:latin typeface="Arial" panose="020B0604020202020204" pitchFamily="34" charset="0"/>
              </a:rPr>
              <a:t>.”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dirty="0"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304FDE-ECC9-C47F-2CFF-F7A34BEC18EB}"/>
              </a:ext>
            </a:extLst>
          </p:cNvPr>
          <p:cNvSpPr txBox="1"/>
          <p:nvPr/>
        </p:nvSpPr>
        <p:spPr>
          <a:xfrm>
            <a:off x="6251468" y="4226143"/>
            <a:ext cx="5842341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600" b="1" dirty="0">
                <a:latin typeface="Arial" panose="020B0604020202020204" pitchFamily="34" charset="0"/>
              </a:rPr>
              <a:t>공감형 </a:t>
            </a:r>
            <a:r>
              <a:rPr lang="en-US" altLang="ko-KR" sz="1600" b="1" dirty="0">
                <a:latin typeface="Arial" panose="020B0604020202020204" pitchFamily="34" charset="0"/>
              </a:rPr>
              <a:t>X </a:t>
            </a:r>
            <a:r>
              <a:rPr lang="ko-KR" altLang="en-US" sz="1600" b="1" dirty="0">
                <a:latin typeface="Arial" panose="020B0604020202020204" pitchFamily="34" charset="0"/>
              </a:rPr>
              <a:t>행동 습관</a:t>
            </a:r>
            <a:endParaRPr lang="en-US" altLang="ko-KR" sz="1600" b="1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600" dirty="0">
                <a:latin typeface="Arial" panose="020B0604020202020204" pitchFamily="34" charset="0"/>
              </a:rPr>
              <a:t>선호하는 감정적 대화</a:t>
            </a: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Arial" panose="020B0604020202020204" pitchFamily="34" charset="0"/>
              </a:rPr>
              <a:t>- </a:t>
            </a:r>
            <a:r>
              <a:rPr lang="ko-KR" altLang="en-US" sz="1400" dirty="0">
                <a:latin typeface="Arial" panose="020B0604020202020204" pitchFamily="34" charset="0"/>
              </a:rPr>
              <a:t>작은 행동 변화도 “정서적 </a:t>
            </a:r>
            <a:r>
              <a:rPr lang="ko-KR" altLang="en-US" sz="1400" dirty="0" err="1">
                <a:latin typeface="Arial" panose="020B0604020202020204" pitchFamily="34" charset="0"/>
              </a:rPr>
              <a:t>의미”로</a:t>
            </a:r>
            <a:r>
              <a:rPr lang="ko-KR" altLang="en-US" sz="1400" dirty="0">
                <a:latin typeface="Arial" panose="020B0604020202020204" pitchFamily="34" charset="0"/>
              </a:rPr>
              <a:t> 인정해주는 방식</a:t>
            </a:r>
            <a:endParaRPr lang="en-US" altLang="ko-KR" sz="14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Arial" panose="020B0604020202020204" pitchFamily="34" charset="0"/>
              </a:rPr>
              <a:t>- </a:t>
            </a:r>
            <a:r>
              <a:rPr lang="ko-KR" altLang="en-US" sz="1400" dirty="0">
                <a:latin typeface="Arial" panose="020B0604020202020204" pitchFamily="34" charset="0"/>
              </a:rPr>
              <a:t>“이걸 해낸 내가 </a:t>
            </a:r>
            <a:r>
              <a:rPr lang="ko-KR" altLang="en-US" sz="1400" dirty="0" err="1">
                <a:latin typeface="Arial" panose="020B0604020202020204" pitchFamily="34" charset="0"/>
              </a:rPr>
              <a:t>대견하다”는</a:t>
            </a:r>
            <a:r>
              <a:rPr lang="ko-KR" altLang="en-US" sz="1400" dirty="0">
                <a:latin typeface="Arial" panose="020B0604020202020204" pitchFamily="34" charset="0"/>
              </a:rPr>
              <a:t> 감정 강화</a:t>
            </a:r>
            <a:endParaRPr lang="en-US" altLang="ko-KR" sz="14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600" dirty="0">
                <a:latin typeface="Arial" panose="020B0604020202020204" pitchFamily="34" charset="0"/>
              </a:rPr>
              <a:t>효과적인 문장</a:t>
            </a: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Arial" panose="020B0604020202020204" pitchFamily="34" charset="0"/>
              </a:rPr>
              <a:t>- </a:t>
            </a:r>
            <a:r>
              <a:rPr lang="ko-KR" altLang="en-US" sz="1400" dirty="0">
                <a:latin typeface="Arial" panose="020B0604020202020204" pitchFamily="34" charset="0"/>
              </a:rPr>
              <a:t>“그걸 꾸준히 하신 건 정말 대단한 </a:t>
            </a:r>
            <a:r>
              <a:rPr lang="ko-KR" altLang="en-US" sz="1400" dirty="0" err="1">
                <a:latin typeface="Arial" panose="020B0604020202020204" pitchFamily="34" charset="0"/>
              </a:rPr>
              <a:t>일이에요</a:t>
            </a:r>
            <a:r>
              <a:rPr lang="en-US" altLang="ko-KR" sz="1400" dirty="0">
                <a:latin typeface="Arial" panose="020B0604020202020204" pitchFamily="34" charset="0"/>
              </a:rPr>
              <a:t>.”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2749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1F6B4-291B-35E1-2F5B-A5707AC4F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29F791-948E-FBE5-58FA-7299459AE991}"/>
              </a:ext>
            </a:extLst>
          </p:cNvPr>
          <p:cNvSpPr txBox="1"/>
          <p:nvPr/>
        </p:nvSpPr>
        <p:spPr>
          <a:xfrm>
            <a:off x="174171" y="176512"/>
            <a:ext cx="165462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/>
              <a:t>AI </a:t>
            </a:r>
            <a:r>
              <a:rPr lang="ko-KR" altLang="en-US" b="1" dirty="0"/>
              <a:t>시뮬레이션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EE52AC-53CD-55D3-6C2E-0B24ABF7D704}"/>
              </a:ext>
            </a:extLst>
          </p:cNvPr>
          <p:cNvSpPr txBox="1"/>
          <p:nvPr/>
        </p:nvSpPr>
        <p:spPr>
          <a:xfrm>
            <a:off x="55233" y="630943"/>
            <a:ext cx="56091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대화방식 </a:t>
            </a:r>
            <a:r>
              <a:rPr lang="en-US" altLang="ko-KR" sz="1600" b="1" dirty="0"/>
              <a:t>: </a:t>
            </a:r>
            <a:r>
              <a:rPr lang="ko-KR" altLang="en-US" sz="1600" b="1" dirty="0"/>
              <a:t>인지형</a:t>
            </a:r>
            <a:endParaRPr lang="en-US" altLang="ko-KR" sz="1600" b="1" dirty="0"/>
          </a:p>
          <a:p>
            <a:r>
              <a:rPr lang="en-US" altLang="ko-KR" sz="1200" dirty="0"/>
              <a:t>- </a:t>
            </a:r>
            <a:r>
              <a:rPr lang="ko-KR" altLang="en-US" sz="1200" dirty="0"/>
              <a:t>의미 찾기</a:t>
            </a:r>
            <a:r>
              <a:rPr lang="en-US" altLang="ko-KR" sz="1200" dirty="0"/>
              <a:t>, </a:t>
            </a:r>
            <a:r>
              <a:rPr lang="ko-KR" altLang="en-US" sz="1200" dirty="0"/>
              <a:t>상황 해석</a:t>
            </a:r>
            <a:r>
              <a:rPr lang="en-US" altLang="ko-KR" sz="1200" dirty="0"/>
              <a:t>, </a:t>
            </a:r>
            <a:r>
              <a:rPr lang="ko-KR" altLang="en-US" sz="1200" dirty="0"/>
              <a:t>이해</a:t>
            </a:r>
            <a:r>
              <a:rPr lang="en-US" altLang="ko-KR" sz="1200" dirty="0"/>
              <a:t>·</a:t>
            </a:r>
            <a:r>
              <a:rPr lang="ko-KR" altLang="en-US" sz="1200" dirty="0"/>
              <a:t>통찰 제공이 감정적 보상으로 작동</a:t>
            </a:r>
            <a:endParaRPr lang="en-US" altLang="ko-KR" sz="1200" dirty="0"/>
          </a:p>
          <a:p>
            <a:r>
              <a:rPr lang="en-US" altLang="ko-KR" sz="1200" dirty="0"/>
              <a:t>- </a:t>
            </a:r>
            <a:r>
              <a:rPr lang="ko-KR" altLang="en-US" sz="1200" dirty="0"/>
              <a:t>“아</a:t>
            </a:r>
            <a:r>
              <a:rPr lang="en-US" altLang="ko-KR" sz="1200" dirty="0"/>
              <a:t>, </a:t>
            </a:r>
            <a:r>
              <a:rPr lang="ko-KR" altLang="en-US" sz="1200" dirty="0"/>
              <a:t>이제 </a:t>
            </a:r>
            <a:r>
              <a:rPr lang="ko-KR" altLang="en-US" sz="1200" dirty="0" err="1"/>
              <a:t>이해된다”가</a:t>
            </a:r>
            <a:r>
              <a:rPr lang="ko-KR" altLang="en-US" sz="1200" dirty="0"/>
              <a:t> 감정적 트리거</a:t>
            </a:r>
            <a:endParaRPr lang="en-US" altLang="ko-KR" sz="1600" b="1" dirty="0"/>
          </a:p>
          <a:p>
            <a:endParaRPr lang="ko-KR" altLang="en-US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2630B4-B08B-9DF9-34FE-16D9AC46BE27}"/>
              </a:ext>
            </a:extLst>
          </p:cNvPr>
          <p:cNvSpPr txBox="1"/>
          <p:nvPr/>
        </p:nvSpPr>
        <p:spPr>
          <a:xfrm>
            <a:off x="98191" y="1508472"/>
            <a:ext cx="5842341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600" b="1" dirty="0">
                <a:latin typeface="Arial" panose="020B0604020202020204" pitchFamily="34" charset="0"/>
              </a:rPr>
              <a:t>인지형 </a:t>
            </a:r>
            <a:r>
              <a:rPr lang="en-US" altLang="ko-KR" sz="1600" b="1" dirty="0">
                <a:latin typeface="Arial" panose="020B0604020202020204" pitchFamily="34" charset="0"/>
              </a:rPr>
              <a:t>X </a:t>
            </a:r>
            <a:r>
              <a:rPr lang="ko-KR" altLang="en-US" sz="1600" b="1" dirty="0">
                <a:latin typeface="Arial" panose="020B0604020202020204" pitchFamily="34" charset="0"/>
              </a:rPr>
              <a:t>자기인식 정서조절</a:t>
            </a:r>
            <a:endParaRPr lang="en-US" altLang="ko-KR" sz="1600" b="1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600" dirty="0">
                <a:latin typeface="Arial" panose="020B0604020202020204" pitchFamily="34" charset="0"/>
              </a:rPr>
              <a:t>선호하는 감정적 대화</a:t>
            </a: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Arial" panose="020B0604020202020204" pitchFamily="34" charset="0"/>
              </a:rPr>
              <a:t>- </a:t>
            </a:r>
            <a:r>
              <a:rPr lang="ko-KR" altLang="en-US" sz="1400" dirty="0">
                <a:latin typeface="Arial" panose="020B0604020202020204" pitchFamily="34" charset="0"/>
              </a:rPr>
              <a:t>자신의 감정 패턴을 “명확하게 이해하게 해주는 설명”</a:t>
            </a:r>
            <a:endParaRPr lang="en-US" altLang="ko-KR" sz="14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Arial" panose="020B0604020202020204" pitchFamily="34" charset="0"/>
              </a:rPr>
              <a:t>- </a:t>
            </a:r>
            <a:r>
              <a:rPr lang="ko-KR" altLang="en-US" sz="1400" dirty="0">
                <a:latin typeface="Arial" panose="020B0604020202020204" pitchFamily="34" charset="0"/>
              </a:rPr>
              <a:t>“감정</a:t>
            </a:r>
            <a:r>
              <a:rPr lang="en-US" altLang="ko-KR" sz="1400" dirty="0">
                <a:latin typeface="Arial" panose="020B0604020202020204" pitchFamily="34" charset="0"/>
              </a:rPr>
              <a:t>-</a:t>
            </a:r>
            <a:r>
              <a:rPr lang="ko-KR" altLang="en-US" sz="1400" dirty="0">
                <a:latin typeface="Arial" panose="020B0604020202020204" pitchFamily="34" charset="0"/>
              </a:rPr>
              <a:t>상황 연결 </a:t>
            </a:r>
            <a:r>
              <a:rPr lang="ko-KR" altLang="en-US" sz="1400" dirty="0" err="1">
                <a:latin typeface="Arial" panose="020B0604020202020204" pitchFamily="34" charset="0"/>
              </a:rPr>
              <a:t>구조”를</a:t>
            </a:r>
            <a:r>
              <a:rPr lang="ko-KR" altLang="en-US" sz="1400" dirty="0">
                <a:latin typeface="Arial" panose="020B0604020202020204" pitchFamily="34" charset="0"/>
              </a:rPr>
              <a:t> 파악하게 해주는 인지적 감정</a:t>
            </a:r>
            <a:endParaRPr lang="en-US" altLang="ko-KR" sz="14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600" dirty="0">
                <a:latin typeface="Arial" panose="020B0604020202020204" pitchFamily="34" charset="0"/>
              </a:rPr>
              <a:t>효과적인 문장</a:t>
            </a: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Arial" panose="020B0604020202020204" pitchFamily="34" charset="0"/>
              </a:rPr>
              <a:t>- </a:t>
            </a:r>
            <a:r>
              <a:rPr lang="ko-KR" altLang="en-US" sz="1400" dirty="0">
                <a:latin typeface="Arial" panose="020B0604020202020204" pitchFamily="34" charset="0"/>
              </a:rPr>
              <a:t>“이 감정은 ○○한 상황에서 특히 강해지는 경향이 있어요</a:t>
            </a:r>
            <a:r>
              <a:rPr lang="en-US" altLang="ko-KR" sz="1400" dirty="0">
                <a:latin typeface="Arial" panose="020B0604020202020204" pitchFamily="34" charset="0"/>
              </a:rPr>
              <a:t>.”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dirty="0"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9D634C-186B-2607-B852-D74AA3D520C1}"/>
              </a:ext>
            </a:extLst>
          </p:cNvPr>
          <p:cNvSpPr txBox="1"/>
          <p:nvPr/>
        </p:nvSpPr>
        <p:spPr>
          <a:xfrm>
            <a:off x="1871759" y="138263"/>
            <a:ext cx="56091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HF</a:t>
            </a:r>
            <a:r>
              <a:rPr lang="ko-KR" altLang="en-US" sz="2400" b="1" dirty="0"/>
              <a:t> 유형별 선호 </a:t>
            </a:r>
            <a:r>
              <a:rPr lang="en-US" altLang="ko-KR" sz="2400" b="1" dirty="0"/>
              <a:t>emotional talk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85226D-3042-66AC-4976-5B4B1E73C55E}"/>
              </a:ext>
            </a:extLst>
          </p:cNvPr>
          <p:cNvSpPr txBox="1"/>
          <p:nvPr/>
        </p:nvSpPr>
        <p:spPr>
          <a:xfrm>
            <a:off x="98190" y="4226143"/>
            <a:ext cx="5842341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600" b="1" dirty="0">
                <a:latin typeface="Arial" panose="020B0604020202020204" pitchFamily="34" charset="0"/>
              </a:rPr>
              <a:t>인지형 </a:t>
            </a:r>
            <a:r>
              <a:rPr lang="en-US" altLang="ko-KR" sz="1600" b="1" dirty="0">
                <a:latin typeface="Arial" panose="020B0604020202020204" pitchFamily="34" charset="0"/>
              </a:rPr>
              <a:t>X </a:t>
            </a:r>
            <a:r>
              <a:rPr lang="ko-KR" altLang="en-US" sz="1600" b="1" dirty="0">
                <a:latin typeface="Arial" panose="020B0604020202020204" pitchFamily="34" charset="0"/>
              </a:rPr>
              <a:t>회복 적응</a:t>
            </a:r>
            <a:endParaRPr lang="en-US" altLang="ko-KR" sz="1600" b="1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600" dirty="0">
                <a:latin typeface="Arial" panose="020B0604020202020204" pitchFamily="34" charset="0"/>
              </a:rPr>
              <a:t>선호하는 감정적 대화</a:t>
            </a: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Arial" panose="020B0604020202020204" pitchFamily="34" charset="0"/>
              </a:rPr>
              <a:t>- </a:t>
            </a:r>
            <a:r>
              <a:rPr lang="ko-KR" altLang="en-US" sz="1400" dirty="0"/>
              <a:t>힘든 상황에 대한 “의미 재구성</a:t>
            </a:r>
            <a:endParaRPr lang="en-US" altLang="ko-KR" sz="14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Arial" panose="020B0604020202020204" pitchFamily="34" charset="0"/>
              </a:rPr>
              <a:t>- </a:t>
            </a:r>
            <a:r>
              <a:rPr lang="ko-KR" altLang="en-US" sz="1400" dirty="0">
                <a:latin typeface="Arial" panose="020B0604020202020204" pitchFamily="34" charset="0"/>
              </a:rPr>
              <a:t>‘왜 </a:t>
            </a:r>
            <a:r>
              <a:rPr lang="ko-KR" altLang="en-US" sz="1400" dirty="0" err="1">
                <a:latin typeface="Arial" panose="020B0604020202020204" pitchFamily="34" charset="0"/>
              </a:rPr>
              <a:t>힘들었는지’가</a:t>
            </a:r>
            <a:r>
              <a:rPr lang="ko-KR" altLang="en-US" sz="1400" dirty="0">
                <a:latin typeface="Arial" panose="020B0604020202020204" pitchFamily="34" charset="0"/>
              </a:rPr>
              <a:t> 이해되며 정서 안정</a:t>
            </a:r>
            <a:endParaRPr lang="en-US" altLang="ko-KR" sz="14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600" dirty="0">
                <a:latin typeface="Arial" panose="020B0604020202020204" pitchFamily="34" charset="0"/>
              </a:rPr>
              <a:t>효과적인 문장</a:t>
            </a: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Arial" panose="020B0604020202020204" pitchFamily="34" charset="0"/>
              </a:rPr>
              <a:t>- </a:t>
            </a:r>
            <a:r>
              <a:rPr lang="ko-KR" altLang="en-US" sz="1400" dirty="0">
                <a:latin typeface="Arial" panose="020B0604020202020204" pitchFamily="34" charset="0"/>
              </a:rPr>
              <a:t>“지금의 어려움은 ○○ 때문에 생기는 자연스러운 변화예요</a:t>
            </a:r>
            <a:r>
              <a:rPr lang="en-US" altLang="ko-KR" sz="1400" dirty="0">
                <a:latin typeface="Arial" panose="020B0604020202020204" pitchFamily="34" charset="0"/>
              </a:rPr>
              <a:t>.”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dirty="0"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FA2799-F88C-14FE-677F-1E857462497C}"/>
              </a:ext>
            </a:extLst>
          </p:cNvPr>
          <p:cNvSpPr txBox="1"/>
          <p:nvPr/>
        </p:nvSpPr>
        <p:spPr>
          <a:xfrm>
            <a:off x="6251468" y="1508471"/>
            <a:ext cx="5842341" cy="21852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600" b="1" dirty="0">
                <a:latin typeface="Arial" panose="020B0604020202020204" pitchFamily="34" charset="0"/>
              </a:rPr>
              <a:t>인지형 </a:t>
            </a:r>
            <a:r>
              <a:rPr lang="en-US" altLang="ko-KR" sz="1600" b="1" dirty="0">
                <a:latin typeface="Arial" panose="020B0604020202020204" pitchFamily="34" charset="0"/>
              </a:rPr>
              <a:t>X </a:t>
            </a:r>
            <a:r>
              <a:rPr lang="ko-KR" altLang="en-US" sz="1600" b="1" dirty="0">
                <a:latin typeface="Arial" panose="020B0604020202020204" pitchFamily="34" charset="0"/>
              </a:rPr>
              <a:t>관계 소통</a:t>
            </a:r>
            <a:endParaRPr lang="en-US" altLang="ko-KR" sz="1600" b="1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600" dirty="0">
                <a:latin typeface="Arial" panose="020B0604020202020204" pitchFamily="34" charset="0"/>
              </a:rPr>
              <a:t>선호하는 감정적 대화</a:t>
            </a: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Arial" panose="020B0604020202020204" pitchFamily="34" charset="0"/>
              </a:rPr>
              <a:t>- </a:t>
            </a:r>
            <a:r>
              <a:rPr lang="ko-KR" altLang="en-US" sz="1400" dirty="0">
                <a:latin typeface="Arial" panose="020B0604020202020204" pitchFamily="34" charset="0"/>
              </a:rPr>
              <a:t>관계 갈등을 분석해주는 해석적 접근</a:t>
            </a:r>
            <a:endParaRPr lang="en-US" altLang="ko-KR" sz="14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Arial" panose="020B0604020202020204" pitchFamily="34" charset="0"/>
              </a:rPr>
              <a:t>- </a:t>
            </a:r>
            <a:r>
              <a:rPr lang="ko-KR" altLang="en-US" sz="1400" dirty="0">
                <a:latin typeface="Arial" panose="020B0604020202020204" pitchFamily="34" charset="0"/>
              </a:rPr>
              <a:t>“상대가 왜 그렇게 </a:t>
            </a:r>
            <a:r>
              <a:rPr lang="ko-KR" altLang="en-US" sz="1400" dirty="0" err="1">
                <a:latin typeface="Arial" panose="020B0604020202020204" pitchFamily="34" charset="0"/>
              </a:rPr>
              <a:t>행동했는지”를</a:t>
            </a:r>
            <a:r>
              <a:rPr lang="ko-KR" altLang="en-US" sz="1400" dirty="0">
                <a:latin typeface="Arial" panose="020B0604020202020204" pitchFamily="34" charset="0"/>
              </a:rPr>
              <a:t> 이해하게 하는 감정</a:t>
            </a:r>
            <a:endParaRPr lang="en-US" altLang="ko-KR" sz="14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600" dirty="0">
                <a:latin typeface="Arial" panose="020B0604020202020204" pitchFamily="34" charset="0"/>
              </a:rPr>
              <a:t>효과적인 문장</a:t>
            </a: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Arial" panose="020B0604020202020204" pitchFamily="34" charset="0"/>
              </a:rPr>
              <a:t>- </a:t>
            </a:r>
            <a:r>
              <a:rPr lang="ko-KR" altLang="en-US" sz="1400" dirty="0">
                <a:latin typeface="Arial" panose="020B0604020202020204" pitchFamily="34" charset="0"/>
              </a:rPr>
              <a:t>“상대의 반응은 선생님을 공격하려는 게 아니라</a:t>
            </a:r>
            <a:r>
              <a:rPr lang="en-US" altLang="ko-KR" sz="1400" dirty="0">
                <a:latin typeface="Arial" panose="020B0604020202020204" pitchFamily="34" charset="0"/>
              </a:rPr>
              <a:t>, ○○ </a:t>
            </a:r>
            <a:r>
              <a:rPr lang="ko-KR" altLang="en-US" sz="1400" dirty="0">
                <a:latin typeface="Arial" panose="020B0604020202020204" pitchFamily="34" charset="0"/>
              </a:rPr>
              <a:t>때문이었을 가능성이 커요</a:t>
            </a:r>
            <a:r>
              <a:rPr lang="en-US" altLang="ko-KR" sz="1400" dirty="0">
                <a:latin typeface="Arial" panose="020B0604020202020204" pitchFamily="34" charset="0"/>
              </a:rPr>
              <a:t>.”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304FDE-ECC9-C47F-2CFF-F7A34BEC18EB}"/>
              </a:ext>
            </a:extLst>
          </p:cNvPr>
          <p:cNvSpPr txBox="1"/>
          <p:nvPr/>
        </p:nvSpPr>
        <p:spPr>
          <a:xfrm>
            <a:off x="6251468" y="4226143"/>
            <a:ext cx="5842341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600" b="1" dirty="0">
                <a:latin typeface="Arial" panose="020B0604020202020204" pitchFamily="34" charset="0"/>
              </a:rPr>
              <a:t>인지형 </a:t>
            </a:r>
            <a:r>
              <a:rPr lang="en-US" altLang="ko-KR" sz="1600" b="1" dirty="0">
                <a:latin typeface="Arial" panose="020B0604020202020204" pitchFamily="34" charset="0"/>
              </a:rPr>
              <a:t>X </a:t>
            </a:r>
            <a:r>
              <a:rPr lang="ko-KR" altLang="en-US" sz="1600" b="1" dirty="0">
                <a:latin typeface="Arial" panose="020B0604020202020204" pitchFamily="34" charset="0"/>
              </a:rPr>
              <a:t>행동 습관</a:t>
            </a:r>
            <a:endParaRPr lang="en-US" altLang="ko-KR" sz="1600" b="1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600" dirty="0">
                <a:latin typeface="Arial" panose="020B0604020202020204" pitchFamily="34" charset="0"/>
              </a:rPr>
              <a:t>선호하는 감정적 대화</a:t>
            </a: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Arial" panose="020B0604020202020204" pitchFamily="34" charset="0"/>
              </a:rPr>
              <a:t>- </a:t>
            </a:r>
            <a:r>
              <a:rPr lang="ko-KR" altLang="en-US" sz="1400" dirty="0">
                <a:latin typeface="Arial" panose="020B0604020202020204" pitchFamily="34" charset="0"/>
              </a:rPr>
              <a:t>행동 습관과 결과의 인과관계를 설명해주는 방식</a:t>
            </a:r>
            <a:endParaRPr lang="en-US" altLang="ko-KR" sz="14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Arial" panose="020B0604020202020204" pitchFamily="34" charset="0"/>
              </a:rPr>
              <a:t>- </a:t>
            </a:r>
            <a:r>
              <a:rPr lang="ko-KR" altLang="en-US" sz="1400" dirty="0">
                <a:latin typeface="Arial" panose="020B0604020202020204" pitchFamily="34" charset="0"/>
              </a:rPr>
              <a:t>“이 행동이 나에게 어떤 의미가 있는지”를 깨닫게 하는 감정</a:t>
            </a:r>
            <a:endParaRPr lang="en-US" altLang="ko-KR" sz="14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600" dirty="0">
                <a:latin typeface="Arial" panose="020B0604020202020204" pitchFamily="34" charset="0"/>
              </a:rPr>
              <a:t>효과적인 문장</a:t>
            </a: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Arial" panose="020B0604020202020204" pitchFamily="34" charset="0"/>
              </a:rPr>
              <a:t>- </a:t>
            </a:r>
            <a:r>
              <a:rPr lang="ko-KR" altLang="en-US" sz="1400" dirty="0">
                <a:latin typeface="Arial" panose="020B0604020202020204" pitchFamily="34" charset="0"/>
              </a:rPr>
              <a:t>“그 습관을 유지하면 기억 기능에 이런 긍정적 영향을 줘요</a:t>
            </a:r>
            <a:r>
              <a:rPr lang="en-US" altLang="ko-KR" sz="1400" dirty="0">
                <a:latin typeface="Arial" panose="020B0604020202020204" pitchFamily="34" charset="0"/>
              </a:rPr>
              <a:t>.”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3048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1F6B4-291B-35E1-2F5B-A5707AC4F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29F791-948E-FBE5-58FA-7299459AE991}"/>
              </a:ext>
            </a:extLst>
          </p:cNvPr>
          <p:cNvSpPr txBox="1"/>
          <p:nvPr/>
        </p:nvSpPr>
        <p:spPr>
          <a:xfrm>
            <a:off x="174171" y="176512"/>
            <a:ext cx="165462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/>
              <a:t>AI </a:t>
            </a:r>
            <a:r>
              <a:rPr lang="ko-KR" altLang="en-US" b="1" dirty="0"/>
              <a:t>시뮬레이션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EE52AC-53CD-55D3-6C2E-0B24ABF7D704}"/>
              </a:ext>
            </a:extLst>
          </p:cNvPr>
          <p:cNvSpPr txBox="1"/>
          <p:nvPr/>
        </p:nvSpPr>
        <p:spPr>
          <a:xfrm>
            <a:off x="55233" y="630943"/>
            <a:ext cx="56091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대화방식 </a:t>
            </a:r>
            <a:r>
              <a:rPr lang="en-US" altLang="ko-KR" sz="1600" b="1" dirty="0"/>
              <a:t>: </a:t>
            </a:r>
            <a:r>
              <a:rPr lang="ko-KR" altLang="en-US" sz="1600" b="1" dirty="0"/>
              <a:t>동기형</a:t>
            </a:r>
            <a:endParaRPr lang="en-US" altLang="ko-KR" sz="1600" b="1" dirty="0"/>
          </a:p>
          <a:p>
            <a:r>
              <a:rPr lang="en-US" altLang="ko-KR" sz="1200" dirty="0"/>
              <a:t>- </a:t>
            </a:r>
            <a:r>
              <a:rPr lang="ko-KR" altLang="en-US" sz="1200" dirty="0"/>
              <a:t>인정</a:t>
            </a:r>
            <a:r>
              <a:rPr lang="en-US" altLang="ko-KR" sz="1200" dirty="0"/>
              <a:t>, </a:t>
            </a:r>
            <a:r>
              <a:rPr lang="ko-KR" altLang="en-US" sz="1200" dirty="0"/>
              <a:t>가능성</a:t>
            </a:r>
            <a:r>
              <a:rPr lang="en-US" altLang="ko-KR" sz="1200" dirty="0"/>
              <a:t>, </a:t>
            </a:r>
            <a:r>
              <a:rPr lang="ko-KR" altLang="en-US" sz="1200" dirty="0"/>
              <a:t>강점 강화</a:t>
            </a:r>
            <a:r>
              <a:rPr lang="en-US" altLang="ko-KR" sz="1200" dirty="0"/>
              <a:t>, </a:t>
            </a:r>
            <a:r>
              <a:rPr lang="ko-KR" altLang="en-US" sz="1200" dirty="0"/>
              <a:t>미래 긍정 기대가 감정적 트리거</a:t>
            </a:r>
            <a:endParaRPr lang="en-US" altLang="ko-KR" sz="1200" dirty="0"/>
          </a:p>
          <a:p>
            <a:r>
              <a:rPr lang="en-US" altLang="ko-KR" sz="1200" dirty="0"/>
              <a:t>- </a:t>
            </a:r>
            <a:r>
              <a:rPr lang="ko-KR" altLang="en-US" sz="1200" dirty="0"/>
              <a:t>“할 수 있을 것 </a:t>
            </a:r>
            <a:r>
              <a:rPr lang="ko-KR" altLang="en-US" sz="1200" dirty="0" err="1"/>
              <a:t>같다”는</a:t>
            </a:r>
            <a:r>
              <a:rPr lang="ko-KR" altLang="en-US" sz="1200" dirty="0"/>
              <a:t> 감정이 인지 기능을 끌어올림</a:t>
            </a:r>
            <a:endParaRPr lang="ko-KR" altLang="en-US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2630B4-B08B-9DF9-34FE-16D9AC46BE27}"/>
              </a:ext>
            </a:extLst>
          </p:cNvPr>
          <p:cNvSpPr txBox="1"/>
          <p:nvPr/>
        </p:nvSpPr>
        <p:spPr>
          <a:xfrm>
            <a:off x="98191" y="1508472"/>
            <a:ext cx="5842341" cy="21852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600" b="1" dirty="0">
                <a:latin typeface="Arial" panose="020B0604020202020204" pitchFamily="34" charset="0"/>
              </a:rPr>
              <a:t>동기형 </a:t>
            </a:r>
            <a:r>
              <a:rPr lang="en-US" altLang="ko-KR" sz="1600" b="1" dirty="0">
                <a:latin typeface="Arial" panose="020B0604020202020204" pitchFamily="34" charset="0"/>
              </a:rPr>
              <a:t>X </a:t>
            </a:r>
            <a:r>
              <a:rPr lang="ko-KR" altLang="en-US" sz="1600" b="1" dirty="0">
                <a:latin typeface="Arial" panose="020B0604020202020204" pitchFamily="34" charset="0"/>
              </a:rPr>
              <a:t>자기인식 정서조절</a:t>
            </a:r>
            <a:endParaRPr lang="en-US" altLang="ko-KR" sz="1600" b="1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600" dirty="0">
                <a:latin typeface="Arial" panose="020B0604020202020204" pitchFamily="34" charset="0"/>
              </a:rPr>
              <a:t>선호하는 감정적 대화</a:t>
            </a: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Arial" panose="020B0604020202020204" pitchFamily="34" charset="0"/>
              </a:rPr>
              <a:t>- </a:t>
            </a:r>
            <a:r>
              <a:rPr lang="ko-KR" altLang="en-US" sz="1400" dirty="0">
                <a:latin typeface="Arial" panose="020B0604020202020204" pitchFamily="34" charset="0"/>
              </a:rPr>
              <a:t>나의 감정을 조절할 수 있다는 “</a:t>
            </a:r>
            <a:r>
              <a:rPr lang="ko-KR" altLang="en-US" sz="1400" dirty="0" err="1">
                <a:latin typeface="Arial" panose="020B0604020202020204" pitchFamily="34" charset="0"/>
              </a:rPr>
              <a:t>통제감</a:t>
            </a:r>
            <a:r>
              <a:rPr lang="ko-KR" altLang="en-US" sz="1400" dirty="0">
                <a:latin typeface="Arial" panose="020B0604020202020204" pitchFamily="34" charset="0"/>
              </a:rPr>
              <a:t> 회복”</a:t>
            </a:r>
            <a:endParaRPr lang="en-US" altLang="ko-KR" sz="14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Arial" panose="020B0604020202020204" pitchFamily="34" charset="0"/>
              </a:rPr>
              <a:t>- </a:t>
            </a:r>
            <a:r>
              <a:rPr lang="ko-KR" altLang="en-US" sz="1400" dirty="0">
                <a:latin typeface="Arial" panose="020B0604020202020204" pitchFamily="34" charset="0"/>
              </a:rPr>
              <a:t>“내가 변화할 힘이 있다”는 </a:t>
            </a:r>
            <a:r>
              <a:rPr lang="en-US" altLang="ko-KR" sz="1400" dirty="0">
                <a:latin typeface="Arial" panose="020B0604020202020204" pitchFamily="34" charset="0"/>
              </a:rPr>
              <a:t>self-efficacy </a:t>
            </a:r>
            <a:r>
              <a:rPr lang="ko-KR" altLang="en-US" sz="1400" dirty="0">
                <a:latin typeface="Arial" panose="020B0604020202020204" pitchFamily="34" charset="0"/>
              </a:rPr>
              <a:t>감정</a:t>
            </a:r>
            <a:endParaRPr lang="en-US" altLang="ko-KR" sz="14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600" dirty="0">
                <a:latin typeface="Arial" panose="020B0604020202020204" pitchFamily="34" charset="0"/>
              </a:rPr>
              <a:t>효과적인 문장</a:t>
            </a: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Arial" panose="020B0604020202020204" pitchFamily="34" charset="0"/>
              </a:rPr>
              <a:t>- </a:t>
            </a:r>
            <a:r>
              <a:rPr lang="ko-KR" altLang="en-US" sz="1400" dirty="0">
                <a:latin typeface="Arial" panose="020B0604020202020204" pitchFamily="34" charset="0"/>
              </a:rPr>
              <a:t>“선생님이라면 감정의 흐름을 다시 잡아낼 수 있어요</a:t>
            </a:r>
            <a:r>
              <a:rPr lang="en-US" altLang="ko-KR" sz="1400" dirty="0">
                <a:latin typeface="Arial" panose="020B0604020202020204" pitchFamily="34" charset="0"/>
              </a:rPr>
              <a:t>.”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400" dirty="0"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9D634C-186B-2607-B852-D74AA3D520C1}"/>
              </a:ext>
            </a:extLst>
          </p:cNvPr>
          <p:cNvSpPr txBox="1"/>
          <p:nvPr/>
        </p:nvSpPr>
        <p:spPr>
          <a:xfrm>
            <a:off x="1871759" y="138263"/>
            <a:ext cx="56091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HF</a:t>
            </a:r>
            <a:r>
              <a:rPr lang="ko-KR" altLang="en-US" sz="2400" b="1" dirty="0"/>
              <a:t> 유형별 선호 </a:t>
            </a:r>
            <a:r>
              <a:rPr lang="en-US" altLang="ko-KR" sz="2400" b="1" dirty="0"/>
              <a:t>emotional talk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85226D-3042-66AC-4976-5B4B1E73C55E}"/>
              </a:ext>
            </a:extLst>
          </p:cNvPr>
          <p:cNvSpPr txBox="1"/>
          <p:nvPr/>
        </p:nvSpPr>
        <p:spPr>
          <a:xfrm>
            <a:off x="98190" y="4226143"/>
            <a:ext cx="5842341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600" b="1" dirty="0">
                <a:latin typeface="Arial" panose="020B0604020202020204" pitchFamily="34" charset="0"/>
              </a:rPr>
              <a:t>동기형 </a:t>
            </a:r>
            <a:r>
              <a:rPr lang="en-US" altLang="ko-KR" sz="1600" b="1" dirty="0">
                <a:latin typeface="Arial" panose="020B0604020202020204" pitchFamily="34" charset="0"/>
              </a:rPr>
              <a:t>X </a:t>
            </a:r>
            <a:r>
              <a:rPr lang="ko-KR" altLang="en-US" sz="1600" b="1" dirty="0">
                <a:latin typeface="Arial" panose="020B0604020202020204" pitchFamily="34" charset="0"/>
              </a:rPr>
              <a:t>회복 적응</a:t>
            </a:r>
            <a:endParaRPr lang="en-US" altLang="ko-KR" sz="1600" b="1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600" dirty="0">
                <a:latin typeface="Arial" panose="020B0604020202020204" pitchFamily="34" charset="0"/>
              </a:rPr>
              <a:t>선호하는 감정적 대화</a:t>
            </a: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Arial" panose="020B0604020202020204" pitchFamily="34" charset="0"/>
              </a:rPr>
              <a:t>- </a:t>
            </a:r>
            <a:r>
              <a:rPr lang="ko-KR" altLang="en-US" sz="1400" dirty="0"/>
              <a:t>힘든 상황에서도 성장</a:t>
            </a:r>
            <a:r>
              <a:rPr lang="en-US" altLang="ko-KR" sz="1400" dirty="0"/>
              <a:t>·</a:t>
            </a:r>
            <a:r>
              <a:rPr lang="ko-KR" altLang="en-US" sz="1400" dirty="0"/>
              <a:t>재도약 가능성을 강조하는 감정</a:t>
            </a:r>
            <a:endParaRPr lang="en-US" altLang="ko-KR" sz="14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Arial" panose="020B0604020202020204" pitchFamily="34" charset="0"/>
              </a:rPr>
              <a:t>- </a:t>
            </a:r>
            <a:r>
              <a:rPr lang="ko-KR" altLang="en-US" sz="1400" dirty="0">
                <a:latin typeface="Arial" panose="020B0604020202020204" pitchFamily="34" charset="0"/>
              </a:rPr>
              <a:t>회복력 기반</a:t>
            </a:r>
            <a:endParaRPr lang="en-US" altLang="ko-KR" sz="14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600" dirty="0">
                <a:latin typeface="Arial" panose="020B0604020202020204" pitchFamily="34" charset="0"/>
              </a:rPr>
              <a:t>효과적인 문장</a:t>
            </a: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Arial" panose="020B0604020202020204" pitchFamily="34" charset="0"/>
              </a:rPr>
              <a:t>- </a:t>
            </a:r>
            <a:r>
              <a:rPr lang="ko-KR" altLang="en-US" sz="1400" dirty="0"/>
              <a:t>“선생님은 이미 여러 번 어려움을 이겨낸 분이에요</a:t>
            </a:r>
            <a:r>
              <a:rPr lang="en-US" altLang="ko-KR" sz="1400" dirty="0"/>
              <a:t>.”</a:t>
            </a:r>
            <a:endParaRPr lang="en-US" altLang="ko-KR" sz="14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dirty="0"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FA2799-F88C-14FE-677F-1E857462497C}"/>
              </a:ext>
            </a:extLst>
          </p:cNvPr>
          <p:cNvSpPr txBox="1"/>
          <p:nvPr/>
        </p:nvSpPr>
        <p:spPr>
          <a:xfrm>
            <a:off x="6251468" y="1508471"/>
            <a:ext cx="5842341" cy="21852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600" b="1" dirty="0">
                <a:latin typeface="Arial" panose="020B0604020202020204" pitchFamily="34" charset="0"/>
              </a:rPr>
              <a:t>동기형 </a:t>
            </a:r>
            <a:r>
              <a:rPr lang="en-US" altLang="ko-KR" sz="1600" b="1" dirty="0">
                <a:latin typeface="Arial" panose="020B0604020202020204" pitchFamily="34" charset="0"/>
              </a:rPr>
              <a:t>X </a:t>
            </a:r>
            <a:r>
              <a:rPr lang="ko-KR" altLang="en-US" sz="1600" b="1" dirty="0">
                <a:latin typeface="Arial" panose="020B0604020202020204" pitchFamily="34" charset="0"/>
              </a:rPr>
              <a:t>관계 소통</a:t>
            </a:r>
            <a:endParaRPr lang="en-US" altLang="ko-KR" sz="1600" b="1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600" dirty="0">
                <a:latin typeface="Arial" panose="020B0604020202020204" pitchFamily="34" charset="0"/>
              </a:rPr>
              <a:t>선호하는 감정적 대화</a:t>
            </a: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Arial" panose="020B0604020202020204" pitchFamily="34" charset="0"/>
              </a:rPr>
              <a:t>- </a:t>
            </a:r>
            <a:r>
              <a:rPr lang="ko-KR" altLang="en-US" sz="1400" dirty="0">
                <a:latin typeface="Arial" panose="020B0604020202020204" pitchFamily="34" charset="0"/>
              </a:rPr>
              <a:t>인간관계에서 긍정적 변화를 만들 수 있다는 희망</a:t>
            </a:r>
            <a:endParaRPr lang="en-US" altLang="ko-KR" sz="14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Arial" panose="020B0604020202020204" pitchFamily="34" charset="0"/>
              </a:rPr>
              <a:t>- </a:t>
            </a:r>
            <a:r>
              <a:rPr lang="ko-KR" altLang="en-US" sz="1400" dirty="0">
                <a:latin typeface="Arial" panose="020B0604020202020204" pitchFamily="34" charset="0"/>
              </a:rPr>
              <a:t>“</a:t>
            </a:r>
            <a:r>
              <a:rPr lang="ko-KR" altLang="en-US" sz="1400" dirty="0" err="1">
                <a:latin typeface="Arial" panose="020B0604020202020204" pitchFamily="34" charset="0"/>
              </a:rPr>
              <a:t>사람들과의</a:t>
            </a:r>
            <a:r>
              <a:rPr lang="ko-KR" altLang="en-US" sz="1400" dirty="0">
                <a:latin typeface="Arial" panose="020B0604020202020204" pitchFamily="34" charset="0"/>
              </a:rPr>
              <a:t> 연결을 회복할 수 있다”는 감정</a:t>
            </a:r>
            <a:endParaRPr lang="en-US" altLang="ko-KR" sz="14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600" dirty="0">
                <a:latin typeface="Arial" panose="020B0604020202020204" pitchFamily="34" charset="0"/>
              </a:rPr>
              <a:t>효과적인 문장</a:t>
            </a: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Arial" panose="020B0604020202020204" pitchFamily="34" charset="0"/>
              </a:rPr>
              <a:t>- </a:t>
            </a:r>
            <a:r>
              <a:rPr lang="ko-KR" altLang="en-US" sz="1400" dirty="0">
                <a:latin typeface="Arial" panose="020B0604020202020204" pitchFamily="34" charset="0"/>
              </a:rPr>
              <a:t>“선생님의 말 한마디가 사람 관계를 훨씬 따뜻하게 만들 수 있어요</a:t>
            </a:r>
            <a:r>
              <a:rPr lang="en-US" altLang="ko-KR" sz="1400" dirty="0">
                <a:latin typeface="Arial" panose="020B0604020202020204" pitchFamily="34" charset="0"/>
              </a:rPr>
              <a:t>.”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400" dirty="0"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304FDE-ECC9-C47F-2CFF-F7A34BEC18EB}"/>
              </a:ext>
            </a:extLst>
          </p:cNvPr>
          <p:cNvSpPr txBox="1"/>
          <p:nvPr/>
        </p:nvSpPr>
        <p:spPr>
          <a:xfrm>
            <a:off x="6251468" y="4226143"/>
            <a:ext cx="5842341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600" b="1" dirty="0">
                <a:latin typeface="Arial" panose="020B0604020202020204" pitchFamily="34" charset="0"/>
              </a:rPr>
              <a:t>동기형 </a:t>
            </a:r>
            <a:r>
              <a:rPr lang="en-US" altLang="ko-KR" sz="1600" b="1" dirty="0">
                <a:latin typeface="Arial" panose="020B0604020202020204" pitchFamily="34" charset="0"/>
              </a:rPr>
              <a:t>X </a:t>
            </a:r>
            <a:r>
              <a:rPr lang="ko-KR" altLang="en-US" sz="1600" b="1" dirty="0">
                <a:latin typeface="Arial" panose="020B0604020202020204" pitchFamily="34" charset="0"/>
              </a:rPr>
              <a:t>행동 습관</a:t>
            </a:r>
            <a:endParaRPr lang="en-US" altLang="ko-KR" sz="1600" b="1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600" dirty="0">
                <a:latin typeface="Arial" panose="020B0604020202020204" pitchFamily="34" charset="0"/>
              </a:rPr>
              <a:t>선호하는 감정적 대화</a:t>
            </a: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Arial" panose="020B0604020202020204" pitchFamily="34" charset="0"/>
              </a:rPr>
              <a:t>- </a:t>
            </a:r>
            <a:r>
              <a:rPr lang="ko-KR" altLang="en-US" sz="1400" dirty="0">
                <a:latin typeface="Arial" panose="020B0604020202020204" pitchFamily="34" charset="0"/>
              </a:rPr>
              <a:t>작은 행동 변화가 큰 발전으로 이어질 수 있다는 기대감</a:t>
            </a:r>
            <a:endParaRPr lang="en-US" altLang="ko-KR" sz="14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Arial" panose="020B0604020202020204" pitchFamily="34" charset="0"/>
              </a:rPr>
              <a:t>- </a:t>
            </a:r>
            <a:r>
              <a:rPr lang="ko-KR" altLang="en-US" sz="1400" dirty="0">
                <a:latin typeface="Arial" panose="020B0604020202020204" pitchFamily="34" charset="0"/>
              </a:rPr>
              <a:t>“습관은 바뀔 수 있고</a:t>
            </a:r>
            <a:r>
              <a:rPr lang="en-US" altLang="ko-KR" sz="1400" dirty="0">
                <a:latin typeface="Arial" panose="020B0604020202020204" pitchFamily="34" charset="0"/>
              </a:rPr>
              <a:t>, </a:t>
            </a:r>
            <a:r>
              <a:rPr lang="ko-KR" altLang="en-US" sz="1400" dirty="0">
                <a:latin typeface="Arial" panose="020B0604020202020204" pitchFamily="34" charset="0"/>
              </a:rPr>
              <a:t>내 의지가 남아 있다”는 감정</a:t>
            </a:r>
            <a:endParaRPr lang="en-US" altLang="ko-KR" sz="14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600" dirty="0">
                <a:latin typeface="Arial" panose="020B0604020202020204" pitchFamily="34" charset="0"/>
              </a:rPr>
              <a:t>효과적인 문장</a:t>
            </a: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Arial" panose="020B0604020202020204" pitchFamily="34" charset="0"/>
              </a:rPr>
              <a:t>- </a:t>
            </a:r>
            <a:r>
              <a:rPr lang="ko-KR" altLang="en-US" sz="1400" dirty="0">
                <a:latin typeface="Arial" panose="020B0604020202020204" pitchFamily="34" charset="0"/>
              </a:rPr>
              <a:t>“오늘 </a:t>
            </a:r>
            <a:r>
              <a:rPr lang="en-US" altLang="ko-KR" sz="1400" dirty="0">
                <a:latin typeface="Arial" panose="020B0604020202020204" pitchFamily="34" charset="0"/>
              </a:rPr>
              <a:t>1%</a:t>
            </a:r>
            <a:r>
              <a:rPr lang="ko-KR" altLang="en-US" sz="1400" dirty="0">
                <a:latin typeface="Arial" panose="020B0604020202020204" pitchFamily="34" charset="0"/>
              </a:rPr>
              <a:t>만 변화해도 한 달 뒤에는 완전히 달라져요</a:t>
            </a:r>
            <a:r>
              <a:rPr lang="en-US" altLang="ko-KR" sz="1400" dirty="0">
                <a:latin typeface="Arial" panose="020B0604020202020204" pitchFamily="34" charset="0"/>
              </a:rPr>
              <a:t>.”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1070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1F6B4-291B-35E1-2F5B-A5707AC4F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29F791-948E-FBE5-58FA-7299459AE991}"/>
              </a:ext>
            </a:extLst>
          </p:cNvPr>
          <p:cNvSpPr txBox="1"/>
          <p:nvPr/>
        </p:nvSpPr>
        <p:spPr>
          <a:xfrm>
            <a:off x="174171" y="176512"/>
            <a:ext cx="165462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/>
              <a:t>AI </a:t>
            </a:r>
            <a:r>
              <a:rPr lang="ko-KR" altLang="en-US" b="1" dirty="0"/>
              <a:t>시뮬레이션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EE52AC-53CD-55D3-6C2E-0B24ABF7D704}"/>
              </a:ext>
            </a:extLst>
          </p:cNvPr>
          <p:cNvSpPr txBox="1"/>
          <p:nvPr/>
        </p:nvSpPr>
        <p:spPr>
          <a:xfrm>
            <a:off x="55233" y="630943"/>
            <a:ext cx="56091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대화방식 </a:t>
            </a:r>
            <a:r>
              <a:rPr lang="en-US" altLang="ko-KR" sz="1600" b="1" dirty="0"/>
              <a:t>: </a:t>
            </a:r>
            <a:r>
              <a:rPr lang="ko-KR" altLang="en-US" sz="1600" b="1" dirty="0"/>
              <a:t>행동형</a:t>
            </a:r>
            <a:endParaRPr lang="en-US" altLang="ko-KR" sz="1600" b="1" dirty="0"/>
          </a:p>
          <a:p>
            <a:r>
              <a:rPr lang="en-US" altLang="ko-KR" sz="1200" dirty="0"/>
              <a:t>- </a:t>
            </a:r>
            <a:r>
              <a:rPr lang="ko-KR" altLang="en-US" sz="1200" dirty="0"/>
              <a:t>행동 실행</a:t>
            </a:r>
            <a:r>
              <a:rPr lang="en-US" altLang="ko-KR" sz="1200" dirty="0"/>
              <a:t>, </a:t>
            </a:r>
            <a:r>
              <a:rPr lang="ko-KR" altLang="en-US" sz="1200" dirty="0"/>
              <a:t>즉각적 실천</a:t>
            </a:r>
            <a:r>
              <a:rPr lang="en-US" altLang="ko-KR" sz="1200" dirty="0"/>
              <a:t>, </a:t>
            </a:r>
            <a:r>
              <a:rPr lang="ko-KR" altLang="en-US" sz="1200" dirty="0"/>
              <a:t>체험 기반 감정</a:t>
            </a:r>
            <a:endParaRPr lang="en-US" altLang="ko-KR" sz="1200" dirty="0"/>
          </a:p>
          <a:p>
            <a:r>
              <a:rPr lang="en-US" altLang="ko-KR" sz="1200" dirty="0"/>
              <a:t>- </a:t>
            </a:r>
            <a:r>
              <a:rPr lang="ko-KR" altLang="en-US" sz="1200" dirty="0"/>
              <a:t>“해보니까 된다</a:t>
            </a:r>
            <a:r>
              <a:rPr lang="en-US" altLang="ko-KR" sz="1200" dirty="0"/>
              <a:t>!”</a:t>
            </a:r>
            <a:r>
              <a:rPr lang="ko-KR" altLang="en-US" sz="1200" dirty="0"/>
              <a:t>가 감정적 보상 → 인지 활성화</a:t>
            </a:r>
            <a:endParaRPr lang="ko-KR" altLang="en-US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2630B4-B08B-9DF9-34FE-16D9AC46BE27}"/>
              </a:ext>
            </a:extLst>
          </p:cNvPr>
          <p:cNvSpPr txBox="1"/>
          <p:nvPr/>
        </p:nvSpPr>
        <p:spPr>
          <a:xfrm>
            <a:off x="98191" y="1508472"/>
            <a:ext cx="5842341" cy="21852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600" b="1" dirty="0">
                <a:latin typeface="Arial" panose="020B0604020202020204" pitchFamily="34" charset="0"/>
              </a:rPr>
              <a:t>행동형 </a:t>
            </a:r>
            <a:r>
              <a:rPr lang="en-US" altLang="ko-KR" sz="1600" b="1" dirty="0">
                <a:latin typeface="Arial" panose="020B0604020202020204" pitchFamily="34" charset="0"/>
              </a:rPr>
              <a:t>X </a:t>
            </a:r>
            <a:r>
              <a:rPr lang="ko-KR" altLang="en-US" sz="1600" b="1" dirty="0">
                <a:latin typeface="Arial" panose="020B0604020202020204" pitchFamily="34" charset="0"/>
              </a:rPr>
              <a:t>자기인식 정서조절</a:t>
            </a:r>
            <a:endParaRPr lang="en-US" altLang="ko-KR" sz="1600" b="1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600" dirty="0">
                <a:latin typeface="Arial" panose="020B0604020202020204" pitchFamily="34" charset="0"/>
              </a:rPr>
              <a:t>선호하는 감정적 대화</a:t>
            </a: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Arial" panose="020B0604020202020204" pitchFamily="34" charset="0"/>
              </a:rPr>
              <a:t>- </a:t>
            </a:r>
            <a:r>
              <a:rPr lang="ko-KR" altLang="en-US" sz="1400" dirty="0">
                <a:latin typeface="Arial" panose="020B0604020202020204" pitchFamily="34" charset="0"/>
              </a:rPr>
              <a:t>감정 조절을 위한 구체적 행동을 제시하고 따라했을 때 느끼는 변화</a:t>
            </a:r>
            <a:endParaRPr lang="en-US" altLang="ko-KR" sz="14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Arial" panose="020B0604020202020204" pitchFamily="34" charset="0"/>
              </a:rPr>
              <a:t>- </a:t>
            </a:r>
            <a:r>
              <a:rPr lang="ko-KR" altLang="en-US" sz="1400" dirty="0">
                <a:latin typeface="Arial" panose="020B0604020202020204" pitchFamily="34" charset="0"/>
              </a:rPr>
              <a:t>예</a:t>
            </a:r>
            <a:r>
              <a:rPr lang="en-US" altLang="ko-KR" sz="1400" dirty="0">
                <a:latin typeface="Arial" panose="020B0604020202020204" pitchFamily="34" charset="0"/>
              </a:rPr>
              <a:t>: </a:t>
            </a:r>
            <a:r>
              <a:rPr lang="ko-KR" altLang="en-US" sz="1400" dirty="0">
                <a:latin typeface="Arial" panose="020B0604020202020204" pitchFamily="34" charset="0"/>
              </a:rPr>
              <a:t>심호흡</a:t>
            </a:r>
            <a:r>
              <a:rPr lang="en-US" altLang="ko-KR" sz="1400" dirty="0">
                <a:latin typeface="Arial" panose="020B0604020202020204" pitchFamily="34" charset="0"/>
              </a:rPr>
              <a:t>, grounding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600" dirty="0">
                <a:latin typeface="Arial" panose="020B0604020202020204" pitchFamily="34" charset="0"/>
              </a:rPr>
              <a:t>효과적인 문장</a:t>
            </a: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Arial" panose="020B0604020202020204" pitchFamily="34" charset="0"/>
              </a:rPr>
              <a:t>- </a:t>
            </a:r>
            <a:r>
              <a:rPr lang="ko-KR" altLang="en-US" sz="1400" dirty="0">
                <a:latin typeface="Arial" panose="020B0604020202020204" pitchFamily="34" charset="0"/>
              </a:rPr>
              <a:t>“지금 제가 말하는 대로 </a:t>
            </a:r>
            <a:r>
              <a:rPr lang="en-US" altLang="ko-KR" sz="1400" dirty="0">
                <a:latin typeface="Arial" panose="020B0604020202020204" pitchFamily="34" charset="0"/>
              </a:rPr>
              <a:t>10</a:t>
            </a:r>
            <a:r>
              <a:rPr lang="ko-KR" altLang="en-US" sz="1400" dirty="0">
                <a:latin typeface="Arial" panose="020B0604020202020204" pitchFamily="34" charset="0"/>
              </a:rPr>
              <a:t>초 동안 호흡을 해볼까요</a:t>
            </a:r>
            <a:r>
              <a:rPr lang="en-US" altLang="ko-KR" sz="1400" dirty="0">
                <a:latin typeface="Arial" panose="020B0604020202020204" pitchFamily="34" charset="0"/>
              </a:rPr>
              <a:t>?”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400" dirty="0"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9D634C-186B-2607-B852-D74AA3D520C1}"/>
              </a:ext>
            </a:extLst>
          </p:cNvPr>
          <p:cNvSpPr txBox="1"/>
          <p:nvPr/>
        </p:nvSpPr>
        <p:spPr>
          <a:xfrm>
            <a:off x="1871759" y="138263"/>
            <a:ext cx="56091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HF</a:t>
            </a:r>
            <a:r>
              <a:rPr lang="ko-KR" altLang="en-US" sz="2400" b="1" dirty="0"/>
              <a:t> 유형별 선호 </a:t>
            </a:r>
            <a:r>
              <a:rPr lang="en-US" altLang="ko-KR" sz="2400" b="1" dirty="0"/>
              <a:t>emotional talk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85226D-3042-66AC-4976-5B4B1E73C55E}"/>
              </a:ext>
            </a:extLst>
          </p:cNvPr>
          <p:cNvSpPr txBox="1"/>
          <p:nvPr/>
        </p:nvSpPr>
        <p:spPr>
          <a:xfrm>
            <a:off x="98190" y="4226143"/>
            <a:ext cx="5842341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600" b="1" dirty="0">
                <a:latin typeface="Arial" panose="020B0604020202020204" pitchFamily="34" charset="0"/>
              </a:rPr>
              <a:t>행동형 </a:t>
            </a:r>
            <a:r>
              <a:rPr lang="en-US" altLang="ko-KR" sz="1600" b="1" dirty="0">
                <a:latin typeface="Arial" panose="020B0604020202020204" pitchFamily="34" charset="0"/>
              </a:rPr>
              <a:t>X </a:t>
            </a:r>
            <a:r>
              <a:rPr lang="ko-KR" altLang="en-US" sz="1600" b="1" dirty="0">
                <a:latin typeface="Arial" panose="020B0604020202020204" pitchFamily="34" charset="0"/>
              </a:rPr>
              <a:t>회복 적응</a:t>
            </a:r>
            <a:endParaRPr lang="en-US" altLang="ko-KR" sz="1600" b="1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600" dirty="0">
                <a:latin typeface="Arial" panose="020B0604020202020204" pitchFamily="34" charset="0"/>
              </a:rPr>
              <a:t>선호하는 감정적 대화</a:t>
            </a: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Arial" panose="020B0604020202020204" pitchFamily="34" charset="0"/>
              </a:rPr>
              <a:t>- </a:t>
            </a:r>
            <a:r>
              <a:rPr lang="ko-KR" altLang="en-US" sz="1400" dirty="0"/>
              <a:t>스트레스 상황에서 사용할 수 있는 즉각적인 행동 전략</a:t>
            </a:r>
            <a:endParaRPr lang="en-US" altLang="ko-KR" sz="14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Arial" panose="020B0604020202020204" pitchFamily="34" charset="0"/>
              </a:rPr>
              <a:t>- </a:t>
            </a:r>
            <a:r>
              <a:rPr lang="ko-KR" altLang="en-US" sz="1400" dirty="0">
                <a:latin typeface="Arial" panose="020B0604020202020204" pitchFamily="34" charset="0"/>
              </a:rPr>
              <a:t>“지금 할 수 있는 가장 작은 행동”</a:t>
            </a:r>
            <a:endParaRPr lang="en-US" altLang="ko-KR" sz="14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600" dirty="0">
                <a:latin typeface="Arial" panose="020B0604020202020204" pitchFamily="34" charset="0"/>
              </a:rPr>
              <a:t>효과적인 문장</a:t>
            </a: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Arial" panose="020B0604020202020204" pitchFamily="34" charset="0"/>
              </a:rPr>
              <a:t>- </a:t>
            </a:r>
            <a:r>
              <a:rPr lang="ko-KR" altLang="en-US" sz="1400" dirty="0">
                <a:latin typeface="Arial" panose="020B0604020202020204" pitchFamily="34" charset="0"/>
              </a:rPr>
              <a:t>“지금 자리에서 일어나 </a:t>
            </a:r>
            <a:r>
              <a:rPr lang="en-US" altLang="ko-KR" sz="1400" dirty="0">
                <a:latin typeface="Arial" panose="020B0604020202020204" pitchFamily="34" charset="0"/>
              </a:rPr>
              <a:t>30</a:t>
            </a:r>
            <a:r>
              <a:rPr lang="ko-KR" altLang="en-US" sz="1400" dirty="0">
                <a:latin typeface="Arial" panose="020B0604020202020204" pitchFamily="34" charset="0"/>
              </a:rPr>
              <a:t>초만 </a:t>
            </a:r>
            <a:r>
              <a:rPr lang="ko-KR" altLang="en-US" sz="1400" dirty="0" err="1">
                <a:latin typeface="Arial" panose="020B0604020202020204" pitchFamily="34" charset="0"/>
              </a:rPr>
              <a:t>스트레칭해볼까요</a:t>
            </a:r>
            <a:r>
              <a:rPr lang="en-US" altLang="ko-KR" sz="1400" dirty="0">
                <a:latin typeface="Arial" panose="020B0604020202020204" pitchFamily="34" charset="0"/>
              </a:rPr>
              <a:t>?”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dirty="0"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FA2799-F88C-14FE-677F-1E857462497C}"/>
              </a:ext>
            </a:extLst>
          </p:cNvPr>
          <p:cNvSpPr txBox="1"/>
          <p:nvPr/>
        </p:nvSpPr>
        <p:spPr>
          <a:xfrm>
            <a:off x="6251468" y="1508471"/>
            <a:ext cx="5842341" cy="21852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600" b="1" dirty="0">
                <a:latin typeface="Arial" panose="020B0604020202020204" pitchFamily="34" charset="0"/>
              </a:rPr>
              <a:t>행동형 </a:t>
            </a:r>
            <a:r>
              <a:rPr lang="en-US" altLang="ko-KR" sz="1600" b="1" dirty="0">
                <a:latin typeface="Arial" panose="020B0604020202020204" pitchFamily="34" charset="0"/>
              </a:rPr>
              <a:t>X </a:t>
            </a:r>
            <a:r>
              <a:rPr lang="ko-KR" altLang="en-US" sz="1600" b="1" dirty="0">
                <a:latin typeface="Arial" panose="020B0604020202020204" pitchFamily="34" charset="0"/>
              </a:rPr>
              <a:t>관계 소통</a:t>
            </a:r>
            <a:endParaRPr lang="en-US" altLang="ko-KR" sz="1600" b="1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600" dirty="0">
                <a:latin typeface="Arial" panose="020B0604020202020204" pitchFamily="34" charset="0"/>
              </a:rPr>
              <a:t>선호하는 감정적 대화</a:t>
            </a: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Arial" panose="020B0604020202020204" pitchFamily="34" charset="0"/>
              </a:rPr>
              <a:t>-</a:t>
            </a:r>
            <a:r>
              <a:rPr lang="ko-KR" altLang="en-US" sz="1400" dirty="0">
                <a:latin typeface="Arial" panose="020B0604020202020204" pitchFamily="34" charset="0"/>
              </a:rPr>
              <a:t>관계 속에서 실천 가능한 행동</a:t>
            </a:r>
            <a:r>
              <a:rPr lang="en-US" altLang="ko-KR" sz="1400" dirty="0">
                <a:latin typeface="Arial" panose="020B0604020202020204" pitchFamily="34" charset="0"/>
              </a:rPr>
              <a:t>(</a:t>
            </a:r>
            <a:r>
              <a:rPr lang="ko-KR" altLang="en-US" sz="1400" dirty="0">
                <a:latin typeface="Arial" panose="020B0604020202020204" pitchFamily="34" charset="0"/>
              </a:rPr>
              <a:t>말하기</a:t>
            </a:r>
            <a:r>
              <a:rPr lang="en-US" altLang="ko-KR" sz="1400" dirty="0">
                <a:latin typeface="Arial" panose="020B0604020202020204" pitchFamily="34" charset="0"/>
              </a:rPr>
              <a:t>·</a:t>
            </a:r>
            <a:r>
              <a:rPr lang="ko-KR" altLang="en-US" sz="1400" dirty="0">
                <a:latin typeface="Arial" panose="020B0604020202020204" pitchFamily="34" charset="0"/>
              </a:rPr>
              <a:t>듣기 기술</a:t>
            </a:r>
            <a:r>
              <a:rPr lang="en-US" altLang="ko-KR" sz="1400" dirty="0">
                <a:latin typeface="Arial" panose="020B0604020202020204" pitchFamily="34" charset="0"/>
              </a:rPr>
              <a:t>)</a:t>
            </a:r>
            <a:r>
              <a:rPr lang="ko-KR" altLang="en-US" sz="1400" dirty="0">
                <a:latin typeface="Arial" panose="020B0604020202020204" pitchFamily="34" charset="0"/>
              </a:rPr>
              <a:t>을 직접 시도하는 경험</a:t>
            </a:r>
            <a:endParaRPr lang="en-US" altLang="ko-KR" sz="14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Arial" panose="020B0604020202020204" pitchFamily="34" charset="0"/>
              </a:rPr>
              <a:t>- </a:t>
            </a:r>
            <a:r>
              <a:rPr lang="ko-KR" altLang="en-US" sz="1400" dirty="0">
                <a:latin typeface="Arial" panose="020B0604020202020204" pitchFamily="34" charset="0"/>
              </a:rPr>
              <a:t>“지금 딱 한 문장만 해볼까요</a:t>
            </a:r>
            <a:r>
              <a:rPr lang="en-US" altLang="ko-KR" sz="1400" dirty="0">
                <a:latin typeface="Arial" panose="020B0604020202020204" pitchFamily="34" charset="0"/>
              </a:rPr>
              <a:t>?</a:t>
            </a:r>
            <a:r>
              <a:rPr lang="ko-KR" altLang="en-US" sz="1400" dirty="0">
                <a:latin typeface="Arial" panose="020B0604020202020204" pitchFamily="34" charset="0"/>
              </a:rPr>
              <a:t>”</a:t>
            </a:r>
            <a:endParaRPr lang="en-US" altLang="ko-KR" sz="14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600" dirty="0">
                <a:latin typeface="Arial" panose="020B0604020202020204" pitchFamily="34" charset="0"/>
              </a:rPr>
              <a:t>효과적인 문장</a:t>
            </a: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Arial" panose="020B0604020202020204" pitchFamily="34" charset="0"/>
              </a:rPr>
              <a:t>- </a:t>
            </a:r>
            <a:r>
              <a:rPr lang="ko-KR" altLang="en-US" sz="1400" dirty="0">
                <a:latin typeface="Arial" panose="020B0604020202020204" pitchFamily="34" charset="0"/>
              </a:rPr>
              <a:t>“지금 떠오르는 사람에게 짧은 메시지 하나만 </a:t>
            </a:r>
            <a:r>
              <a:rPr lang="ko-KR" altLang="en-US" sz="1400" dirty="0" err="1">
                <a:latin typeface="Arial" panose="020B0604020202020204" pitchFamily="34" charset="0"/>
              </a:rPr>
              <a:t>보내볼까요</a:t>
            </a:r>
            <a:r>
              <a:rPr lang="en-US" altLang="ko-KR" sz="1400" dirty="0">
                <a:latin typeface="Arial" panose="020B0604020202020204" pitchFamily="34" charset="0"/>
              </a:rPr>
              <a:t>?”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400" dirty="0"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304FDE-ECC9-C47F-2CFF-F7A34BEC18EB}"/>
              </a:ext>
            </a:extLst>
          </p:cNvPr>
          <p:cNvSpPr txBox="1"/>
          <p:nvPr/>
        </p:nvSpPr>
        <p:spPr>
          <a:xfrm>
            <a:off x="6251468" y="4226143"/>
            <a:ext cx="5842341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600" b="1" dirty="0">
                <a:latin typeface="Arial" panose="020B0604020202020204" pitchFamily="34" charset="0"/>
              </a:rPr>
              <a:t>행동형 </a:t>
            </a:r>
            <a:r>
              <a:rPr lang="en-US" altLang="ko-KR" sz="1600" b="1" dirty="0">
                <a:latin typeface="Arial" panose="020B0604020202020204" pitchFamily="34" charset="0"/>
              </a:rPr>
              <a:t>X </a:t>
            </a:r>
            <a:r>
              <a:rPr lang="ko-KR" altLang="en-US" sz="1600" b="1" dirty="0">
                <a:latin typeface="Arial" panose="020B0604020202020204" pitchFamily="34" charset="0"/>
              </a:rPr>
              <a:t>행동 습관</a:t>
            </a:r>
            <a:endParaRPr lang="en-US" altLang="ko-KR" sz="1600" b="1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600" dirty="0">
                <a:latin typeface="Arial" panose="020B0604020202020204" pitchFamily="34" charset="0"/>
              </a:rPr>
              <a:t>선호하는 감정적 대화</a:t>
            </a: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Arial" panose="020B0604020202020204" pitchFamily="34" charset="0"/>
              </a:rPr>
              <a:t>- </a:t>
            </a:r>
            <a:r>
              <a:rPr lang="ko-KR" altLang="en-US" sz="1400" dirty="0">
                <a:latin typeface="Arial" panose="020B0604020202020204" pitchFamily="34" charset="0"/>
              </a:rPr>
              <a:t>새로운 습관을 바로 실천해보고 성공 경험을 맛보는 감정</a:t>
            </a:r>
            <a:endParaRPr lang="en-US" altLang="ko-KR" sz="14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Arial" panose="020B0604020202020204" pitchFamily="34" charset="0"/>
              </a:rPr>
              <a:t>- </a:t>
            </a:r>
            <a:r>
              <a:rPr lang="ko-KR" altLang="en-US" sz="1400" dirty="0">
                <a:latin typeface="Arial" panose="020B0604020202020204" pitchFamily="34" charset="0"/>
              </a:rPr>
              <a:t>즉각적 행동 기반의 </a:t>
            </a:r>
            <a:r>
              <a:rPr lang="en-US" altLang="ko-KR" sz="1400" dirty="0">
                <a:latin typeface="Arial" panose="020B0604020202020204" pitchFamily="34" charset="0"/>
              </a:rPr>
              <a:t>self-reward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600" dirty="0">
                <a:latin typeface="Arial" panose="020B0604020202020204" pitchFamily="34" charset="0"/>
              </a:rPr>
              <a:t>효과적인 문장</a:t>
            </a:r>
            <a:endParaRPr lang="en-US" altLang="ko-KR" sz="16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Arial" panose="020B0604020202020204" pitchFamily="34" charset="0"/>
              </a:rPr>
              <a:t>- </a:t>
            </a:r>
            <a:r>
              <a:rPr lang="ko-KR" altLang="en-US" sz="1400" dirty="0">
                <a:latin typeface="Arial" panose="020B0604020202020204" pitchFamily="34" charset="0"/>
              </a:rPr>
              <a:t>““지금부터 </a:t>
            </a:r>
            <a:r>
              <a:rPr lang="en-US" altLang="ko-KR" sz="1400" dirty="0">
                <a:latin typeface="Arial" panose="020B0604020202020204" pitchFamily="34" charset="0"/>
              </a:rPr>
              <a:t>2</a:t>
            </a:r>
            <a:r>
              <a:rPr lang="ko-KR" altLang="en-US" sz="1400" dirty="0">
                <a:latin typeface="Arial" panose="020B0604020202020204" pitchFamily="34" charset="0"/>
              </a:rPr>
              <a:t>분간 휴대폰 알림 정리 한번 해볼까요</a:t>
            </a:r>
            <a:r>
              <a:rPr lang="en-US" altLang="ko-KR" sz="1400" dirty="0">
                <a:latin typeface="Arial" panose="020B0604020202020204" pitchFamily="34" charset="0"/>
              </a:rPr>
              <a:t>?”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67475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F82478-4FC4-1266-C424-6C635E3FCE4E}"/>
              </a:ext>
            </a:extLst>
          </p:cNvPr>
          <p:cNvSpPr txBox="1"/>
          <p:nvPr/>
        </p:nvSpPr>
        <p:spPr>
          <a:xfrm>
            <a:off x="174171" y="176512"/>
            <a:ext cx="374653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/>
              <a:t>AI </a:t>
            </a:r>
            <a:r>
              <a:rPr lang="ko-KR" altLang="en-US" b="1" dirty="0"/>
              <a:t>기반의 맞춤형 대화 시뮬레이션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379606-B09B-98E5-740A-4EC8EEF03DB4}"/>
              </a:ext>
            </a:extLst>
          </p:cNvPr>
          <p:cNvSpPr txBox="1"/>
          <p:nvPr/>
        </p:nvSpPr>
        <p:spPr>
          <a:xfrm>
            <a:off x="174171" y="753290"/>
            <a:ext cx="19352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Background</a:t>
            </a:r>
            <a:endParaRPr lang="ko-KR" altLang="en-US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B6D380-216E-1063-9D12-76271482FCE5}"/>
              </a:ext>
            </a:extLst>
          </p:cNvPr>
          <p:cNvSpPr txBox="1"/>
          <p:nvPr/>
        </p:nvSpPr>
        <p:spPr>
          <a:xfrm>
            <a:off x="253520" y="1422401"/>
            <a:ext cx="76466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평균적인 수준의 </a:t>
            </a:r>
            <a:r>
              <a:rPr lang="en-US" altLang="ko-KR" dirty="0"/>
              <a:t>MCI </a:t>
            </a:r>
            <a:r>
              <a:rPr lang="ko-KR" altLang="en-US" dirty="0"/>
              <a:t>환자 인지기능을 기준으로 </a:t>
            </a:r>
            <a:r>
              <a:rPr lang="en-US" altLang="ko-KR" dirty="0"/>
              <a:t>AI</a:t>
            </a:r>
            <a:r>
              <a:rPr lang="ko-KR" altLang="en-US" dirty="0"/>
              <a:t>에게 대화 학습</a:t>
            </a:r>
            <a:endParaRPr lang="en-US" altLang="ko-KR" dirty="0"/>
          </a:p>
          <a:p>
            <a:r>
              <a:rPr lang="en-US" altLang="ko-KR" dirty="0"/>
              <a:t>- emotional talk </a:t>
            </a:r>
            <a:r>
              <a:rPr lang="ko-KR" altLang="en-US" dirty="0"/>
              <a:t>중심으로 진행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대화를 주고 받는 게 </a:t>
            </a:r>
            <a:r>
              <a:rPr lang="en-US" altLang="ko-KR" dirty="0"/>
              <a:t>1</a:t>
            </a:r>
            <a:r>
              <a:rPr lang="ko-KR" altLang="en-US" dirty="0"/>
              <a:t>턴</a:t>
            </a:r>
            <a:r>
              <a:rPr lang="en-US" altLang="ko-KR" dirty="0"/>
              <a:t>,</a:t>
            </a:r>
            <a:r>
              <a:rPr lang="ko-KR" altLang="en-US" dirty="0"/>
              <a:t> 약 </a:t>
            </a:r>
            <a:r>
              <a:rPr lang="en-US" altLang="ko-KR" dirty="0"/>
              <a:t>25~30 </a:t>
            </a:r>
            <a:r>
              <a:rPr lang="ko-KR" altLang="en-US" dirty="0"/>
              <a:t>턴을 한번의 대화로 설정하여 학습</a:t>
            </a: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A7C2DF-BE5D-DD7D-550D-2F7DF8635857}"/>
              </a:ext>
            </a:extLst>
          </p:cNvPr>
          <p:cNvSpPr txBox="1"/>
          <p:nvPr/>
        </p:nvSpPr>
        <p:spPr>
          <a:xfrm>
            <a:off x="174171" y="2446488"/>
            <a:ext cx="7374135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■ 대화의 구조</a:t>
            </a:r>
            <a:endParaRPr lang="en-US" altLang="ko-KR" dirty="0"/>
          </a:p>
          <a:p>
            <a:endParaRPr lang="ko-KR" altLang="en-US" dirty="0"/>
          </a:p>
          <a:p>
            <a:pPr marL="342900" indent="-342900">
              <a:buAutoNum type="arabicPeriod"/>
            </a:pPr>
            <a:r>
              <a:rPr lang="ko-KR" altLang="en-US" dirty="0"/>
              <a:t>감정 자극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인지 활성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감정 조절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회복력 탐색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관계 소통 재해석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행동</a:t>
            </a:r>
            <a:r>
              <a:rPr lang="en-US" altLang="ko-KR" dirty="0"/>
              <a:t>/ </a:t>
            </a:r>
            <a:r>
              <a:rPr lang="ko-KR" altLang="en-US" dirty="0"/>
              <a:t>습관 실천 제안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마무리 동기부여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r>
              <a:rPr lang="ko-KR" altLang="en-US" dirty="0"/>
              <a:t>감정 자극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인지활성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행동변화 까지 정신치료적 흐름을 재현가능</a:t>
            </a:r>
            <a:endParaRPr lang="en-US" altLang="ko-KR" dirty="0">
              <a:sym typeface="Wingdings" panose="05000000000000000000" pitchFamily="2" charset="2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855062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F82478-4FC4-1266-C424-6C635E3FCE4E}"/>
              </a:ext>
            </a:extLst>
          </p:cNvPr>
          <p:cNvSpPr txBox="1"/>
          <p:nvPr/>
        </p:nvSpPr>
        <p:spPr>
          <a:xfrm>
            <a:off x="174171" y="176512"/>
            <a:ext cx="374653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/>
              <a:t>AI </a:t>
            </a:r>
            <a:r>
              <a:rPr lang="ko-KR" altLang="en-US" b="1" dirty="0"/>
              <a:t>기반의 맞춤형 대화 시뮬레이션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379606-B09B-98E5-740A-4EC8EEF03DB4}"/>
              </a:ext>
            </a:extLst>
          </p:cNvPr>
          <p:cNvSpPr txBox="1"/>
          <p:nvPr/>
        </p:nvSpPr>
        <p:spPr>
          <a:xfrm>
            <a:off x="174171" y="753290"/>
            <a:ext cx="42498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Ex)</a:t>
            </a:r>
            <a:r>
              <a:rPr lang="ko-KR" altLang="en-US" sz="2400" b="1" dirty="0"/>
              <a:t> 공감형 </a:t>
            </a:r>
            <a:r>
              <a:rPr lang="en-US" altLang="ko-KR" sz="2400" b="1" dirty="0"/>
              <a:t>X </a:t>
            </a:r>
            <a:r>
              <a:rPr lang="ko-KR" altLang="en-US" sz="2400" b="1" dirty="0"/>
              <a:t>관계 소통 대화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B6D380-216E-1063-9D12-76271482FCE5}"/>
              </a:ext>
            </a:extLst>
          </p:cNvPr>
          <p:cNvSpPr txBox="1"/>
          <p:nvPr/>
        </p:nvSpPr>
        <p:spPr>
          <a:xfrm>
            <a:off x="307636" y="1440658"/>
            <a:ext cx="4141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[1</a:t>
            </a:r>
            <a:r>
              <a:rPr lang="ko-KR" altLang="en-US" b="1" dirty="0"/>
              <a:t>단계</a:t>
            </a:r>
            <a:r>
              <a:rPr lang="en-US" altLang="ko-KR" b="1" dirty="0"/>
              <a:t>: </a:t>
            </a:r>
            <a:r>
              <a:rPr lang="ko-KR" altLang="en-US" b="1" dirty="0"/>
              <a:t>감정 자극 </a:t>
            </a:r>
            <a:r>
              <a:rPr lang="en-US" altLang="ko-KR" b="1" dirty="0"/>
              <a:t>Emotional Trigger]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A7C2DF-BE5D-DD7D-550D-2F7DF8635857}"/>
              </a:ext>
            </a:extLst>
          </p:cNvPr>
          <p:cNvSpPr txBox="1"/>
          <p:nvPr/>
        </p:nvSpPr>
        <p:spPr>
          <a:xfrm>
            <a:off x="307636" y="2030952"/>
            <a:ext cx="1052276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AI1 </a:t>
            </a:r>
            <a:br>
              <a:rPr lang="ko-KR" altLang="en-US" dirty="0"/>
            </a:br>
            <a:r>
              <a:rPr lang="ko-KR" altLang="en-US" dirty="0"/>
              <a:t>최근에 누군가와 있었던 대화나 상황 중에서</a:t>
            </a:r>
            <a:br>
              <a:rPr lang="ko-KR" altLang="en-US" dirty="0"/>
            </a:br>
            <a:r>
              <a:rPr lang="ko-KR" altLang="en-US" dirty="0"/>
              <a:t>유독 마음이 크게 흔들렸던 순간이 있을까요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en-US" altLang="ko-KR" b="1" dirty="0"/>
              <a:t>USER1</a:t>
            </a:r>
            <a:br>
              <a:rPr lang="ko-KR" altLang="en-US" dirty="0"/>
            </a:br>
            <a:r>
              <a:rPr lang="ko-KR" altLang="en-US" dirty="0"/>
              <a:t>있어요</a:t>
            </a:r>
            <a:r>
              <a:rPr lang="en-US" altLang="ko-KR" dirty="0"/>
              <a:t>. </a:t>
            </a:r>
            <a:r>
              <a:rPr lang="ko-KR" altLang="en-US" dirty="0"/>
              <a:t>가족이 제가 같은 말을 반복한다고 짜증을 냈는데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그게 계속 머리에 남아요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b="1" dirty="0"/>
              <a:t>AI2 (</a:t>
            </a:r>
            <a:r>
              <a:rPr lang="ko-KR" altLang="en-US" b="1" dirty="0"/>
              <a:t>감정자극</a:t>
            </a:r>
            <a:r>
              <a:rPr lang="en-US" altLang="ko-KR" b="1" dirty="0"/>
              <a:t>)</a:t>
            </a:r>
            <a:br>
              <a:rPr lang="ko-KR" altLang="en-US" dirty="0"/>
            </a:br>
            <a:r>
              <a:rPr lang="ko-KR" altLang="en-US" dirty="0"/>
              <a:t>그 말</a:t>
            </a:r>
            <a:r>
              <a:rPr lang="en-US" altLang="ko-KR" dirty="0"/>
              <a:t>… </a:t>
            </a:r>
            <a:r>
              <a:rPr lang="ko-KR" altLang="en-US" dirty="0"/>
              <a:t>꽤 아프게 </a:t>
            </a:r>
            <a:r>
              <a:rPr lang="ko-KR" altLang="en-US" dirty="0" err="1"/>
              <a:t>다가왔겠어요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“</a:t>
            </a:r>
            <a:r>
              <a:rPr lang="ko-KR" altLang="en-US" dirty="0"/>
              <a:t>내가 그런 사람이 </a:t>
            </a:r>
            <a:r>
              <a:rPr lang="ko-KR" altLang="en-US" dirty="0" err="1"/>
              <a:t>아닌데”라는</a:t>
            </a:r>
            <a:r>
              <a:rPr lang="ko-KR" altLang="en-US" dirty="0"/>
              <a:t> 억울함도 있었나요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en-US" altLang="ko-KR" b="1" dirty="0"/>
              <a:t>USER2</a:t>
            </a:r>
            <a:br>
              <a:rPr lang="ko-KR" altLang="en-US" dirty="0"/>
            </a:br>
            <a:r>
              <a:rPr lang="ko-KR" altLang="en-US" dirty="0"/>
              <a:t>맞아요</a:t>
            </a:r>
            <a:r>
              <a:rPr lang="en-US" altLang="ko-KR" dirty="0"/>
              <a:t>. </a:t>
            </a:r>
            <a:r>
              <a:rPr lang="ko-KR" altLang="en-US" dirty="0"/>
              <a:t>일부러 그런 게 아닌데</a:t>
            </a:r>
            <a:r>
              <a:rPr lang="en-US" altLang="ko-KR" dirty="0"/>
              <a:t>, </a:t>
            </a:r>
            <a:r>
              <a:rPr lang="ko-KR" altLang="en-US" dirty="0"/>
              <a:t>제가 잘못한 것처럼 느껴졌어요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748259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F82478-4FC4-1266-C424-6C635E3FCE4E}"/>
              </a:ext>
            </a:extLst>
          </p:cNvPr>
          <p:cNvSpPr txBox="1"/>
          <p:nvPr/>
        </p:nvSpPr>
        <p:spPr>
          <a:xfrm>
            <a:off x="174171" y="176512"/>
            <a:ext cx="374653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/>
              <a:t>AI </a:t>
            </a:r>
            <a:r>
              <a:rPr lang="ko-KR" altLang="en-US" b="1" dirty="0"/>
              <a:t>기반의 맞춤형 대화 시뮬레이션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379606-B09B-98E5-740A-4EC8EEF03DB4}"/>
              </a:ext>
            </a:extLst>
          </p:cNvPr>
          <p:cNvSpPr txBox="1"/>
          <p:nvPr/>
        </p:nvSpPr>
        <p:spPr>
          <a:xfrm>
            <a:off x="174171" y="753290"/>
            <a:ext cx="42498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Ex)</a:t>
            </a:r>
            <a:r>
              <a:rPr lang="ko-KR" altLang="en-US" sz="2400" b="1" dirty="0"/>
              <a:t> 공감형 </a:t>
            </a:r>
            <a:r>
              <a:rPr lang="en-US" altLang="ko-KR" sz="2400" b="1" dirty="0"/>
              <a:t>X </a:t>
            </a:r>
            <a:r>
              <a:rPr lang="ko-KR" altLang="en-US" sz="2400" b="1" dirty="0"/>
              <a:t>관계 소통 대화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B6D380-216E-1063-9D12-76271482FCE5}"/>
              </a:ext>
            </a:extLst>
          </p:cNvPr>
          <p:cNvSpPr txBox="1"/>
          <p:nvPr/>
        </p:nvSpPr>
        <p:spPr>
          <a:xfrm>
            <a:off x="307636" y="1440658"/>
            <a:ext cx="4513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[2</a:t>
            </a:r>
            <a:r>
              <a:rPr lang="ko-KR" altLang="en-US" b="1" dirty="0"/>
              <a:t>단계</a:t>
            </a:r>
            <a:r>
              <a:rPr lang="en-US" altLang="ko-KR" b="1" dirty="0"/>
              <a:t>: </a:t>
            </a:r>
            <a:r>
              <a:rPr lang="ko-KR" altLang="en-US" b="1" dirty="0"/>
              <a:t>인지 활성 </a:t>
            </a:r>
            <a:r>
              <a:rPr lang="en-US" altLang="ko-KR" b="1" dirty="0"/>
              <a:t>Clarification / Insight]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A7C2DF-BE5D-DD7D-550D-2F7DF8635857}"/>
              </a:ext>
            </a:extLst>
          </p:cNvPr>
          <p:cNvSpPr txBox="1"/>
          <p:nvPr/>
        </p:nvSpPr>
        <p:spPr>
          <a:xfrm>
            <a:off x="307636" y="2030952"/>
            <a:ext cx="1052276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AI3 (</a:t>
            </a:r>
            <a:r>
              <a:rPr lang="ko-KR" altLang="en-US" b="1" dirty="0"/>
              <a:t>인지활성</a:t>
            </a:r>
            <a:r>
              <a:rPr lang="en-US" altLang="ko-KR" b="1" dirty="0"/>
              <a:t>)</a:t>
            </a:r>
            <a:br>
              <a:rPr lang="ko-KR" altLang="en-US" dirty="0"/>
            </a:br>
            <a:r>
              <a:rPr lang="ko-KR" altLang="en-US" dirty="0"/>
              <a:t>그 상황을 떠올릴 때</a:t>
            </a:r>
            <a:r>
              <a:rPr lang="en-US" altLang="ko-KR" dirty="0"/>
              <a:t>, </a:t>
            </a:r>
            <a:r>
              <a:rPr lang="ko-KR" altLang="en-US" dirty="0"/>
              <a:t>가장 먼저 떠오르는 감정이 무엇인가요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ko-KR" altLang="en-US" dirty="0" err="1"/>
              <a:t>서운함인지</a:t>
            </a:r>
            <a:r>
              <a:rPr lang="en-US" altLang="ko-KR" dirty="0"/>
              <a:t>, </a:t>
            </a:r>
            <a:r>
              <a:rPr lang="ko-KR" altLang="en-US" dirty="0" err="1"/>
              <a:t>억울함인지</a:t>
            </a:r>
            <a:r>
              <a:rPr lang="en-US" altLang="ko-KR" dirty="0"/>
              <a:t>, </a:t>
            </a:r>
            <a:r>
              <a:rPr lang="ko-KR" altLang="en-US" dirty="0"/>
              <a:t>혹은 무시당한 느낌인지</a:t>
            </a:r>
            <a:r>
              <a:rPr lang="en-US" altLang="ko-KR" dirty="0"/>
              <a:t>…</a:t>
            </a:r>
          </a:p>
          <a:p>
            <a:endParaRPr lang="en-US" altLang="ko-KR" dirty="0"/>
          </a:p>
          <a:p>
            <a:r>
              <a:rPr lang="en-US" altLang="ko-KR" b="1" dirty="0"/>
              <a:t>USER3</a:t>
            </a:r>
            <a:br>
              <a:rPr lang="ko-KR" altLang="en-US" dirty="0"/>
            </a:br>
            <a:r>
              <a:rPr lang="ko-KR" altLang="en-US" dirty="0" err="1"/>
              <a:t>서운함이요</a:t>
            </a:r>
            <a:r>
              <a:rPr lang="en-US" altLang="ko-KR" dirty="0"/>
              <a:t>. </a:t>
            </a:r>
            <a:r>
              <a:rPr lang="ko-KR" altLang="en-US" dirty="0"/>
              <a:t>말투가 너무 날카로웠어요</a:t>
            </a:r>
            <a:r>
              <a:rPr lang="en-US" altLang="ko-KR" dirty="0"/>
              <a:t>.</a:t>
            </a:r>
          </a:p>
          <a:p>
            <a:endParaRPr lang="en-US" altLang="ko-KR" b="1" dirty="0"/>
          </a:p>
          <a:p>
            <a:r>
              <a:rPr lang="en-US" altLang="ko-KR" b="1" dirty="0"/>
              <a:t>AI4 (</a:t>
            </a:r>
            <a:r>
              <a:rPr lang="ko-KR" altLang="en-US" b="1" dirty="0"/>
              <a:t>인지활성</a:t>
            </a:r>
            <a:r>
              <a:rPr lang="en-US" altLang="ko-KR" b="1" dirty="0"/>
              <a:t>)</a:t>
            </a:r>
            <a:br>
              <a:rPr lang="ko-KR" altLang="en-US" dirty="0"/>
            </a:br>
            <a:r>
              <a:rPr lang="ko-KR" altLang="en-US" dirty="0"/>
              <a:t>그 서운함 속에는</a:t>
            </a:r>
            <a:br>
              <a:rPr lang="ko-KR" altLang="en-US" dirty="0"/>
            </a:br>
            <a:r>
              <a:rPr lang="ko-KR" altLang="en-US" dirty="0"/>
              <a:t>“나는 </a:t>
            </a:r>
            <a:r>
              <a:rPr lang="ko-KR" altLang="en-US" dirty="0" err="1"/>
              <a:t>존중받고</a:t>
            </a:r>
            <a:r>
              <a:rPr lang="ko-KR" altLang="en-US" dirty="0"/>
              <a:t> 싶은 </a:t>
            </a:r>
            <a:r>
              <a:rPr lang="ko-KR" altLang="en-US" dirty="0" err="1"/>
              <a:t>사람이다”라는</a:t>
            </a:r>
            <a:r>
              <a:rPr lang="ko-KR" altLang="en-US" dirty="0"/>
              <a:t> 선생님의 가치가 담겨 있어요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그게 선명해지면 마음과 생각이 조금씩 정리되기 시작하거든요</a:t>
            </a:r>
            <a:r>
              <a:rPr lang="en-US" altLang="ko-KR" dirty="0"/>
              <a:t>.</a:t>
            </a:r>
          </a:p>
          <a:p>
            <a:endParaRPr lang="en-US" altLang="ko-KR" b="1" dirty="0"/>
          </a:p>
          <a:p>
            <a:r>
              <a:rPr lang="en-US" altLang="ko-KR" b="1" dirty="0"/>
              <a:t>USER4</a:t>
            </a:r>
            <a:br>
              <a:rPr lang="ko-KR" altLang="en-US" dirty="0"/>
            </a:br>
            <a:r>
              <a:rPr lang="ko-KR" altLang="en-US" dirty="0"/>
              <a:t>그렇게 생각하면 좀 이해가 되네요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215988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F82478-4FC4-1266-C424-6C635E3FCE4E}"/>
              </a:ext>
            </a:extLst>
          </p:cNvPr>
          <p:cNvSpPr txBox="1"/>
          <p:nvPr/>
        </p:nvSpPr>
        <p:spPr>
          <a:xfrm>
            <a:off x="174171" y="176512"/>
            <a:ext cx="374653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/>
              <a:t>AI </a:t>
            </a:r>
            <a:r>
              <a:rPr lang="ko-KR" altLang="en-US" b="1" dirty="0"/>
              <a:t>기반의 맞춤형 대화 시뮬레이션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379606-B09B-98E5-740A-4EC8EEF03DB4}"/>
              </a:ext>
            </a:extLst>
          </p:cNvPr>
          <p:cNvSpPr txBox="1"/>
          <p:nvPr/>
        </p:nvSpPr>
        <p:spPr>
          <a:xfrm>
            <a:off x="174171" y="753290"/>
            <a:ext cx="42498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Ex)</a:t>
            </a:r>
            <a:r>
              <a:rPr lang="ko-KR" altLang="en-US" sz="2400" b="1" dirty="0"/>
              <a:t> 공감형 </a:t>
            </a:r>
            <a:r>
              <a:rPr lang="en-US" altLang="ko-KR" sz="2400" b="1" dirty="0"/>
              <a:t>X </a:t>
            </a:r>
            <a:r>
              <a:rPr lang="ko-KR" altLang="en-US" sz="2400" b="1" dirty="0"/>
              <a:t>관계 소통 대화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B6D380-216E-1063-9D12-76271482FCE5}"/>
              </a:ext>
            </a:extLst>
          </p:cNvPr>
          <p:cNvSpPr txBox="1"/>
          <p:nvPr/>
        </p:nvSpPr>
        <p:spPr>
          <a:xfrm>
            <a:off x="307636" y="1440658"/>
            <a:ext cx="4291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[3</a:t>
            </a:r>
            <a:r>
              <a:rPr lang="ko-KR" altLang="en-US" b="1" dirty="0"/>
              <a:t>단계</a:t>
            </a:r>
            <a:r>
              <a:rPr lang="en-US" altLang="ko-KR" b="1" dirty="0"/>
              <a:t>: </a:t>
            </a:r>
            <a:r>
              <a:rPr lang="ko-KR" altLang="en-US" b="1" dirty="0"/>
              <a:t>감정 조절 </a:t>
            </a:r>
            <a:r>
              <a:rPr lang="en-US" altLang="ko-KR" b="1" dirty="0"/>
              <a:t>Emotional Labeling]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A7C2DF-BE5D-DD7D-550D-2F7DF8635857}"/>
              </a:ext>
            </a:extLst>
          </p:cNvPr>
          <p:cNvSpPr txBox="1"/>
          <p:nvPr/>
        </p:nvSpPr>
        <p:spPr>
          <a:xfrm>
            <a:off x="307636" y="2030952"/>
            <a:ext cx="1052276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AI5 (</a:t>
            </a:r>
            <a:r>
              <a:rPr lang="ko-KR" altLang="en-US" sz="1600" b="1" dirty="0"/>
              <a:t>감정조절</a:t>
            </a:r>
            <a:r>
              <a:rPr lang="en-US" altLang="ko-KR" sz="1600" b="1" dirty="0"/>
              <a:t>)</a:t>
            </a:r>
            <a:br>
              <a:rPr lang="ko-KR" altLang="en-US" sz="1600" dirty="0"/>
            </a:br>
            <a:r>
              <a:rPr lang="ko-KR" altLang="en-US" sz="1600" dirty="0"/>
              <a:t>그럼 지금 이 감정을 이름으로 붙여볼까요</a:t>
            </a:r>
            <a:r>
              <a:rPr lang="en-US" altLang="ko-KR" sz="1600" dirty="0"/>
              <a:t>?</a:t>
            </a:r>
            <a:br>
              <a:rPr lang="en-US" altLang="ko-KR" sz="1600" dirty="0"/>
            </a:br>
            <a:r>
              <a:rPr lang="en-US" altLang="ko-KR" sz="1600" dirty="0"/>
              <a:t>‘</a:t>
            </a:r>
            <a:r>
              <a:rPr lang="ko-KR" altLang="en-US" sz="1600" dirty="0"/>
              <a:t>서운함’</a:t>
            </a:r>
            <a:r>
              <a:rPr lang="en-US" altLang="ko-KR" sz="1600" dirty="0"/>
              <a:t>, ‘</a:t>
            </a:r>
            <a:r>
              <a:rPr lang="ko-KR" altLang="en-US" sz="1600" dirty="0"/>
              <a:t>억울함’</a:t>
            </a:r>
            <a:r>
              <a:rPr lang="en-US" altLang="ko-KR" sz="1600" dirty="0"/>
              <a:t>, ‘</a:t>
            </a:r>
            <a:r>
              <a:rPr lang="ko-KR" altLang="en-US" sz="1600" dirty="0"/>
              <a:t>상처’</a:t>
            </a:r>
            <a:r>
              <a:rPr lang="en-US" altLang="ko-KR" sz="1600" dirty="0"/>
              <a:t>, </a:t>
            </a:r>
            <a:r>
              <a:rPr lang="ko-KR" altLang="en-US" sz="1600" dirty="0"/>
              <a:t>이 중 어떤 게 제일 가깝나요</a:t>
            </a:r>
            <a:r>
              <a:rPr lang="en-US" altLang="ko-KR" sz="1600" dirty="0"/>
              <a:t>?</a:t>
            </a:r>
          </a:p>
          <a:p>
            <a:endParaRPr lang="en-US" altLang="ko-KR" sz="1600" dirty="0"/>
          </a:p>
          <a:p>
            <a:r>
              <a:rPr lang="en-US" altLang="ko-KR" sz="1600" b="1" dirty="0"/>
              <a:t>USER5</a:t>
            </a:r>
            <a:br>
              <a:rPr lang="ko-KR" altLang="en-US" sz="1600" dirty="0"/>
            </a:br>
            <a:r>
              <a:rPr lang="ko-KR" altLang="en-US" sz="1600" dirty="0"/>
              <a:t>“</a:t>
            </a:r>
            <a:r>
              <a:rPr lang="ko-KR" altLang="en-US" sz="1600" dirty="0" err="1"/>
              <a:t>상처”가</a:t>
            </a:r>
            <a:r>
              <a:rPr lang="ko-KR" altLang="en-US" sz="1600" dirty="0"/>
              <a:t> 제일 맞는 것 같아요</a:t>
            </a:r>
            <a:r>
              <a:rPr lang="en-US" altLang="ko-KR" sz="1600" dirty="0"/>
              <a:t>.</a:t>
            </a:r>
          </a:p>
          <a:p>
            <a:endParaRPr lang="en-US" altLang="ko-KR" sz="1600" b="1" dirty="0"/>
          </a:p>
          <a:p>
            <a:r>
              <a:rPr lang="en-US" altLang="ko-KR" sz="1600" b="1" dirty="0"/>
              <a:t>AI6 (</a:t>
            </a:r>
            <a:r>
              <a:rPr lang="ko-KR" altLang="en-US" sz="1600" b="1" dirty="0"/>
              <a:t>감정조절</a:t>
            </a:r>
            <a:r>
              <a:rPr lang="en-US" altLang="ko-KR" sz="1600" b="1" dirty="0"/>
              <a:t>)</a:t>
            </a:r>
            <a:br>
              <a:rPr lang="ko-KR" altLang="en-US" sz="1600" dirty="0"/>
            </a:br>
            <a:r>
              <a:rPr lang="ko-KR" altLang="en-US" sz="1600" dirty="0"/>
              <a:t>좋아요</a:t>
            </a:r>
            <a:r>
              <a:rPr lang="en-US" altLang="ko-KR" sz="1600" dirty="0"/>
              <a:t>. “</a:t>
            </a:r>
            <a:r>
              <a:rPr lang="ko-KR" altLang="en-US" sz="1600" dirty="0"/>
              <a:t>나는 </a:t>
            </a:r>
            <a:r>
              <a:rPr lang="ko-KR" altLang="en-US" sz="1600" dirty="0" err="1"/>
              <a:t>상처받았다”라고</a:t>
            </a:r>
            <a:r>
              <a:rPr lang="ko-KR" altLang="en-US" sz="1600" dirty="0"/>
              <a:t> 명확히 말해준 순간 뇌는 위협 상황에서 벗어나 조금 더 안정을 취할 수 </a:t>
            </a:r>
            <a:r>
              <a:rPr lang="ko-KR" altLang="en-US" sz="1600" dirty="0" err="1"/>
              <a:t>있을거에요</a:t>
            </a:r>
            <a:r>
              <a:rPr lang="en-US" altLang="ko-KR" sz="1600" dirty="0"/>
              <a:t>. </a:t>
            </a:r>
            <a:r>
              <a:rPr lang="ko-KR" altLang="en-US" sz="1600" dirty="0"/>
              <a:t>지금 마음이 조금 가라앉은 느낌 있나요</a:t>
            </a:r>
            <a:r>
              <a:rPr lang="en-US" altLang="ko-KR" sz="1600" dirty="0"/>
              <a:t>?</a:t>
            </a:r>
          </a:p>
          <a:p>
            <a:endParaRPr lang="en-US" altLang="ko-KR" sz="1600" b="1" dirty="0"/>
          </a:p>
          <a:p>
            <a:r>
              <a:rPr lang="en-US" altLang="ko-KR" sz="1600" b="1" dirty="0"/>
              <a:t>USER6</a:t>
            </a:r>
            <a:br>
              <a:rPr lang="ko-KR" altLang="en-US" sz="1600" dirty="0"/>
            </a:br>
            <a:r>
              <a:rPr lang="ko-KR" altLang="en-US" sz="1600" dirty="0"/>
              <a:t>조금 나아요</a:t>
            </a:r>
            <a:r>
              <a:rPr lang="en-US" altLang="ko-KR" sz="1600" dirty="0"/>
              <a:t>. </a:t>
            </a:r>
            <a:r>
              <a:rPr lang="ko-KR" altLang="en-US" sz="1600" dirty="0"/>
              <a:t>이렇게 표현하니까 덜 답답해요</a:t>
            </a:r>
            <a:r>
              <a:rPr lang="en-US" altLang="ko-KR" sz="1600" dirty="0"/>
              <a:t>.</a:t>
            </a:r>
          </a:p>
          <a:p>
            <a:endParaRPr lang="en-US" altLang="ko-KR" sz="1600" b="1" dirty="0"/>
          </a:p>
          <a:p>
            <a:r>
              <a:rPr lang="en-US" altLang="ko-KR" sz="1600" b="1" dirty="0"/>
              <a:t>AI7 (</a:t>
            </a:r>
            <a:r>
              <a:rPr lang="ko-KR" altLang="en-US" sz="1600" b="1" dirty="0"/>
              <a:t>감정조절</a:t>
            </a:r>
            <a:r>
              <a:rPr lang="en-US" altLang="ko-KR" sz="1600" b="1" dirty="0"/>
              <a:t>)</a:t>
            </a:r>
            <a:br>
              <a:rPr lang="ko-KR" altLang="en-US" sz="1600" dirty="0"/>
            </a:br>
            <a:r>
              <a:rPr lang="ko-KR" altLang="en-US" sz="1600" dirty="0"/>
              <a:t>감정을 말로 꺼내는 것만으로도 관계 상황이 더 분명해집니다</a:t>
            </a:r>
            <a:r>
              <a:rPr lang="en-US" altLang="ko-KR" sz="1600" dirty="0"/>
              <a:t>.</a:t>
            </a:r>
          </a:p>
          <a:p>
            <a:endParaRPr lang="en-US" altLang="ko-KR" sz="1600" b="1" dirty="0"/>
          </a:p>
          <a:p>
            <a:r>
              <a:rPr lang="en-US" altLang="ko-KR" sz="1600" b="1" dirty="0"/>
              <a:t>USER7</a:t>
            </a:r>
            <a:br>
              <a:rPr lang="ko-KR" altLang="en-US" sz="1600" dirty="0"/>
            </a:br>
            <a:r>
              <a:rPr lang="ko-KR" altLang="en-US" sz="1600" dirty="0"/>
              <a:t>정말 그런 것 같아요</a:t>
            </a:r>
            <a:r>
              <a:rPr lang="en-US" altLang="ko-KR" sz="1600" dirty="0"/>
              <a:t>. </a:t>
            </a:r>
            <a:r>
              <a:rPr lang="ko-KR" altLang="en-US" sz="1600" dirty="0"/>
              <a:t>머리가 좀 </a:t>
            </a:r>
            <a:r>
              <a:rPr lang="ko-KR" altLang="en-US" sz="1600" dirty="0" err="1"/>
              <a:t>또렷해졌어요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628778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F82478-4FC4-1266-C424-6C635E3FCE4E}"/>
              </a:ext>
            </a:extLst>
          </p:cNvPr>
          <p:cNvSpPr txBox="1"/>
          <p:nvPr/>
        </p:nvSpPr>
        <p:spPr>
          <a:xfrm>
            <a:off x="174171" y="176512"/>
            <a:ext cx="374653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/>
              <a:t>AI </a:t>
            </a:r>
            <a:r>
              <a:rPr lang="ko-KR" altLang="en-US" b="1" dirty="0"/>
              <a:t>기반의 맞춤형 대화 시뮬레이션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379606-B09B-98E5-740A-4EC8EEF03DB4}"/>
              </a:ext>
            </a:extLst>
          </p:cNvPr>
          <p:cNvSpPr txBox="1"/>
          <p:nvPr/>
        </p:nvSpPr>
        <p:spPr>
          <a:xfrm>
            <a:off x="174171" y="753290"/>
            <a:ext cx="42498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Ex)</a:t>
            </a:r>
            <a:r>
              <a:rPr lang="ko-KR" altLang="en-US" sz="2400" b="1" dirty="0"/>
              <a:t> 공감형 </a:t>
            </a:r>
            <a:r>
              <a:rPr lang="en-US" altLang="ko-KR" sz="2400" b="1" dirty="0"/>
              <a:t>X </a:t>
            </a:r>
            <a:r>
              <a:rPr lang="ko-KR" altLang="en-US" sz="2400" b="1" dirty="0"/>
              <a:t>관계 소통 대화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B6D380-216E-1063-9D12-76271482FCE5}"/>
              </a:ext>
            </a:extLst>
          </p:cNvPr>
          <p:cNvSpPr txBox="1"/>
          <p:nvPr/>
        </p:nvSpPr>
        <p:spPr>
          <a:xfrm>
            <a:off x="307636" y="1440658"/>
            <a:ext cx="3483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[4</a:t>
            </a:r>
            <a:r>
              <a:rPr lang="ko-KR" altLang="en-US" b="1" dirty="0"/>
              <a:t>단계</a:t>
            </a:r>
            <a:r>
              <a:rPr lang="en-US" altLang="ko-KR" b="1" dirty="0"/>
              <a:t>: </a:t>
            </a:r>
            <a:r>
              <a:rPr lang="ko-KR" altLang="en-US" b="1" dirty="0"/>
              <a:t>회복력 탐색 </a:t>
            </a:r>
            <a:r>
              <a:rPr lang="en-US" altLang="ko-KR" b="1" dirty="0"/>
              <a:t>Resilience]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A7C2DF-BE5D-DD7D-550D-2F7DF8635857}"/>
              </a:ext>
            </a:extLst>
          </p:cNvPr>
          <p:cNvSpPr txBox="1"/>
          <p:nvPr/>
        </p:nvSpPr>
        <p:spPr>
          <a:xfrm>
            <a:off x="307636" y="2030952"/>
            <a:ext cx="1052276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AI8 (</a:t>
            </a:r>
            <a:r>
              <a:rPr lang="ko-KR" altLang="en-US" sz="1600" b="1" dirty="0"/>
              <a:t>회복력탐색</a:t>
            </a:r>
            <a:r>
              <a:rPr lang="en-US" altLang="ko-KR" sz="1600" b="1" dirty="0"/>
              <a:t>)</a:t>
            </a:r>
            <a:br>
              <a:rPr lang="ko-KR" altLang="en-US" sz="1600" dirty="0"/>
            </a:br>
            <a:r>
              <a:rPr lang="ko-KR" altLang="en-US" sz="1600" dirty="0"/>
              <a:t>선생님은 예전에도 비슷하게 마음이 다친 순간이 있었을 텐데</a:t>
            </a:r>
            <a:r>
              <a:rPr lang="en-US" altLang="ko-KR" sz="1600" dirty="0"/>
              <a:t>, </a:t>
            </a:r>
            <a:r>
              <a:rPr lang="ko-KR" altLang="en-US" sz="1600" dirty="0"/>
              <a:t>그때는 어떻게 잘 지나오셨나요</a:t>
            </a:r>
            <a:r>
              <a:rPr lang="en-US" altLang="ko-KR" sz="1600" dirty="0"/>
              <a:t>?</a:t>
            </a:r>
          </a:p>
          <a:p>
            <a:endParaRPr lang="en-US" altLang="ko-KR" sz="1600" b="1" dirty="0"/>
          </a:p>
          <a:p>
            <a:r>
              <a:rPr lang="en-US" altLang="ko-KR" sz="1600" b="1" dirty="0"/>
              <a:t>USER8</a:t>
            </a:r>
            <a:br>
              <a:rPr lang="ko-KR" altLang="en-US" sz="1600" dirty="0"/>
            </a:br>
            <a:r>
              <a:rPr lang="ko-KR" altLang="en-US" sz="1600" dirty="0"/>
              <a:t>음</a:t>
            </a:r>
            <a:r>
              <a:rPr lang="en-US" altLang="ko-KR" sz="1600" dirty="0"/>
              <a:t>… </a:t>
            </a:r>
            <a:r>
              <a:rPr lang="ko-KR" altLang="en-US" sz="1600" dirty="0"/>
              <a:t>시간이 좀 지나면 괜찮아졌고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친구랑</a:t>
            </a:r>
            <a:r>
              <a:rPr lang="ko-KR" altLang="en-US" sz="1600" dirty="0"/>
              <a:t> 얘기해서 풀었던 기억도 있어요</a:t>
            </a:r>
            <a:r>
              <a:rPr lang="en-US" altLang="ko-KR" sz="1600" dirty="0"/>
              <a:t>.</a:t>
            </a:r>
          </a:p>
          <a:p>
            <a:endParaRPr lang="en-US" altLang="ko-KR" sz="1600" b="1" dirty="0"/>
          </a:p>
          <a:p>
            <a:r>
              <a:rPr lang="en-US" altLang="ko-KR" sz="1600" b="1" dirty="0"/>
              <a:t>AI9 (</a:t>
            </a:r>
            <a:r>
              <a:rPr lang="ko-KR" altLang="en-US" sz="1600" b="1" dirty="0"/>
              <a:t>회복력탐색</a:t>
            </a:r>
            <a:r>
              <a:rPr lang="en-US" altLang="ko-KR" sz="1600" b="1" dirty="0"/>
              <a:t>)</a:t>
            </a:r>
            <a:br>
              <a:rPr lang="ko-KR" altLang="en-US" sz="1600" dirty="0"/>
            </a:br>
            <a:r>
              <a:rPr lang="ko-KR" altLang="en-US" sz="1600" dirty="0"/>
              <a:t>그 경험은 지금도 선생님 안에 남아 있는 회복력이에요</a:t>
            </a:r>
            <a:r>
              <a:rPr lang="en-US" altLang="ko-KR" sz="1600" dirty="0"/>
              <a:t>. </a:t>
            </a:r>
            <a:r>
              <a:rPr lang="ko-KR" altLang="en-US" sz="1600" dirty="0"/>
              <a:t>그때 친구와 이야기하면서 어떤 기분이 들었나요</a:t>
            </a:r>
            <a:r>
              <a:rPr lang="en-US" altLang="ko-KR" sz="1600" dirty="0"/>
              <a:t>?</a:t>
            </a:r>
          </a:p>
          <a:p>
            <a:endParaRPr lang="en-US" altLang="ko-KR" sz="1600" b="1" dirty="0"/>
          </a:p>
          <a:p>
            <a:r>
              <a:rPr lang="en-US" altLang="ko-KR" sz="1600" b="1" dirty="0"/>
              <a:t>USER9</a:t>
            </a:r>
            <a:br>
              <a:rPr lang="ko-KR" altLang="en-US" sz="1600" dirty="0"/>
            </a:br>
            <a:r>
              <a:rPr lang="ko-KR" altLang="en-US" sz="1600" dirty="0"/>
              <a:t>누군가는 날 이해하는구나</a:t>
            </a:r>
            <a:r>
              <a:rPr lang="en-US" altLang="ko-KR" sz="1600" dirty="0"/>
              <a:t>… </a:t>
            </a:r>
            <a:r>
              <a:rPr lang="ko-KR" altLang="en-US" sz="1600" dirty="0"/>
              <a:t>그런 느낌이요</a:t>
            </a:r>
            <a:r>
              <a:rPr lang="en-US" altLang="ko-KR" sz="1600" dirty="0"/>
              <a:t>.</a:t>
            </a:r>
          </a:p>
          <a:p>
            <a:endParaRPr lang="en-US" altLang="ko-KR" sz="1600" b="1" dirty="0"/>
          </a:p>
          <a:p>
            <a:r>
              <a:rPr lang="en-US" altLang="ko-KR" sz="1600" b="1" dirty="0"/>
              <a:t>AI10 (</a:t>
            </a:r>
            <a:r>
              <a:rPr lang="ko-KR" altLang="en-US" sz="1600" b="1" dirty="0"/>
              <a:t>회복력탐색</a:t>
            </a:r>
            <a:r>
              <a:rPr lang="en-US" altLang="ko-KR" sz="1600" b="1" dirty="0"/>
              <a:t>)</a:t>
            </a:r>
            <a:br>
              <a:rPr lang="ko-KR" altLang="en-US" sz="1600" dirty="0"/>
            </a:br>
            <a:r>
              <a:rPr lang="ko-KR" altLang="en-US" sz="1600" dirty="0"/>
              <a:t>바로 그 느낌</a:t>
            </a:r>
            <a:r>
              <a:rPr lang="en-US" altLang="ko-KR" sz="1600" dirty="0"/>
              <a:t> “</a:t>
            </a:r>
            <a:r>
              <a:rPr lang="ko-KR" altLang="en-US" sz="1600" dirty="0" err="1"/>
              <a:t>이해받는</a:t>
            </a:r>
            <a:r>
              <a:rPr lang="ko-KR" altLang="en-US" sz="1600" dirty="0"/>
              <a:t> </a:t>
            </a:r>
            <a:r>
              <a:rPr lang="ko-KR" altLang="en-US" sz="1600" dirty="0" err="1"/>
              <a:t>경험”이</a:t>
            </a:r>
            <a:r>
              <a:rPr lang="ko-KR" altLang="en-US" sz="1600" dirty="0"/>
              <a:t> 선생님을 가장 크게 안정시키는 자원이에요</a:t>
            </a:r>
            <a:r>
              <a:rPr lang="en-US" altLang="ko-KR" sz="1600" dirty="0"/>
              <a:t>.</a:t>
            </a:r>
          </a:p>
          <a:p>
            <a:endParaRPr lang="en-US" altLang="ko-KR" sz="1600" b="1" dirty="0"/>
          </a:p>
          <a:p>
            <a:r>
              <a:rPr lang="en-US" altLang="ko-KR" sz="1600" b="1" dirty="0"/>
              <a:t>USER10</a:t>
            </a:r>
            <a:br>
              <a:rPr lang="ko-KR" altLang="en-US" sz="1600" dirty="0"/>
            </a:br>
            <a:r>
              <a:rPr lang="ko-KR" altLang="en-US" sz="1600" dirty="0"/>
              <a:t>생각해보니 그때도 감정이 많이 가라앉았어요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555669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F82478-4FC4-1266-C424-6C635E3FCE4E}"/>
              </a:ext>
            </a:extLst>
          </p:cNvPr>
          <p:cNvSpPr txBox="1"/>
          <p:nvPr/>
        </p:nvSpPr>
        <p:spPr>
          <a:xfrm>
            <a:off x="174171" y="176512"/>
            <a:ext cx="374653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/>
              <a:t>AI </a:t>
            </a:r>
            <a:r>
              <a:rPr lang="ko-KR" altLang="en-US" b="1" dirty="0"/>
              <a:t>기반의 맞춤형 대화 시뮬레이션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379606-B09B-98E5-740A-4EC8EEF03DB4}"/>
              </a:ext>
            </a:extLst>
          </p:cNvPr>
          <p:cNvSpPr txBox="1"/>
          <p:nvPr/>
        </p:nvSpPr>
        <p:spPr>
          <a:xfrm>
            <a:off x="174171" y="753290"/>
            <a:ext cx="42498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Ex)</a:t>
            </a:r>
            <a:r>
              <a:rPr lang="ko-KR" altLang="en-US" sz="2400" b="1" dirty="0"/>
              <a:t> 공감형 </a:t>
            </a:r>
            <a:r>
              <a:rPr lang="en-US" altLang="ko-KR" sz="2400" b="1" dirty="0"/>
              <a:t>X </a:t>
            </a:r>
            <a:r>
              <a:rPr lang="ko-KR" altLang="en-US" sz="2400" b="1" dirty="0"/>
              <a:t>관계 소통 대화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B6D380-216E-1063-9D12-76271482FCE5}"/>
              </a:ext>
            </a:extLst>
          </p:cNvPr>
          <p:cNvSpPr txBox="1"/>
          <p:nvPr/>
        </p:nvSpPr>
        <p:spPr>
          <a:xfrm>
            <a:off x="307636" y="1237735"/>
            <a:ext cx="4065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[5</a:t>
            </a:r>
            <a:r>
              <a:rPr lang="ko-KR" altLang="en-US" b="1" dirty="0"/>
              <a:t>단계</a:t>
            </a:r>
            <a:r>
              <a:rPr lang="en-US" altLang="ko-KR" b="1" dirty="0"/>
              <a:t>: </a:t>
            </a:r>
            <a:r>
              <a:rPr lang="ko-KR" altLang="en-US" b="1" dirty="0"/>
              <a:t>관계</a:t>
            </a:r>
            <a:r>
              <a:rPr lang="en-US" altLang="ko-KR" b="1" dirty="0"/>
              <a:t>·</a:t>
            </a:r>
            <a:r>
              <a:rPr lang="ko-KR" altLang="en-US" b="1" dirty="0"/>
              <a:t>소통 재해석 </a:t>
            </a:r>
            <a:r>
              <a:rPr lang="en-US" altLang="ko-KR" b="1" dirty="0"/>
              <a:t>Reframing]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A7C2DF-BE5D-DD7D-550D-2F7DF8635857}"/>
              </a:ext>
            </a:extLst>
          </p:cNvPr>
          <p:cNvSpPr txBox="1"/>
          <p:nvPr/>
        </p:nvSpPr>
        <p:spPr>
          <a:xfrm>
            <a:off x="307636" y="1607067"/>
            <a:ext cx="1052276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AI11 (</a:t>
            </a:r>
            <a:r>
              <a:rPr lang="ko-KR" altLang="en-US" sz="1400" b="1" dirty="0"/>
              <a:t>관계재해석</a:t>
            </a:r>
            <a:r>
              <a:rPr lang="en-US" altLang="ko-KR" sz="1400" b="1" dirty="0"/>
              <a:t>)</a:t>
            </a:r>
            <a:br>
              <a:rPr lang="ko-KR" altLang="en-US" sz="1400" dirty="0"/>
            </a:br>
            <a:r>
              <a:rPr lang="ko-KR" altLang="en-US" sz="1400" dirty="0"/>
              <a:t>가족이 짜증 냈던 순간을 조금 다른 관점에서 보자면</a:t>
            </a:r>
            <a:r>
              <a:rPr lang="en-US" altLang="ko-KR" sz="1400" dirty="0"/>
              <a:t>, </a:t>
            </a:r>
            <a:r>
              <a:rPr lang="ko-KR" altLang="en-US" sz="1400" dirty="0"/>
              <a:t>그들이 선생님을 공격하려는 마음에서 나온 행동이었을까요</a:t>
            </a:r>
            <a:r>
              <a:rPr lang="en-US" altLang="ko-KR" sz="1400" dirty="0"/>
              <a:t>?</a:t>
            </a:r>
          </a:p>
          <a:p>
            <a:endParaRPr lang="en-US" altLang="ko-KR" sz="1400" b="1" dirty="0"/>
          </a:p>
          <a:p>
            <a:r>
              <a:rPr lang="en-US" altLang="ko-KR" sz="1400" b="1" dirty="0"/>
              <a:t>USER11</a:t>
            </a:r>
            <a:br>
              <a:rPr lang="ko-KR" altLang="en-US" sz="1400" dirty="0"/>
            </a:br>
            <a:r>
              <a:rPr lang="ko-KR" altLang="en-US" sz="1400" dirty="0"/>
              <a:t>음</a:t>
            </a:r>
            <a:r>
              <a:rPr lang="en-US" altLang="ko-KR" sz="1400" dirty="0"/>
              <a:t>… </a:t>
            </a:r>
            <a:r>
              <a:rPr lang="ko-KR" altLang="en-US" sz="1400" dirty="0"/>
              <a:t>딱히 그런 의도는 아니었겠죠</a:t>
            </a:r>
            <a:r>
              <a:rPr lang="en-US" altLang="ko-KR" sz="1400" dirty="0"/>
              <a:t>. </a:t>
            </a:r>
            <a:r>
              <a:rPr lang="ko-KR" altLang="en-US" sz="1400" dirty="0"/>
              <a:t>아마</a:t>
            </a:r>
            <a:r>
              <a:rPr lang="en-US" altLang="ko-KR" sz="1400" dirty="0"/>
              <a:t>… </a:t>
            </a:r>
            <a:r>
              <a:rPr lang="ko-KR" altLang="en-US" sz="1400" dirty="0"/>
              <a:t>걱정되니까 </a:t>
            </a:r>
            <a:r>
              <a:rPr lang="ko-KR" altLang="en-US" sz="1400" dirty="0" err="1"/>
              <a:t>그랬을지도요</a:t>
            </a:r>
            <a:r>
              <a:rPr lang="en-US" altLang="ko-KR" sz="1400" dirty="0"/>
              <a:t>.</a:t>
            </a:r>
          </a:p>
          <a:p>
            <a:endParaRPr lang="en-US" altLang="ko-KR" sz="1400" b="1" dirty="0"/>
          </a:p>
          <a:p>
            <a:r>
              <a:rPr lang="en-US" altLang="ko-KR" sz="1400" b="1" dirty="0"/>
              <a:t>AI12 (</a:t>
            </a:r>
            <a:r>
              <a:rPr lang="ko-KR" altLang="en-US" sz="1400" b="1" dirty="0"/>
              <a:t>관계재해석</a:t>
            </a:r>
            <a:r>
              <a:rPr lang="en-US" altLang="ko-KR" sz="1400" b="1" dirty="0"/>
              <a:t>)</a:t>
            </a:r>
            <a:br>
              <a:rPr lang="ko-KR" altLang="en-US" sz="1400" dirty="0"/>
            </a:br>
            <a:r>
              <a:rPr lang="ko-KR" altLang="en-US" sz="1400" dirty="0"/>
              <a:t>맞아요</a:t>
            </a:r>
            <a:r>
              <a:rPr lang="en-US" altLang="ko-KR" sz="1400" dirty="0"/>
              <a:t>. </a:t>
            </a:r>
            <a:r>
              <a:rPr lang="ko-KR" altLang="en-US" sz="1400" dirty="0"/>
              <a:t>가족의 짜증 속에도 “</a:t>
            </a:r>
            <a:r>
              <a:rPr lang="ko-KR" altLang="en-US" sz="1400" dirty="0" err="1"/>
              <a:t>걱정”이라는</a:t>
            </a:r>
            <a:r>
              <a:rPr lang="ko-KR" altLang="en-US" sz="1400" dirty="0"/>
              <a:t> 감정이 숨어 있을 가능성이 커요</a:t>
            </a:r>
            <a:r>
              <a:rPr lang="en-US" altLang="ko-KR" sz="1400" dirty="0"/>
              <a:t>. </a:t>
            </a:r>
            <a:r>
              <a:rPr lang="ko-KR" altLang="en-US" sz="1400" dirty="0"/>
              <a:t>감정은 겉모습만 보면 오해할 수 있거든요</a:t>
            </a:r>
            <a:r>
              <a:rPr lang="en-US" altLang="ko-KR" sz="1400" dirty="0"/>
              <a:t>.</a:t>
            </a:r>
          </a:p>
          <a:p>
            <a:endParaRPr lang="en-US" altLang="ko-KR" sz="1400" b="1" dirty="0"/>
          </a:p>
          <a:p>
            <a:r>
              <a:rPr lang="en-US" altLang="ko-KR" sz="1400" b="1" dirty="0"/>
              <a:t>USER12</a:t>
            </a:r>
            <a:br>
              <a:rPr lang="ko-KR" altLang="en-US" sz="1400" dirty="0"/>
            </a:br>
            <a:r>
              <a:rPr lang="ko-KR" altLang="en-US" sz="1400" dirty="0"/>
              <a:t>그렇게 생각하면 좀 다르게 느껴지네요</a:t>
            </a:r>
            <a:r>
              <a:rPr lang="en-US" altLang="ko-KR" sz="1400" dirty="0"/>
              <a:t>.</a:t>
            </a:r>
          </a:p>
          <a:p>
            <a:endParaRPr lang="en-US" altLang="ko-KR" sz="1400" b="1" dirty="0"/>
          </a:p>
          <a:p>
            <a:r>
              <a:rPr lang="en-US" altLang="ko-KR" sz="1400" b="1" dirty="0"/>
              <a:t>AI13 (</a:t>
            </a:r>
            <a:r>
              <a:rPr lang="ko-KR" altLang="en-US" sz="1400" b="1" dirty="0"/>
              <a:t>관계재해석</a:t>
            </a:r>
            <a:r>
              <a:rPr lang="en-US" altLang="ko-KR" sz="1400" b="1" dirty="0"/>
              <a:t>)</a:t>
            </a:r>
            <a:br>
              <a:rPr lang="ko-KR" altLang="en-US" sz="1400" dirty="0"/>
            </a:br>
            <a:r>
              <a:rPr lang="ko-KR" altLang="en-US" sz="1400" dirty="0"/>
              <a:t>그럼 선생님 마음을 지키면서도 관계를 편하게 만드는 짧은 문장을 하나 만들어볼까요</a:t>
            </a:r>
            <a:r>
              <a:rPr lang="en-US" altLang="ko-KR" sz="1400" dirty="0"/>
              <a:t>? </a:t>
            </a:r>
            <a:r>
              <a:rPr lang="ko-KR" altLang="en-US" sz="1400" dirty="0"/>
              <a:t>예를 들어서</a:t>
            </a:r>
            <a:r>
              <a:rPr lang="en-US" altLang="ko-KR" sz="1400" dirty="0"/>
              <a:t> "</a:t>
            </a:r>
            <a:r>
              <a:rPr lang="ko-KR" altLang="en-US" sz="1400" dirty="0"/>
              <a:t>나도 헷갈려서 그래</a:t>
            </a:r>
            <a:r>
              <a:rPr lang="en-US" altLang="ko-KR" sz="1400" dirty="0"/>
              <a:t>. </a:t>
            </a:r>
            <a:r>
              <a:rPr lang="ko-KR" altLang="en-US" sz="1400" dirty="0"/>
              <a:t>조금만 천천히 말해줘</a:t>
            </a:r>
            <a:r>
              <a:rPr lang="en-US" altLang="ko-KR" sz="1400" dirty="0"/>
              <a:t>."</a:t>
            </a:r>
          </a:p>
          <a:p>
            <a:endParaRPr lang="en-US" altLang="ko-KR" sz="1400" b="1" dirty="0"/>
          </a:p>
          <a:p>
            <a:r>
              <a:rPr lang="en-US" altLang="ko-KR" sz="1400" b="1" dirty="0"/>
              <a:t>USER13</a:t>
            </a:r>
            <a:br>
              <a:rPr lang="ko-KR" altLang="en-US" sz="1400" dirty="0"/>
            </a:br>
            <a:r>
              <a:rPr lang="ko-KR" altLang="en-US" sz="1400" dirty="0"/>
              <a:t>그 말 괜찮네요</a:t>
            </a:r>
            <a:r>
              <a:rPr lang="en-US" altLang="ko-KR" sz="1400" dirty="0"/>
              <a:t>. </a:t>
            </a:r>
            <a:r>
              <a:rPr lang="ko-KR" altLang="en-US" sz="1400" dirty="0"/>
              <a:t>저도 편하고</a:t>
            </a:r>
            <a:r>
              <a:rPr lang="en-US" altLang="ko-KR" sz="1400" dirty="0"/>
              <a:t>, </a:t>
            </a:r>
            <a:r>
              <a:rPr lang="ko-KR" altLang="en-US" sz="1400" dirty="0"/>
              <a:t>듣는 사람도 편할 것 같아요</a:t>
            </a:r>
            <a:r>
              <a:rPr lang="en-US" altLang="ko-KR" sz="1400" dirty="0"/>
              <a:t>.</a:t>
            </a:r>
          </a:p>
          <a:p>
            <a:endParaRPr lang="en-US" altLang="ko-KR" sz="1400" b="1" dirty="0"/>
          </a:p>
          <a:p>
            <a:r>
              <a:rPr lang="en-US" altLang="ko-KR" sz="1400" b="1" dirty="0"/>
              <a:t>AI14 (</a:t>
            </a:r>
            <a:r>
              <a:rPr lang="ko-KR" altLang="en-US" sz="1400" b="1" dirty="0"/>
              <a:t>관계재해석</a:t>
            </a:r>
            <a:r>
              <a:rPr lang="en-US" altLang="ko-KR" sz="1400" b="1" dirty="0"/>
              <a:t>)</a:t>
            </a:r>
            <a:br>
              <a:rPr lang="ko-KR" altLang="en-US" sz="1400" dirty="0"/>
            </a:br>
            <a:r>
              <a:rPr lang="ko-KR" altLang="en-US" sz="1400" dirty="0"/>
              <a:t>그 한 문장은 갈등을 줄이고 대화를 다시 따뜻하게 만드는 힘이 있어요</a:t>
            </a:r>
            <a:r>
              <a:rPr lang="en-US" altLang="ko-KR" sz="1400" dirty="0"/>
              <a:t>.</a:t>
            </a:r>
          </a:p>
          <a:p>
            <a:endParaRPr lang="en-US" altLang="ko-KR" sz="1400" b="1" dirty="0"/>
          </a:p>
          <a:p>
            <a:r>
              <a:rPr lang="en-US" altLang="ko-KR" sz="1400" b="1" dirty="0"/>
              <a:t>USER14</a:t>
            </a:r>
            <a:br>
              <a:rPr lang="ko-KR" altLang="en-US" sz="1400" dirty="0"/>
            </a:br>
            <a:r>
              <a:rPr lang="ko-KR" altLang="en-US" sz="1400" dirty="0"/>
              <a:t>실제로 써보고 싶어요</a:t>
            </a:r>
            <a:r>
              <a:rPr lang="en-US" altLang="ko-KR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509780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F82478-4FC4-1266-C424-6C635E3FCE4E}"/>
              </a:ext>
            </a:extLst>
          </p:cNvPr>
          <p:cNvSpPr txBox="1"/>
          <p:nvPr/>
        </p:nvSpPr>
        <p:spPr>
          <a:xfrm>
            <a:off x="174171" y="176512"/>
            <a:ext cx="374653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/>
              <a:t>AI </a:t>
            </a:r>
            <a:r>
              <a:rPr lang="ko-KR" altLang="en-US" b="1" dirty="0"/>
              <a:t>기반의 맞춤형 대화 시뮬레이션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379606-B09B-98E5-740A-4EC8EEF03DB4}"/>
              </a:ext>
            </a:extLst>
          </p:cNvPr>
          <p:cNvSpPr txBox="1"/>
          <p:nvPr/>
        </p:nvSpPr>
        <p:spPr>
          <a:xfrm>
            <a:off x="174171" y="753290"/>
            <a:ext cx="42498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Ex)</a:t>
            </a:r>
            <a:r>
              <a:rPr lang="ko-KR" altLang="en-US" sz="2400" b="1" dirty="0"/>
              <a:t> 공감형 </a:t>
            </a:r>
            <a:r>
              <a:rPr lang="en-US" altLang="ko-KR" sz="2400" b="1" dirty="0"/>
              <a:t>X </a:t>
            </a:r>
            <a:r>
              <a:rPr lang="ko-KR" altLang="en-US" sz="2400" b="1" dirty="0"/>
              <a:t>관계 소통 대화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B6D380-216E-1063-9D12-76271482FCE5}"/>
              </a:ext>
            </a:extLst>
          </p:cNvPr>
          <p:cNvSpPr txBox="1"/>
          <p:nvPr/>
        </p:nvSpPr>
        <p:spPr>
          <a:xfrm>
            <a:off x="301221" y="1463229"/>
            <a:ext cx="5254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[6</a:t>
            </a:r>
            <a:r>
              <a:rPr lang="ko-KR" altLang="en-US" b="1" dirty="0"/>
              <a:t>단계</a:t>
            </a:r>
            <a:r>
              <a:rPr lang="en-US" altLang="ko-KR" b="1" dirty="0"/>
              <a:t>: </a:t>
            </a:r>
            <a:r>
              <a:rPr lang="ko-KR" altLang="en-US" b="1" dirty="0"/>
              <a:t>행동</a:t>
            </a:r>
            <a:r>
              <a:rPr lang="en-US" altLang="ko-KR" b="1" dirty="0"/>
              <a:t>·</a:t>
            </a:r>
            <a:r>
              <a:rPr lang="ko-KR" altLang="en-US" b="1" dirty="0"/>
              <a:t>습관 실천 제안 </a:t>
            </a:r>
            <a:r>
              <a:rPr lang="en-US" altLang="ko-KR" b="1" dirty="0"/>
              <a:t>Behavioral / Habit]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A7C2DF-BE5D-DD7D-550D-2F7DF8635857}"/>
              </a:ext>
            </a:extLst>
          </p:cNvPr>
          <p:cNvSpPr txBox="1"/>
          <p:nvPr/>
        </p:nvSpPr>
        <p:spPr>
          <a:xfrm>
            <a:off x="301221" y="2001055"/>
            <a:ext cx="1052276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AI15 (</a:t>
            </a:r>
            <a:r>
              <a:rPr lang="ko-KR" altLang="en-US" sz="1600" b="1" dirty="0"/>
              <a:t>행동전략</a:t>
            </a:r>
            <a:r>
              <a:rPr lang="en-US" altLang="ko-KR" sz="1600" b="1" dirty="0"/>
              <a:t>)</a:t>
            </a:r>
            <a:br>
              <a:rPr lang="ko-KR" altLang="en-US" sz="1600" dirty="0"/>
            </a:br>
            <a:r>
              <a:rPr lang="ko-KR" altLang="en-US" sz="1600" dirty="0"/>
              <a:t>좋아요</a:t>
            </a:r>
            <a:r>
              <a:rPr lang="en-US" altLang="ko-KR" sz="1600" dirty="0"/>
              <a:t>. </a:t>
            </a:r>
            <a:r>
              <a:rPr lang="ko-KR" altLang="en-US" sz="1600" dirty="0"/>
              <a:t>지금 바로 할 수 있는 작은 행동을 </a:t>
            </a:r>
            <a:r>
              <a:rPr lang="ko-KR" altLang="en-US" sz="1600" dirty="0" err="1"/>
              <a:t>해볼게요</a:t>
            </a:r>
            <a:r>
              <a:rPr lang="en-US" altLang="ko-KR" sz="1600" dirty="0"/>
              <a:t>.</a:t>
            </a:r>
            <a:br>
              <a:rPr lang="en-US" altLang="ko-KR" sz="1600" dirty="0"/>
            </a:br>
            <a:r>
              <a:rPr lang="ko-KR" altLang="en-US" sz="1600" dirty="0"/>
              <a:t>가족에게 말하고 싶은 문장을 입으로 조용히 한번 말해볼까요</a:t>
            </a:r>
            <a:r>
              <a:rPr lang="en-US" altLang="ko-KR" sz="1600" dirty="0"/>
              <a:t>?</a:t>
            </a:r>
          </a:p>
          <a:p>
            <a:endParaRPr lang="en-US" altLang="ko-KR" sz="1600" b="1" dirty="0"/>
          </a:p>
          <a:p>
            <a:r>
              <a:rPr lang="en-US" altLang="ko-KR" sz="1600" b="1" dirty="0"/>
              <a:t>USER15</a:t>
            </a:r>
            <a:br>
              <a:rPr lang="ko-KR" altLang="en-US" sz="1600" dirty="0"/>
            </a:br>
            <a:r>
              <a:rPr lang="ko-KR" altLang="en-US" sz="1600" dirty="0"/>
              <a:t>“나도 헷갈려서 그래</a:t>
            </a:r>
            <a:r>
              <a:rPr lang="en-US" altLang="ko-KR" sz="1600" dirty="0"/>
              <a:t>… </a:t>
            </a:r>
            <a:r>
              <a:rPr lang="ko-KR" altLang="en-US" sz="1600" dirty="0"/>
              <a:t>조금만 천천히 말해줘</a:t>
            </a:r>
            <a:r>
              <a:rPr lang="en-US" altLang="ko-KR" sz="1600" dirty="0"/>
              <a:t>.”</a:t>
            </a:r>
          </a:p>
          <a:p>
            <a:endParaRPr lang="en-US" altLang="ko-KR" sz="1600" b="1" dirty="0"/>
          </a:p>
          <a:p>
            <a:r>
              <a:rPr lang="en-US" altLang="ko-KR" sz="1600" b="1" dirty="0"/>
              <a:t>AI16 (</a:t>
            </a:r>
            <a:r>
              <a:rPr lang="ko-KR" altLang="en-US" sz="1600" b="1" dirty="0"/>
              <a:t>행동전략</a:t>
            </a:r>
            <a:r>
              <a:rPr lang="en-US" altLang="ko-KR" sz="1600" b="1" dirty="0"/>
              <a:t>)</a:t>
            </a:r>
            <a:br>
              <a:rPr lang="ko-KR" altLang="en-US" sz="1600" dirty="0"/>
            </a:br>
            <a:r>
              <a:rPr lang="ko-KR" altLang="en-US" sz="1600" dirty="0"/>
              <a:t>아주 잘했어요</a:t>
            </a:r>
            <a:r>
              <a:rPr lang="en-US" altLang="ko-KR" sz="1600" dirty="0"/>
              <a:t>. </a:t>
            </a:r>
            <a:r>
              <a:rPr lang="ko-KR" altLang="en-US" sz="1600" dirty="0"/>
              <a:t>말을 실제로 내뱉는 순간 우리 머리는 “내가 할 수 있겠구나”라는 신호를 받아요</a:t>
            </a:r>
            <a:r>
              <a:rPr lang="en-US" altLang="ko-KR" sz="1600" dirty="0"/>
              <a:t>.</a:t>
            </a:r>
          </a:p>
          <a:p>
            <a:endParaRPr lang="en-US" altLang="ko-KR" sz="1600" b="1" dirty="0"/>
          </a:p>
          <a:p>
            <a:r>
              <a:rPr lang="en-US" altLang="ko-KR" sz="1600" b="1" dirty="0"/>
              <a:t>USER16</a:t>
            </a:r>
            <a:br>
              <a:rPr lang="ko-KR" altLang="en-US" sz="1600" dirty="0"/>
            </a:br>
            <a:r>
              <a:rPr lang="ko-KR" altLang="en-US" sz="1600" dirty="0"/>
              <a:t>진짜 그런 느낌이 나요</a:t>
            </a:r>
            <a:r>
              <a:rPr lang="en-US" altLang="ko-KR" sz="1600" dirty="0"/>
              <a:t>. </a:t>
            </a:r>
            <a:r>
              <a:rPr lang="ko-KR" altLang="en-US" sz="1600" dirty="0"/>
              <a:t>신기하네요</a:t>
            </a:r>
            <a:r>
              <a:rPr lang="en-US" altLang="ko-KR" sz="1600" dirty="0"/>
              <a:t>.</a:t>
            </a:r>
          </a:p>
          <a:p>
            <a:endParaRPr lang="en-US" altLang="ko-KR" sz="1600" b="1" dirty="0"/>
          </a:p>
          <a:p>
            <a:r>
              <a:rPr lang="en-US" altLang="ko-KR" sz="1600" b="1" dirty="0"/>
              <a:t>AI17 (</a:t>
            </a:r>
            <a:r>
              <a:rPr lang="ko-KR" altLang="en-US" sz="1600" b="1" dirty="0"/>
              <a:t>행동전략</a:t>
            </a:r>
            <a:r>
              <a:rPr lang="en-US" altLang="ko-KR" sz="1600" b="1" dirty="0"/>
              <a:t>)</a:t>
            </a:r>
            <a:br>
              <a:rPr lang="ko-KR" altLang="en-US" sz="1600" dirty="0"/>
            </a:br>
            <a:r>
              <a:rPr lang="ko-KR" altLang="en-US" sz="1600" dirty="0"/>
              <a:t>그리고 이렇게 한 문장을 미리 준비해 두면</a:t>
            </a:r>
            <a:br>
              <a:rPr lang="ko-KR" altLang="en-US" sz="1600" dirty="0"/>
            </a:br>
            <a:r>
              <a:rPr lang="ko-KR" altLang="en-US" sz="1600" dirty="0"/>
              <a:t>실제 상황에서 당황하지 않고 자연스럽게 말할 수 있어요</a:t>
            </a:r>
            <a:r>
              <a:rPr lang="en-US" altLang="ko-KR" sz="1600" dirty="0"/>
              <a:t>.</a:t>
            </a:r>
          </a:p>
          <a:p>
            <a:endParaRPr lang="en-US" altLang="ko-KR" sz="1600" b="1" dirty="0"/>
          </a:p>
          <a:p>
            <a:r>
              <a:rPr lang="en-US" altLang="ko-KR" sz="1600" b="1" dirty="0"/>
              <a:t>USER17</a:t>
            </a:r>
            <a:br>
              <a:rPr lang="ko-KR" altLang="en-US" sz="1600" dirty="0"/>
            </a:br>
            <a:r>
              <a:rPr lang="ko-KR" altLang="en-US" sz="1600" dirty="0"/>
              <a:t>그럼 다음엔 더 잘 할 수 있을 것 같아요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296608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F82478-4FC4-1266-C424-6C635E3FCE4E}"/>
              </a:ext>
            </a:extLst>
          </p:cNvPr>
          <p:cNvSpPr txBox="1"/>
          <p:nvPr/>
        </p:nvSpPr>
        <p:spPr>
          <a:xfrm>
            <a:off x="174171" y="176512"/>
            <a:ext cx="374653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/>
              <a:t>AI </a:t>
            </a:r>
            <a:r>
              <a:rPr lang="ko-KR" altLang="en-US" b="1" dirty="0"/>
              <a:t>기반의 맞춤형 대화 시뮬레이션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379606-B09B-98E5-740A-4EC8EEF03DB4}"/>
              </a:ext>
            </a:extLst>
          </p:cNvPr>
          <p:cNvSpPr txBox="1"/>
          <p:nvPr/>
        </p:nvSpPr>
        <p:spPr>
          <a:xfrm>
            <a:off x="174171" y="753290"/>
            <a:ext cx="42498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Ex)</a:t>
            </a:r>
            <a:r>
              <a:rPr lang="ko-KR" altLang="en-US" sz="2400" b="1" dirty="0"/>
              <a:t> 공감형 </a:t>
            </a:r>
            <a:r>
              <a:rPr lang="en-US" altLang="ko-KR" sz="2400" b="1" dirty="0"/>
              <a:t>X </a:t>
            </a:r>
            <a:r>
              <a:rPr lang="ko-KR" altLang="en-US" sz="2400" b="1" dirty="0"/>
              <a:t>관계 소통 대화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B6D380-216E-1063-9D12-76271482FCE5}"/>
              </a:ext>
            </a:extLst>
          </p:cNvPr>
          <p:cNvSpPr txBox="1"/>
          <p:nvPr/>
        </p:nvSpPr>
        <p:spPr>
          <a:xfrm>
            <a:off x="301221" y="1463229"/>
            <a:ext cx="4066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[7</a:t>
            </a:r>
            <a:r>
              <a:rPr lang="ko-KR" altLang="en-US" b="1" dirty="0"/>
              <a:t>단계</a:t>
            </a:r>
            <a:r>
              <a:rPr lang="en-US" altLang="ko-KR" b="1" dirty="0"/>
              <a:t>: </a:t>
            </a:r>
            <a:r>
              <a:rPr lang="ko-KR" altLang="en-US" b="1" dirty="0"/>
              <a:t>마무리 동기부여 </a:t>
            </a:r>
            <a:r>
              <a:rPr lang="en-US" altLang="ko-KR" b="1" dirty="0"/>
              <a:t>Motivation]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A7C2DF-BE5D-DD7D-550D-2F7DF8635857}"/>
              </a:ext>
            </a:extLst>
          </p:cNvPr>
          <p:cNvSpPr txBox="1"/>
          <p:nvPr/>
        </p:nvSpPr>
        <p:spPr>
          <a:xfrm>
            <a:off x="301221" y="2001055"/>
            <a:ext cx="1052276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AI18 (</a:t>
            </a:r>
            <a:r>
              <a:rPr lang="ko-KR" altLang="en-US" sz="1600" b="1" dirty="0"/>
              <a:t>동기부여</a:t>
            </a:r>
            <a:r>
              <a:rPr lang="en-US" altLang="ko-KR" sz="1600" b="1" dirty="0"/>
              <a:t>)</a:t>
            </a:r>
            <a:br>
              <a:rPr lang="ko-KR" altLang="en-US" sz="1600" dirty="0"/>
            </a:br>
            <a:r>
              <a:rPr lang="ko-KR" altLang="en-US" sz="1600" dirty="0"/>
              <a:t>오늘처럼 마음을 나누고</a:t>
            </a:r>
            <a:r>
              <a:rPr lang="en-US" altLang="ko-KR" sz="1600" dirty="0"/>
              <a:t>, </a:t>
            </a:r>
            <a:r>
              <a:rPr lang="ko-KR" altLang="en-US" sz="1600" dirty="0"/>
              <a:t>감정을 정리하고</a:t>
            </a:r>
            <a:r>
              <a:rPr lang="en-US" altLang="ko-KR" sz="1600" dirty="0"/>
              <a:t>, </a:t>
            </a:r>
            <a:r>
              <a:rPr lang="ko-KR" altLang="en-US" sz="1600" dirty="0"/>
              <a:t>관계를 다시 바라보면</a:t>
            </a:r>
            <a:br>
              <a:rPr lang="ko-KR" altLang="en-US" sz="1600" dirty="0"/>
            </a:br>
            <a:r>
              <a:rPr lang="ko-KR" altLang="en-US" sz="1600" dirty="0"/>
              <a:t>뇌는 조금씩 더 안정되고 </a:t>
            </a:r>
            <a:r>
              <a:rPr lang="ko-KR" altLang="en-US" sz="1600" dirty="0" err="1"/>
              <a:t>선명해집니다</a:t>
            </a:r>
            <a:r>
              <a:rPr lang="en-US" altLang="ko-KR" sz="1600" dirty="0"/>
              <a:t>.</a:t>
            </a:r>
          </a:p>
          <a:p>
            <a:endParaRPr lang="en-US" altLang="ko-KR" sz="1600" b="1" dirty="0"/>
          </a:p>
          <a:p>
            <a:r>
              <a:rPr lang="en-US" altLang="ko-KR" sz="1600" b="1" dirty="0"/>
              <a:t>USER18</a:t>
            </a:r>
            <a:br>
              <a:rPr lang="ko-KR" altLang="en-US" sz="1600" dirty="0"/>
            </a:br>
            <a:r>
              <a:rPr lang="ko-KR" altLang="en-US" sz="1600" dirty="0"/>
              <a:t>지금도 마음이 한결 편해졌어요</a:t>
            </a:r>
            <a:r>
              <a:rPr lang="en-US" altLang="ko-KR" sz="1600" dirty="0"/>
              <a:t>.</a:t>
            </a:r>
          </a:p>
          <a:p>
            <a:endParaRPr lang="en-US" altLang="ko-KR" sz="1600" b="1" dirty="0"/>
          </a:p>
          <a:p>
            <a:r>
              <a:rPr lang="en-US" altLang="ko-KR" sz="1600" b="1" dirty="0"/>
              <a:t>AI19 (</a:t>
            </a:r>
            <a:r>
              <a:rPr lang="ko-KR" altLang="en-US" sz="1600" b="1" dirty="0"/>
              <a:t>동기부여</a:t>
            </a:r>
            <a:r>
              <a:rPr lang="en-US" altLang="ko-KR" sz="1600" b="1" dirty="0"/>
              <a:t>)</a:t>
            </a:r>
            <a:br>
              <a:rPr lang="ko-KR" altLang="en-US" sz="1600" dirty="0"/>
            </a:br>
            <a:r>
              <a:rPr lang="ko-KR" altLang="en-US" sz="1600" dirty="0"/>
              <a:t>선생님은 관계를 중요하게 여기는 사람이고</a:t>
            </a:r>
            <a:r>
              <a:rPr lang="en-US" altLang="ko-KR" sz="1600" dirty="0"/>
              <a:t>,</a:t>
            </a:r>
            <a:br>
              <a:rPr lang="en-US" altLang="ko-KR" sz="1600" dirty="0"/>
            </a:br>
            <a:r>
              <a:rPr lang="ko-KR" altLang="en-US" sz="1600" dirty="0"/>
              <a:t>그만큼 회복할 힘도 큰 사람이에요</a:t>
            </a:r>
            <a:r>
              <a:rPr lang="en-US" altLang="ko-KR" sz="1600" dirty="0"/>
              <a:t>.</a:t>
            </a:r>
            <a:br>
              <a:rPr lang="en-US" altLang="ko-KR" sz="1600" dirty="0"/>
            </a:br>
            <a:r>
              <a:rPr lang="ko-KR" altLang="en-US" sz="1600" dirty="0"/>
              <a:t>앞으로 이런 감정 대화를 자주 하면 인지 기능에도 큰 도움 될 거예요</a:t>
            </a:r>
            <a:r>
              <a:rPr lang="en-US" altLang="ko-KR" sz="1600" dirty="0"/>
              <a:t>.</a:t>
            </a:r>
          </a:p>
          <a:p>
            <a:endParaRPr lang="en-US" altLang="ko-KR" sz="1600" b="1" dirty="0"/>
          </a:p>
          <a:p>
            <a:r>
              <a:rPr lang="en-US" altLang="ko-KR" sz="1600" b="1" dirty="0"/>
              <a:t>USER19</a:t>
            </a:r>
            <a:br>
              <a:rPr lang="ko-KR" altLang="en-US" sz="1600" dirty="0"/>
            </a:br>
            <a:r>
              <a:rPr lang="ko-KR" altLang="en-US" sz="1600" dirty="0"/>
              <a:t>네</a:t>
            </a:r>
            <a:r>
              <a:rPr lang="en-US" altLang="ko-KR" sz="1600" dirty="0"/>
              <a:t>. </a:t>
            </a:r>
            <a:r>
              <a:rPr lang="ko-KR" altLang="en-US" sz="1600" dirty="0"/>
              <a:t>정말로 다음에 다시 해보고 싶어요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491961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050EFFF2-3D25-1BA7-21B9-6FB1DC73C4B9}"/>
              </a:ext>
            </a:extLst>
          </p:cNvPr>
          <p:cNvGrpSpPr/>
          <p:nvPr/>
        </p:nvGrpSpPr>
        <p:grpSpPr>
          <a:xfrm>
            <a:off x="2720340" y="623356"/>
            <a:ext cx="6751319" cy="1867296"/>
            <a:chOff x="2699656" y="649482"/>
            <a:chExt cx="6117770" cy="1558144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F87CC939-44BB-D1F7-54A8-7E1DF6A6F159}"/>
                </a:ext>
              </a:extLst>
            </p:cNvPr>
            <p:cNvSpPr/>
            <p:nvPr/>
          </p:nvSpPr>
          <p:spPr>
            <a:xfrm>
              <a:off x="7389221" y="1635034"/>
              <a:ext cx="1428205" cy="572589"/>
            </a:xfrm>
            <a:prstGeom prst="roundRect">
              <a:avLst/>
            </a:prstGeom>
            <a:solidFill>
              <a:schemeClr val="accent2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/>
                <a:t>회복</a:t>
              </a:r>
              <a:r>
                <a:rPr lang="en-US" altLang="ko-KR" b="1" dirty="0"/>
                <a:t>/</a:t>
              </a:r>
              <a:r>
                <a:rPr lang="ko-KR" altLang="en-US" b="1" dirty="0"/>
                <a:t>적응</a:t>
              </a: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AE92BAF6-FF8A-60B8-520B-88C64D204D0D}"/>
                </a:ext>
              </a:extLst>
            </p:cNvPr>
            <p:cNvSpPr/>
            <p:nvPr/>
          </p:nvSpPr>
          <p:spPr>
            <a:xfrm>
              <a:off x="5826033" y="1635035"/>
              <a:ext cx="1428205" cy="572589"/>
            </a:xfrm>
            <a:prstGeom prst="roundRect">
              <a:avLst/>
            </a:prstGeom>
            <a:solidFill>
              <a:schemeClr val="accent2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/>
                <a:t>관계</a:t>
              </a:r>
              <a:r>
                <a:rPr lang="en-US" altLang="ko-KR" b="1" dirty="0"/>
                <a:t>/</a:t>
              </a:r>
              <a:r>
                <a:rPr lang="ko-KR" altLang="en-US" b="1" dirty="0"/>
                <a:t>소통</a:t>
              </a:r>
            </a:p>
          </p:txBody>
        </p:sp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581B2EFC-E9B0-8BB6-3490-C8D554CBADE6}"/>
                </a:ext>
              </a:extLst>
            </p:cNvPr>
            <p:cNvSpPr/>
            <p:nvPr/>
          </p:nvSpPr>
          <p:spPr>
            <a:xfrm>
              <a:off x="4262844" y="1635037"/>
              <a:ext cx="1428205" cy="572589"/>
            </a:xfrm>
            <a:prstGeom prst="roundRect">
              <a:avLst/>
            </a:prstGeom>
            <a:solidFill>
              <a:schemeClr val="accent2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/>
                <a:t>행동</a:t>
              </a:r>
              <a:r>
                <a:rPr lang="en-US" altLang="ko-KR" b="1" dirty="0"/>
                <a:t>/</a:t>
              </a:r>
              <a:r>
                <a:rPr lang="ko-KR" altLang="en-US" b="1" dirty="0"/>
                <a:t>습관</a:t>
              </a: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2EE32FC1-9422-A91A-6613-0687C0D30DB2}"/>
                </a:ext>
              </a:extLst>
            </p:cNvPr>
            <p:cNvSpPr/>
            <p:nvPr/>
          </p:nvSpPr>
          <p:spPr>
            <a:xfrm>
              <a:off x="2699656" y="1635036"/>
              <a:ext cx="1428205" cy="572589"/>
            </a:xfrm>
            <a:prstGeom prst="roundRect">
              <a:avLst/>
            </a:prstGeom>
            <a:solidFill>
              <a:schemeClr val="accent2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/>
                <a:t>자기인식</a:t>
              </a:r>
              <a:r>
                <a:rPr lang="en-US" altLang="ko-KR" b="1" dirty="0"/>
                <a:t>/</a:t>
              </a:r>
            </a:p>
            <a:p>
              <a:pPr algn="ctr"/>
              <a:r>
                <a:rPr lang="ko-KR" altLang="en-US" b="1" dirty="0"/>
                <a:t>정서조절</a:t>
              </a:r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BC92AEC7-9A5B-25A4-DAC5-45E0041FBAA3}"/>
                </a:ext>
              </a:extLst>
            </p:cNvPr>
            <p:cNvSpPr/>
            <p:nvPr/>
          </p:nvSpPr>
          <p:spPr>
            <a:xfrm>
              <a:off x="7389220" y="649482"/>
              <a:ext cx="1428205" cy="572589"/>
            </a:xfrm>
            <a:prstGeom prst="roundRect">
              <a:avLst/>
            </a:prstGeom>
            <a:solidFill>
              <a:schemeClr val="accent2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/>
                <a:t>행동형</a:t>
              </a:r>
              <a:endParaRPr lang="ko-KR" altLang="en-US" b="1" dirty="0"/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753B52CC-FF8B-85AD-1E7F-CB3D7D780D8F}"/>
                </a:ext>
              </a:extLst>
            </p:cNvPr>
            <p:cNvSpPr/>
            <p:nvPr/>
          </p:nvSpPr>
          <p:spPr>
            <a:xfrm>
              <a:off x="5826032" y="649483"/>
              <a:ext cx="1428205" cy="572589"/>
            </a:xfrm>
            <a:prstGeom prst="roundRect">
              <a:avLst/>
            </a:prstGeom>
            <a:solidFill>
              <a:schemeClr val="accent2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/>
                <a:t>동기형</a:t>
              </a:r>
              <a:endParaRPr lang="ko-KR" altLang="en-US" b="1" dirty="0"/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E6B8889F-701A-0341-11B3-41EC93931723}"/>
                </a:ext>
              </a:extLst>
            </p:cNvPr>
            <p:cNvSpPr/>
            <p:nvPr/>
          </p:nvSpPr>
          <p:spPr>
            <a:xfrm>
              <a:off x="4262844" y="649484"/>
              <a:ext cx="1428205" cy="572589"/>
            </a:xfrm>
            <a:prstGeom prst="roundRect">
              <a:avLst/>
            </a:prstGeom>
            <a:solidFill>
              <a:schemeClr val="accent2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/>
                <a:t>인지형</a:t>
              </a:r>
              <a:endParaRPr lang="ko-KR" altLang="en-US" b="1" dirty="0"/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BB8A1508-0344-FC68-0772-DBA05FB527C8}"/>
                </a:ext>
              </a:extLst>
            </p:cNvPr>
            <p:cNvSpPr/>
            <p:nvPr/>
          </p:nvSpPr>
          <p:spPr>
            <a:xfrm>
              <a:off x="2699656" y="649485"/>
              <a:ext cx="1428205" cy="572589"/>
            </a:xfrm>
            <a:prstGeom prst="roundRect">
              <a:avLst/>
            </a:prstGeom>
            <a:solidFill>
              <a:schemeClr val="accent2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/>
                <a:t>공감형</a:t>
              </a:r>
              <a:endParaRPr lang="ko-KR" altLang="en-US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C2D64C2-C0E9-F085-7AFB-102F5D7DD6AE}"/>
                </a:ext>
              </a:extLst>
            </p:cNvPr>
            <p:cNvSpPr txBox="1"/>
            <p:nvPr/>
          </p:nvSpPr>
          <p:spPr>
            <a:xfrm>
              <a:off x="5620856" y="1272414"/>
              <a:ext cx="304802" cy="369332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chemeClr val="tx1"/>
                  </a:solidFill>
                </a:rPr>
                <a:t>X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F30E8EC0-ACE2-E07B-84FA-6AD11FEA6A6D}"/>
              </a:ext>
            </a:extLst>
          </p:cNvPr>
          <p:cNvGrpSpPr/>
          <p:nvPr/>
        </p:nvGrpSpPr>
        <p:grpSpPr>
          <a:xfrm>
            <a:off x="3463017" y="4040955"/>
            <a:ext cx="5265966" cy="2003972"/>
            <a:chOff x="3499611" y="3800204"/>
            <a:chExt cx="5265966" cy="2003972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3BAB7709-A949-F7E3-8750-1981B0A18C56}"/>
                </a:ext>
              </a:extLst>
            </p:cNvPr>
            <p:cNvSpPr/>
            <p:nvPr/>
          </p:nvSpPr>
          <p:spPr>
            <a:xfrm>
              <a:off x="7171907" y="4945292"/>
              <a:ext cx="1593669" cy="858883"/>
            </a:xfrm>
            <a:prstGeom prst="roundRect">
              <a:avLst/>
            </a:prstGeom>
            <a:solidFill>
              <a:schemeClr val="accent2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/>
                <a:t>회복 유지형</a:t>
              </a:r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64EF9C78-DC23-8AEE-B750-5524667B1146}"/>
                </a:ext>
              </a:extLst>
            </p:cNvPr>
            <p:cNvSpPr/>
            <p:nvPr/>
          </p:nvSpPr>
          <p:spPr>
            <a:xfrm>
              <a:off x="5315403" y="4945293"/>
              <a:ext cx="1593669" cy="858883"/>
            </a:xfrm>
            <a:prstGeom prst="roundRect">
              <a:avLst/>
            </a:prstGeom>
            <a:solidFill>
              <a:schemeClr val="accent2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r>
                <a:rPr lang="ko-KR" altLang="en-US" b="1" dirty="0"/>
                <a:t>관계 조율형</a:t>
              </a:r>
              <a:endParaRPr lang="en-US" altLang="ko-KR" sz="1100" b="1" dirty="0"/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5ABA1068-EC32-8F4E-86D9-1758AEBE1951}"/>
                </a:ext>
              </a:extLst>
            </p:cNvPr>
            <p:cNvSpPr/>
            <p:nvPr/>
          </p:nvSpPr>
          <p:spPr>
            <a:xfrm>
              <a:off x="3499611" y="4945292"/>
              <a:ext cx="1593669" cy="858883"/>
            </a:xfrm>
            <a:prstGeom prst="roundRect">
              <a:avLst/>
            </a:prstGeom>
            <a:solidFill>
              <a:schemeClr val="accent2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r>
                <a:rPr lang="ko-KR" altLang="en-US" b="1" dirty="0"/>
                <a:t>행동 실천형</a:t>
              </a:r>
              <a:endParaRPr lang="en-US" altLang="ko-KR" sz="1100" b="1" dirty="0"/>
            </a:p>
          </p:txBody>
        </p:sp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39F4817B-FC86-FFFA-331E-98C321E5B3D4}"/>
                </a:ext>
              </a:extLst>
            </p:cNvPr>
            <p:cNvSpPr/>
            <p:nvPr/>
          </p:nvSpPr>
          <p:spPr>
            <a:xfrm>
              <a:off x="7171908" y="3800204"/>
              <a:ext cx="1593669" cy="858883"/>
            </a:xfrm>
            <a:prstGeom prst="roundRect">
              <a:avLst/>
            </a:prstGeom>
            <a:solidFill>
              <a:schemeClr val="accent2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/>
                <a:t>동기 촉진형</a:t>
              </a:r>
              <a:endParaRPr lang="en-US" altLang="ko-KR" sz="1100" b="1" dirty="0"/>
            </a:p>
          </p:txBody>
        </p:sp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1292814A-7581-D192-31E2-2441879F34CC}"/>
                </a:ext>
              </a:extLst>
            </p:cNvPr>
            <p:cNvSpPr/>
            <p:nvPr/>
          </p:nvSpPr>
          <p:spPr>
            <a:xfrm>
              <a:off x="3499612" y="3800204"/>
              <a:ext cx="1593669" cy="858883"/>
            </a:xfrm>
            <a:prstGeom prst="roundRect">
              <a:avLst/>
            </a:prstGeom>
            <a:solidFill>
              <a:schemeClr val="accent2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/>
                <a:t>정서 공감형</a:t>
              </a:r>
              <a:r>
                <a:rPr lang="ko-KR" altLang="en-US" sz="1100" b="1" dirty="0"/>
                <a:t> </a:t>
              </a:r>
              <a:endParaRPr lang="en-US" altLang="ko-KR" sz="1100" b="1" dirty="0"/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A2FAC135-3131-F4F3-9F22-458C414FFA9D}"/>
                </a:ext>
              </a:extLst>
            </p:cNvPr>
            <p:cNvSpPr/>
            <p:nvPr/>
          </p:nvSpPr>
          <p:spPr>
            <a:xfrm>
              <a:off x="5327324" y="3800204"/>
              <a:ext cx="1593669" cy="858883"/>
            </a:xfrm>
            <a:prstGeom prst="roundRect">
              <a:avLst/>
            </a:prstGeom>
            <a:solidFill>
              <a:schemeClr val="accent2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/>
                <a:t>인지 성찰형</a:t>
              </a:r>
              <a:r>
                <a:rPr lang="ko-KR" altLang="en-US" sz="1100" b="1" dirty="0"/>
                <a:t> </a:t>
              </a:r>
              <a:endParaRPr lang="en-US" altLang="ko-KR" sz="1100" b="1" dirty="0"/>
            </a:p>
          </p:txBody>
        </p:sp>
      </p:grpSp>
      <p:sp>
        <p:nvSpPr>
          <p:cNvPr id="28" name="화살표: 아래쪽 27">
            <a:extLst>
              <a:ext uri="{FF2B5EF4-FFF2-40B4-BE49-F238E27FC236}">
                <a16:creationId xmlns:a16="http://schemas.microsoft.com/office/drawing/2014/main" id="{477DD476-2C51-7923-BEA9-D241471224D2}"/>
              </a:ext>
            </a:extLst>
          </p:cNvPr>
          <p:cNvSpPr/>
          <p:nvPr/>
        </p:nvSpPr>
        <p:spPr>
          <a:xfrm>
            <a:off x="5773011" y="3061823"/>
            <a:ext cx="645977" cy="442611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D20468-997D-80AC-9292-5DAE8CD3FC8F}"/>
              </a:ext>
            </a:extLst>
          </p:cNvPr>
          <p:cNvSpPr txBox="1"/>
          <p:nvPr/>
        </p:nvSpPr>
        <p:spPr>
          <a:xfrm>
            <a:off x="174171" y="176512"/>
            <a:ext cx="48442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/>
              <a:t>HF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8182025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50CA14-1BE3-1056-C1D1-DC42B46397A0}"/>
              </a:ext>
            </a:extLst>
          </p:cNvPr>
          <p:cNvSpPr txBox="1"/>
          <p:nvPr/>
        </p:nvSpPr>
        <p:spPr>
          <a:xfrm>
            <a:off x="474617" y="569379"/>
            <a:ext cx="966651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1. </a:t>
            </a:r>
            <a:r>
              <a:rPr lang="ko-KR" altLang="en-US" b="1" dirty="0"/>
              <a:t>수용 전념 치료</a:t>
            </a:r>
            <a:r>
              <a:rPr lang="en-US" altLang="ko-KR" b="1" dirty="0"/>
              <a:t>(ACT)</a:t>
            </a:r>
            <a:r>
              <a:rPr lang="ko-KR" altLang="en-US" b="1" dirty="0"/>
              <a:t>의 </a:t>
            </a:r>
            <a:r>
              <a:rPr lang="en-US" altLang="ko-KR" b="1" dirty="0"/>
              <a:t>6 Core Processes</a:t>
            </a:r>
          </a:p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r>
              <a:rPr lang="en-US" altLang="ko-KR" b="1" dirty="0"/>
              <a:t>2. Lazarus </a:t>
            </a:r>
            <a:r>
              <a:rPr lang="ko-KR" altLang="en-US" b="1" dirty="0"/>
              <a:t>스트레스</a:t>
            </a:r>
            <a:r>
              <a:rPr lang="en-US" altLang="ko-KR" b="1" dirty="0"/>
              <a:t>·</a:t>
            </a:r>
            <a:r>
              <a:rPr lang="ko-KR" altLang="en-US" b="1" dirty="0"/>
              <a:t>대처 이론 </a:t>
            </a:r>
            <a:r>
              <a:rPr lang="en-US" altLang="ko-KR" b="1" dirty="0"/>
              <a:t>(</a:t>
            </a:r>
            <a:r>
              <a:rPr lang="ko-KR" altLang="en-US" b="1" dirty="0"/>
              <a:t>정서</a:t>
            </a:r>
            <a:r>
              <a:rPr lang="en-US" altLang="ko-KR" b="1" dirty="0"/>
              <a:t>·</a:t>
            </a:r>
            <a:r>
              <a:rPr lang="ko-KR" altLang="en-US" b="1" dirty="0"/>
              <a:t>인지</a:t>
            </a:r>
            <a:r>
              <a:rPr lang="en-US" altLang="ko-KR" b="1" dirty="0"/>
              <a:t>·</a:t>
            </a:r>
            <a:r>
              <a:rPr lang="ko-KR" altLang="en-US" b="1" dirty="0"/>
              <a:t>행동 확장 모델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A9AC952-7FC2-C23F-6E31-5AC5FB878D6D}"/>
              </a:ext>
            </a:extLst>
          </p:cNvPr>
          <p:cNvGraphicFramePr>
            <a:graphicFrameLocks noGrp="1"/>
          </p:cNvGraphicFramePr>
          <p:nvPr/>
        </p:nvGraphicFramePr>
        <p:xfrm>
          <a:off x="1140823" y="1155472"/>
          <a:ext cx="10101943" cy="2468880"/>
        </p:xfrm>
        <a:graphic>
          <a:graphicData uri="http://schemas.openxmlformats.org/drawingml/2006/table">
            <a:tbl>
              <a:tblPr/>
              <a:tblGrid>
                <a:gridCol w="5014103">
                  <a:extLst>
                    <a:ext uri="{9D8B030D-6E8A-4147-A177-3AD203B41FA5}">
                      <a16:colId xmlns:a16="http://schemas.microsoft.com/office/drawing/2014/main" val="1460601075"/>
                    </a:ext>
                  </a:extLst>
                </a:gridCol>
                <a:gridCol w="5087840">
                  <a:extLst>
                    <a:ext uri="{9D8B030D-6E8A-4147-A177-3AD203B41FA5}">
                      <a16:colId xmlns:a16="http://schemas.microsoft.com/office/drawing/2014/main" val="14385359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/>
                        <a:t>ACT </a:t>
                      </a:r>
                      <a:r>
                        <a:rPr lang="ko-KR" altLang="en-US" sz="1500" b="1" dirty="0"/>
                        <a:t>요소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500" b="1" dirty="0"/>
                        <a:t>6</a:t>
                      </a:r>
                      <a:r>
                        <a:rPr lang="ko-KR" altLang="en-US" sz="1500" b="1" dirty="0"/>
                        <a:t>유형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93775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/>
                        <a:t>Acceptance(</a:t>
                      </a:r>
                      <a:r>
                        <a:rPr lang="ko-KR" altLang="en-US" sz="1500" b="0"/>
                        <a:t>수용</a:t>
                      </a:r>
                      <a:r>
                        <a:rPr lang="en-US" altLang="ko-KR" sz="1500" b="0"/>
                        <a:t>)</a:t>
                      </a:r>
                      <a:endParaRPr lang="ko-KR" altLang="en-US" sz="1500" b="0"/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/>
                        <a:t>회복 유지형</a:t>
                      </a:r>
                      <a:r>
                        <a:rPr lang="en-US" altLang="ko-KR" sz="1500"/>
                        <a:t>, </a:t>
                      </a:r>
                      <a:r>
                        <a:rPr lang="ko-KR" altLang="en-US" sz="1500"/>
                        <a:t>정서 공감형과 자연스럽게 연결됨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0993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500" b="0"/>
                        <a:t>Defusion(</a:t>
                      </a:r>
                      <a:r>
                        <a:rPr lang="ko-KR" altLang="en-US" sz="1500" b="0"/>
                        <a:t>인지적 거리두기</a:t>
                      </a:r>
                      <a:r>
                        <a:rPr lang="en-US" altLang="ko-KR" sz="1500" b="0"/>
                        <a:t>)</a:t>
                      </a:r>
                      <a:endParaRPr lang="ko-KR" altLang="en-US" sz="1500" b="0"/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/>
                        <a:t>인지 성찰형의 핵심 기능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9200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/>
                        <a:t>Present-Moment Awareness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/>
                        <a:t>자기 인식</a:t>
                      </a:r>
                      <a:r>
                        <a:rPr lang="en-US" altLang="ko-KR" sz="1500"/>
                        <a:t>·</a:t>
                      </a:r>
                      <a:r>
                        <a:rPr lang="ko-KR" altLang="en-US" sz="1500"/>
                        <a:t>정서조절 기반 → 정서 공감형</a:t>
                      </a:r>
                      <a:r>
                        <a:rPr lang="en-US" altLang="ko-KR" sz="1500"/>
                        <a:t>/</a:t>
                      </a:r>
                      <a:r>
                        <a:rPr lang="ko-KR" altLang="en-US" sz="1500"/>
                        <a:t>인지 성찰형에 반영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1281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/>
                        <a:t>Self-as-Context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 dirty="0"/>
                        <a:t>자기 관찰</a:t>
                      </a:r>
                      <a:r>
                        <a:rPr lang="en-US" altLang="ko-KR" sz="1500" dirty="0"/>
                        <a:t>·</a:t>
                      </a:r>
                      <a:r>
                        <a:rPr lang="ko-KR" altLang="en-US" sz="1500" dirty="0"/>
                        <a:t>성찰 기반 → 인지 성찰형과 일치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97813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dirty="0"/>
                        <a:t>Values(</a:t>
                      </a:r>
                      <a:r>
                        <a:rPr lang="ko-KR" altLang="en-US" sz="1500" b="0" dirty="0"/>
                        <a:t>가치</a:t>
                      </a:r>
                      <a:r>
                        <a:rPr lang="en-US" altLang="ko-KR" sz="1500" b="0" dirty="0"/>
                        <a:t>)</a:t>
                      </a:r>
                      <a:endParaRPr lang="ko-KR" altLang="en-US" sz="1500" b="0" dirty="0"/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/>
                        <a:t>동기 촉진형의 핵심 구조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88529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dirty="0"/>
                        <a:t>Committed Action(</a:t>
                      </a:r>
                      <a:r>
                        <a:rPr lang="ko-KR" altLang="en-US" sz="1500" b="0" dirty="0"/>
                        <a:t>전념 행동</a:t>
                      </a:r>
                      <a:r>
                        <a:rPr lang="en-US" altLang="ko-KR" sz="1500" b="0" dirty="0"/>
                        <a:t>)</a:t>
                      </a:r>
                      <a:endParaRPr lang="ko-KR" altLang="en-US" sz="1500" b="0" dirty="0"/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 dirty="0"/>
                        <a:t>행동 실천형과 정확히 일치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5574759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F3D0EBB-CF3B-B338-057B-10DB8DE95483}"/>
              </a:ext>
            </a:extLst>
          </p:cNvPr>
          <p:cNvGraphicFramePr>
            <a:graphicFrameLocks noGrp="1"/>
          </p:cNvGraphicFramePr>
          <p:nvPr/>
        </p:nvGraphicFramePr>
        <p:xfrm>
          <a:off x="1140823" y="4436723"/>
          <a:ext cx="10515600" cy="19202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77592693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2416814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/>
                        <a:t>Lazarus 3</a:t>
                      </a:r>
                      <a:r>
                        <a:rPr lang="ko-KR" altLang="en-US" sz="1500" b="1" dirty="0"/>
                        <a:t>요소</a:t>
                      </a:r>
                      <a:r>
                        <a:rPr lang="en-US" altLang="ko-KR" sz="1500" b="1" dirty="0"/>
                        <a:t>+</a:t>
                      </a:r>
                      <a:r>
                        <a:rPr lang="ko-KR" altLang="en-US" sz="1500" b="1" dirty="0"/>
                        <a:t>확장모델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500" b="1" dirty="0"/>
                        <a:t>6</a:t>
                      </a:r>
                      <a:r>
                        <a:rPr lang="ko-KR" altLang="en-US" sz="1500" b="1" dirty="0"/>
                        <a:t>유형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3266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 b="0" dirty="0"/>
                        <a:t>정서 요소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 dirty="0"/>
                        <a:t>정서 공감형</a:t>
                      </a:r>
                      <a:r>
                        <a:rPr lang="en-US" altLang="ko-KR" sz="1500" dirty="0"/>
                        <a:t>, </a:t>
                      </a:r>
                      <a:r>
                        <a:rPr lang="ko-KR" altLang="en-US" sz="1500" dirty="0"/>
                        <a:t>회복 유지형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5449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 b="0" dirty="0"/>
                        <a:t>인지 요소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 dirty="0"/>
                        <a:t>인지 성찰형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3681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 b="0" dirty="0"/>
                        <a:t>동기</a:t>
                      </a:r>
                      <a:r>
                        <a:rPr lang="en-US" altLang="ko-KR" sz="1500" b="0" dirty="0"/>
                        <a:t>/</a:t>
                      </a:r>
                      <a:r>
                        <a:rPr lang="ko-KR" altLang="en-US" sz="1500" b="0" dirty="0"/>
                        <a:t>의미 요소</a:t>
                      </a:r>
                      <a:r>
                        <a:rPr lang="en-US" altLang="ko-KR" sz="1500" b="0" dirty="0"/>
                        <a:t>(</a:t>
                      </a:r>
                      <a:r>
                        <a:rPr lang="ko-KR" altLang="en-US" sz="1500" b="0" dirty="0"/>
                        <a:t>확장</a:t>
                      </a:r>
                      <a:r>
                        <a:rPr lang="en-US" altLang="ko-KR" sz="1500" b="0" dirty="0"/>
                        <a:t>)</a:t>
                      </a:r>
                      <a:endParaRPr lang="ko-KR" altLang="en-US" sz="15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 dirty="0"/>
                        <a:t>동기 촉진형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9799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 b="0" dirty="0"/>
                        <a:t>행동 요소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 dirty="0"/>
                        <a:t>행동 실천형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3400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 b="0" dirty="0"/>
                        <a:t>대인 관계 조절 요소</a:t>
                      </a:r>
                      <a:r>
                        <a:rPr lang="en-US" altLang="ko-KR" sz="1500" b="0" dirty="0"/>
                        <a:t>(</a:t>
                      </a:r>
                      <a:r>
                        <a:rPr lang="ko-KR" altLang="en-US" sz="1500" b="0" dirty="0"/>
                        <a:t>확장</a:t>
                      </a:r>
                      <a:r>
                        <a:rPr lang="en-US" altLang="ko-KR" sz="1500" b="0" dirty="0"/>
                        <a:t>)</a:t>
                      </a:r>
                      <a:endParaRPr lang="ko-KR" altLang="en-US" sz="15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 dirty="0"/>
                        <a:t>관계 조율형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291416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929EFC8-99F1-7219-D910-682E266C7495}"/>
              </a:ext>
            </a:extLst>
          </p:cNvPr>
          <p:cNvSpPr txBox="1"/>
          <p:nvPr/>
        </p:nvSpPr>
        <p:spPr>
          <a:xfrm>
            <a:off x="174171" y="176512"/>
            <a:ext cx="48442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/>
              <a:t>HF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5032681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D7E684F7-E5EF-6450-8A8D-72DFB2EC2275}"/>
              </a:ext>
            </a:extLst>
          </p:cNvPr>
          <p:cNvSpPr/>
          <p:nvPr/>
        </p:nvSpPr>
        <p:spPr>
          <a:xfrm>
            <a:off x="430925" y="687110"/>
            <a:ext cx="3580082" cy="2544817"/>
          </a:xfrm>
          <a:prstGeom prst="roundRect">
            <a:avLst/>
          </a:prstGeom>
          <a:solidFill>
            <a:schemeClr val="accent2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ko-KR" altLang="en-US" sz="1400" b="1" dirty="0"/>
              <a:t>정서 공감형</a:t>
            </a:r>
            <a:r>
              <a:rPr lang="ko-KR" altLang="en-US" sz="1000" b="1" dirty="0"/>
              <a:t> </a:t>
            </a:r>
            <a:endParaRPr lang="en-US" altLang="ko-KR" sz="1000" b="1" dirty="0"/>
          </a:p>
          <a:p>
            <a:pPr>
              <a:buNone/>
            </a:pPr>
            <a:r>
              <a:rPr lang="en-US" altLang="ko-KR" sz="1000" b="1" dirty="0"/>
              <a:t>(Emotional-Empathic Type)</a:t>
            </a:r>
          </a:p>
          <a:p>
            <a:pPr>
              <a:buNone/>
            </a:pPr>
            <a:r>
              <a:rPr lang="ko-KR" altLang="en-US" sz="1000" b="1" dirty="0"/>
              <a:t>관련 빅</a:t>
            </a:r>
            <a:r>
              <a:rPr lang="en-US" altLang="ko-KR" sz="1000" b="1" dirty="0"/>
              <a:t>5:</a:t>
            </a:r>
            <a:endParaRPr lang="ko-KR" altLang="en-US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000" b="1" dirty="0"/>
              <a:t>A (Agreeableness)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공감</a:t>
            </a:r>
            <a:r>
              <a:rPr lang="en-US" altLang="ko-KR" sz="1000" dirty="0"/>
              <a:t>, </a:t>
            </a:r>
            <a:r>
              <a:rPr lang="ko-KR" altLang="en-US" sz="1000" dirty="0"/>
              <a:t>배려</a:t>
            </a:r>
            <a:r>
              <a:rPr lang="en-US" altLang="ko-KR" sz="1000" dirty="0"/>
              <a:t>, </a:t>
            </a:r>
            <a:r>
              <a:rPr lang="ko-KR" altLang="en-US" sz="1000" dirty="0" err="1"/>
              <a:t>친사회성</a:t>
            </a:r>
            <a:endParaRPr lang="ko-KR" altLang="en-US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000" b="1" dirty="0"/>
              <a:t>N (Neuroticism/Reverse)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감정 민감성</a:t>
            </a:r>
            <a:r>
              <a:rPr lang="en-US" altLang="ko-KR" sz="1000" dirty="0"/>
              <a:t>, </a:t>
            </a:r>
            <a:r>
              <a:rPr lang="ko-KR" altLang="en-US" sz="1000" dirty="0"/>
              <a:t>타인의 </a:t>
            </a:r>
            <a:endParaRPr lang="en-US" altLang="ko-KR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/>
              <a:t>정서에 반응</a:t>
            </a:r>
            <a:endParaRPr lang="en-US" altLang="ko-KR" sz="1000" dirty="0"/>
          </a:p>
          <a:p>
            <a:endParaRPr lang="ko-KR" altLang="en-US" sz="1000" dirty="0"/>
          </a:p>
          <a:p>
            <a:pPr>
              <a:buNone/>
            </a:pPr>
            <a:r>
              <a:rPr lang="ko-KR" altLang="en-US" sz="1000" b="1" dirty="0"/>
              <a:t>설명</a:t>
            </a:r>
            <a:r>
              <a:rPr lang="en-US" altLang="ko-KR" sz="1000" b="1" dirty="0"/>
              <a:t>:</a:t>
            </a:r>
            <a:br>
              <a:rPr lang="ko-KR" altLang="en-US" sz="1000" dirty="0"/>
            </a:br>
            <a:r>
              <a:rPr lang="ko-KR" altLang="en-US" sz="1000" dirty="0"/>
              <a:t>정서 공감형은 타인의 감정을 세심하게 파악하고 정서적 반응에 민감하게 반응하는 특성이 두드러진다</a:t>
            </a:r>
            <a:r>
              <a:rPr lang="en-US" altLang="ko-KR" sz="1000" dirty="0"/>
              <a:t>. </a:t>
            </a:r>
          </a:p>
          <a:p>
            <a:pPr>
              <a:buNone/>
            </a:pPr>
            <a:r>
              <a:rPr lang="ko-KR" altLang="en-US" sz="1000" dirty="0"/>
              <a:t>이는 친밀</a:t>
            </a:r>
            <a:r>
              <a:rPr lang="en-US" altLang="ko-KR" sz="1000" dirty="0"/>
              <a:t>·</a:t>
            </a:r>
            <a:r>
              <a:rPr lang="ko-KR" altLang="en-US" sz="1000" dirty="0" err="1"/>
              <a:t>배려적</a:t>
            </a:r>
            <a:r>
              <a:rPr lang="ko-KR" altLang="en-US" sz="1000" dirty="0"/>
              <a:t> 성향을 나타내는 </a:t>
            </a:r>
            <a:r>
              <a:rPr lang="ko-KR" altLang="en-US" sz="1000" b="1" dirty="0" err="1"/>
              <a:t>우호성</a:t>
            </a:r>
            <a:r>
              <a:rPr lang="en-US" altLang="ko-KR" sz="1000" b="1" dirty="0"/>
              <a:t>(A)</a:t>
            </a:r>
            <a:r>
              <a:rPr lang="ko-KR" altLang="en-US" sz="1000" dirty="0"/>
              <a:t> 과 정서적 민감성을 나타내는 </a:t>
            </a:r>
            <a:r>
              <a:rPr lang="ko-KR" altLang="en-US" sz="1000" b="1" dirty="0"/>
              <a:t>신경성</a:t>
            </a:r>
            <a:r>
              <a:rPr lang="en-US" altLang="ko-KR" sz="1000" b="1" dirty="0"/>
              <a:t>(N)</a:t>
            </a:r>
            <a:r>
              <a:rPr lang="ko-KR" altLang="en-US" sz="1000" dirty="0"/>
              <a:t> 과 이론적으로 연관된다</a:t>
            </a:r>
            <a:r>
              <a:rPr lang="en-US" altLang="ko-KR" sz="1000" dirty="0"/>
              <a:t>.</a:t>
            </a:r>
          </a:p>
          <a:p>
            <a:pPr algn="ctr"/>
            <a:endParaRPr lang="ko-KR" altLang="en-US" sz="1000" dirty="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D58D2463-454C-DCC3-1459-FF28BBA72299}"/>
              </a:ext>
            </a:extLst>
          </p:cNvPr>
          <p:cNvSpPr/>
          <p:nvPr/>
        </p:nvSpPr>
        <p:spPr>
          <a:xfrm>
            <a:off x="4305959" y="687110"/>
            <a:ext cx="3580082" cy="2544817"/>
          </a:xfrm>
          <a:prstGeom prst="roundRect">
            <a:avLst/>
          </a:prstGeom>
          <a:solidFill>
            <a:schemeClr val="accent2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ko-KR" altLang="en-US" sz="1400" b="1" dirty="0"/>
              <a:t>인지 성찰형</a:t>
            </a:r>
            <a:r>
              <a:rPr lang="ko-KR" altLang="en-US" sz="1000" b="1" dirty="0"/>
              <a:t> </a:t>
            </a:r>
            <a:endParaRPr lang="en-US" altLang="ko-KR" sz="1000" b="1" dirty="0"/>
          </a:p>
          <a:p>
            <a:pPr>
              <a:buNone/>
            </a:pPr>
            <a:r>
              <a:rPr lang="en-US" altLang="ko-KR" sz="1000" b="1" dirty="0"/>
              <a:t>(Cognitive-Reflective Type)</a:t>
            </a:r>
          </a:p>
          <a:p>
            <a:pPr>
              <a:buNone/>
            </a:pPr>
            <a:r>
              <a:rPr lang="ko-KR" altLang="en-US" sz="1000" b="1" dirty="0"/>
              <a:t>관련 빅</a:t>
            </a:r>
            <a:r>
              <a:rPr lang="en-US" altLang="ko-KR" sz="1000" b="1" dirty="0"/>
              <a:t>5:</a:t>
            </a:r>
            <a:endParaRPr lang="ko-KR" altLang="en-US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000" b="1" dirty="0"/>
              <a:t>O (Openness)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사고의 복잡성</a:t>
            </a:r>
            <a:r>
              <a:rPr lang="en-US" altLang="ko-KR" sz="1000" dirty="0"/>
              <a:t>, </a:t>
            </a:r>
            <a:r>
              <a:rPr lang="ko-KR" altLang="en-US" sz="1000" dirty="0"/>
              <a:t>분석적 인지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000" b="1" dirty="0"/>
              <a:t>N (Neuroticism/Reverse)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감정보다 사고 중심의 </a:t>
            </a:r>
            <a:endParaRPr lang="en-US" altLang="ko-KR" sz="1000" dirty="0"/>
          </a:p>
          <a:p>
            <a:r>
              <a:rPr lang="ko-KR" altLang="en-US" sz="1000" dirty="0"/>
              <a:t>판단 경향</a:t>
            </a:r>
            <a:endParaRPr lang="en-US" altLang="ko-KR" sz="1000" dirty="0"/>
          </a:p>
          <a:p>
            <a:endParaRPr lang="ko-KR" altLang="en-US" sz="1000" dirty="0"/>
          </a:p>
          <a:p>
            <a:pPr>
              <a:buNone/>
            </a:pPr>
            <a:r>
              <a:rPr lang="ko-KR" altLang="en-US" sz="1000" b="1" dirty="0"/>
              <a:t>설명</a:t>
            </a:r>
            <a:r>
              <a:rPr lang="en-US" altLang="ko-KR" sz="1000" b="1" dirty="0"/>
              <a:t>:</a:t>
            </a:r>
            <a:br>
              <a:rPr lang="ko-KR" altLang="en-US" sz="1000" dirty="0"/>
            </a:br>
            <a:r>
              <a:rPr lang="ko-KR" altLang="en-US" sz="1000" dirty="0"/>
              <a:t>인지 성찰형은 문제를 논리</a:t>
            </a:r>
            <a:r>
              <a:rPr lang="en-US" altLang="ko-KR" sz="1000" dirty="0"/>
              <a:t>·</a:t>
            </a:r>
            <a:r>
              <a:rPr lang="ko-KR" altLang="en-US" sz="1000" dirty="0"/>
              <a:t>분석적으로 사고하고</a:t>
            </a:r>
            <a:r>
              <a:rPr lang="en-US" altLang="ko-KR" sz="1000" dirty="0"/>
              <a:t>, </a:t>
            </a:r>
          </a:p>
          <a:p>
            <a:pPr>
              <a:buNone/>
            </a:pPr>
            <a:r>
              <a:rPr lang="ko-KR" altLang="en-US" sz="1000" dirty="0"/>
              <a:t>감정보다 사고 기반으로 판단하는 경향이 높다</a:t>
            </a:r>
            <a:r>
              <a:rPr lang="en-US" altLang="ko-KR" sz="1000" dirty="0"/>
              <a:t>. </a:t>
            </a:r>
          </a:p>
          <a:p>
            <a:pPr>
              <a:buNone/>
            </a:pPr>
            <a:r>
              <a:rPr lang="ko-KR" altLang="en-US" sz="1000" dirty="0"/>
              <a:t>이는 </a:t>
            </a:r>
            <a:r>
              <a:rPr lang="ko-KR" altLang="en-US" sz="1000" b="1" dirty="0"/>
              <a:t>개방성</a:t>
            </a:r>
            <a:r>
              <a:rPr lang="en-US" altLang="ko-KR" sz="1000" b="1" dirty="0"/>
              <a:t>(O)</a:t>
            </a:r>
            <a:r>
              <a:rPr lang="ko-KR" altLang="en-US" sz="1000" dirty="0"/>
              <a:t> 의 인지적 정교함과 연관되며</a:t>
            </a:r>
            <a:r>
              <a:rPr lang="en-US" altLang="ko-KR" sz="1000" dirty="0"/>
              <a:t>, </a:t>
            </a:r>
          </a:p>
          <a:p>
            <a:pPr>
              <a:buNone/>
            </a:pPr>
            <a:r>
              <a:rPr lang="ko-KR" altLang="en-US" sz="1000" dirty="0"/>
              <a:t>감정 동요가 적은 </a:t>
            </a:r>
            <a:r>
              <a:rPr lang="en-US" altLang="ko-KR" sz="1000" b="1" dirty="0"/>
              <a:t>N</a:t>
            </a:r>
            <a:r>
              <a:rPr lang="ko-KR" altLang="en-US" sz="1000" b="1" dirty="0"/>
              <a:t>의 반대 방향</a:t>
            </a:r>
            <a:r>
              <a:rPr lang="ko-KR" altLang="en-US" sz="1000" dirty="0"/>
              <a:t> 특성과도 연결된다</a:t>
            </a:r>
            <a:r>
              <a:rPr lang="en-US" altLang="ko-KR" sz="1000" dirty="0"/>
              <a:t>.</a:t>
            </a:r>
          </a:p>
          <a:p>
            <a:pPr algn="ctr"/>
            <a:endParaRPr lang="ko-KR" altLang="en-US" sz="1000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5E4283E-BC5D-DAD9-DC6C-8F2BB655DD82}"/>
              </a:ext>
            </a:extLst>
          </p:cNvPr>
          <p:cNvSpPr/>
          <p:nvPr/>
        </p:nvSpPr>
        <p:spPr>
          <a:xfrm>
            <a:off x="8180993" y="672654"/>
            <a:ext cx="3580082" cy="2544817"/>
          </a:xfrm>
          <a:prstGeom prst="roundRect">
            <a:avLst/>
          </a:prstGeom>
          <a:solidFill>
            <a:schemeClr val="accent2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ko-KR" altLang="en-US" sz="1400" b="1" dirty="0"/>
              <a:t>동기 촉진형</a:t>
            </a:r>
            <a:r>
              <a:rPr lang="ko-KR" altLang="en-US" sz="1000" b="1" dirty="0"/>
              <a:t> </a:t>
            </a:r>
            <a:endParaRPr lang="en-US" altLang="ko-KR" sz="1000" b="1" dirty="0"/>
          </a:p>
          <a:p>
            <a:pPr>
              <a:buNone/>
            </a:pPr>
            <a:r>
              <a:rPr lang="en-US" altLang="ko-KR" sz="1000" b="1" dirty="0"/>
              <a:t>(Motivational-Activation Type)</a:t>
            </a:r>
          </a:p>
          <a:p>
            <a:pPr>
              <a:buNone/>
            </a:pPr>
            <a:r>
              <a:rPr lang="ko-KR" altLang="en-US" sz="1000" b="1" dirty="0"/>
              <a:t>관련 빅</a:t>
            </a:r>
            <a:r>
              <a:rPr lang="en-US" altLang="ko-KR" sz="1000" b="1" dirty="0"/>
              <a:t>5:</a:t>
            </a:r>
            <a:endParaRPr lang="ko-KR" altLang="en-US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000" b="1" dirty="0"/>
              <a:t>C (Conscientiousness)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목표 설정</a:t>
            </a:r>
            <a:r>
              <a:rPr lang="en-US" altLang="ko-KR" sz="1000" dirty="0"/>
              <a:t>, </a:t>
            </a:r>
            <a:r>
              <a:rPr lang="ko-KR" altLang="en-US" sz="1000" dirty="0"/>
              <a:t>자기관리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000" b="1" dirty="0"/>
              <a:t>E (Extraversion)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에너지</a:t>
            </a:r>
            <a:r>
              <a:rPr lang="en-US" altLang="ko-KR" sz="1000" dirty="0"/>
              <a:t>·</a:t>
            </a:r>
            <a:r>
              <a:rPr lang="ko-KR" altLang="en-US" sz="1000" dirty="0"/>
              <a:t>활동성 기반의 동기 유지</a:t>
            </a:r>
            <a:endParaRPr lang="en-US" altLang="ko-KR" sz="1000" dirty="0"/>
          </a:p>
          <a:p>
            <a:endParaRPr lang="ko-KR" altLang="en-US" sz="1000" dirty="0"/>
          </a:p>
          <a:p>
            <a:pPr>
              <a:buNone/>
            </a:pPr>
            <a:r>
              <a:rPr lang="ko-KR" altLang="en-US" sz="1000" b="1" dirty="0"/>
              <a:t>설명</a:t>
            </a:r>
            <a:r>
              <a:rPr lang="en-US" altLang="ko-KR" sz="1000" b="1" dirty="0"/>
              <a:t>:</a:t>
            </a:r>
            <a:br>
              <a:rPr lang="ko-KR" altLang="en-US" sz="1000" dirty="0"/>
            </a:br>
            <a:r>
              <a:rPr lang="ko-KR" altLang="en-US" sz="1000" dirty="0"/>
              <a:t>동기 촉진형은 목표 지향적이고</a:t>
            </a:r>
            <a:r>
              <a:rPr lang="en-US" altLang="ko-KR" sz="1000" dirty="0"/>
              <a:t>, </a:t>
            </a:r>
            <a:r>
              <a:rPr lang="ko-KR" altLang="en-US" sz="1000" dirty="0"/>
              <a:t>의미</a:t>
            </a:r>
            <a:r>
              <a:rPr lang="en-US" altLang="ko-KR" sz="1000" dirty="0"/>
              <a:t>·</a:t>
            </a:r>
            <a:r>
              <a:rPr lang="ko-KR" altLang="en-US" sz="1000" dirty="0"/>
              <a:t>가치 부여를 </a:t>
            </a:r>
            <a:endParaRPr lang="en-US" altLang="ko-KR" sz="1000" dirty="0"/>
          </a:p>
          <a:p>
            <a:pPr>
              <a:buNone/>
            </a:pPr>
            <a:r>
              <a:rPr lang="ko-KR" altLang="en-US" sz="1000" dirty="0"/>
              <a:t>통해 동기를 유지하는 특성을 보인다</a:t>
            </a:r>
            <a:r>
              <a:rPr lang="en-US" altLang="ko-KR" sz="1000" dirty="0"/>
              <a:t>. </a:t>
            </a:r>
          </a:p>
          <a:p>
            <a:pPr>
              <a:buNone/>
            </a:pPr>
            <a:r>
              <a:rPr lang="ko-KR" altLang="en-US" sz="1000" dirty="0"/>
              <a:t>이는 높은 </a:t>
            </a:r>
            <a:r>
              <a:rPr lang="ko-KR" altLang="en-US" sz="1000" b="1" dirty="0"/>
              <a:t>성실성</a:t>
            </a:r>
            <a:r>
              <a:rPr lang="en-US" altLang="ko-KR" sz="1000" b="1" dirty="0"/>
              <a:t>(C)</a:t>
            </a:r>
            <a:r>
              <a:rPr lang="ko-KR" altLang="en-US" sz="1000" dirty="0"/>
              <a:t> 과 행동 에너지를 제공하는 </a:t>
            </a:r>
            <a:endParaRPr lang="en-US" altLang="ko-KR" sz="1000" dirty="0"/>
          </a:p>
          <a:p>
            <a:pPr>
              <a:buNone/>
            </a:pPr>
            <a:r>
              <a:rPr lang="ko-KR" altLang="en-US" sz="1000" b="1" dirty="0"/>
              <a:t>외향성</a:t>
            </a:r>
            <a:r>
              <a:rPr lang="en-US" altLang="ko-KR" sz="1000" b="1" dirty="0"/>
              <a:t>(E)</a:t>
            </a:r>
            <a:r>
              <a:rPr lang="ko-KR" altLang="en-US" sz="1000" dirty="0"/>
              <a:t> 에 이론적으로 연결된다</a:t>
            </a:r>
            <a:r>
              <a:rPr lang="en-US" altLang="ko-KR" sz="1000" dirty="0"/>
              <a:t>.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9A1278A-137F-F9CE-A8FB-FD04C44B64AA}"/>
              </a:ext>
            </a:extLst>
          </p:cNvPr>
          <p:cNvSpPr/>
          <p:nvPr/>
        </p:nvSpPr>
        <p:spPr>
          <a:xfrm>
            <a:off x="430925" y="3626068"/>
            <a:ext cx="3580082" cy="2544817"/>
          </a:xfrm>
          <a:prstGeom prst="roundRect">
            <a:avLst/>
          </a:prstGeom>
          <a:solidFill>
            <a:schemeClr val="accent2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ko-KR" altLang="en-US" sz="1400" b="1" dirty="0"/>
              <a:t>행동 실천형</a:t>
            </a:r>
            <a:r>
              <a:rPr lang="ko-KR" altLang="en-US" sz="1000" b="1" dirty="0"/>
              <a:t> </a:t>
            </a:r>
            <a:endParaRPr lang="en-US" altLang="ko-KR" sz="1000" b="1" dirty="0"/>
          </a:p>
          <a:p>
            <a:pPr>
              <a:buNone/>
            </a:pPr>
            <a:r>
              <a:rPr lang="en-US" altLang="ko-KR" sz="1000" b="1" dirty="0"/>
              <a:t>(Behavioral-Execution Type)</a:t>
            </a:r>
          </a:p>
          <a:p>
            <a:pPr>
              <a:buNone/>
            </a:pPr>
            <a:r>
              <a:rPr lang="ko-KR" altLang="en-US" sz="1000" b="1" dirty="0"/>
              <a:t>관련 빅</a:t>
            </a:r>
            <a:r>
              <a:rPr lang="en-US" altLang="ko-KR" sz="1000" b="1" dirty="0"/>
              <a:t>5:</a:t>
            </a:r>
            <a:endParaRPr lang="ko-KR" altLang="en-US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000" b="1" dirty="0"/>
              <a:t>C (Conscientiousness)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계획 → 실행으로 이어지는 행동 일관성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000" b="1" dirty="0"/>
              <a:t>E (Extraversion)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행동 활성화</a:t>
            </a:r>
            <a:r>
              <a:rPr lang="en-US" altLang="ko-KR" sz="1000" dirty="0"/>
              <a:t>(Behavioral Activation)</a:t>
            </a:r>
          </a:p>
          <a:p>
            <a:pPr>
              <a:buNone/>
            </a:pPr>
            <a:endParaRPr lang="en-US" altLang="ko-KR" sz="1000" b="1" dirty="0"/>
          </a:p>
          <a:p>
            <a:pPr>
              <a:buNone/>
            </a:pPr>
            <a:r>
              <a:rPr lang="ko-KR" altLang="en-US" sz="1000" b="1" dirty="0"/>
              <a:t>설명</a:t>
            </a:r>
            <a:r>
              <a:rPr lang="en-US" altLang="ko-KR" sz="1000" b="1" dirty="0"/>
              <a:t>:</a:t>
            </a:r>
            <a:br>
              <a:rPr lang="ko-KR" altLang="en-US" sz="1000" dirty="0"/>
            </a:br>
            <a:r>
              <a:rPr lang="ko-KR" altLang="en-US" sz="1000" dirty="0"/>
              <a:t>행동 실천형은 계획 수립</a:t>
            </a:r>
            <a:r>
              <a:rPr lang="en-US" altLang="ko-KR" sz="1000" dirty="0"/>
              <a:t>, </a:t>
            </a:r>
            <a:r>
              <a:rPr lang="ko-KR" altLang="en-US" sz="1000" dirty="0"/>
              <a:t>즉각적인 행동</a:t>
            </a:r>
            <a:r>
              <a:rPr lang="en-US" altLang="ko-KR" sz="1000" dirty="0"/>
              <a:t>, </a:t>
            </a:r>
            <a:r>
              <a:rPr lang="ko-KR" altLang="en-US" sz="1000" dirty="0"/>
              <a:t>일관성 있는 실천이 특징이다</a:t>
            </a:r>
            <a:r>
              <a:rPr lang="en-US" altLang="ko-KR" sz="1000" dirty="0"/>
              <a:t>. </a:t>
            </a:r>
            <a:r>
              <a:rPr lang="ko-KR" altLang="en-US" sz="1000" dirty="0"/>
              <a:t>행동 통제</a:t>
            </a:r>
            <a:r>
              <a:rPr lang="en-US" altLang="ko-KR" sz="1000" dirty="0"/>
              <a:t>·</a:t>
            </a:r>
            <a:r>
              <a:rPr lang="ko-KR" altLang="en-US" sz="1000" dirty="0"/>
              <a:t>규율</a:t>
            </a:r>
            <a:r>
              <a:rPr lang="en-US" altLang="ko-KR" sz="1000" dirty="0"/>
              <a:t>·</a:t>
            </a:r>
            <a:r>
              <a:rPr lang="ko-KR" altLang="en-US" sz="1000" dirty="0"/>
              <a:t>실행력을 반영하는 </a:t>
            </a:r>
            <a:r>
              <a:rPr lang="ko-KR" altLang="en-US" sz="1000" b="1" dirty="0"/>
              <a:t>성실성</a:t>
            </a:r>
            <a:r>
              <a:rPr lang="en-US" altLang="ko-KR" sz="1000" b="1" dirty="0"/>
              <a:t>(C)</a:t>
            </a:r>
            <a:r>
              <a:rPr lang="ko-KR" altLang="en-US" sz="1000" dirty="0"/>
              <a:t> 과 행위 활성화를 보이는 </a:t>
            </a:r>
            <a:r>
              <a:rPr lang="ko-KR" altLang="en-US" sz="1000" b="1" dirty="0"/>
              <a:t>외향성</a:t>
            </a:r>
            <a:r>
              <a:rPr lang="en-US" altLang="ko-KR" sz="1000" b="1" dirty="0"/>
              <a:t>(E)</a:t>
            </a:r>
            <a:r>
              <a:rPr lang="ko-KR" altLang="en-US" sz="1000" dirty="0"/>
              <a:t> 이 관련 </a:t>
            </a:r>
            <a:endParaRPr lang="en-US" altLang="ko-KR" sz="1000" dirty="0"/>
          </a:p>
          <a:p>
            <a:pPr>
              <a:buNone/>
            </a:pPr>
            <a:r>
              <a:rPr lang="ko-KR" altLang="en-US" sz="1000" dirty="0"/>
              <a:t>요인이다</a:t>
            </a:r>
            <a:r>
              <a:rPr lang="en-US" altLang="ko-KR" sz="1000" dirty="0"/>
              <a:t>.</a:t>
            </a:r>
          </a:p>
          <a:p>
            <a:pPr algn="ctr"/>
            <a:endParaRPr lang="ko-KR" altLang="en-US" sz="10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7C6BE36-92F4-8E67-E94C-243B097D59AA}"/>
              </a:ext>
            </a:extLst>
          </p:cNvPr>
          <p:cNvSpPr/>
          <p:nvPr/>
        </p:nvSpPr>
        <p:spPr>
          <a:xfrm>
            <a:off x="4305959" y="3626067"/>
            <a:ext cx="3580082" cy="2544817"/>
          </a:xfrm>
          <a:prstGeom prst="roundRect">
            <a:avLst/>
          </a:prstGeom>
          <a:solidFill>
            <a:schemeClr val="accent2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ko-KR" altLang="en-US" sz="1400" b="1" dirty="0"/>
              <a:t>관계 조율형</a:t>
            </a:r>
            <a:r>
              <a:rPr lang="ko-KR" altLang="en-US" sz="1000" b="1" dirty="0"/>
              <a:t> </a:t>
            </a:r>
            <a:endParaRPr lang="en-US" altLang="ko-KR" sz="1000" b="1" dirty="0"/>
          </a:p>
          <a:p>
            <a:pPr>
              <a:buNone/>
            </a:pPr>
            <a:r>
              <a:rPr lang="en-US" altLang="ko-KR" sz="1000" b="1" dirty="0"/>
              <a:t>(Relational-Regulation Type)</a:t>
            </a:r>
          </a:p>
          <a:p>
            <a:pPr>
              <a:buNone/>
            </a:pPr>
            <a:r>
              <a:rPr lang="ko-KR" altLang="en-US" sz="1000" b="1" dirty="0"/>
              <a:t>관련 빅</a:t>
            </a:r>
            <a:r>
              <a:rPr lang="en-US" altLang="ko-KR" sz="1000" b="1" dirty="0"/>
              <a:t>5:</a:t>
            </a:r>
            <a:endParaRPr lang="ko-KR" altLang="en-US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000" b="1" dirty="0"/>
              <a:t>A (Agreeableness)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타인 배려</a:t>
            </a:r>
            <a:r>
              <a:rPr lang="en-US" altLang="ko-KR" sz="1000" dirty="0"/>
              <a:t>, </a:t>
            </a:r>
            <a:r>
              <a:rPr lang="ko-KR" altLang="en-US" sz="1000" dirty="0"/>
              <a:t>관계 조화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000" b="1" dirty="0"/>
              <a:t>E (Extraversion/Moderate)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사회적 상호작용의 </a:t>
            </a:r>
            <a:endParaRPr lang="en-US" altLang="ko-KR" sz="1000" dirty="0"/>
          </a:p>
          <a:p>
            <a:r>
              <a:rPr lang="ko-KR" altLang="en-US" sz="1000" dirty="0"/>
              <a:t>적극성</a:t>
            </a:r>
          </a:p>
          <a:p>
            <a:pPr>
              <a:buNone/>
            </a:pPr>
            <a:endParaRPr lang="en-US" altLang="ko-KR" sz="1000" b="1" dirty="0"/>
          </a:p>
          <a:p>
            <a:pPr>
              <a:buNone/>
            </a:pPr>
            <a:r>
              <a:rPr lang="ko-KR" altLang="en-US" sz="1000" b="1" dirty="0"/>
              <a:t>설명</a:t>
            </a:r>
            <a:r>
              <a:rPr lang="en-US" altLang="ko-KR" sz="1000" b="1" dirty="0"/>
              <a:t>:</a:t>
            </a:r>
            <a:br>
              <a:rPr lang="ko-KR" altLang="en-US" sz="1000" dirty="0"/>
            </a:br>
            <a:r>
              <a:rPr lang="ko-KR" altLang="en-US" sz="1000" dirty="0"/>
              <a:t>관계 조율형은 상호작용에서 배려</a:t>
            </a:r>
            <a:r>
              <a:rPr lang="en-US" altLang="ko-KR" sz="1000" dirty="0"/>
              <a:t>, </a:t>
            </a:r>
            <a:r>
              <a:rPr lang="ko-KR" altLang="en-US" sz="1000" dirty="0"/>
              <a:t>조율</a:t>
            </a:r>
            <a:r>
              <a:rPr lang="en-US" altLang="ko-KR" sz="1000" dirty="0"/>
              <a:t>, </a:t>
            </a:r>
            <a:r>
              <a:rPr lang="ko-KR" altLang="en-US" sz="1000" dirty="0"/>
              <a:t>갈등 해결을 중시한다</a:t>
            </a:r>
            <a:r>
              <a:rPr lang="en-US" altLang="ko-KR" sz="1000" dirty="0"/>
              <a:t>. </a:t>
            </a:r>
            <a:r>
              <a:rPr lang="ko-KR" altLang="en-US" sz="1000" dirty="0"/>
              <a:t>이는 타인 중심적 성향인 </a:t>
            </a:r>
            <a:r>
              <a:rPr lang="ko-KR" altLang="en-US" sz="1000" b="1" dirty="0" err="1"/>
              <a:t>우호성</a:t>
            </a:r>
            <a:r>
              <a:rPr lang="en-US" altLang="ko-KR" sz="1000" b="1" dirty="0"/>
              <a:t>(A)</a:t>
            </a:r>
            <a:r>
              <a:rPr lang="ko-KR" altLang="en-US" sz="1000" dirty="0"/>
              <a:t> 과 대인 활동성을 반영하는 </a:t>
            </a:r>
            <a:r>
              <a:rPr lang="ko-KR" altLang="en-US" sz="1000" b="1" dirty="0"/>
              <a:t>외향성</a:t>
            </a:r>
            <a:r>
              <a:rPr lang="en-US" altLang="ko-KR" sz="1000" b="1" dirty="0"/>
              <a:t>(E)</a:t>
            </a:r>
            <a:r>
              <a:rPr lang="ko-KR" altLang="en-US" sz="1000" dirty="0"/>
              <a:t> 과 이론적으로 연결된다</a:t>
            </a:r>
            <a:r>
              <a:rPr lang="en-US" altLang="ko-KR" sz="1000" dirty="0"/>
              <a:t>.</a:t>
            </a:r>
          </a:p>
          <a:p>
            <a:pPr algn="ctr"/>
            <a:endParaRPr lang="ko-KR" altLang="en-US" sz="1000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1D0EC68-A5CC-34DF-97B8-E8C92E7D02D2}"/>
              </a:ext>
            </a:extLst>
          </p:cNvPr>
          <p:cNvSpPr/>
          <p:nvPr/>
        </p:nvSpPr>
        <p:spPr>
          <a:xfrm>
            <a:off x="8180993" y="3626066"/>
            <a:ext cx="3580082" cy="2544817"/>
          </a:xfrm>
          <a:prstGeom prst="roundRect">
            <a:avLst/>
          </a:prstGeom>
          <a:solidFill>
            <a:schemeClr val="accent2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ko-KR" altLang="en-US" sz="1400" b="1" dirty="0"/>
              <a:t>회복 유지형</a:t>
            </a:r>
            <a:r>
              <a:rPr lang="ko-KR" altLang="en-US" sz="1000" b="1" dirty="0"/>
              <a:t> </a:t>
            </a:r>
            <a:endParaRPr lang="en-US" altLang="ko-KR" sz="1000" b="1" dirty="0"/>
          </a:p>
          <a:p>
            <a:pPr>
              <a:buNone/>
            </a:pPr>
            <a:r>
              <a:rPr lang="en-US" altLang="ko-KR" sz="1000" b="1" dirty="0"/>
              <a:t>(Resilience-Maintenance Type)</a:t>
            </a:r>
          </a:p>
          <a:p>
            <a:pPr>
              <a:buNone/>
            </a:pPr>
            <a:r>
              <a:rPr lang="ko-KR" altLang="en-US" sz="1000" b="1" dirty="0"/>
              <a:t>관련 빅</a:t>
            </a:r>
            <a:r>
              <a:rPr lang="en-US" altLang="ko-KR" sz="1000" b="1" dirty="0"/>
              <a:t>5:</a:t>
            </a:r>
            <a:endParaRPr lang="ko-KR" altLang="en-US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000" b="1" dirty="0"/>
              <a:t>N (Neuroticism/Reverse)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감정 안정성</a:t>
            </a:r>
            <a:r>
              <a:rPr lang="en-US" altLang="ko-KR" sz="1000" dirty="0"/>
              <a:t>, </a:t>
            </a:r>
            <a:r>
              <a:rPr lang="ko-KR" altLang="en-US" sz="1000" dirty="0"/>
              <a:t>회복 탄력성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000" b="1" dirty="0"/>
              <a:t>C (Conscientiousness/Moderate)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일상 구조 유지</a:t>
            </a:r>
            <a:r>
              <a:rPr lang="en-US" altLang="ko-KR" sz="1000" dirty="0"/>
              <a:t>, </a:t>
            </a:r>
            <a:r>
              <a:rPr lang="ko-KR" altLang="en-US" sz="1000" dirty="0"/>
              <a:t>꾸준함</a:t>
            </a:r>
          </a:p>
          <a:p>
            <a:pPr>
              <a:buNone/>
            </a:pPr>
            <a:endParaRPr lang="en-US" altLang="ko-KR" sz="1000" b="1" dirty="0"/>
          </a:p>
          <a:p>
            <a:pPr>
              <a:buNone/>
            </a:pPr>
            <a:r>
              <a:rPr lang="ko-KR" altLang="en-US" sz="1000" b="1" dirty="0"/>
              <a:t>설명</a:t>
            </a:r>
            <a:r>
              <a:rPr lang="en-US" altLang="ko-KR" sz="1000" b="1" dirty="0"/>
              <a:t>:</a:t>
            </a:r>
            <a:br>
              <a:rPr lang="ko-KR" altLang="en-US" sz="1000" dirty="0"/>
            </a:br>
            <a:r>
              <a:rPr lang="ko-KR" altLang="en-US" sz="1000" dirty="0"/>
              <a:t>회복 유지형은 스트레스 상황에서도 감정을 안정적으로 조절하고 다시 균형을 찾는 능력을 보인다</a:t>
            </a:r>
            <a:r>
              <a:rPr lang="en-US" altLang="ko-KR" sz="1000" dirty="0"/>
              <a:t>. </a:t>
            </a:r>
          </a:p>
          <a:p>
            <a:pPr>
              <a:buNone/>
            </a:pPr>
            <a:r>
              <a:rPr lang="ko-KR" altLang="en-US" sz="1000" dirty="0"/>
              <a:t>이는 낮은 </a:t>
            </a:r>
            <a:r>
              <a:rPr lang="ko-KR" altLang="en-US" sz="1000" b="1" dirty="0"/>
              <a:t>신경성</a:t>
            </a:r>
            <a:r>
              <a:rPr lang="en-US" altLang="ko-KR" sz="1000" b="1" dirty="0"/>
              <a:t>(N)</a:t>
            </a:r>
            <a:r>
              <a:rPr lang="ko-KR" altLang="en-US" sz="1000" dirty="0"/>
              <a:t> 즉 정서적 안정성과</a:t>
            </a:r>
            <a:r>
              <a:rPr lang="en-US" altLang="ko-KR" sz="1000" dirty="0"/>
              <a:t>, </a:t>
            </a:r>
            <a:r>
              <a:rPr lang="ko-KR" altLang="en-US" sz="1000" dirty="0"/>
              <a:t>루틴</a:t>
            </a:r>
            <a:r>
              <a:rPr lang="en-US" altLang="ko-KR" sz="1000" dirty="0"/>
              <a:t>·</a:t>
            </a:r>
            <a:r>
              <a:rPr lang="ko-KR" altLang="en-US" sz="1000" dirty="0"/>
              <a:t>규칙을 통해 안정감을 유지하는 </a:t>
            </a:r>
            <a:r>
              <a:rPr lang="ko-KR" altLang="en-US" sz="1000" b="1" dirty="0"/>
              <a:t>성실성</a:t>
            </a:r>
            <a:r>
              <a:rPr lang="en-US" altLang="ko-KR" sz="1000" b="1" dirty="0"/>
              <a:t>(C)</a:t>
            </a:r>
            <a:r>
              <a:rPr lang="ko-KR" altLang="en-US" sz="1000" dirty="0"/>
              <a:t> 과 이론적 연관이 있다</a:t>
            </a:r>
            <a:r>
              <a:rPr lang="en-US" altLang="ko-KR" sz="1000" dirty="0"/>
              <a:t>.</a:t>
            </a:r>
          </a:p>
          <a:p>
            <a:pPr algn="ctr"/>
            <a:endParaRPr lang="ko-KR" altLang="en-US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E98E83-0DDA-A3F2-81E5-9206C3C73925}"/>
              </a:ext>
            </a:extLst>
          </p:cNvPr>
          <p:cNvSpPr txBox="1"/>
          <p:nvPr/>
        </p:nvSpPr>
        <p:spPr>
          <a:xfrm>
            <a:off x="1" y="6348645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de la Fuente, Jesús, et al. "Big five, self-regulation, and coping strategies as predictors of achievement emotions in undergraduate students." International journal of environmental research and public health 17.10 (2020): 3602.</a:t>
            </a:r>
          </a:p>
          <a:p>
            <a:r>
              <a:rPr lang="en-US" altLang="ko-KR" sz="800" i="1" dirty="0"/>
              <a:t>de la Fuente, Jesús, et al. "The big five factors as differential predictors of self-regulation, achievement emotions, coping and health behavior in undergraduate students." </a:t>
            </a:r>
            <a:r>
              <a:rPr lang="en-US" altLang="ko-KR" sz="800" i="1" dirty="0" err="1"/>
              <a:t>Bmc</a:t>
            </a:r>
            <a:r>
              <a:rPr lang="en-US" altLang="ko-KR" sz="800" i="1" dirty="0"/>
              <a:t> Psychology 12 (2024): 267.</a:t>
            </a:r>
          </a:p>
          <a:p>
            <a:r>
              <a:rPr lang="en-US" altLang="ko-KR" sz="800" i="1" dirty="0"/>
              <a:t>Cohen-Louck, Keren, and Liza Zvi. "A model for predicting post-traumatic stress disorder due to exposure to chronic political violence: big five personality traits, ego-resiliency, and coping." Journal of interpersonal violence 37.23-24 (2022): NP23241-NP23261.</a:t>
            </a:r>
            <a:endParaRPr lang="ko-KR" altLang="en-US" sz="800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4CEA88-3D52-CF7D-FF5A-A063AC7999DC}"/>
              </a:ext>
            </a:extLst>
          </p:cNvPr>
          <p:cNvSpPr txBox="1"/>
          <p:nvPr/>
        </p:nvSpPr>
        <p:spPr>
          <a:xfrm>
            <a:off x="174171" y="176512"/>
            <a:ext cx="48442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/>
              <a:t>HF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778131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696</TotalTime>
  <Words>5712</Words>
  <Application>Microsoft Office PowerPoint</Application>
  <PresentationFormat>와이드스크린</PresentationFormat>
  <Paragraphs>782</Paragraphs>
  <Slides>26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0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규철 백</dc:creator>
  <cp:lastModifiedBy>재은 이</cp:lastModifiedBy>
  <cp:revision>8</cp:revision>
  <dcterms:created xsi:type="dcterms:W3CDTF">2025-11-24T03:20:39Z</dcterms:created>
  <dcterms:modified xsi:type="dcterms:W3CDTF">2025-11-25T02:36:55Z</dcterms:modified>
</cp:coreProperties>
</file>