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  <p:sldId id="266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C9EC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BFC33F-2FB6-4A76-8643-D62B9DD1E8F5}" v="27" dt="2025-09-23T01:41:37.5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5930" autoAdjust="0"/>
  </p:normalViewPr>
  <p:slideViewPr>
    <p:cSldViewPr snapToGrid="0">
      <p:cViewPr varScale="1">
        <p:scale>
          <a:sx n="63" d="100"/>
          <a:sy n="63" d="100"/>
        </p:scale>
        <p:origin x="8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재은 이" userId="ee07f9e56af2fcf4" providerId="LiveId" clId="{9DAA7C10-E5B0-4CC9-AB0E-CBB8E227BAB7}"/>
    <pc:docChg chg="undo custSel modSld">
      <pc:chgData name="재은 이" userId="ee07f9e56af2fcf4" providerId="LiveId" clId="{9DAA7C10-E5B0-4CC9-AB0E-CBB8E227BAB7}" dt="2025-09-23T01:44:06.293" v="171" actId="1076"/>
      <pc:docMkLst>
        <pc:docMk/>
      </pc:docMkLst>
      <pc:sldChg chg="addSp delSp modSp mod delAnim modNotesTx">
        <pc:chgData name="재은 이" userId="ee07f9e56af2fcf4" providerId="LiveId" clId="{9DAA7C10-E5B0-4CC9-AB0E-CBB8E227BAB7}" dt="2025-09-23T01:24:49.938" v="125" actId="20577"/>
        <pc:sldMkLst>
          <pc:docMk/>
          <pc:sldMk cId="821473267" sldId="256"/>
        </pc:sldMkLst>
        <pc:spChg chg="del mod">
          <ac:chgData name="재은 이" userId="ee07f9e56af2fcf4" providerId="LiveId" clId="{9DAA7C10-E5B0-4CC9-AB0E-CBB8E227BAB7}" dt="2025-09-22T13:38:42.388" v="4" actId="478"/>
          <ac:spMkLst>
            <pc:docMk/>
            <pc:sldMk cId="821473267" sldId="256"/>
            <ac:spMk id="4" creationId="{9577E0FE-78D2-4549-85A4-E093A75C9E04}"/>
          </ac:spMkLst>
        </pc:spChg>
        <pc:spChg chg="del mod">
          <ac:chgData name="재은 이" userId="ee07f9e56af2fcf4" providerId="LiveId" clId="{9DAA7C10-E5B0-4CC9-AB0E-CBB8E227BAB7}" dt="2025-09-22T13:38:36.454" v="2" actId="478"/>
          <ac:spMkLst>
            <pc:docMk/>
            <pc:sldMk cId="821473267" sldId="256"/>
            <ac:spMk id="6" creationId="{0F4B0DCA-7A79-4211-809E-A00E836C7C0C}"/>
          </ac:spMkLst>
        </pc:spChg>
        <pc:spChg chg="add del mod">
          <ac:chgData name="재은 이" userId="ee07f9e56af2fcf4" providerId="LiveId" clId="{9DAA7C10-E5B0-4CC9-AB0E-CBB8E227BAB7}" dt="2025-09-22T14:04:10.063" v="57" actId="1076"/>
          <ac:spMkLst>
            <pc:docMk/>
            <pc:sldMk cId="821473267" sldId="256"/>
            <ac:spMk id="7" creationId="{52AEDDD1-AB90-5229-1B69-BE1AE5EF08FB}"/>
          </ac:spMkLst>
        </pc:spChg>
        <pc:spChg chg="add del mod">
          <ac:chgData name="재은 이" userId="ee07f9e56af2fcf4" providerId="LiveId" clId="{9DAA7C10-E5B0-4CC9-AB0E-CBB8E227BAB7}" dt="2025-09-22T13:42:31.028" v="31"/>
          <ac:spMkLst>
            <pc:docMk/>
            <pc:sldMk cId="821473267" sldId="256"/>
            <ac:spMk id="8" creationId="{4BA14FD4-4027-D5BE-34B6-3C78C2EFC53E}"/>
          </ac:spMkLst>
        </pc:spChg>
        <pc:spChg chg="add del mod">
          <ac:chgData name="재은 이" userId="ee07f9e56af2fcf4" providerId="LiveId" clId="{9DAA7C10-E5B0-4CC9-AB0E-CBB8E227BAB7}" dt="2025-09-22T13:42:31.028" v="31"/>
          <ac:spMkLst>
            <pc:docMk/>
            <pc:sldMk cId="821473267" sldId="256"/>
            <ac:spMk id="9" creationId="{AE1F39D8-C7EC-CE8E-F986-69C81B1F940E}"/>
          </ac:spMkLst>
        </pc:spChg>
        <pc:spChg chg="mod">
          <ac:chgData name="재은 이" userId="ee07f9e56af2fcf4" providerId="LiveId" clId="{9DAA7C10-E5B0-4CC9-AB0E-CBB8E227BAB7}" dt="2025-09-22T13:42:09.408" v="28"/>
          <ac:spMkLst>
            <pc:docMk/>
            <pc:sldMk cId="821473267" sldId="256"/>
            <ac:spMk id="10" creationId="{822DB505-7607-FCA8-BC6A-83D282229873}"/>
          </ac:spMkLst>
        </pc:spChg>
        <pc:spChg chg="del mod">
          <ac:chgData name="재은 이" userId="ee07f9e56af2fcf4" providerId="LiveId" clId="{9DAA7C10-E5B0-4CC9-AB0E-CBB8E227BAB7}" dt="2025-09-22T13:47:26.023" v="39" actId="478"/>
          <ac:spMkLst>
            <pc:docMk/>
            <pc:sldMk cId="821473267" sldId="256"/>
            <ac:spMk id="11" creationId="{88EB202F-04FD-7E16-25DE-0A88BE3A3865}"/>
          </ac:spMkLst>
        </pc:spChg>
        <pc:picChg chg="add del mod">
          <ac:chgData name="재은 이" userId="ee07f9e56af2fcf4" providerId="LiveId" clId="{9DAA7C10-E5B0-4CC9-AB0E-CBB8E227BAB7}" dt="2025-09-22T15:02:49.287" v="80" actId="478"/>
          <ac:picMkLst>
            <pc:docMk/>
            <pc:sldMk cId="821473267" sldId="256"/>
            <ac:picMk id="13" creationId="{CEDB2894-2773-99E1-1E97-F2BCC4E8D51E}"/>
          </ac:picMkLst>
        </pc:picChg>
        <pc:picChg chg="add del mod">
          <ac:chgData name="재은 이" userId="ee07f9e56af2fcf4" providerId="LiveId" clId="{9DAA7C10-E5B0-4CC9-AB0E-CBB8E227BAB7}" dt="2025-09-22T14:06:48.700" v="71" actId="478"/>
          <ac:picMkLst>
            <pc:docMk/>
            <pc:sldMk cId="821473267" sldId="256"/>
            <ac:picMk id="15" creationId="{99033A42-0846-F5C5-A172-D2E210941AEE}"/>
          </ac:picMkLst>
        </pc:picChg>
        <pc:picChg chg="add del mod">
          <ac:chgData name="재은 이" userId="ee07f9e56af2fcf4" providerId="LiveId" clId="{9DAA7C10-E5B0-4CC9-AB0E-CBB8E227BAB7}" dt="2025-09-22T14:05:49.816" v="61" actId="22"/>
          <ac:picMkLst>
            <pc:docMk/>
            <pc:sldMk cId="821473267" sldId="256"/>
            <ac:picMk id="17" creationId="{39E5F409-7288-3CD7-E792-84C0C54CBBC6}"/>
          </ac:picMkLst>
        </pc:picChg>
        <pc:picChg chg="add del mod">
          <ac:chgData name="재은 이" userId="ee07f9e56af2fcf4" providerId="LiveId" clId="{9DAA7C10-E5B0-4CC9-AB0E-CBB8E227BAB7}" dt="2025-09-22T15:04:15.512" v="87" actId="478"/>
          <ac:picMkLst>
            <pc:docMk/>
            <pc:sldMk cId="821473267" sldId="256"/>
            <ac:picMk id="19" creationId="{12673855-67B7-F00E-E245-12261B2B742F}"/>
          </ac:picMkLst>
        </pc:picChg>
        <pc:picChg chg="add del mod">
          <ac:chgData name="재은 이" userId="ee07f9e56af2fcf4" providerId="LiveId" clId="{9DAA7C10-E5B0-4CC9-AB0E-CBB8E227BAB7}" dt="2025-09-22T15:02:35.684" v="75" actId="478"/>
          <ac:picMkLst>
            <pc:docMk/>
            <pc:sldMk cId="821473267" sldId="256"/>
            <ac:picMk id="20" creationId="{83996A46-D0E1-2A2D-C17E-20557AC87AF9}"/>
          </ac:picMkLst>
        </pc:picChg>
        <pc:picChg chg="add del mod">
          <ac:chgData name="재은 이" userId="ee07f9e56af2fcf4" providerId="LiveId" clId="{9DAA7C10-E5B0-4CC9-AB0E-CBB8E227BAB7}" dt="2025-09-22T15:04:39.951" v="98" actId="478"/>
          <ac:picMkLst>
            <pc:docMk/>
            <pc:sldMk cId="821473267" sldId="256"/>
            <ac:picMk id="21" creationId="{088CE820-5605-7069-BABE-C1E74518B88E}"/>
          </ac:picMkLst>
        </pc:picChg>
        <pc:picChg chg="add mod">
          <ac:chgData name="재은 이" userId="ee07f9e56af2fcf4" providerId="LiveId" clId="{9DAA7C10-E5B0-4CC9-AB0E-CBB8E227BAB7}" dt="2025-09-22T15:04:25.340" v="91" actId="1076"/>
          <ac:picMkLst>
            <pc:docMk/>
            <pc:sldMk cId="821473267" sldId="256"/>
            <ac:picMk id="23" creationId="{F8BCB72B-2FD6-7B7F-B408-DAC7F2F1663F}"/>
          </ac:picMkLst>
        </pc:picChg>
        <pc:picChg chg="add mod">
          <ac:chgData name="재은 이" userId="ee07f9e56af2fcf4" providerId="LiveId" clId="{9DAA7C10-E5B0-4CC9-AB0E-CBB8E227BAB7}" dt="2025-09-22T15:04:46.457" v="116" actId="1036"/>
          <ac:picMkLst>
            <pc:docMk/>
            <pc:sldMk cId="821473267" sldId="256"/>
            <ac:picMk id="24" creationId="{3B503A15-62FE-CF53-FBDE-71D01C3A8898}"/>
          </ac:picMkLst>
        </pc:picChg>
      </pc:sldChg>
      <pc:sldChg chg="modSp mod modNotesTx">
        <pc:chgData name="재은 이" userId="ee07f9e56af2fcf4" providerId="LiveId" clId="{9DAA7C10-E5B0-4CC9-AB0E-CBB8E227BAB7}" dt="2025-09-23T01:44:06.293" v="171" actId="1076"/>
        <pc:sldMkLst>
          <pc:docMk/>
          <pc:sldMk cId="486438576" sldId="258"/>
        </pc:sldMkLst>
        <pc:spChg chg="mod">
          <ac:chgData name="재은 이" userId="ee07f9e56af2fcf4" providerId="LiveId" clId="{9DAA7C10-E5B0-4CC9-AB0E-CBB8E227BAB7}" dt="2025-09-23T01:44:06.293" v="171" actId="1076"/>
          <ac:spMkLst>
            <pc:docMk/>
            <pc:sldMk cId="486438576" sldId="258"/>
            <ac:spMk id="10" creationId="{205B5980-1A52-4505-9090-598707C251C4}"/>
          </ac:spMkLst>
        </pc:spChg>
      </pc:sldChg>
      <pc:sldChg chg="modNotesTx">
        <pc:chgData name="재은 이" userId="ee07f9e56af2fcf4" providerId="LiveId" clId="{9DAA7C10-E5B0-4CC9-AB0E-CBB8E227BAB7}" dt="2025-09-23T01:44:01.108" v="170" actId="20577"/>
        <pc:sldMkLst>
          <pc:docMk/>
          <pc:sldMk cId="2398298412" sldId="259"/>
        </pc:sldMkLst>
      </pc:sldChg>
      <pc:sldChg chg="modNotesTx">
        <pc:chgData name="재은 이" userId="ee07f9e56af2fcf4" providerId="LiveId" clId="{9DAA7C10-E5B0-4CC9-AB0E-CBB8E227BAB7}" dt="2025-09-23T01:28:03.141" v="138" actId="20577"/>
        <pc:sldMkLst>
          <pc:docMk/>
          <pc:sldMk cId="2226457960" sldId="260"/>
        </pc:sldMkLst>
      </pc:sldChg>
      <pc:sldChg chg="modSp mod">
        <pc:chgData name="재은 이" userId="ee07f9e56af2fcf4" providerId="LiveId" clId="{9DAA7C10-E5B0-4CC9-AB0E-CBB8E227BAB7}" dt="2025-09-22T15:05:36.044" v="119" actId="2711"/>
        <pc:sldMkLst>
          <pc:docMk/>
          <pc:sldMk cId="3945768010" sldId="261"/>
        </pc:sldMkLst>
        <pc:spChg chg="mod">
          <ac:chgData name="재은 이" userId="ee07f9e56af2fcf4" providerId="LiveId" clId="{9DAA7C10-E5B0-4CC9-AB0E-CBB8E227BAB7}" dt="2025-09-22T15:05:36.044" v="119" actId="2711"/>
          <ac:spMkLst>
            <pc:docMk/>
            <pc:sldMk cId="3945768010" sldId="261"/>
            <ac:spMk id="20" creationId="{FF41263B-3E26-49B5-A323-FCAEAC0FF627}"/>
          </ac:spMkLst>
        </pc:spChg>
      </pc:sldChg>
      <pc:sldChg chg="modNotesTx">
        <pc:chgData name="재은 이" userId="ee07f9e56af2fcf4" providerId="LiveId" clId="{9DAA7C10-E5B0-4CC9-AB0E-CBB8E227BAB7}" dt="2025-09-23T01:29:23.643" v="142" actId="20577"/>
        <pc:sldMkLst>
          <pc:docMk/>
          <pc:sldMk cId="2260854222" sldId="262"/>
        </pc:sldMkLst>
      </pc:sldChg>
      <pc:sldChg chg="modNotesTx">
        <pc:chgData name="재은 이" userId="ee07f9e56af2fcf4" providerId="LiveId" clId="{9DAA7C10-E5B0-4CC9-AB0E-CBB8E227BAB7}" dt="2025-09-23T01:30:23.180" v="154" actId="20577"/>
        <pc:sldMkLst>
          <pc:docMk/>
          <pc:sldMk cId="4178922485" sldId="266"/>
        </pc:sldMkLst>
      </pc:sldChg>
      <pc:sldChg chg="addSp delSp modSp mod delAnim modAnim">
        <pc:chgData name="재은 이" userId="ee07f9e56af2fcf4" providerId="LiveId" clId="{9DAA7C10-E5B0-4CC9-AB0E-CBB8E227BAB7}" dt="2025-09-22T15:06:12.647" v="124" actId="1076"/>
        <pc:sldMkLst>
          <pc:docMk/>
          <pc:sldMk cId="1709980298" sldId="268"/>
        </pc:sldMkLst>
        <pc:spChg chg="add mod">
          <ac:chgData name="재은 이" userId="ee07f9e56af2fcf4" providerId="LiveId" clId="{9DAA7C10-E5B0-4CC9-AB0E-CBB8E227BAB7}" dt="2025-09-22T15:06:12.647" v="124" actId="1076"/>
          <ac:spMkLst>
            <pc:docMk/>
            <pc:sldMk cId="1709980298" sldId="268"/>
            <ac:spMk id="3" creationId="{6B39C5E7-CC1D-E2E2-9AEB-731CB35E612E}"/>
          </ac:spMkLst>
        </pc:spChg>
        <pc:spChg chg="del mod">
          <ac:chgData name="재은 이" userId="ee07f9e56af2fcf4" providerId="LiveId" clId="{9DAA7C10-E5B0-4CC9-AB0E-CBB8E227BAB7}" dt="2025-09-22T15:06:01.886" v="121" actId="478"/>
          <ac:spMkLst>
            <pc:docMk/>
            <pc:sldMk cId="1709980298" sldId="268"/>
            <ac:spMk id="13" creationId="{AC4BE591-F0E7-426E-A177-5BFBDF6F759D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0CA146D-4505-4886-8321-78A4819C2D5F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C6F6B4E-57FB-433F-B6F4-27615630CD90}">
      <dgm:prSet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1. MCI Overview, Classification, and Pathophysiology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49226A4-1784-4591-BCAF-B37066FA7CED}" type="parTrans" cxnId="{CDFDA306-B04F-4AFA-AC74-29A86710753A}">
      <dgm:prSet/>
      <dgm:spPr/>
      <dgm:t>
        <a:bodyPr/>
        <a:lstStyle/>
        <a:p>
          <a:endParaRPr lang="en-US"/>
        </a:p>
      </dgm:t>
    </dgm:pt>
    <dgm:pt modelId="{C8F77F84-2553-4E4C-BBCB-ED00FB90EDB8}" type="sibTrans" cxnId="{CDFDA306-B04F-4AFA-AC74-29A86710753A}">
      <dgm:prSet/>
      <dgm:spPr/>
      <dgm:t>
        <a:bodyPr/>
        <a:lstStyle/>
        <a:p>
          <a:endParaRPr lang="en-US"/>
        </a:p>
      </dgm:t>
    </dgm:pt>
    <dgm:pt modelId="{1D61803D-4766-4CEF-8705-05E2866125EC}">
      <dgm:prSet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2. Brain Plasticity Concept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3AE9386-B530-4A2E-905C-1F1891ED9F83}" type="parTrans" cxnId="{EB8F56CF-6DC7-4529-8425-6D61DF77CCA9}">
      <dgm:prSet/>
      <dgm:spPr/>
      <dgm:t>
        <a:bodyPr/>
        <a:lstStyle/>
        <a:p>
          <a:endParaRPr lang="en-US"/>
        </a:p>
      </dgm:t>
    </dgm:pt>
    <dgm:pt modelId="{11BD5F1B-D87A-4C3A-8AE6-68BB094A9BA4}" type="sibTrans" cxnId="{EB8F56CF-6DC7-4529-8425-6D61DF77CCA9}">
      <dgm:prSet/>
      <dgm:spPr/>
      <dgm:t>
        <a:bodyPr/>
        <a:lstStyle/>
        <a:p>
          <a:endParaRPr lang="en-US"/>
        </a:p>
      </dgm:t>
    </dgm:pt>
    <dgm:pt modelId="{42F36A87-6452-403F-82DA-C3BD90A121E5}">
      <dgm:prSet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3. Current Treatments (Pharmacological, Non-Pharmacological, </a:t>
          </a:r>
          <a:r>
            <a:rPr lang="en-US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DTx</a:t>
          </a: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)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89F46A1-A3F5-456F-9CEF-59046D96FFE1}" type="parTrans" cxnId="{51AD6B7D-00AF-4F5F-9B0C-E2A689C42FA3}">
      <dgm:prSet/>
      <dgm:spPr/>
      <dgm:t>
        <a:bodyPr/>
        <a:lstStyle/>
        <a:p>
          <a:endParaRPr lang="en-US"/>
        </a:p>
      </dgm:t>
    </dgm:pt>
    <dgm:pt modelId="{E8CC92A0-1F6C-4756-9304-0AE3F9799BE7}" type="sibTrans" cxnId="{51AD6B7D-00AF-4F5F-9B0C-E2A689C42FA3}">
      <dgm:prSet/>
      <dgm:spPr/>
      <dgm:t>
        <a:bodyPr/>
        <a:lstStyle/>
        <a:p>
          <a:endParaRPr lang="en-US"/>
        </a:p>
      </dgm:t>
    </dgm:pt>
    <dgm:pt modelId="{21E13E80-2712-4C11-A10E-8F65C978CA6D}">
      <dgm:prSet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4. Clinical Evidence for </a:t>
          </a:r>
          <a:r>
            <a:rPr lang="en-US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DTx</a:t>
          </a: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 (CCT, VR, Reminiscence Therapy)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D0B4131-B425-4565-A3BB-39907B628434}" type="parTrans" cxnId="{2DE0E426-7F17-4B12-BDDD-781DC10687F6}">
      <dgm:prSet/>
      <dgm:spPr/>
      <dgm:t>
        <a:bodyPr/>
        <a:lstStyle/>
        <a:p>
          <a:endParaRPr lang="en-US"/>
        </a:p>
      </dgm:t>
    </dgm:pt>
    <dgm:pt modelId="{B81015C3-4542-4416-AAC5-D953279654F1}" type="sibTrans" cxnId="{2DE0E426-7F17-4B12-BDDD-781DC10687F6}">
      <dgm:prSet/>
      <dgm:spPr/>
      <dgm:t>
        <a:bodyPr/>
        <a:lstStyle/>
        <a:p>
          <a:endParaRPr lang="en-US"/>
        </a:p>
      </dgm:t>
    </dgm:pt>
    <dgm:pt modelId="{40222A1C-FB53-4FC5-96F7-9412D4119C60}">
      <dgm:prSet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5. Recent Trends (Wearables, Machine Learning)                 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24955F9-32E2-425F-AB28-AB455E970E8E}" type="parTrans" cxnId="{D3894EDA-3213-4E5B-8C25-626E7F6FA7F5}">
      <dgm:prSet/>
      <dgm:spPr/>
      <dgm:t>
        <a:bodyPr/>
        <a:lstStyle/>
        <a:p>
          <a:endParaRPr lang="en-US"/>
        </a:p>
      </dgm:t>
    </dgm:pt>
    <dgm:pt modelId="{8B8576CC-A808-42A6-926C-CF020ECAADE8}" type="sibTrans" cxnId="{D3894EDA-3213-4E5B-8C25-626E7F6FA7F5}">
      <dgm:prSet/>
      <dgm:spPr/>
      <dgm:t>
        <a:bodyPr/>
        <a:lstStyle/>
        <a:p>
          <a:endParaRPr lang="en-US"/>
        </a:p>
      </dgm:t>
    </dgm:pt>
    <dgm:pt modelId="{7567DE43-3789-4B37-9BEF-834EE007FE6E}">
      <dgm:prSet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6. Practical Implementation Roadmap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C6DC80C-C638-4772-B4E7-FFDF8351B2A4}" type="parTrans" cxnId="{A3F71028-273E-4B7A-8C20-C2DFBF59815F}">
      <dgm:prSet/>
      <dgm:spPr/>
      <dgm:t>
        <a:bodyPr/>
        <a:lstStyle/>
        <a:p>
          <a:endParaRPr lang="en-US"/>
        </a:p>
      </dgm:t>
    </dgm:pt>
    <dgm:pt modelId="{60477B54-E23E-4E44-85A3-9D89C578B17B}" type="sibTrans" cxnId="{A3F71028-273E-4B7A-8C20-C2DFBF59815F}">
      <dgm:prSet/>
      <dgm:spPr/>
      <dgm:t>
        <a:bodyPr/>
        <a:lstStyle/>
        <a:p>
          <a:endParaRPr lang="en-US"/>
        </a:p>
      </dgm:t>
    </dgm:pt>
    <dgm:pt modelId="{EED61712-43F6-4F50-9464-BF5E9555481C}" type="pres">
      <dgm:prSet presAssocID="{70CA146D-4505-4886-8321-78A4819C2D5F}" presName="Name0" presStyleCnt="0">
        <dgm:presLayoutVars>
          <dgm:chMax val="7"/>
          <dgm:chPref val="7"/>
          <dgm:dir/>
        </dgm:presLayoutVars>
      </dgm:prSet>
      <dgm:spPr/>
    </dgm:pt>
    <dgm:pt modelId="{7706103D-C24E-4840-BA94-540604A13A07}" type="pres">
      <dgm:prSet presAssocID="{70CA146D-4505-4886-8321-78A4819C2D5F}" presName="Name1" presStyleCnt="0"/>
      <dgm:spPr/>
    </dgm:pt>
    <dgm:pt modelId="{CFAB3EC3-BD82-44FB-942E-5D3AC749EAA8}" type="pres">
      <dgm:prSet presAssocID="{70CA146D-4505-4886-8321-78A4819C2D5F}" presName="cycle" presStyleCnt="0"/>
      <dgm:spPr/>
    </dgm:pt>
    <dgm:pt modelId="{24FD5305-E75D-44B6-ABEA-623F5F82E2E5}" type="pres">
      <dgm:prSet presAssocID="{70CA146D-4505-4886-8321-78A4819C2D5F}" presName="srcNode" presStyleLbl="node1" presStyleIdx="0" presStyleCnt="6"/>
      <dgm:spPr/>
    </dgm:pt>
    <dgm:pt modelId="{304358D3-6067-4BF5-86E7-28981C9B5682}" type="pres">
      <dgm:prSet presAssocID="{70CA146D-4505-4886-8321-78A4819C2D5F}" presName="conn" presStyleLbl="parChTrans1D2" presStyleIdx="0" presStyleCnt="1"/>
      <dgm:spPr/>
    </dgm:pt>
    <dgm:pt modelId="{29BB1D4F-A3ED-41D0-8BE3-2B9A59D369C9}" type="pres">
      <dgm:prSet presAssocID="{70CA146D-4505-4886-8321-78A4819C2D5F}" presName="extraNode" presStyleLbl="node1" presStyleIdx="0" presStyleCnt="6"/>
      <dgm:spPr/>
    </dgm:pt>
    <dgm:pt modelId="{48151FD8-9693-4B60-8338-CE6134FAB414}" type="pres">
      <dgm:prSet presAssocID="{70CA146D-4505-4886-8321-78A4819C2D5F}" presName="dstNode" presStyleLbl="node1" presStyleIdx="0" presStyleCnt="6"/>
      <dgm:spPr/>
    </dgm:pt>
    <dgm:pt modelId="{9E4AB816-64B2-4CC1-9CFF-1F57BB6BD052}" type="pres">
      <dgm:prSet presAssocID="{8C6F6B4E-57FB-433F-B6F4-27615630CD90}" presName="text_1" presStyleLbl="node1" presStyleIdx="0" presStyleCnt="6">
        <dgm:presLayoutVars>
          <dgm:bulletEnabled val="1"/>
        </dgm:presLayoutVars>
      </dgm:prSet>
      <dgm:spPr/>
    </dgm:pt>
    <dgm:pt modelId="{21A7F7A9-8AB8-4B03-88E7-B4BB74A60188}" type="pres">
      <dgm:prSet presAssocID="{8C6F6B4E-57FB-433F-B6F4-27615630CD90}" presName="accent_1" presStyleCnt="0"/>
      <dgm:spPr/>
    </dgm:pt>
    <dgm:pt modelId="{75024ACC-A9F8-4935-9DE9-39419D2046B1}" type="pres">
      <dgm:prSet presAssocID="{8C6F6B4E-57FB-433F-B6F4-27615630CD90}" presName="accentRepeatNode" presStyleLbl="solidFgAcc1" presStyleIdx="0" presStyleCnt="6"/>
      <dgm:spPr>
        <a:solidFill>
          <a:schemeClr val="accent2"/>
        </a:solidFill>
      </dgm:spPr>
    </dgm:pt>
    <dgm:pt modelId="{4FB93E3F-EAFA-49AE-926D-234D0FD5B6C1}" type="pres">
      <dgm:prSet presAssocID="{1D61803D-4766-4CEF-8705-05E2866125EC}" presName="text_2" presStyleLbl="node1" presStyleIdx="1" presStyleCnt="6">
        <dgm:presLayoutVars>
          <dgm:bulletEnabled val="1"/>
        </dgm:presLayoutVars>
      </dgm:prSet>
      <dgm:spPr/>
    </dgm:pt>
    <dgm:pt modelId="{E1B7FB3C-1785-4FCD-971C-A130F08040CB}" type="pres">
      <dgm:prSet presAssocID="{1D61803D-4766-4CEF-8705-05E2866125EC}" presName="accent_2" presStyleCnt="0"/>
      <dgm:spPr/>
    </dgm:pt>
    <dgm:pt modelId="{42BD09B8-AA7B-423C-A820-5DDA2237968A}" type="pres">
      <dgm:prSet presAssocID="{1D61803D-4766-4CEF-8705-05E2866125EC}" presName="accentRepeatNode" presStyleLbl="solidFgAcc1" presStyleIdx="1" presStyleCnt="6"/>
      <dgm:spPr>
        <a:solidFill>
          <a:schemeClr val="accent6"/>
        </a:solidFill>
      </dgm:spPr>
    </dgm:pt>
    <dgm:pt modelId="{35FD27F4-746B-4099-BC63-0999BC919486}" type="pres">
      <dgm:prSet presAssocID="{42F36A87-6452-403F-82DA-C3BD90A121E5}" presName="text_3" presStyleLbl="node1" presStyleIdx="2" presStyleCnt="6" custLinFactNeighborX="625" custLinFactNeighborY="-11363">
        <dgm:presLayoutVars>
          <dgm:bulletEnabled val="1"/>
        </dgm:presLayoutVars>
      </dgm:prSet>
      <dgm:spPr/>
    </dgm:pt>
    <dgm:pt modelId="{1BFC2D2E-92F3-4620-B876-3DF17048295E}" type="pres">
      <dgm:prSet presAssocID="{42F36A87-6452-403F-82DA-C3BD90A121E5}" presName="accent_3" presStyleCnt="0"/>
      <dgm:spPr/>
    </dgm:pt>
    <dgm:pt modelId="{46D4A6A2-D9C4-4388-8A7C-DCB90A95B0CB}" type="pres">
      <dgm:prSet presAssocID="{42F36A87-6452-403F-82DA-C3BD90A121E5}" presName="accentRepeatNode" presStyleLbl="solidFgAcc1" presStyleIdx="2" presStyleCnt="6"/>
      <dgm:spPr>
        <a:solidFill>
          <a:srgbClr val="00B0F0"/>
        </a:solidFill>
      </dgm:spPr>
    </dgm:pt>
    <dgm:pt modelId="{66635762-99D1-4953-8ABA-E243EEB279A1}" type="pres">
      <dgm:prSet presAssocID="{21E13E80-2712-4C11-A10E-8F65C978CA6D}" presName="text_4" presStyleLbl="node1" presStyleIdx="3" presStyleCnt="6">
        <dgm:presLayoutVars>
          <dgm:bulletEnabled val="1"/>
        </dgm:presLayoutVars>
      </dgm:prSet>
      <dgm:spPr/>
    </dgm:pt>
    <dgm:pt modelId="{BF40A6D0-53B2-42FD-8959-CF0CEC5372CB}" type="pres">
      <dgm:prSet presAssocID="{21E13E80-2712-4C11-A10E-8F65C978CA6D}" presName="accent_4" presStyleCnt="0"/>
      <dgm:spPr/>
    </dgm:pt>
    <dgm:pt modelId="{CB967A22-C401-4208-873A-2068D5353FA6}" type="pres">
      <dgm:prSet presAssocID="{21E13E80-2712-4C11-A10E-8F65C978CA6D}" presName="accentRepeatNode" presStyleLbl="solidFgAcc1" presStyleIdx="3" presStyleCnt="6"/>
      <dgm:spPr>
        <a:solidFill>
          <a:srgbClr val="FF0000"/>
        </a:solidFill>
      </dgm:spPr>
    </dgm:pt>
    <dgm:pt modelId="{96F43A50-EBF9-479A-8F49-E6D98AF16B39}" type="pres">
      <dgm:prSet presAssocID="{40222A1C-FB53-4FC5-96F7-9412D4119C60}" presName="text_5" presStyleLbl="node1" presStyleIdx="4" presStyleCnt="6">
        <dgm:presLayoutVars>
          <dgm:bulletEnabled val="1"/>
        </dgm:presLayoutVars>
      </dgm:prSet>
      <dgm:spPr/>
    </dgm:pt>
    <dgm:pt modelId="{BB38B82E-FD33-4276-9FF8-4D69AD5026F5}" type="pres">
      <dgm:prSet presAssocID="{40222A1C-FB53-4FC5-96F7-9412D4119C60}" presName="accent_5" presStyleCnt="0"/>
      <dgm:spPr/>
    </dgm:pt>
    <dgm:pt modelId="{D4D7015B-3205-43DD-B836-76828B77D8F5}" type="pres">
      <dgm:prSet presAssocID="{40222A1C-FB53-4FC5-96F7-9412D4119C60}" presName="accentRepeatNode" presStyleLbl="solidFgAcc1" presStyleIdx="4" presStyleCnt="6"/>
      <dgm:spPr>
        <a:solidFill>
          <a:schemeClr val="accent3"/>
        </a:solidFill>
      </dgm:spPr>
    </dgm:pt>
    <dgm:pt modelId="{12ACECBA-01C3-40CC-B1D0-44DAD6A01D32}" type="pres">
      <dgm:prSet presAssocID="{7567DE43-3789-4B37-9BEF-834EE007FE6E}" presName="text_6" presStyleLbl="node1" presStyleIdx="5" presStyleCnt="6">
        <dgm:presLayoutVars>
          <dgm:bulletEnabled val="1"/>
        </dgm:presLayoutVars>
      </dgm:prSet>
      <dgm:spPr/>
    </dgm:pt>
    <dgm:pt modelId="{60C80A19-1FD5-4912-B279-A0B01B2FE8F5}" type="pres">
      <dgm:prSet presAssocID="{7567DE43-3789-4B37-9BEF-834EE007FE6E}" presName="accent_6" presStyleCnt="0"/>
      <dgm:spPr/>
    </dgm:pt>
    <dgm:pt modelId="{F0FC6F9E-FD00-47C9-94BE-C0E3F2FCA154}" type="pres">
      <dgm:prSet presAssocID="{7567DE43-3789-4B37-9BEF-834EE007FE6E}" presName="accentRepeatNode" presStyleLbl="solidFgAcc1" presStyleIdx="5" presStyleCnt="6"/>
      <dgm:spPr>
        <a:solidFill>
          <a:srgbClr val="FFC000"/>
        </a:solidFill>
      </dgm:spPr>
    </dgm:pt>
  </dgm:ptLst>
  <dgm:cxnLst>
    <dgm:cxn modelId="{CDFDA306-B04F-4AFA-AC74-29A86710753A}" srcId="{70CA146D-4505-4886-8321-78A4819C2D5F}" destId="{8C6F6B4E-57FB-433F-B6F4-27615630CD90}" srcOrd="0" destOrd="0" parTransId="{C49226A4-1784-4591-BCAF-B37066FA7CED}" sibTransId="{C8F77F84-2553-4E4C-BBCB-ED00FB90EDB8}"/>
    <dgm:cxn modelId="{D0E80723-EAEE-4181-9580-6A2EFDA85AEA}" type="presOf" srcId="{40222A1C-FB53-4FC5-96F7-9412D4119C60}" destId="{96F43A50-EBF9-479A-8F49-E6D98AF16B39}" srcOrd="0" destOrd="0" presId="urn:microsoft.com/office/officeart/2008/layout/VerticalCurvedList"/>
    <dgm:cxn modelId="{2DE0E426-7F17-4B12-BDDD-781DC10687F6}" srcId="{70CA146D-4505-4886-8321-78A4819C2D5F}" destId="{21E13E80-2712-4C11-A10E-8F65C978CA6D}" srcOrd="3" destOrd="0" parTransId="{DD0B4131-B425-4565-A3BB-39907B628434}" sibTransId="{B81015C3-4542-4416-AAC5-D953279654F1}"/>
    <dgm:cxn modelId="{A3F71028-273E-4B7A-8C20-C2DFBF59815F}" srcId="{70CA146D-4505-4886-8321-78A4819C2D5F}" destId="{7567DE43-3789-4B37-9BEF-834EE007FE6E}" srcOrd="5" destOrd="0" parTransId="{1C6DC80C-C638-4772-B4E7-FFDF8351B2A4}" sibTransId="{60477B54-E23E-4E44-85A3-9D89C578B17B}"/>
    <dgm:cxn modelId="{3AC6A436-56DC-4B7E-9B40-B1FA772DC2F4}" type="presOf" srcId="{1D61803D-4766-4CEF-8705-05E2866125EC}" destId="{4FB93E3F-EAFA-49AE-926D-234D0FD5B6C1}" srcOrd="0" destOrd="0" presId="urn:microsoft.com/office/officeart/2008/layout/VerticalCurvedList"/>
    <dgm:cxn modelId="{2604515E-D42C-452D-932F-BCC8BE7A050D}" type="presOf" srcId="{8C6F6B4E-57FB-433F-B6F4-27615630CD90}" destId="{9E4AB816-64B2-4CC1-9CFF-1F57BB6BD052}" srcOrd="0" destOrd="0" presId="urn:microsoft.com/office/officeart/2008/layout/VerticalCurvedList"/>
    <dgm:cxn modelId="{51AD6B7D-00AF-4F5F-9B0C-E2A689C42FA3}" srcId="{70CA146D-4505-4886-8321-78A4819C2D5F}" destId="{42F36A87-6452-403F-82DA-C3BD90A121E5}" srcOrd="2" destOrd="0" parTransId="{889F46A1-A3F5-456F-9CEF-59046D96FFE1}" sibTransId="{E8CC92A0-1F6C-4756-9304-0AE3F9799BE7}"/>
    <dgm:cxn modelId="{DD59FC92-C434-44D2-B4D5-69E2120CB87F}" type="presOf" srcId="{42F36A87-6452-403F-82DA-C3BD90A121E5}" destId="{35FD27F4-746B-4099-BC63-0999BC919486}" srcOrd="0" destOrd="0" presId="urn:microsoft.com/office/officeart/2008/layout/VerticalCurvedList"/>
    <dgm:cxn modelId="{3BDAFCA8-19A0-456C-AB42-064245C5438D}" type="presOf" srcId="{21E13E80-2712-4C11-A10E-8F65C978CA6D}" destId="{66635762-99D1-4953-8ABA-E243EEB279A1}" srcOrd="0" destOrd="0" presId="urn:microsoft.com/office/officeart/2008/layout/VerticalCurvedList"/>
    <dgm:cxn modelId="{B14656B5-17AF-411B-9896-93FD2BCBEEC4}" type="presOf" srcId="{70CA146D-4505-4886-8321-78A4819C2D5F}" destId="{EED61712-43F6-4F50-9464-BF5E9555481C}" srcOrd="0" destOrd="0" presId="urn:microsoft.com/office/officeart/2008/layout/VerticalCurvedList"/>
    <dgm:cxn modelId="{3EB0D0CB-33D9-4158-8A1E-AFB1A49980AD}" type="presOf" srcId="{7567DE43-3789-4B37-9BEF-834EE007FE6E}" destId="{12ACECBA-01C3-40CC-B1D0-44DAD6A01D32}" srcOrd="0" destOrd="0" presId="urn:microsoft.com/office/officeart/2008/layout/VerticalCurvedList"/>
    <dgm:cxn modelId="{EB8F56CF-6DC7-4529-8425-6D61DF77CCA9}" srcId="{70CA146D-4505-4886-8321-78A4819C2D5F}" destId="{1D61803D-4766-4CEF-8705-05E2866125EC}" srcOrd="1" destOrd="0" parTransId="{53AE9386-B530-4A2E-905C-1F1891ED9F83}" sibTransId="{11BD5F1B-D87A-4C3A-8AE6-68BB094A9BA4}"/>
    <dgm:cxn modelId="{D3894EDA-3213-4E5B-8C25-626E7F6FA7F5}" srcId="{70CA146D-4505-4886-8321-78A4819C2D5F}" destId="{40222A1C-FB53-4FC5-96F7-9412D4119C60}" srcOrd="4" destOrd="0" parTransId="{C24955F9-32E2-425F-AB28-AB455E970E8E}" sibTransId="{8B8576CC-A808-42A6-926C-CF020ECAADE8}"/>
    <dgm:cxn modelId="{72FEE9F8-8101-41D3-8A0D-F2921FFA09EB}" type="presOf" srcId="{C8F77F84-2553-4E4C-BBCB-ED00FB90EDB8}" destId="{304358D3-6067-4BF5-86E7-28981C9B5682}" srcOrd="0" destOrd="0" presId="urn:microsoft.com/office/officeart/2008/layout/VerticalCurvedList"/>
    <dgm:cxn modelId="{451312C7-39F8-4F1C-A5E9-9EB21687DADF}" type="presParOf" srcId="{EED61712-43F6-4F50-9464-BF5E9555481C}" destId="{7706103D-C24E-4840-BA94-540604A13A07}" srcOrd="0" destOrd="0" presId="urn:microsoft.com/office/officeart/2008/layout/VerticalCurvedList"/>
    <dgm:cxn modelId="{513542A1-9450-468C-B846-550C7C038AFF}" type="presParOf" srcId="{7706103D-C24E-4840-BA94-540604A13A07}" destId="{CFAB3EC3-BD82-44FB-942E-5D3AC749EAA8}" srcOrd="0" destOrd="0" presId="urn:microsoft.com/office/officeart/2008/layout/VerticalCurvedList"/>
    <dgm:cxn modelId="{D4030543-E104-4171-8789-97A91FFC700E}" type="presParOf" srcId="{CFAB3EC3-BD82-44FB-942E-5D3AC749EAA8}" destId="{24FD5305-E75D-44B6-ABEA-623F5F82E2E5}" srcOrd="0" destOrd="0" presId="urn:microsoft.com/office/officeart/2008/layout/VerticalCurvedList"/>
    <dgm:cxn modelId="{C64264D5-E802-4D06-AE8A-0CFE8000D3B4}" type="presParOf" srcId="{CFAB3EC3-BD82-44FB-942E-5D3AC749EAA8}" destId="{304358D3-6067-4BF5-86E7-28981C9B5682}" srcOrd="1" destOrd="0" presId="urn:microsoft.com/office/officeart/2008/layout/VerticalCurvedList"/>
    <dgm:cxn modelId="{0C882DDC-4C6D-48AF-A433-E8370572AC8A}" type="presParOf" srcId="{CFAB3EC3-BD82-44FB-942E-5D3AC749EAA8}" destId="{29BB1D4F-A3ED-41D0-8BE3-2B9A59D369C9}" srcOrd="2" destOrd="0" presId="urn:microsoft.com/office/officeart/2008/layout/VerticalCurvedList"/>
    <dgm:cxn modelId="{F00FFDEE-17FA-40C6-90E7-9EDAD4484A32}" type="presParOf" srcId="{CFAB3EC3-BD82-44FB-942E-5D3AC749EAA8}" destId="{48151FD8-9693-4B60-8338-CE6134FAB414}" srcOrd="3" destOrd="0" presId="urn:microsoft.com/office/officeart/2008/layout/VerticalCurvedList"/>
    <dgm:cxn modelId="{6637FB5A-7C9D-4283-BD7B-2573AE406EDB}" type="presParOf" srcId="{7706103D-C24E-4840-BA94-540604A13A07}" destId="{9E4AB816-64B2-4CC1-9CFF-1F57BB6BD052}" srcOrd="1" destOrd="0" presId="urn:microsoft.com/office/officeart/2008/layout/VerticalCurvedList"/>
    <dgm:cxn modelId="{B1D288F0-9D1C-4334-8FFE-B1F6CF6B1CF9}" type="presParOf" srcId="{7706103D-C24E-4840-BA94-540604A13A07}" destId="{21A7F7A9-8AB8-4B03-88E7-B4BB74A60188}" srcOrd="2" destOrd="0" presId="urn:microsoft.com/office/officeart/2008/layout/VerticalCurvedList"/>
    <dgm:cxn modelId="{65B2B4E5-433F-46CD-B8B6-0B2A7CE9773B}" type="presParOf" srcId="{21A7F7A9-8AB8-4B03-88E7-B4BB74A60188}" destId="{75024ACC-A9F8-4935-9DE9-39419D2046B1}" srcOrd="0" destOrd="0" presId="urn:microsoft.com/office/officeart/2008/layout/VerticalCurvedList"/>
    <dgm:cxn modelId="{904CA265-3270-41D0-ADF4-34207B7376CE}" type="presParOf" srcId="{7706103D-C24E-4840-BA94-540604A13A07}" destId="{4FB93E3F-EAFA-49AE-926D-234D0FD5B6C1}" srcOrd="3" destOrd="0" presId="urn:microsoft.com/office/officeart/2008/layout/VerticalCurvedList"/>
    <dgm:cxn modelId="{C4C269CC-C512-476C-AB0D-E395FED116BC}" type="presParOf" srcId="{7706103D-C24E-4840-BA94-540604A13A07}" destId="{E1B7FB3C-1785-4FCD-971C-A130F08040CB}" srcOrd="4" destOrd="0" presId="urn:microsoft.com/office/officeart/2008/layout/VerticalCurvedList"/>
    <dgm:cxn modelId="{4EF04A63-6F90-44F8-9392-A982C861752D}" type="presParOf" srcId="{E1B7FB3C-1785-4FCD-971C-A130F08040CB}" destId="{42BD09B8-AA7B-423C-A820-5DDA2237968A}" srcOrd="0" destOrd="0" presId="urn:microsoft.com/office/officeart/2008/layout/VerticalCurvedList"/>
    <dgm:cxn modelId="{F038CE2C-1CD0-44FD-9F9A-442C13FD8A77}" type="presParOf" srcId="{7706103D-C24E-4840-BA94-540604A13A07}" destId="{35FD27F4-746B-4099-BC63-0999BC919486}" srcOrd="5" destOrd="0" presId="urn:microsoft.com/office/officeart/2008/layout/VerticalCurvedList"/>
    <dgm:cxn modelId="{32CEBEE9-C758-4AFE-B147-0D48A6310CC0}" type="presParOf" srcId="{7706103D-C24E-4840-BA94-540604A13A07}" destId="{1BFC2D2E-92F3-4620-B876-3DF17048295E}" srcOrd="6" destOrd="0" presId="urn:microsoft.com/office/officeart/2008/layout/VerticalCurvedList"/>
    <dgm:cxn modelId="{662C47B7-6892-49A6-BFF9-08DE77E903F3}" type="presParOf" srcId="{1BFC2D2E-92F3-4620-B876-3DF17048295E}" destId="{46D4A6A2-D9C4-4388-8A7C-DCB90A95B0CB}" srcOrd="0" destOrd="0" presId="urn:microsoft.com/office/officeart/2008/layout/VerticalCurvedList"/>
    <dgm:cxn modelId="{D8465874-499C-494D-9119-C3AB06995E71}" type="presParOf" srcId="{7706103D-C24E-4840-BA94-540604A13A07}" destId="{66635762-99D1-4953-8ABA-E243EEB279A1}" srcOrd="7" destOrd="0" presId="urn:microsoft.com/office/officeart/2008/layout/VerticalCurvedList"/>
    <dgm:cxn modelId="{25B0F49F-A27C-47FC-8F47-0A0D55A72B22}" type="presParOf" srcId="{7706103D-C24E-4840-BA94-540604A13A07}" destId="{BF40A6D0-53B2-42FD-8959-CF0CEC5372CB}" srcOrd="8" destOrd="0" presId="urn:microsoft.com/office/officeart/2008/layout/VerticalCurvedList"/>
    <dgm:cxn modelId="{88D267ED-FAEE-4ACB-BCFA-8AA18847F3FC}" type="presParOf" srcId="{BF40A6D0-53B2-42FD-8959-CF0CEC5372CB}" destId="{CB967A22-C401-4208-873A-2068D5353FA6}" srcOrd="0" destOrd="0" presId="urn:microsoft.com/office/officeart/2008/layout/VerticalCurvedList"/>
    <dgm:cxn modelId="{E61DEA7A-2333-4090-81B8-2CF373E6C9C5}" type="presParOf" srcId="{7706103D-C24E-4840-BA94-540604A13A07}" destId="{96F43A50-EBF9-479A-8F49-E6D98AF16B39}" srcOrd="9" destOrd="0" presId="urn:microsoft.com/office/officeart/2008/layout/VerticalCurvedList"/>
    <dgm:cxn modelId="{0BB224A6-13DA-46C0-BEB1-AA977E17EE6B}" type="presParOf" srcId="{7706103D-C24E-4840-BA94-540604A13A07}" destId="{BB38B82E-FD33-4276-9FF8-4D69AD5026F5}" srcOrd="10" destOrd="0" presId="urn:microsoft.com/office/officeart/2008/layout/VerticalCurvedList"/>
    <dgm:cxn modelId="{0EEFB07D-C9AE-4F46-A9AD-6996B4472AD1}" type="presParOf" srcId="{BB38B82E-FD33-4276-9FF8-4D69AD5026F5}" destId="{D4D7015B-3205-43DD-B836-76828B77D8F5}" srcOrd="0" destOrd="0" presId="urn:microsoft.com/office/officeart/2008/layout/VerticalCurvedList"/>
    <dgm:cxn modelId="{7CE8E533-DA81-429A-82AC-D109C8ECEC72}" type="presParOf" srcId="{7706103D-C24E-4840-BA94-540604A13A07}" destId="{12ACECBA-01C3-40CC-B1D0-44DAD6A01D32}" srcOrd="11" destOrd="0" presId="urn:microsoft.com/office/officeart/2008/layout/VerticalCurvedList"/>
    <dgm:cxn modelId="{EAF09F3D-315E-4FCB-9068-B207E524D63C}" type="presParOf" srcId="{7706103D-C24E-4840-BA94-540604A13A07}" destId="{60C80A19-1FD5-4912-B279-A0B01B2FE8F5}" srcOrd="12" destOrd="0" presId="urn:microsoft.com/office/officeart/2008/layout/VerticalCurvedList"/>
    <dgm:cxn modelId="{7FD4AB89-AFCA-4D40-BE79-D2724A8E25E1}" type="presParOf" srcId="{60C80A19-1FD5-4912-B279-A0B01B2FE8F5}" destId="{F0FC6F9E-FD00-47C9-94BE-C0E3F2FCA154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4358D3-6067-4BF5-86E7-28981C9B5682}">
      <dsp:nvSpPr>
        <dsp:cNvPr id="0" name=""/>
        <dsp:cNvSpPr/>
      </dsp:nvSpPr>
      <dsp:spPr>
        <a:xfrm>
          <a:off x="-4919424" y="-753830"/>
          <a:ext cx="5858998" cy="5858998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4AB816-64B2-4CC1-9CFF-1F57BB6BD052}">
      <dsp:nvSpPr>
        <dsp:cNvPr id="0" name=""/>
        <dsp:cNvSpPr/>
      </dsp:nvSpPr>
      <dsp:spPr>
        <a:xfrm>
          <a:off x="350606" y="229141"/>
          <a:ext cx="10105268" cy="4581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3624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1. MCI Overview, Classification, and Pathophysiology</a:t>
          </a:r>
          <a:endParaRPr lang="en-US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50606" y="229141"/>
        <a:ext cx="10105268" cy="458108"/>
      </dsp:txXfrm>
    </dsp:sp>
    <dsp:sp modelId="{75024ACC-A9F8-4935-9DE9-39419D2046B1}">
      <dsp:nvSpPr>
        <dsp:cNvPr id="0" name=""/>
        <dsp:cNvSpPr/>
      </dsp:nvSpPr>
      <dsp:spPr>
        <a:xfrm>
          <a:off x="64288" y="171877"/>
          <a:ext cx="572636" cy="572636"/>
        </a:xfrm>
        <a:prstGeom prst="ellipse">
          <a:avLst/>
        </a:prstGeom>
        <a:solidFill>
          <a:schemeClr val="accent2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B93E3F-EAFA-49AE-926D-234D0FD5B6C1}">
      <dsp:nvSpPr>
        <dsp:cNvPr id="0" name=""/>
        <dsp:cNvSpPr/>
      </dsp:nvSpPr>
      <dsp:spPr>
        <a:xfrm>
          <a:off x="727432" y="916217"/>
          <a:ext cx="9728442" cy="4581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3624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2. Brain Plasticity Concept</a:t>
          </a:r>
          <a:endParaRPr lang="en-US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27432" y="916217"/>
        <a:ext cx="9728442" cy="458108"/>
      </dsp:txXfrm>
    </dsp:sp>
    <dsp:sp modelId="{42BD09B8-AA7B-423C-A820-5DDA2237968A}">
      <dsp:nvSpPr>
        <dsp:cNvPr id="0" name=""/>
        <dsp:cNvSpPr/>
      </dsp:nvSpPr>
      <dsp:spPr>
        <a:xfrm>
          <a:off x="441114" y="858954"/>
          <a:ext cx="572636" cy="572636"/>
        </a:xfrm>
        <a:prstGeom prst="ellipse">
          <a:avLst/>
        </a:prstGeom>
        <a:solidFill>
          <a:schemeClr val="accent6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FD27F4-746B-4099-BC63-0999BC919486}">
      <dsp:nvSpPr>
        <dsp:cNvPr id="0" name=""/>
        <dsp:cNvSpPr/>
      </dsp:nvSpPr>
      <dsp:spPr>
        <a:xfrm>
          <a:off x="959470" y="1551239"/>
          <a:ext cx="9556129" cy="4581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3624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3. Current Treatments (Pharmacological, Non-Pharmacological, </a:t>
          </a:r>
          <a:r>
            <a:rPr lang="en-US" sz="24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DTx</a:t>
          </a:r>
          <a:r>
            <a:rPr lang="en-US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)</a:t>
          </a:r>
          <a:endParaRPr lang="en-US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959470" y="1551239"/>
        <a:ext cx="9556129" cy="458108"/>
      </dsp:txXfrm>
    </dsp:sp>
    <dsp:sp modelId="{46D4A6A2-D9C4-4388-8A7C-DCB90A95B0CB}">
      <dsp:nvSpPr>
        <dsp:cNvPr id="0" name=""/>
        <dsp:cNvSpPr/>
      </dsp:nvSpPr>
      <dsp:spPr>
        <a:xfrm>
          <a:off x="613427" y="1546030"/>
          <a:ext cx="572636" cy="572636"/>
        </a:xfrm>
        <a:prstGeom prst="ellipse">
          <a:avLst/>
        </a:prstGeom>
        <a:solidFill>
          <a:srgbClr val="00B0F0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635762-99D1-4953-8ABA-E243EEB279A1}">
      <dsp:nvSpPr>
        <dsp:cNvPr id="0" name=""/>
        <dsp:cNvSpPr/>
      </dsp:nvSpPr>
      <dsp:spPr>
        <a:xfrm>
          <a:off x="899745" y="2289935"/>
          <a:ext cx="9556129" cy="4581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3624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4. Clinical Evidence for </a:t>
          </a:r>
          <a:r>
            <a:rPr lang="en-US" sz="24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DTx</a:t>
          </a:r>
          <a:r>
            <a:rPr lang="en-US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(CCT, VR, Reminiscence Therapy)</a:t>
          </a:r>
          <a:endParaRPr lang="en-US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99745" y="2289935"/>
        <a:ext cx="9556129" cy="458108"/>
      </dsp:txXfrm>
    </dsp:sp>
    <dsp:sp modelId="{CB967A22-C401-4208-873A-2068D5353FA6}">
      <dsp:nvSpPr>
        <dsp:cNvPr id="0" name=""/>
        <dsp:cNvSpPr/>
      </dsp:nvSpPr>
      <dsp:spPr>
        <a:xfrm>
          <a:off x="613427" y="2232671"/>
          <a:ext cx="572636" cy="572636"/>
        </a:xfrm>
        <a:prstGeom prst="ellipse">
          <a:avLst/>
        </a:prstGeom>
        <a:solidFill>
          <a:srgbClr val="FF0000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F43A50-EBF9-479A-8F49-E6D98AF16B39}">
      <dsp:nvSpPr>
        <dsp:cNvPr id="0" name=""/>
        <dsp:cNvSpPr/>
      </dsp:nvSpPr>
      <dsp:spPr>
        <a:xfrm>
          <a:off x="727432" y="2977011"/>
          <a:ext cx="9728442" cy="4581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3624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5. Recent Trends (Wearables, Machine Learning)                 </a:t>
          </a:r>
          <a:endParaRPr lang="en-US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27432" y="2977011"/>
        <a:ext cx="9728442" cy="458108"/>
      </dsp:txXfrm>
    </dsp:sp>
    <dsp:sp modelId="{D4D7015B-3205-43DD-B836-76828B77D8F5}">
      <dsp:nvSpPr>
        <dsp:cNvPr id="0" name=""/>
        <dsp:cNvSpPr/>
      </dsp:nvSpPr>
      <dsp:spPr>
        <a:xfrm>
          <a:off x="441114" y="2919747"/>
          <a:ext cx="572636" cy="572636"/>
        </a:xfrm>
        <a:prstGeom prst="ellipse">
          <a:avLst/>
        </a:prstGeom>
        <a:solidFill>
          <a:schemeClr val="accent3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ACECBA-01C3-40CC-B1D0-44DAD6A01D32}">
      <dsp:nvSpPr>
        <dsp:cNvPr id="0" name=""/>
        <dsp:cNvSpPr/>
      </dsp:nvSpPr>
      <dsp:spPr>
        <a:xfrm>
          <a:off x="350606" y="3664087"/>
          <a:ext cx="10105268" cy="4581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3624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6. Practical Implementation Roadmap</a:t>
          </a:r>
          <a:endParaRPr lang="en-US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50606" y="3664087"/>
        <a:ext cx="10105268" cy="458108"/>
      </dsp:txXfrm>
    </dsp:sp>
    <dsp:sp modelId="{F0FC6F9E-FD00-47C9-94BE-C0E3F2FCA154}">
      <dsp:nvSpPr>
        <dsp:cNvPr id="0" name=""/>
        <dsp:cNvSpPr/>
      </dsp:nvSpPr>
      <dsp:spPr>
        <a:xfrm>
          <a:off x="64288" y="3606824"/>
          <a:ext cx="572636" cy="572636"/>
        </a:xfrm>
        <a:prstGeom prst="ellipse">
          <a:avLst/>
        </a:prstGeom>
        <a:solidFill>
          <a:srgbClr val="FFC000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5EED7F-2F80-442A-89E3-E03F193864C3}" type="datetimeFigureOut">
              <a:rPr lang="ko-KR" altLang="en-US" smtClean="0"/>
              <a:t>2025-09-23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EB3D02-5405-4F29-AF8A-BE436BFB65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3772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안녕하세요 팀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코그니션의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발표를 맡게 된 이재은입니다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저희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팀명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코그니션은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인지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인식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사고의 뜻을 가진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영단어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cognitive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접두사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'co-'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함께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공동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상호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의미를 더해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뇌와 관련된 주제를 다루는 두 랩실이 합쳐진 팀이라는 의미를 담고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B3D02-5405-4F29-AF8A-BE436BFB65EC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979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오늘은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경도인지장애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(MCI)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위한 디지털 치료제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DTx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)**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대해 조사한 내용을 발표하겠습니다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먼저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MCI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뇌 가소성 개념을 살펴보고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현재 치료법과 한계를 짚어보겠습니다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다음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(ABILITY,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ReminX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CIRCA, VR-CRT, CCT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같은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주요 디지털 치료 프로그램을 소개하고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웨어러블과 인공지능을 활용한 최신 동향을 말씀드리겠습니다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마지막으로 이러한 접근들이 어떻게 실제 임상에 적용되어 인지 기능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일상 기능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삶의 질 향상에 기여할 수 있는지 정리하겠습니다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B3D02-5405-4F29-AF8A-BE436BFB65E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05043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슬라이드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3: MCI 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개요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경도인지장애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MCI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정상 노화와 치매 사이의 중간 단계입니다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MCI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환자는 기억력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주의력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집행 기능에서 뚜렷한 저하를 보이지만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여전히 일상생활의 독립성은 유지합니다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따라서 치매로 진행되기 전 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조기 중재가 가능한 중요한 시기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 할 수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atinLnBrk="0"/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MCI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에는 두 가지 형태가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기억형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MCI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주로 기억력을 침범하며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알츠하이머병으로 진행될 가능성이 높으며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비기억형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MCI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시공간 능력이나 언어 기능 등 다른 영역에 영향을 주며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전두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측두엽치매나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혈관성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치매 등으로 진행될 수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atinLnBrk="0"/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병리학적으로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알츠하이머형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MCI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아밀로이드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베타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플라크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타우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단백 응집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신경 염증과 관련됩니다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특히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APOE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이플실론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4(APOE ε4)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대립유전자는 알츠하이머로 진행할 위험을 두 배 높입니다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atinLnBrk="0"/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역학적으로는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60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 초반에는 약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6.7%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유병률을 보이며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80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 초반에는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25%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이상으로 증가합니다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또한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MCI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환자의 약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10~20%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매년 치매로 진행됩니다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B3D02-5405-4F29-AF8A-BE436BFB65EC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45441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슬라이드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4: 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뇌 가소성 개념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희망적인 점은 </a:t>
            </a:r>
            <a:r>
              <a:rPr lang="en-US" altLang="ko-KR" sz="1200" b="1" kern="1200" dirty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rPr>
              <a:t>Brain Plasticity, </a:t>
            </a:r>
            <a:r>
              <a:rPr lang="ko-KR" altLang="en-US" sz="1200" b="1" kern="1200" dirty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rPr>
              <a:t>즉 </a:t>
            </a:r>
            <a:r>
              <a:rPr lang="ko-KR" alt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뇌</a:t>
            </a:r>
            <a:r>
              <a:rPr lang="ko-KR" altLang="ko-K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가소성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이는 뇌가 스스로를 재조직하고 새로운 연결을 형성하는 능력을 말합니다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MCI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에서는 약화된 신경 네트워크를 반복적인 자극을 통해 강화할 수 있고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인지 예비능력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(cognitive reserve)**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구축하여 치매 증상의 발현을 지연시킬 수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디지털 치료제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DTx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이러한 원리를 활용합니다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컴퓨터 기반 인지 훈련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(CCT)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VR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기반 인지 재활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(VR-CRT)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처럼 구조화되고 반복적인 자극을 제공함으로써 신경망을 강화합니다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B3D02-5405-4F29-AF8A-BE436BFB65EC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88420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슬라이드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5: 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현재 치료법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현재의 약물치료는 주로 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증상 완화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그칩니다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latinLnBrk="0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알츠하이머병에서는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콜린에스터라제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억제제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NMDA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길항제가 쓰이고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pPr lvl="0" latinLnBrk="0"/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latinLnBrk="0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최근에는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아두카누맙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레카네맙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같은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항아밀로이드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항체도 승인되었지만 임상적 유용성은 여전히 논란이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0" latinLnBrk="0"/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latinLnBrk="0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파킨슨병에서는 레보도파가 표준 치료이며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도파민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작용제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COMT, MAO-B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억제제와 병용되기도 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또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뇌심부자극술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같은 비약물적 치료도 운동 증상에 도움을 줍니다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0" latinLnBrk="0"/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비약물적 방법으로는 인지 재활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운동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식이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사회적 교류 등이 있지만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접근성과 지속성이 제한적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atinLnBrk="0"/>
            <a:b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이런 한계를 보완하는 것이 바로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디지털 치료제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DTx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)**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DTx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원격 모니터링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개인 맞춤형 적응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지속적 참여 유도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뛰어난 접근성을 제공하여 특히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MCI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단계에서 큰 가치를 가집니다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B3D02-5405-4F29-AF8A-BE436BFB65E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00993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슬라이드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6: 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디지털 치료제의 임상 근거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이제 임상 근거를 살펴보겠습니다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첫번째로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ABILITY 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프로그램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이는 인지 및 신체 재활을 태블릿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Fitbit,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건강 기기와 연계하여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(6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주간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진행하는 치료이며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결과 기존 치료 대비 더 높은 효과와 순응도를 보였으며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기억력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집행 기능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언어 능력이 향상되었습니다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다음으로</a:t>
            </a:r>
            <a:r>
              <a:rPr lang="en-US" altLang="ko-K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ReminX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개인 사진과 오디오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카메라 기반 참여 모니터링을 활용한 디지털 회상 요법입니다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이는 불안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우울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정서적 스트레스를 줄였습니다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세번째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CIRCA, CIRCUS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영화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사진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음악을 활용한 멀티미디어 플랫폼으로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삶의 질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사회적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연결감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행복감을 개선했습니다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B3D02-5405-4F29-AF8A-BE436BFB65E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39524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네번째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VR-CRT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2024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년 리뷰에 따르면 전통적 인지 재활과 동등한 효과를 보였으며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동기 부여와 생태학적 타당성에서 장점이 있었습니다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다만 연구가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건에 불과해 대규모 연구가 필요한 상태입니다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마지막으로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CCT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가장 연구가 많은 분야입니다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2025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년 메타분석에 따르면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**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집중형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CCT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모델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(CCT2x)**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가장 효과적이었으며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전반적 인지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일화 기억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작업 기억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일상 기능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기분 등을 개선했습니다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따라서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CCT2x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MCI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 치매 환자에게 가장 효과적인 디지털 치료법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DTx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평가됩니다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B3D02-5405-4F29-AF8A-BE436BFB65EC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37435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슬라이드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8: 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최근 동향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최근 동향에 대해 살펴보겠습니다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첫째로는 조기 발견입니다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웨어러블 관성 센서와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머신러닝을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결합해 보행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균형 패턴으로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MCI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약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76%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정확도로 식별했습니다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앞으로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VR,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보행 분석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AI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결합된 신뢰성 높은 디지털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바이오마커가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가능할 것으로 기대됩니다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두번째는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CCT 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디자인의 발전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무지도보다 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지도형 훈련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훨씬 효과적이라는 근거가 늘어나고 있으며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특히 언어 기억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시각 기억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작업 기억 향상이 뚜렷했습니다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개인 맞춤형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지도형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CCT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가장 효과적으로 나타납니다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B3D02-5405-4F29-AF8A-BE436BFB65EC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85216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슬라이드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9: 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적용 로드맵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다음은 실제 적용 로드맵입니다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latinLnBrk="0"/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대상군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으로는 알츠하이머 진행 위험이 높은 기억형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MCI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중점적 대상으로 해야 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latinLnBrk="0"/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또한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기억력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주의력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작업 기억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집행 기능을 포함하는 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훈련 모듈을 사용합니다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특히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CCT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신체 훈련을 결합하면 효과가 더 클 것으로 예상됩니다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latinLnBrk="0"/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집중형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CCT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모델인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CCT2x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모델을 사용하여 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4~5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30~45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6~12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주간 시행하면서 난이도 조정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실시간 피드백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게임화 등을 통해 참여도를 높이는 방법을 활용할 수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latinLnBrk="0"/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플랫폼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으로는 모바일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태블릿 기반을 기본으로 하고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VR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동기 부여용 보조로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웨어러블은 활동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심박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순응도 모니터링에 활용할 수 있으며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latinLnBrk="0"/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평가 도구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MoCA,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신경심리검사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IADL,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우울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불안 척도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앱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웨어러블 로그 등을 사용할 수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B3D02-5405-4F29-AF8A-BE436BFB65EC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07589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슬라이드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10: 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결론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latinLnBrk="0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MCI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치매로 진행되기 전 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중재의 </a:t>
            </a:r>
            <a:r>
              <a:rPr lang="ko-KR" altLang="ko-K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골든타임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이며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뇌 가소성은 디지털 치료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DTx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생물학적 근거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제공합니다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latinLnBrk="0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현재까지 디지털치료제로서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ABILITY,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ReminX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VR-CRT,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특히 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집중형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CCT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인지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기능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기분을 개선하는 효과가 입증되었습니다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latinLnBrk="0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웨어러블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개인 맞춤형 플랫폼의 발전으로 디지털 치료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DTx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MCI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예방 및 진행 억제 전략으로서 큰 잠재력을 가지고 있다는 것을 알 수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B3D02-5405-4F29-AF8A-BE436BFB65EC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08557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FB0B7-DF19-40AB-9A7A-B6B28EE51F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30704D-B495-4088-865E-3DD26C3481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94FA9B-8CE3-424A-8035-F4C2237C1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45DA6-68FA-4212-A13B-0564C7EA3121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128ACC-6CCB-4F8A-BC37-161E796FB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76BC0B-201B-4BCE-99E8-1CF5A99A5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3BA74-770A-45D6-AEB2-19E84A962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685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CD079-4B32-4585-AA68-03E542279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39B0B-7A91-466A-9A80-13072CA5BE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4B375D-00CF-4B74-B009-64BB6D487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45DA6-68FA-4212-A13B-0564C7EA3121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A6CBF-E668-445F-AEB6-201EA5DA6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F594E7-E343-4A5F-A9C3-E7FC9A54E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3BA74-770A-45D6-AEB2-19E84A962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076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D494D-203D-47B4-8F4F-76278AF37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D2E9EB-3CEF-40B8-9B3B-E63AED26F3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EB902-F95F-47EC-AC49-B72BD772F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45DA6-68FA-4212-A13B-0564C7EA3121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56F8F2-D441-4A21-B224-F3C0AA042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BCCDB8-B3EB-481D-82BE-EB0468260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3BA74-770A-45D6-AEB2-19E84A962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98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92C4F-3C8D-4FA9-91B7-A3516CC03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63DFD-95AC-4FD5-BF09-4950C0565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038DE9-B4A7-4530-B5C5-B43185911B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598582-D45C-408B-BA96-4BDBA9608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45DA6-68FA-4212-A13B-0564C7EA3121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3ED323-AA9B-4407-9C16-9F7C4190F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EA3EC4-970E-42BD-8BF4-603FC9F17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3BA74-770A-45D6-AEB2-19E84A962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309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2F733-CC35-467A-BA5F-3D206375B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FEA58-7F33-45C6-BC0C-BF3E05A146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BC6878-69A0-47F6-B6D8-EC205A2786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464697-2202-407F-AF17-7C3B6C880E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6C2E61-5464-4E18-80CC-C55E2B658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A8DEFB-03A9-41D6-96D0-200DD97A8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45DA6-68FA-4212-A13B-0564C7EA3121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2018D1-D7FF-4D84-8F68-8940CC905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E53FC6-7FDD-4375-8E0C-5C162F3AA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3BA74-770A-45D6-AEB2-19E84A962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447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1F6D7-5C01-489B-8E9D-CEC886B29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AD79D1-217E-4415-9BD9-DF66F99E3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45DA6-68FA-4212-A13B-0564C7EA3121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838502-6112-47E2-9140-FC18937DE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15E2CA-0F88-4825-B917-75B18A148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3BA74-770A-45D6-AEB2-19E84A962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735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5F744E-78C4-404C-BCB7-A196507BE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45DA6-68FA-4212-A13B-0564C7EA3121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D705E3-D4F5-4E98-A606-F15DF03F2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BA57A1-B734-4BFF-8E73-7567BD6A1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3BA74-770A-45D6-AEB2-19E84A962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090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4D95C-6CBA-4227-AAAD-DD0D0C314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868CC-25EF-4949-94CD-7378918AE4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43499F-4F01-45CB-A54E-75A869414C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27CEF6-D5FB-4A6B-B27E-ACEE3985E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45DA6-68FA-4212-A13B-0564C7EA3121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50AE2D-0E08-444E-A151-9B6C7FEBA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DD270-2583-4796-BE69-DEE2E2E06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3BA74-770A-45D6-AEB2-19E84A962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043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8DF82-32B8-438E-B717-4CE501E9C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E37981-13A9-4429-B42E-C3692C3FAE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69361C-E292-4B94-8B79-231B02DFE9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0D0E1-C61A-4B9E-8040-0CFA433C7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45DA6-68FA-4212-A13B-0564C7EA3121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99A965-BAB0-4AE9-90EB-6223418B6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A591D-C1E8-4DB7-BC51-7BD343235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3BA74-770A-45D6-AEB2-19E84A962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493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716F4-7EE2-405C-AC4F-31DCE54C4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0D3D12-39C4-47C4-80B3-D37828B0CC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C70DBE-4475-4F38-A023-A7EE607BC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45DA6-68FA-4212-A13B-0564C7EA3121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8B61FB-0DEB-4567-AA04-4D6F83EBE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2F6250-8EFD-46B7-8F36-F819F4C21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3BA74-770A-45D6-AEB2-19E84A962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5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D54DDD-FB1E-4F2E-8755-6253D5FCF1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515DBA-7927-4EAC-A7C8-65E5D56290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7A298-EFA5-4F4A-98F5-05149F25B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45DA6-68FA-4212-A13B-0564C7EA3121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4DDB87-5FB6-4CED-A06C-E7C7FB063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CBC8C-73A7-456B-9990-1281BE801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3BA74-770A-45D6-AEB2-19E84A962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807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E64512-7C0E-4DA4-8001-7642CBE72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EEC97D-5DB3-4BCC-B163-DF224B433D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7AD66-34BC-4C6E-821C-79623659F5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F45DA6-68FA-4212-A13B-0564C7EA3121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A547CC-0EE1-46F2-A161-D1D719DDC0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9B6BE2-226C-440A-BB1C-41E43998E1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B3BA74-770A-45D6-AEB2-19E84A962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559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CBAD9E9-AD71-4910-BBBE-DFCBF2E772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9240740"/>
              </p:ext>
            </p:extLst>
          </p:nvPr>
        </p:nvGraphicFramePr>
        <p:xfrm>
          <a:off x="0" y="648716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13099190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52643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FFAAAF0-39F9-4908-A93C-FDE21011D9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5027324"/>
              </p:ext>
            </p:extLst>
          </p:nvPr>
        </p:nvGraphicFramePr>
        <p:xfrm>
          <a:off x="0" y="-1"/>
          <a:ext cx="12192000" cy="12994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1309919061"/>
                    </a:ext>
                  </a:extLst>
                </a:gridCol>
              </a:tblGrid>
              <a:tr h="12994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52643"/>
                  </a:ext>
                </a:extLst>
              </a:tr>
            </a:tbl>
          </a:graphicData>
        </a:graphic>
      </p:graphicFrame>
      <p:pic>
        <p:nvPicPr>
          <p:cNvPr id="5" name="Picture 2" descr="No photo description available.">
            <a:extLst>
              <a:ext uri="{FF2B5EF4-FFF2-40B4-BE49-F238E27FC236}">
                <a16:creationId xmlns:a16="http://schemas.microsoft.com/office/drawing/2014/main" id="{AE0334EB-0090-479A-ADB7-634E999E6A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418" y="144378"/>
            <a:ext cx="1010653" cy="1010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2AEDDD1-AB90-5229-1B69-BE1AE5EF08FB}"/>
              </a:ext>
            </a:extLst>
          </p:cNvPr>
          <p:cNvSpPr txBox="1"/>
          <p:nvPr/>
        </p:nvSpPr>
        <p:spPr>
          <a:xfrm>
            <a:off x="4643034" y="5047503"/>
            <a:ext cx="2905932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500" b="1" dirty="0">
                <a:latin typeface="times nw roman"/>
              </a:rPr>
              <a:t>COGNITION</a:t>
            </a:r>
            <a:endParaRPr lang="ko-KR" altLang="en-US" sz="3500" b="1" dirty="0">
              <a:latin typeface="times nw roman"/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F8BCB72B-2FD6-7B7F-B408-DAC7F2F166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872067"/>
            <a:ext cx="4876800" cy="4876800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3B503A15-62FE-CF53-FBDE-71D01C3A88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0132" y="2333797"/>
            <a:ext cx="1784000" cy="17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473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59C94DA4-D322-42B2-B97E-F8CC906FDD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8766789"/>
              </p:ext>
            </p:extLst>
          </p:nvPr>
        </p:nvGraphicFramePr>
        <p:xfrm>
          <a:off x="838200" y="1032570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602D2E5-7526-4656-A453-9EAAEECB55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4494935"/>
              </p:ext>
            </p:extLst>
          </p:nvPr>
        </p:nvGraphicFramePr>
        <p:xfrm>
          <a:off x="0" y="648716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13099190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5264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FAB3A51-8B26-4C70-BB39-1AA6E54B58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82623"/>
              </p:ext>
            </p:extLst>
          </p:nvPr>
        </p:nvGraphicFramePr>
        <p:xfrm>
          <a:off x="0" y="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13099190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content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526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77967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69B7FA23-3473-4DDE-8053-9D9369FB6D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2731487"/>
              </p:ext>
            </p:extLst>
          </p:nvPr>
        </p:nvGraphicFramePr>
        <p:xfrm>
          <a:off x="0" y="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13099190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MCI Overview, Classification, and Pathophysiology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5264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AB28A93-CCBB-4CC8-BDB0-A6BB4D9FFD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4366663"/>
              </p:ext>
            </p:extLst>
          </p:nvPr>
        </p:nvGraphicFramePr>
        <p:xfrm>
          <a:off x="0" y="648716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13099190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5264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43C488D-C1D4-4492-9AAD-874307DABAF3}"/>
              </a:ext>
            </a:extLst>
          </p:cNvPr>
          <p:cNvSpPr txBox="1"/>
          <p:nvPr/>
        </p:nvSpPr>
        <p:spPr>
          <a:xfrm>
            <a:off x="156409" y="631930"/>
            <a:ext cx="11714749" cy="1682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latinLnBrk="1"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Definition and Clinical Relevance</a:t>
            </a:r>
            <a:endParaRPr lang="en-US" sz="1800" kern="100" dirty="0">
              <a:effectLst/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342900" marR="0" lvl="0" indent="-342900" algn="just" latinLnBrk="1"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Mild Cognitive Impairment (MCI) represents an intermediate stage between normal aging and dementia, where cognitive decline is evident compared to age-matched peers but independence in daily living is preserved.</a:t>
            </a:r>
          </a:p>
          <a:p>
            <a:pPr marL="342900" marR="0" lvl="0" indent="-342900" algn="just" latinLnBrk="1"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Clinically, MCI is marked by deficits in memory, attention, or executive function, while basic independence remains intact, making it a critical window for early intervention.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5B5980-1A52-4505-9090-598707C251C4}"/>
              </a:ext>
            </a:extLst>
          </p:cNvPr>
          <p:cNvSpPr txBox="1"/>
          <p:nvPr/>
        </p:nvSpPr>
        <p:spPr>
          <a:xfrm>
            <a:off x="1466355" y="2857956"/>
            <a:ext cx="1203159" cy="370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atinLnBrk="1"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Subtypes</a:t>
            </a:r>
            <a:endParaRPr lang="en-US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F3EBF1-16C9-46F3-AB65-73C79DFC512C}"/>
              </a:ext>
            </a:extLst>
          </p:cNvPr>
          <p:cNvSpPr txBox="1"/>
          <p:nvPr/>
        </p:nvSpPr>
        <p:spPr>
          <a:xfrm>
            <a:off x="5061788" y="2856458"/>
            <a:ext cx="19932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atinLnBrk="1"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Pathophysiology</a:t>
            </a:r>
            <a:endParaRPr lang="en-US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14DAB47-FF4B-47FA-9279-D9CC50C97C2E}"/>
              </a:ext>
            </a:extLst>
          </p:cNvPr>
          <p:cNvSpPr txBox="1"/>
          <p:nvPr/>
        </p:nvSpPr>
        <p:spPr>
          <a:xfrm>
            <a:off x="9277356" y="2856458"/>
            <a:ext cx="1816768" cy="370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atinLnBrk="1"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Epidemiology</a:t>
            </a:r>
            <a:endParaRPr lang="en-US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BA2EB6F-FE88-4DFF-9BB5-B3830F769FE1}"/>
              </a:ext>
            </a:extLst>
          </p:cNvPr>
          <p:cNvSpPr/>
          <p:nvPr/>
        </p:nvSpPr>
        <p:spPr>
          <a:xfrm>
            <a:off x="319838" y="3249802"/>
            <a:ext cx="3496194" cy="208264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Amnestic MCI : memory loss, often → AD.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Non-amnestic MCI: language/visuospatial/reasoning, often: FTD or vascular dementia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5701585-732D-4760-848F-94749D3117DD}"/>
              </a:ext>
            </a:extLst>
          </p:cNvPr>
          <p:cNvSpPr/>
          <p:nvPr/>
        </p:nvSpPr>
        <p:spPr>
          <a:xfrm>
            <a:off x="4273215" y="3249802"/>
            <a:ext cx="3570379" cy="208264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  <a:r>
              <a:rPr lang="el-GR" dirty="0">
                <a:solidFill>
                  <a:schemeClr val="tx1"/>
                </a:solidFill>
              </a:rPr>
              <a:t>β </a:t>
            </a:r>
            <a:r>
              <a:rPr lang="en-US" dirty="0">
                <a:solidFill>
                  <a:schemeClr val="tx1"/>
                </a:solidFill>
              </a:rPr>
              <a:t>plaques &amp; tau tangles.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Neuroinflammation (YKL-40, GFAP, IL-1</a:t>
            </a:r>
            <a:r>
              <a:rPr lang="el-GR" dirty="0">
                <a:solidFill>
                  <a:schemeClr val="tx1"/>
                </a:solidFill>
              </a:rPr>
              <a:t>β/</a:t>
            </a:r>
            <a:r>
              <a:rPr lang="en-US" dirty="0">
                <a:solidFill>
                  <a:schemeClr val="tx1"/>
                </a:solidFill>
              </a:rPr>
              <a:t>NLRP3).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APOE </a:t>
            </a:r>
            <a:r>
              <a:rPr lang="el-GR" dirty="0">
                <a:solidFill>
                  <a:schemeClr val="tx1"/>
                </a:solidFill>
              </a:rPr>
              <a:t>ε4 = </a:t>
            </a:r>
            <a:r>
              <a:rPr lang="en-US" dirty="0">
                <a:solidFill>
                  <a:schemeClr val="tx1"/>
                </a:solidFill>
              </a:rPr>
              <a:t>strong genetic risk.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CA47834-4269-4890-832B-74E2397FCD2C}"/>
              </a:ext>
            </a:extLst>
          </p:cNvPr>
          <p:cNvSpPr/>
          <p:nvPr/>
        </p:nvSpPr>
        <p:spPr>
          <a:xfrm>
            <a:off x="8300778" y="3249802"/>
            <a:ext cx="3570380" cy="20826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Prevalence: 6.7% (60–64 </a:t>
            </a:r>
            <a:r>
              <a:rPr lang="en-US" dirty="0" err="1">
                <a:solidFill>
                  <a:schemeClr val="tx1"/>
                </a:solidFill>
              </a:rPr>
              <a:t>yrs</a:t>
            </a:r>
            <a:r>
              <a:rPr lang="en-US" dirty="0">
                <a:solidFill>
                  <a:schemeClr val="tx1"/>
                </a:solidFill>
              </a:rPr>
              <a:t>) → 25.2% (80–84 </a:t>
            </a:r>
            <a:r>
              <a:rPr lang="en-US" dirty="0" err="1">
                <a:solidFill>
                  <a:schemeClr val="tx1"/>
                </a:solidFill>
              </a:rPr>
              <a:t>yrs</a:t>
            </a:r>
            <a:r>
              <a:rPr lang="en-US" dirty="0">
                <a:solidFill>
                  <a:schemeClr val="tx1"/>
                </a:solidFill>
              </a:rPr>
              <a:t>).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Progression: 10–20%/year to dementia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86438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69B7FA23-3473-4DDE-8053-9D9369FB6D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14057"/>
              </p:ext>
            </p:extLst>
          </p:nvPr>
        </p:nvGraphicFramePr>
        <p:xfrm>
          <a:off x="0" y="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13099190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Brain Plasticity Concept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5264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AB28A93-CCBB-4CC8-BDB0-A6BB4D9FFDE5}"/>
              </a:ext>
            </a:extLst>
          </p:cNvPr>
          <p:cNvGraphicFramePr>
            <a:graphicFrameLocks noGrp="1"/>
          </p:cNvGraphicFramePr>
          <p:nvPr/>
        </p:nvGraphicFramePr>
        <p:xfrm>
          <a:off x="0" y="648716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13099190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5264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46A2406-1C34-4554-8DC3-B42C23E0C65C}"/>
              </a:ext>
            </a:extLst>
          </p:cNvPr>
          <p:cNvSpPr txBox="1"/>
          <p:nvPr/>
        </p:nvSpPr>
        <p:spPr>
          <a:xfrm>
            <a:off x="272716" y="489733"/>
            <a:ext cx="7700210" cy="1682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latinLnBrk="1"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Definition and Basis</a:t>
            </a:r>
            <a:endParaRPr lang="en-US" sz="1800" kern="100" dirty="0">
              <a:effectLst/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342900" marR="0" lvl="0" indent="-342900" algn="just" latinLnBrk="1"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Neuroplasticity refers to the brain’s ability to reorganize and form new neural connections in response to training, experience, or recovery after injury.</a:t>
            </a:r>
          </a:p>
          <a:p>
            <a:pPr marL="342900" marR="0" lvl="0" indent="-342900" algn="just" latinLnBrk="1"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Neural circuits are not static; repeated stimulation can modify and strengthen them.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2DDAA5-8150-492D-932E-3928553AC61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146" r="4415"/>
          <a:stretch/>
        </p:blipFill>
        <p:spPr>
          <a:xfrm>
            <a:off x="9006163" y="700714"/>
            <a:ext cx="2576237" cy="147153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B7092D3-3E5A-4AAB-BC05-CB5715B347A2}"/>
              </a:ext>
            </a:extLst>
          </p:cNvPr>
          <p:cNvSpPr txBox="1"/>
          <p:nvPr/>
        </p:nvSpPr>
        <p:spPr>
          <a:xfrm>
            <a:off x="461211" y="2622702"/>
            <a:ext cx="2426368" cy="370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atinLnBrk="1"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Implications in MCI</a:t>
            </a:r>
            <a:endParaRPr lang="en-US" sz="1800" kern="100" dirty="0">
              <a:effectLst/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FBFB88-AF49-42C0-9B4A-0B202600E841}"/>
              </a:ext>
            </a:extLst>
          </p:cNvPr>
          <p:cNvSpPr txBox="1"/>
          <p:nvPr/>
        </p:nvSpPr>
        <p:spPr>
          <a:xfrm>
            <a:off x="435195" y="4723382"/>
            <a:ext cx="56347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Cognitive training strengthens weakened networks in MCI, boosting cognitive reserve and delaying dementia onset.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0C21418-9A25-4093-8686-07EF3CC732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0001" y="2884783"/>
            <a:ext cx="1682510" cy="168251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AEAE65B-7283-4B03-B1DE-4660A762AB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85"/>
          <a:stretch/>
        </p:blipFill>
        <p:spPr>
          <a:xfrm>
            <a:off x="329732" y="2577087"/>
            <a:ext cx="1814914" cy="1990207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04CA1E1-A242-4C61-8DF1-0BC79F1A9F60}"/>
              </a:ext>
            </a:extLst>
          </p:cNvPr>
          <p:cNvCxnSpPr/>
          <p:nvPr/>
        </p:nvCxnSpPr>
        <p:spPr>
          <a:xfrm>
            <a:off x="1959661" y="3872982"/>
            <a:ext cx="6577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E0C89DD-0352-4B79-84DC-70AB4934B4CE}"/>
              </a:ext>
            </a:extLst>
          </p:cNvPr>
          <p:cNvCxnSpPr/>
          <p:nvPr/>
        </p:nvCxnSpPr>
        <p:spPr>
          <a:xfrm>
            <a:off x="4621138" y="3864459"/>
            <a:ext cx="6577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943AAFE7-0716-42E1-90AD-14B581B1F46F}"/>
              </a:ext>
            </a:extLst>
          </p:cNvPr>
          <p:cNvSpPr/>
          <p:nvPr/>
        </p:nvSpPr>
        <p:spPr>
          <a:xfrm>
            <a:off x="2812969" y="3532109"/>
            <a:ext cx="1604177" cy="6647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Cognitive training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7BE3EE2-439F-423D-A178-4342E37C3AE2}"/>
              </a:ext>
            </a:extLst>
          </p:cNvPr>
          <p:cNvSpPr/>
          <p:nvPr/>
        </p:nvSpPr>
        <p:spPr>
          <a:xfrm>
            <a:off x="7242000" y="3279116"/>
            <a:ext cx="4514805" cy="257635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Digital Therapeutics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DTx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Computerized Cognitive Training (CCT)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VR-based Cognitive Rehabilitation (VR-CRT)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Repeated cognitive network stimulation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Biological rationale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Mild Cognitive Impairment (MCI) stage</a:t>
            </a:r>
          </a:p>
        </p:txBody>
      </p:sp>
    </p:spTree>
    <p:extLst>
      <p:ext uri="{BB962C8B-B14F-4D97-AF65-F5344CB8AC3E}">
        <p14:creationId xmlns:p14="http://schemas.microsoft.com/office/powerpoint/2010/main" val="2398298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69B7FA23-3473-4DDE-8053-9D9369FB6D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4784608"/>
              </p:ext>
            </p:extLst>
          </p:nvPr>
        </p:nvGraphicFramePr>
        <p:xfrm>
          <a:off x="0" y="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13099190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Current Treatments (Pharmacological, Non-Pharmacological, </a:t>
                      </a:r>
                      <a:r>
                        <a:rPr lang="en-US" sz="18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DTx</a:t>
                      </a:r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5264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AB28A93-CCBB-4CC8-BDB0-A6BB4D9FFDE5}"/>
              </a:ext>
            </a:extLst>
          </p:cNvPr>
          <p:cNvGraphicFramePr>
            <a:graphicFrameLocks noGrp="1"/>
          </p:cNvGraphicFramePr>
          <p:nvPr/>
        </p:nvGraphicFramePr>
        <p:xfrm>
          <a:off x="0" y="648716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13099190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52643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1A4F6CA-C94C-4ECC-ABF0-015582B9C4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4014611"/>
              </p:ext>
            </p:extLst>
          </p:nvPr>
        </p:nvGraphicFramePr>
        <p:xfrm>
          <a:off x="275514" y="1007845"/>
          <a:ext cx="8050338" cy="4384920"/>
        </p:xfrm>
        <a:graphic>
          <a:graphicData uri="http://schemas.openxmlformats.org/drawingml/2006/table">
            <a:tbl>
              <a:tblPr/>
              <a:tblGrid>
                <a:gridCol w="1745792">
                  <a:extLst>
                    <a:ext uri="{9D8B030D-6E8A-4147-A177-3AD203B41FA5}">
                      <a16:colId xmlns:a16="http://schemas.microsoft.com/office/drawing/2014/main" val="1743692275"/>
                    </a:ext>
                  </a:extLst>
                </a:gridCol>
                <a:gridCol w="1475874">
                  <a:extLst>
                    <a:ext uri="{9D8B030D-6E8A-4147-A177-3AD203B41FA5}">
                      <a16:colId xmlns:a16="http://schemas.microsoft.com/office/drawing/2014/main" val="608749021"/>
                    </a:ext>
                  </a:extLst>
                </a:gridCol>
                <a:gridCol w="2454442">
                  <a:extLst>
                    <a:ext uri="{9D8B030D-6E8A-4147-A177-3AD203B41FA5}">
                      <a16:colId xmlns:a16="http://schemas.microsoft.com/office/drawing/2014/main" val="2887128318"/>
                    </a:ext>
                  </a:extLst>
                </a:gridCol>
                <a:gridCol w="2374230">
                  <a:extLst>
                    <a:ext uri="{9D8B030D-6E8A-4147-A177-3AD203B41FA5}">
                      <a16:colId xmlns:a16="http://schemas.microsoft.com/office/drawing/2014/main" val="1753486419"/>
                    </a:ext>
                  </a:extLst>
                </a:gridCol>
              </a:tblGrid>
              <a:tr h="321749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Disease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Intervention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Notes / Limitations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9839467"/>
                  </a:ext>
                </a:extLst>
              </a:tr>
              <a:tr h="563582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Pharmacological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Alzheimer’s Disease (AD)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Cholinesterase inhibitors, NMDA antagonists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Symptomatic relief, limited benefits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5960638"/>
                  </a:ext>
                </a:extLst>
              </a:tr>
              <a:tr h="80541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Pharmacological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Anti-amyloid monoclonal antibodies (Aducanumab 2021, Lecanemab 2023)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Target Aβ, clinical utility debated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0272654"/>
                  </a:ext>
                </a:extLst>
              </a:tr>
              <a:tr h="805415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Pharmacological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Parkinson’s Disease (PD)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Levodopa ± dopamine agonists, COMT or MAO-B inhibitors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Standard treatment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2645478"/>
                  </a:ext>
                </a:extLst>
              </a:tr>
              <a:tr h="805415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Pharmacological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PD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Brain Stimulation (DBS), transcranial electrical stimulation (tES)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Improves motor symptoms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1592330"/>
                  </a:ext>
                </a:extLst>
              </a:tr>
              <a:tr h="104724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Non-Pharmacological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AD/PD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Cognitive </a:t>
                      </a:r>
                      <a:r>
                        <a:rPr lang="fr-FR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rehabilitation</a:t>
                      </a:r>
                      <a:r>
                        <a:rPr lang="fr-F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(CRT), </a:t>
                      </a:r>
                      <a:r>
                        <a:rPr lang="fr-FR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physical</a:t>
                      </a:r>
                      <a:r>
                        <a:rPr lang="fr-F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fr-FR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exercise</a:t>
                      </a:r>
                      <a:r>
                        <a:rPr lang="fr-F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fr-FR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dietary</a:t>
                      </a:r>
                      <a:r>
                        <a:rPr lang="fr-F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modification, social engagement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accessibility and adherence, especially in older adults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7196289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729AA43D-EFA9-4925-9B10-B0392CD1A6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3471" y="1684420"/>
            <a:ext cx="3097394" cy="303177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DE3A827-CA59-4074-8C32-8DC03A14F85F}"/>
              </a:ext>
            </a:extLst>
          </p:cNvPr>
          <p:cNvSpPr txBox="1"/>
          <p:nvPr/>
        </p:nvSpPr>
        <p:spPr>
          <a:xfrm>
            <a:off x="9817768" y="1351068"/>
            <a:ext cx="1652336" cy="370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atinLnBrk="1"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solidFill>
                  <a:schemeClr val="accent2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Role of </a:t>
            </a:r>
            <a:r>
              <a:rPr lang="en-US" sz="1800" b="1" kern="100" dirty="0" err="1">
                <a:solidFill>
                  <a:schemeClr val="accent2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DTx</a:t>
            </a:r>
            <a:endParaRPr lang="en-US" sz="1800" kern="100" dirty="0">
              <a:solidFill>
                <a:schemeClr val="accent2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6457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69B7FA23-3473-4DDE-8053-9D9369FB6D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5977216"/>
              </p:ext>
            </p:extLst>
          </p:nvPr>
        </p:nvGraphicFramePr>
        <p:xfrm>
          <a:off x="0" y="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13099190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 Clinical Evidence for </a:t>
                      </a:r>
                      <a:r>
                        <a:rPr lang="en-US" sz="18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DTx</a:t>
                      </a:r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(CCT, VR, Reminiscence Therapy)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5264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AB28A93-CCBB-4CC8-BDB0-A6BB4D9FFDE5}"/>
              </a:ext>
            </a:extLst>
          </p:cNvPr>
          <p:cNvGraphicFramePr>
            <a:graphicFrameLocks noGrp="1"/>
          </p:cNvGraphicFramePr>
          <p:nvPr/>
        </p:nvGraphicFramePr>
        <p:xfrm>
          <a:off x="0" y="648716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13099190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52643"/>
                  </a:ext>
                </a:extLst>
              </a:tr>
            </a:tbl>
          </a:graphicData>
        </a:graphic>
      </p:graphicFrame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FB664AA-6D79-4233-9E5D-FDC1C0FC74EA}"/>
              </a:ext>
            </a:extLst>
          </p:cNvPr>
          <p:cNvSpPr/>
          <p:nvPr/>
        </p:nvSpPr>
        <p:spPr>
          <a:xfrm>
            <a:off x="986589" y="778563"/>
            <a:ext cx="10010274" cy="142249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ABILITY Program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Tablet, BP monitor, oximeter, weight scale, Fitbit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Protocol: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 weeks, 5 sessions/week, cognitive + physical rehab + vitals monitoring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Improved language, memory, executive function; higher adherence &amp; acceptability vs TAU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F41263B-3E26-49B5-A323-FCAEAC0FF627}"/>
              </a:ext>
            </a:extLst>
          </p:cNvPr>
          <p:cNvSpPr/>
          <p:nvPr/>
        </p:nvSpPr>
        <p:spPr>
          <a:xfrm>
            <a:off x="1090863" y="2717754"/>
            <a:ext cx="10010274" cy="142249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ReminX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(Digital Reminiscence Therapy)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Personal photos &amp; audio; camera-based engagement &amp; physiological feedback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Reduced anxiety, depression, emotional distress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8706585-2D65-4F64-A049-70A5EFC96A71}"/>
              </a:ext>
            </a:extLst>
          </p:cNvPr>
          <p:cNvSpPr/>
          <p:nvPr/>
        </p:nvSpPr>
        <p:spPr>
          <a:xfrm>
            <a:off x="1090863" y="4656944"/>
            <a:ext cx="10010274" cy="1422493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CIRCA / CIRCUS (Multimedia Reminiscence Platforms)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Films, photos, music to stimulate reminiscence &amp; social interaction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Enhanced quality of life, social connectedness, overall well-being</a:t>
            </a:r>
          </a:p>
        </p:txBody>
      </p:sp>
    </p:spTree>
    <p:extLst>
      <p:ext uri="{BB962C8B-B14F-4D97-AF65-F5344CB8AC3E}">
        <p14:creationId xmlns:p14="http://schemas.microsoft.com/office/powerpoint/2010/main" val="3945768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AB28A93-CCBB-4CC8-BDB0-A6BB4D9FFDE5}"/>
              </a:ext>
            </a:extLst>
          </p:cNvPr>
          <p:cNvGraphicFramePr>
            <a:graphicFrameLocks noGrp="1"/>
          </p:cNvGraphicFramePr>
          <p:nvPr/>
        </p:nvGraphicFramePr>
        <p:xfrm>
          <a:off x="0" y="648716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13099190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52643"/>
                  </a:ext>
                </a:extLst>
              </a:tr>
            </a:tbl>
          </a:graphicData>
        </a:graphic>
      </p:graphicFrame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E3705631-F95D-486A-80A2-D7B383B3BF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232687"/>
              </p:ext>
            </p:extLst>
          </p:nvPr>
        </p:nvGraphicFramePr>
        <p:xfrm>
          <a:off x="0" y="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13099190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 Clinical Evidence for </a:t>
                      </a:r>
                      <a:r>
                        <a:rPr lang="en-US" sz="18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DTx</a:t>
                      </a:r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(CCT, VR, Reminiscence Therapy)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5264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720E562-7DB9-4057-9DBB-BF9AE046F7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6117683"/>
              </p:ext>
            </p:extLst>
          </p:nvPr>
        </p:nvGraphicFramePr>
        <p:xfrm>
          <a:off x="344905" y="685930"/>
          <a:ext cx="11502190" cy="5486139"/>
        </p:xfrm>
        <a:graphic>
          <a:graphicData uri="http://schemas.openxmlformats.org/drawingml/2006/table">
            <a:tbl>
              <a:tblPr/>
              <a:tblGrid>
                <a:gridCol w="2383533">
                  <a:extLst>
                    <a:ext uri="{9D8B030D-6E8A-4147-A177-3AD203B41FA5}">
                      <a16:colId xmlns:a16="http://schemas.microsoft.com/office/drawing/2014/main" val="864424259"/>
                    </a:ext>
                  </a:extLst>
                </a:gridCol>
                <a:gridCol w="4351588">
                  <a:extLst>
                    <a:ext uri="{9D8B030D-6E8A-4147-A177-3AD203B41FA5}">
                      <a16:colId xmlns:a16="http://schemas.microsoft.com/office/drawing/2014/main" val="3744512426"/>
                    </a:ext>
                  </a:extLst>
                </a:gridCol>
                <a:gridCol w="4767069">
                  <a:extLst>
                    <a:ext uri="{9D8B030D-6E8A-4147-A177-3AD203B41FA5}">
                      <a16:colId xmlns:a16="http://schemas.microsoft.com/office/drawing/2014/main" val="109291903"/>
                    </a:ext>
                  </a:extLst>
                </a:gridCol>
              </a:tblGrid>
              <a:tr h="287789"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VR-CRT (2024 Systematic Review)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CCT (2025 Network Meta-analysis)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15389431"/>
                  </a:ext>
                </a:extLst>
              </a:tr>
              <a:tr h="680466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Definition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VR-based cognitive rehabilitation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Structured computer/mobile training targeting memory, attention, executive function, processing speed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02253463"/>
                  </a:ext>
                </a:extLst>
              </a:tr>
              <a:tr h="287789">
                <a:tc>
                  <a:txBody>
                    <a:bodyPr/>
                    <a:lstStyle/>
                    <a:p>
                      <a: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Participants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Older adults with cognitive impairment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Older adults with MCI or dementia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33446914"/>
                  </a:ext>
                </a:extLst>
              </a:tr>
              <a:tr h="1015503">
                <a:tc>
                  <a:txBody>
                    <a:bodyPr/>
                    <a:lstStyle/>
                    <a:p>
                      <a: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Interventions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VR-based tasks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Standard CCT: daily/weekly computer/tablet sessions- Intensive CCT (CCT2x): higher frequency/duration- Combined: CCT + resistance training or medication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04050964"/>
                  </a:ext>
                </a:extLst>
              </a:tr>
              <a:tr h="287789">
                <a:tc>
                  <a:txBody>
                    <a:bodyPr/>
                    <a:lstStyle/>
                    <a:p>
                      <a: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Comparators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Conventional CRT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TAU, control activities, lower-dose training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81963046"/>
                  </a:ext>
                </a:extLst>
              </a:tr>
              <a:tr h="287789">
                <a:tc>
                  <a:txBody>
                    <a:bodyPr/>
                    <a:lstStyle/>
                    <a:p>
                      <a: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Duration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specified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6–24 weeks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37482837"/>
                  </a:ext>
                </a:extLst>
              </a:tr>
              <a:tr h="894552">
                <a:tc>
                  <a:txBody>
                    <a:bodyPr/>
                    <a:lstStyle/>
                    <a:p>
                      <a: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Findings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 least as effective as conventional CRT for cognitive &amp; functional outcomes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CCT2x: global cognition SMD 1.21, episodic memory 0.87, working memory 0.93; reduced ADL impairment (SMD –0.80) and depressive symptoms (SMD –0.77)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7116057"/>
                  </a:ext>
                </a:extLst>
              </a:tr>
              <a:tr h="531998">
                <a:tc>
                  <a:txBody>
                    <a:bodyPr/>
                    <a:lstStyle/>
                    <a:p>
                      <a: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Greater motivation, ecological validity, transfer to daily life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Promotes neuroplasticity &amp; cognitive reserve; adaptive, intensive, repetitive practice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13108488"/>
                  </a:ext>
                </a:extLst>
              </a:tr>
              <a:tr h="680466">
                <a:tc>
                  <a:txBody>
                    <a:bodyPr/>
                    <a:lstStyle/>
                    <a:p>
                      <a: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Only 3 studies (n=130), high heterogeneity; need standardized protocols &amp; larger RCTs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structured programs; effectiveness varies with intensity and combination interventions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23872028"/>
                  </a:ext>
                </a:extLst>
              </a:tr>
              <a:tr h="531998">
                <a:tc>
                  <a:txBody>
                    <a:bodyPr/>
                    <a:lstStyle/>
                    <a:p>
                      <a: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Conclusion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Promising alternative/complement to conventional CRT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Intensive CCT (CCT2x) most effective </a:t>
                      </a:r>
                      <a:r>
                        <a:rPr lang="en-US" sz="15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DTx</a:t>
                      </a:r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 older adults with MCI/dementia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52175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829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69B7FA23-3473-4DDE-8053-9D9369FB6D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0778372"/>
              </p:ext>
            </p:extLst>
          </p:nvPr>
        </p:nvGraphicFramePr>
        <p:xfrm>
          <a:off x="0" y="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13099190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 Recent Trends (Wearables, Machine Learning)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5264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AB28A93-CCBB-4CC8-BDB0-A6BB4D9FFDE5}"/>
              </a:ext>
            </a:extLst>
          </p:cNvPr>
          <p:cNvGraphicFramePr>
            <a:graphicFrameLocks noGrp="1"/>
          </p:cNvGraphicFramePr>
          <p:nvPr/>
        </p:nvGraphicFramePr>
        <p:xfrm>
          <a:off x="0" y="648716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13099190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5264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40D5CEB-C265-4304-996B-77A27C54329D}"/>
              </a:ext>
            </a:extLst>
          </p:cNvPr>
          <p:cNvSpPr txBox="1"/>
          <p:nvPr/>
        </p:nvSpPr>
        <p:spPr>
          <a:xfrm>
            <a:off x="320842" y="680948"/>
            <a:ext cx="11871158" cy="1128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atinLnBrk="1"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AI/ML for Early Detection</a:t>
            </a:r>
            <a:endParaRPr lang="en-US" sz="1800" kern="100" dirty="0">
              <a:effectLst/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342900" marR="0" lvl="0" indent="-342900" latinLnBrk="1"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2025 study: Balance and gait assessment using wearable inertial sensors + ML achieved 75.8% accuracy for MCI detection.</a:t>
            </a:r>
          </a:p>
          <a:p>
            <a:pPr marL="342900" marR="0" lvl="0" indent="-342900" latinLnBrk="1"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Proposed integration of VR, gait dynamics, and ML for digital biomarkers enabling early detection.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A04C51-4B7E-49AF-ACDD-8D08C381310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85" b="6274"/>
          <a:stretch/>
        </p:blipFill>
        <p:spPr>
          <a:xfrm>
            <a:off x="1441921" y="3643276"/>
            <a:ext cx="2630814" cy="262960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1CA7EA5-0990-4D8C-A42E-87444B93A704}"/>
              </a:ext>
            </a:extLst>
          </p:cNvPr>
          <p:cNvSpPr txBox="1"/>
          <p:nvPr/>
        </p:nvSpPr>
        <p:spPr>
          <a:xfrm>
            <a:off x="320842" y="2378321"/>
            <a:ext cx="2983832" cy="370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atinLnBrk="1"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Advances in CCT Design</a:t>
            </a:r>
            <a:endParaRPr lang="en-US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EA4641-B6CB-4321-885C-32470E2BFB27}"/>
              </a:ext>
            </a:extLst>
          </p:cNvPr>
          <p:cNvSpPr txBox="1"/>
          <p:nvPr/>
        </p:nvSpPr>
        <p:spPr>
          <a:xfrm>
            <a:off x="405064" y="3059668"/>
            <a:ext cx="49690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latinLnBrk="1"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Guided training is superior to unguided.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12F450-B4FF-413B-AA92-F0CDDFA7F09D}"/>
              </a:ext>
            </a:extLst>
          </p:cNvPr>
          <p:cNvSpPr txBox="1"/>
          <p:nvPr/>
        </p:nvSpPr>
        <p:spPr>
          <a:xfrm>
            <a:off x="405064" y="3369776"/>
            <a:ext cx="61200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latinLnBrk="1"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Significant improvements reported in</a:t>
            </a:r>
          </a:p>
        </p:txBody>
      </p:sp>
    </p:spTree>
    <p:extLst>
      <p:ext uri="{BB962C8B-B14F-4D97-AF65-F5344CB8AC3E}">
        <p14:creationId xmlns:p14="http://schemas.microsoft.com/office/powerpoint/2010/main" val="2260854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69B7FA23-3473-4DDE-8053-9D9369FB6D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2711898"/>
              </p:ext>
            </p:extLst>
          </p:nvPr>
        </p:nvGraphicFramePr>
        <p:xfrm>
          <a:off x="0" y="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13099190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 Practical Implementation Roadmap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5264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AB28A93-CCBB-4CC8-BDB0-A6BB4D9FFDE5}"/>
              </a:ext>
            </a:extLst>
          </p:cNvPr>
          <p:cNvGraphicFramePr>
            <a:graphicFrameLocks noGrp="1"/>
          </p:cNvGraphicFramePr>
          <p:nvPr/>
        </p:nvGraphicFramePr>
        <p:xfrm>
          <a:off x="0" y="648716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13099190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52643"/>
                  </a:ext>
                </a:extLst>
              </a:tr>
            </a:tbl>
          </a:graphicData>
        </a:graphic>
      </p:graphicFrame>
      <p:pic>
        <p:nvPicPr>
          <p:cNvPr id="16" name="Picture 15">
            <a:extLst>
              <a:ext uri="{FF2B5EF4-FFF2-40B4-BE49-F238E27FC236}">
                <a16:creationId xmlns:a16="http://schemas.microsoft.com/office/drawing/2014/main" id="{8BC52C53-F111-4AA8-9815-3222CC1ABA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5533" y="1027753"/>
            <a:ext cx="4762500" cy="47625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0CD88D0-951C-4D66-83D1-0B4C6E01801D}"/>
              </a:ext>
            </a:extLst>
          </p:cNvPr>
          <p:cNvSpPr txBox="1"/>
          <p:nvPr/>
        </p:nvSpPr>
        <p:spPr>
          <a:xfrm>
            <a:off x="2433129" y="699855"/>
            <a:ext cx="194510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>
              <a:spcAft>
                <a:spcPts val="800"/>
              </a:spcAft>
            </a:pPr>
            <a:r>
              <a:rPr lang="en-US" sz="1600" b="1" kern="100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1. Target Group</a:t>
            </a:r>
            <a:br>
              <a:rPr lang="en-US" sz="1600" b="1" kern="100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lang="en-US" sz="1600" b="1" kern="100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amnestic MCI due to high AD progression risk)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6EF20E4-6A7E-471A-8D30-C2D34ED92A7D}"/>
              </a:ext>
            </a:extLst>
          </p:cNvPr>
          <p:cNvSpPr txBox="1"/>
          <p:nvPr/>
        </p:nvSpPr>
        <p:spPr>
          <a:xfrm>
            <a:off x="8417843" y="1161755"/>
            <a:ext cx="3627521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600" b="1" kern="100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2. Training Modules</a:t>
            </a:r>
            <a:br>
              <a:rPr lang="en-US" sz="1600" b="1" kern="100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lang="en-US" sz="1600" b="1" kern="100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Domains: Memory, attention/working memory, executive functions)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(Combined approaches (CCT + physical training) show some benefit)</a:t>
            </a:r>
          </a:p>
          <a:p>
            <a:pPr marL="0" marR="0" latinLnBrk="1">
              <a:spcBef>
                <a:spcPts val="0"/>
              </a:spcBef>
              <a:spcAft>
                <a:spcPts val="800"/>
              </a:spcAft>
            </a:pPr>
            <a:endParaRPr lang="en-US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A90F8D3-FBB5-4B7A-90F7-4AB80E0BD8A0}"/>
              </a:ext>
            </a:extLst>
          </p:cNvPr>
          <p:cNvSpPr txBox="1"/>
          <p:nvPr/>
        </p:nvSpPr>
        <p:spPr>
          <a:xfrm>
            <a:off x="354680" y="2212016"/>
            <a:ext cx="2931187" cy="2200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700" b="1" kern="100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3. Protocol</a:t>
            </a:r>
            <a:br>
              <a:rPr lang="en-US" sz="1700" b="1" kern="100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lang="en-US" sz="1700" b="1" kern="100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(i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ntensive CCT2x: 4–5 sessions/week, 30–45 min, 6–12 weeks</a:t>
            </a:r>
          </a:p>
          <a:p>
            <a:pPr algn="ctr"/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difficulty, real-time feedback, gamified rewards enhance engagement)</a:t>
            </a:r>
          </a:p>
          <a:p>
            <a:pPr marL="0" marR="0" latinLnBrk="1">
              <a:spcBef>
                <a:spcPts val="0"/>
              </a:spcBef>
              <a:spcAft>
                <a:spcPts val="800"/>
              </a:spcAft>
            </a:pPr>
            <a:endParaRPr lang="en-US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9305314-73C2-4933-870A-096650114EB7}"/>
              </a:ext>
            </a:extLst>
          </p:cNvPr>
          <p:cNvSpPr txBox="1"/>
          <p:nvPr/>
        </p:nvSpPr>
        <p:spPr>
          <a:xfrm>
            <a:off x="8417844" y="3911784"/>
            <a:ext cx="3627521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700" b="1" kern="100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4. Platforms</a:t>
            </a:r>
            <a:br>
              <a:rPr lang="en-US" sz="1700" b="1" kern="100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lang="en-US" sz="1700" b="1" kern="100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Mobile/tablet – primary for accessibility</a:t>
            </a:r>
          </a:p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VR – adjunct for motivation and ecological validity</a:t>
            </a:r>
          </a:p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Wearables – monitor activity, sleep, heart rate, adherence)</a:t>
            </a:r>
          </a:p>
          <a:p>
            <a:pPr marL="0" marR="0" algn="ctr" latinLnBrk="1">
              <a:spcBef>
                <a:spcPts val="0"/>
              </a:spcBef>
              <a:spcAft>
                <a:spcPts val="800"/>
              </a:spcAft>
            </a:pPr>
            <a:endParaRPr lang="en-US" sz="17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E004AD6-B786-4A52-99B3-247A5FA51EFF}"/>
              </a:ext>
            </a:extLst>
          </p:cNvPr>
          <p:cNvSpPr txBox="1"/>
          <p:nvPr/>
        </p:nvSpPr>
        <p:spPr>
          <a:xfrm>
            <a:off x="1399923" y="4645984"/>
            <a:ext cx="4038352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700" b="1" kern="100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5. Assessment Tools</a:t>
            </a:r>
            <a:br>
              <a:rPr lang="en-US" sz="1700" b="1" kern="100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lang="en-US" sz="1700" b="1" kern="100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Cognitive: MoCA, neuropsychological batteries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Functional: IADL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Emotional: Depression &amp; anxiety scales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Adherence: App logs, wearable data)</a:t>
            </a:r>
          </a:p>
          <a:p>
            <a:pPr marR="0" latinLnBrk="1">
              <a:spcBef>
                <a:spcPts val="0"/>
              </a:spcBef>
              <a:spcAft>
                <a:spcPts val="800"/>
              </a:spcAft>
            </a:pPr>
            <a:endParaRPr lang="en-US" sz="1600" kern="100" dirty="0">
              <a:effectLst/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E60493B-6B0F-41B8-9D8F-7EE200CE410B}"/>
              </a:ext>
            </a:extLst>
          </p:cNvPr>
          <p:cNvCxnSpPr>
            <a:cxnSpLocks/>
          </p:cNvCxnSpPr>
          <p:nvPr/>
        </p:nvCxnSpPr>
        <p:spPr>
          <a:xfrm>
            <a:off x="4748463" y="1029788"/>
            <a:ext cx="1588169" cy="179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0CB4FE9-DF2C-4234-8AC6-E9C61C21039B}"/>
              </a:ext>
            </a:extLst>
          </p:cNvPr>
          <p:cNvCxnSpPr>
            <a:cxnSpLocks/>
          </p:cNvCxnSpPr>
          <p:nvPr/>
        </p:nvCxnSpPr>
        <p:spPr>
          <a:xfrm>
            <a:off x="6336632" y="1047749"/>
            <a:ext cx="0" cy="4305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E31ABDF-D980-48E1-A3EC-8F02B1D78146}"/>
              </a:ext>
            </a:extLst>
          </p:cNvPr>
          <p:cNvCxnSpPr>
            <a:cxnSpLocks/>
          </p:cNvCxnSpPr>
          <p:nvPr/>
        </p:nvCxnSpPr>
        <p:spPr>
          <a:xfrm>
            <a:off x="7511470" y="1777073"/>
            <a:ext cx="7279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698CAA3-36EC-4A2B-B810-9005A4F82A38}"/>
              </a:ext>
            </a:extLst>
          </p:cNvPr>
          <p:cNvCxnSpPr>
            <a:cxnSpLocks/>
          </p:cNvCxnSpPr>
          <p:nvPr/>
        </p:nvCxnSpPr>
        <p:spPr>
          <a:xfrm flipV="1">
            <a:off x="6534402" y="1777073"/>
            <a:ext cx="977068" cy="6533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FB45CC6-A152-426D-A8B3-F0803F64B16F}"/>
              </a:ext>
            </a:extLst>
          </p:cNvPr>
          <p:cNvCxnSpPr>
            <a:cxnSpLocks/>
          </p:cNvCxnSpPr>
          <p:nvPr/>
        </p:nvCxnSpPr>
        <p:spPr>
          <a:xfrm flipV="1">
            <a:off x="2977059" y="2469769"/>
            <a:ext cx="2188499" cy="718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09C19B1-6B23-4373-9B49-DB1A20A9A53F}"/>
              </a:ext>
            </a:extLst>
          </p:cNvPr>
          <p:cNvCxnSpPr>
            <a:cxnSpLocks/>
          </p:cNvCxnSpPr>
          <p:nvPr/>
        </p:nvCxnSpPr>
        <p:spPr>
          <a:xfrm flipV="1">
            <a:off x="4363951" y="3796687"/>
            <a:ext cx="1314954" cy="4983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C35781F-1902-4CCB-81F9-0176A8E03622}"/>
              </a:ext>
            </a:extLst>
          </p:cNvPr>
          <p:cNvCxnSpPr>
            <a:cxnSpLocks/>
          </p:cNvCxnSpPr>
          <p:nvPr/>
        </p:nvCxnSpPr>
        <p:spPr>
          <a:xfrm>
            <a:off x="7511470" y="4076257"/>
            <a:ext cx="12796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85905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69B7FA23-3473-4DDE-8053-9D9369FB6D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6959079"/>
              </p:ext>
            </p:extLst>
          </p:nvPr>
        </p:nvGraphicFramePr>
        <p:xfrm>
          <a:off x="0" y="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13099190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Conclusion</a:t>
                      </a:r>
                      <a:endParaRPr lang="en-US" sz="18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5264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AB28A93-CCBB-4CC8-BDB0-A6BB4D9FFDE5}"/>
              </a:ext>
            </a:extLst>
          </p:cNvPr>
          <p:cNvGraphicFramePr>
            <a:graphicFrameLocks noGrp="1"/>
          </p:cNvGraphicFramePr>
          <p:nvPr/>
        </p:nvGraphicFramePr>
        <p:xfrm>
          <a:off x="0" y="648716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13099190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52643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AC4BE591-F0E7-426E-A177-5BFBDF6F759D}"/>
              </a:ext>
            </a:extLst>
          </p:cNvPr>
          <p:cNvSpPr txBox="1"/>
          <p:nvPr/>
        </p:nvSpPr>
        <p:spPr>
          <a:xfrm>
            <a:off x="509336" y="1764631"/>
            <a:ext cx="11173327" cy="2535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MCI is a critical window for early intervention before dementia.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Neuroplasticity provides the biological basis for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DTx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Clinical evidence shows that programs like ABILITY,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ReminX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VR-CRT, and especially intensive CCT are effective in improving cognition, function, and mood.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 the rise of AI, wearables, and personalized platforms,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DTx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holds great promise as a preventive and disease-modifying strategy for MCI.</a:t>
            </a:r>
          </a:p>
        </p:txBody>
      </p:sp>
    </p:spTree>
    <p:extLst>
      <p:ext uri="{BB962C8B-B14F-4D97-AF65-F5344CB8AC3E}">
        <p14:creationId xmlns:p14="http://schemas.microsoft.com/office/powerpoint/2010/main" val="41789224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69B7FA23-3473-4DDE-8053-9D9369FB6D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2166126"/>
              </p:ext>
            </p:extLst>
          </p:nvPr>
        </p:nvGraphicFramePr>
        <p:xfrm>
          <a:off x="0" y="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13099190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5264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AB28A93-CCBB-4CC8-BDB0-A6BB4D9FFDE5}"/>
              </a:ext>
            </a:extLst>
          </p:cNvPr>
          <p:cNvGraphicFramePr>
            <a:graphicFrameLocks noGrp="1"/>
          </p:cNvGraphicFramePr>
          <p:nvPr/>
        </p:nvGraphicFramePr>
        <p:xfrm>
          <a:off x="0" y="648716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13099190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5264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B39C5E7-CC1D-E2E2-9AEB-731CB35E612E}"/>
              </a:ext>
            </a:extLst>
          </p:cNvPr>
          <p:cNvSpPr txBox="1"/>
          <p:nvPr/>
        </p:nvSpPr>
        <p:spPr>
          <a:xfrm>
            <a:off x="3039534" y="3027255"/>
            <a:ext cx="6112932" cy="803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099802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</TotalTime>
  <Words>2044</Words>
  <Application>Microsoft Office PowerPoint</Application>
  <PresentationFormat>와이드스크린</PresentationFormat>
  <Paragraphs>182</Paragraphs>
  <Slides>11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9" baseType="lpstr">
      <vt:lpstr>times nw roman</vt:lpstr>
      <vt:lpstr>맑은 고딕</vt:lpstr>
      <vt:lpstr>Arial</vt:lpstr>
      <vt:lpstr>Calibri</vt:lpstr>
      <vt:lpstr>Calibri Light</vt:lpstr>
      <vt:lpstr>Symbol</vt:lpstr>
      <vt:lpstr>Times New Roman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sanjeev ram</dc:creator>
  <cp:lastModifiedBy>재은 이</cp:lastModifiedBy>
  <cp:revision>18</cp:revision>
  <dcterms:created xsi:type="dcterms:W3CDTF">2025-09-22T02:17:34Z</dcterms:created>
  <dcterms:modified xsi:type="dcterms:W3CDTF">2025-09-23T01:44:10Z</dcterms:modified>
</cp:coreProperties>
</file>