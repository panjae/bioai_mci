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65" r:id="rId4"/>
    <p:sldId id="259" r:id="rId5"/>
    <p:sldId id="260" r:id="rId6"/>
    <p:sldId id="283" r:id="rId7"/>
    <p:sldId id="284" r:id="rId8"/>
    <p:sldId id="285" r:id="rId9"/>
    <p:sldId id="286" r:id="rId10"/>
    <p:sldId id="287" r:id="rId11"/>
    <p:sldId id="288" r:id="rId12"/>
    <p:sldId id="275" r:id="rId13"/>
    <p:sldId id="263" r:id="rId14"/>
    <p:sldId id="277" r:id="rId15"/>
    <p:sldId id="278" r:id="rId16"/>
    <p:sldId id="279" r:id="rId17"/>
    <p:sldId id="280" r:id="rId18"/>
    <p:sldId id="281" r:id="rId19"/>
    <p:sldId id="282" r:id="rId20"/>
    <p:sldId id="261" r:id="rId21"/>
    <p:sldId id="266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F88FAD-9958-4E65-943C-3F6212941654}" v="45" dt="2025-12-08T16:13:40.8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74098" autoAdjust="0"/>
  </p:normalViewPr>
  <p:slideViewPr>
    <p:cSldViewPr snapToGrid="0">
      <p:cViewPr varScale="1">
        <p:scale>
          <a:sx n="40" d="100"/>
          <a:sy n="40" d="100"/>
        </p:scale>
        <p:origin x="60" y="5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재은 이" userId="ee07f9e56af2fcf4" providerId="LiveId" clId="{9DAA7C10-E5B0-4CC9-AB0E-CBB8E227BAB7}"/>
    <pc:docChg chg="undo redo custSel addSld delSld modSld sldOrd">
      <pc:chgData name="재은 이" userId="ee07f9e56af2fcf4" providerId="LiveId" clId="{9DAA7C10-E5B0-4CC9-AB0E-CBB8E227BAB7}" dt="2025-12-08T16:28:16.387" v="3998" actId="20577"/>
      <pc:docMkLst>
        <pc:docMk/>
      </pc:docMkLst>
      <pc:sldChg chg="modSp mod ord modNotesTx">
        <pc:chgData name="재은 이" userId="ee07f9e56af2fcf4" providerId="LiveId" clId="{9DAA7C10-E5B0-4CC9-AB0E-CBB8E227BAB7}" dt="2025-12-08T16:28:16.387" v="3998" actId="20577"/>
        <pc:sldMkLst>
          <pc:docMk/>
          <pc:sldMk cId="2474238016" sldId="257"/>
        </pc:sldMkLst>
        <pc:spChg chg="mod">
          <ac:chgData name="재은 이" userId="ee07f9e56af2fcf4" providerId="LiveId" clId="{9DAA7C10-E5B0-4CC9-AB0E-CBB8E227BAB7}" dt="2025-12-08T15:57:43.641" v="3267" actId="20577"/>
          <ac:spMkLst>
            <pc:docMk/>
            <pc:sldMk cId="2474238016" sldId="257"/>
            <ac:spMk id="5" creationId="{1E379606-B09B-98E5-740A-4EC8EEF03DB4}"/>
          </ac:spMkLst>
        </pc:spChg>
      </pc:sldChg>
      <pc:sldChg chg="modSp mod ord modNotesTx">
        <pc:chgData name="재은 이" userId="ee07f9e56af2fcf4" providerId="LiveId" clId="{9DAA7C10-E5B0-4CC9-AB0E-CBB8E227BAB7}" dt="2025-12-08T15:58:02.325" v="3271" actId="20577"/>
        <pc:sldMkLst>
          <pc:docMk/>
          <pc:sldMk cId="3869448845" sldId="258"/>
        </pc:sldMkLst>
        <pc:spChg chg="mod">
          <ac:chgData name="재은 이" userId="ee07f9e56af2fcf4" providerId="LiveId" clId="{9DAA7C10-E5B0-4CC9-AB0E-CBB8E227BAB7}" dt="2025-12-08T15:58:02.325" v="3271" actId="20577"/>
          <ac:spMkLst>
            <pc:docMk/>
            <pc:sldMk cId="3869448845" sldId="258"/>
            <ac:spMk id="5" creationId="{258BD881-0A83-DD30-F984-58A9E84EAD30}"/>
          </ac:spMkLst>
        </pc:spChg>
      </pc:sldChg>
      <pc:sldChg chg="modSp mod ord">
        <pc:chgData name="재은 이" userId="ee07f9e56af2fcf4" providerId="LiveId" clId="{9DAA7C10-E5B0-4CC9-AB0E-CBB8E227BAB7}" dt="2025-12-08T15:58:14.762" v="3283" actId="20577"/>
        <pc:sldMkLst>
          <pc:docMk/>
          <pc:sldMk cId="3574998991" sldId="259"/>
        </pc:sldMkLst>
        <pc:spChg chg="mod">
          <ac:chgData name="재은 이" userId="ee07f9e56af2fcf4" providerId="LiveId" clId="{9DAA7C10-E5B0-4CC9-AB0E-CBB8E227BAB7}" dt="2025-12-08T15:58:14.762" v="3283" actId="20577"/>
          <ac:spMkLst>
            <pc:docMk/>
            <pc:sldMk cId="3574998991" sldId="259"/>
            <ac:spMk id="5" creationId="{336C40D0-85B9-AC01-AAB2-E84B4820386B}"/>
          </ac:spMkLst>
        </pc:spChg>
      </pc:sldChg>
      <pc:sldChg chg="modSp mod ord modNotesTx">
        <pc:chgData name="재은 이" userId="ee07f9e56af2fcf4" providerId="LiveId" clId="{9DAA7C10-E5B0-4CC9-AB0E-CBB8E227BAB7}" dt="2025-12-08T15:58:20.772" v="3290" actId="20577"/>
        <pc:sldMkLst>
          <pc:docMk/>
          <pc:sldMk cId="2095729298" sldId="260"/>
        </pc:sldMkLst>
        <pc:spChg chg="mod">
          <ac:chgData name="재은 이" userId="ee07f9e56af2fcf4" providerId="LiveId" clId="{9DAA7C10-E5B0-4CC9-AB0E-CBB8E227BAB7}" dt="2025-12-08T15:58:20.772" v="3290" actId="20577"/>
          <ac:spMkLst>
            <pc:docMk/>
            <pc:sldMk cId="2095729298" sldId="260"/>
            <ac:spMk id="5" creationId="{5263B0A4-0F96-55F7-0122-13D2B1A78E7D}"/>
          </ac:spMkLst>
        </pc:spChg>
      </pc:sldChg>
      <pc:sldChg chg="delSp modSp mod modNotesTx">
        <pc:chgData name="재은 이" userId="ee07f9e56af2fcf4" providerId="LiveId" clId="{9DAA7C10-E5B0-4CC9-AB0E-CBB8E227BAB7}" dt="2025-12-08T14:38:48.066" v="247" actId="20577"/>
        <pc:sldMkLst>
          <pc:docMk/>
          <pc:sldMk cId="493232907" sldId="261"/>
        </pc:sldMkLst>
        <pc:spChg chg="del">
          <ac:chgData name="재은 이" userId="ee07f9e56af2fcf4" providerId="LiveId" clId="{9DAA7C10-E5B0-4CC9-AB0E-CBB8E227BAB7}" dt="2025-12-08T14:38:14.421" v="241" actId="478"/>
          <ac:spMkLst>
            <pc:docMk/>
            <pc:sldMk cId="493232907" sldId="261"/>
            <ac:spMk id="4" creationId="{A1CDCD63-301C-508E-CAF9-F161DB4A6AE0}"/>
          </ac:spMkLst>
        </pc:spChg>
        <pc:spChg chg="mod">
          <ac:chgData name="재은 이" userId="ee07f9e56af2fcf4" providerId="LiveId" clId="{9DAA7C10-E5B0-4CC9-AB0E-CBB8E227BAB7}" dt="2025-12-08T13:44:24.440" v="73" actId="20577"/>
          <ac:spMkLst>
            <pc:docMk/>
            <pc:sldMk cId="493232907" sldId="261"/>
            <ac:spMk id="5" creationId="{9FA7B539-CB8B-6A64-CDFC-9C886C9D7BC2}"/>
          </ac:spMkLst>
        </pc:spChg>
      </pc:sldChg>
      <pc:sldChg chg="modNotesTx">
        <pc:chgData name="재은 이" userId="ee07f9e56af2fcf4" providerId="LiveId" clId="{9DAA7C10-E5B0-4CC9-AB0E-CBB8E227BAB7}" dt="2025-12-08T16:27:34.855" v="3994" actId="20577"/>
        <pc:sldMkLst>
          <pc:docMk/>
          <pc:sldMk cId="2523080265" sldId="263"/>
        </pc:sldMkLst>
      </pc:sldChg>
      <pc:sldChg chg="modSp mod ord">
        <pc:chgData name="재은 이" userId="ee07f9e56af2fcf4" providerId="LiveId" clId="{9DAA7C10-E5B0-4CC9-AB0E-CBB8E227BAB7}" dt="2025-12-08T15:58:08.506" v="3276" actId="20577"/>
        <pc:sldMkLst>
          <pc:docMk/>
          <pc:sldMk cId="257732212" sldId="265"/>
        </pc:sldMkLst>
        <pc:spChg chg="mod">
          <ac:chgData name="재은 이" userId="ee07f9e56af2fcf4" providerId="LiveId" clId="{9DAA7C10-E5B0-4CC9-AB0E-CBB8E227BAB7}" dt="2025-12-08T15:58:08.506" v="3276" actId="20577"/>
          <ac:spMkLst>
            <pc:docMk/>
            <pc:sldMk cId="257732212" sldId="265"/>
            <ac:spMk id="5" creationId="{F6951B79-C44D-FAF5-1E31-7A2E19C569AD}"/>
          </ac:spMkLst>
        </pc:spChg>
      </pc:sldChg>
      <pc:sldChg chg="delSp modSp mod modNotesTx">
        <pc:chgData name="재은 이" userId="ee07f9e56af2fcf4" providerId="LiveId" clId="{9DAA7C10-E5B0-4CC9-AB0E-CBB8E227BAB7}" dt="2025-12-08T16:02:43.737" v="3296" actId="478"/>
        <pc:sldMkLst>
          <pc:docMk/>
          <pc:sldMk cId="2488125534" sldId="266"/>
        </pc:sldMkLst>
        <pc:spChg chg="del mod">
          <ac:chgData name="재은 이" userId="ee07f9e56af2fcf4" providerId="LiveId" clId="{9DAA7C10-E5B0-4CC9-AB0E-CBB8E227BAB7}" dt="2025-12-08T16:02:43.737" v="3296" actId="478"/>
          <ac:spMkLst>
            <pc:docMk/>
            <pc:sldMk cId="2488125534" sldId="266"/>
            <ac:spMk id="4" creationId="{895DE78F-9BC9-55B1-8533-70E53E8C3367}"/>
          </ac:spMkLst>
        </pc:spChg>
        <pc:spChg chg="mod">
          <ac:chgData name="재은 이" userId="ee07f9e56af2fcf4" providerId="LiveId" clId="{9DAA7C10-E5B0-4CC9-AB0E-CBB8E227BAB7}" dt="2025-12-08T14:45:08.277" v="419" actId="20577"/>
          <ac:spMkLst>
            <pc:docMk/>
            <pc:sldMk cId="2488125534" sldId="266"/>
            <ac:spMk id="5" creationId="{91CF7FED-B35C-D342-7F06-362693184091}"/>
          </ac:spMkLst>
        </pc:spChg>
        <pc:spChg chg="mod">
          <ac:chgData name="재은 이" userId="ee07f9e56af2fcf4" providerId="LiveId" clId="{9DAA7C10-E5B0-4CC9-AB0E-CBB8E227BAB7}" dt="2025-12-08T14:55:56.927" v="1076" actId="20577"/>
          <ac:spMkLst>
            <pc:docMk/>
            <pc:sldMk cId="2488125534" sldId="266"/>
            <ac:spMk id="7" creationId="{A08E8657-04A9-1CBF-47E2-1FDF2585F3C8}"/>
          </ac:spMkLst>
        </pc:spChg>
      </pc:sldChg>
      <pc:sldChg chg="addSp delSp modSp mod ord modNotesTx">
        <pc:chgData name="재은 이" userId="ee07f9e56af2fcf4" providerId="LiveId" clId="{9DAA7C10-E5B0-4CC9-AB0E-CBB8E227BAB7}" dt="2025-12-08T16:26:08.645" v="3978" actId="20577"/>
        <pc:sldMkLst>
          <pc:docMk/>
          <pc:sldMk cId="1291949968" sldId="275"/>
        </pc:sldMkLst>
        <pc:spChg chg="add">
          <ac:chgData name="재은 이" userId="ee07f9e56af2fcf4" providerId="LiveId" clId="{9DAA7C10-E5B0-4CC9-AB0E-CBB8E227BAB7}" dt="2025-12-08T16:13:24.905" v="3434"/>
          <ac:spMkLst>
            <pc:docMk/>
            <pc:sldMk cId="1291949968" sldId="275"/>
            <ac:spMk id="3" creationId="{750C3443-D064-200B-10C0-D97907A68DCD}"/>
          </ac:spMkLst>
        </pc:spChg>
        <pc:spChg chg="mod">
          <ac:chgData name="재은 이" userId="ee07f9e56af2fcf4" providerId="LiveId" clId="{9DAA7C10-E5B0-4CC9-AB0E-CBB8E227BAB7}" dt="2025-12-08T16:21:53.707" v="3632" actId="20577"/>
          <ac:spMkLst>
            <pc:docMk/>
            <pc:sldMk cId="1291949968" sldId="275"/>
            <ac:spMk id="4" creationId="{D87CEEBE-D974-BCBC-E32C-24D9C9A3253F}"/>
          </ac:spMkLst>
        </pc:spChg>
        <pc:spChg chg="add del mod">
          <ac:chgData name="재은 이" userId="ee07f9e56af2fcf4" providerId="LiveId" clId="{9DAA7C10-E5B0-4CC9-AB0E-CBB8E227BAB7}" dt="2025-12-08T16:13:37.524" v="3440"/>
          <ac:spMkLst>
            <pc:docMk/>
            <pc:sldMk cId="1291949968" sldId="275"/>
            <ac:spMk id="5" creationId="{0D17B44E-6A30-E0BA-A6B7-D4278D30B289}"/>
          </ac:spMkLst>
        </pc:spChg>
        <pc:spChg chg="del mod">
          <ac:chgData name="재은 이" userId="ee07f9e56af2fcf4" providerId="LiveId" clId="{9DAA7C10-E5B0-4CC9-AB0E-CBB8E227BAB7}" dt="2025-12-08T16:10:52.150" v="3312" actId="478"/>
          <ac:spMkLst>
            <pc:docMk/>
            <pc:sldMk cId="1291949968" sldId="275"/>
            <ac:spMk id="6" creationId="{E42212D8-CA80-CFC2-79AD-0F8CC7023199}"/>
          </ac:spMkLst>
        </pc:spChg>
        <pc:spChg chg="mod">
          <ac:chgData name="재은 이" userId="ee07f9e56af2fcf4" providerId="LiveId" clId="{9DAA7C10-E5B0-4CC9-AB0E-CBB8E227BAB7}" dt="2025-12-08T16:14:27.940" v="3456" actId="20577"/>
          <ac:spMkLst>
            <pc:docMk/>
            <pc:sldMk cId="1291949968" sldId="275"/>
            <ac:spMk id="7" creationId="{52E6C64C-3379-501C-8C8A-E373D906A3EB}"/>
          </ac:spMkLst>
        </pc:spChg>
      </pc:sldChg>
      <pc:sldChg chg="modNotesTx">
        <pc:chgData name="재은 이" userId="ee07f9e56af2fcf4" providerId="LiveId" clId="{9DAA7C10-E5B0-4CC9-AB0E-CBB8E227BAB7}" dt="2025-12-08T13:30:29.700" v="48" actId="20577"/>
        <pc:sldMkLst>
          <pc:docMk/>
          <pc:sldMk cId="1746187062" sldId="277"/>
        </pc:sldMkLst>
      </pc:sldChg>
      <pc:sldChg chg="modNotesTx">
        <pc:chgData name="재은 이" userId="ee07f9e56af2fcf4" providerId="LiveId" clId="{9DAA7C10-E5B0-4CC9-AB0E-CBB8E227BAB7}" dt="2025-12-08T14:51:39.037" v="876" actId="20577"/>
        <pc:sldMkLst>
          <pc:docMk/>
          <pc:sldMk cId="2203841256" sldId="281"/>
        </pc:sldMkLst>
      </pc:sldChg>
      <pc:sldChg chg="modSp mod modNotesTx">
        <pc:chgData name="재은 이" userId="ee07f9e56af2fcf4" providerId="LiveId" clId="{9DAA7C10-E5B0-4CC9-AB0E-CBB8E227BAB7}" dt="2025-12-08T15:03:17.049" v="1355" actId="20577"/>
        <pc:sldMkLst>
          <pc:docMk/>
          <pc:sldMk cId="1692157262" sldId="282"/>
        </pc:sldMkLst>
        <pc:spChg chg="mod">
          <ac:chgData name="재은 이" userId="ee07f9e56af2fcf4" providerId="LiveId" clId="{9DAA7C10-E5B0-4CC9-AB0E-CBB8E227BAB7}" dt="2025-12-08T15:02:54.865" v="1305" actId="20577"/>
          <ac:spMkLst>
            <pc:docMk/>
            <pc:sldMk cId="1692157262" sldId="282"/>
            <ac:spMk id="4" creationId="{D87CEEBE-D974-BCBC-E32C-24D9C9A3253F}"/>
          </ac:spMkLst>
        </pc:spChg>
      </pc:sldChg>
      <pc:sldChg chg="addSp delSp modSp new mod modNotesTx">
        <pc:chgData name="재은 이" userId="ee07f9e56af2fcf4" providerId="LiveId" clId="{9DAA7C10-E5B0-4CC9-AB0E-CBB8E227BAB7}" dt="2025-12-08T15:26:05.221" v="2202" actId="1076"/>
        <pc:sldMkLst>
          <pc:docMk/>
          <pc:sldMk cId="2807670980" sldId="283"/>
        </pc:sldMkLst>
        <pc:spChg chg="del">
          <ac:chgData name="재은 이" userId="ee07f9e56af2fcf4" providerId="LiveId" clId="{9DAA7C10-E5B0-4CC9-AB0E-CBB8E227BAB7}" dt="2025-12-08T15:03:54.453" v="1357" actId="478"/>
          <ac:spMkLst>
            <pc:docMk/>
            <pc:sldMk cId="2807670980" sldId="283"/>
            <ac:spMk id="2" creationId="{BAD9FA55-4A8D-A4C4-DACB-D3ED356F6B2B}"/>
          </ac:spMkLst>
        </pc:spChg>
        <pc:spChg chg="del">
          <ac:chgData name="재은 이" userId="ee07f9e56af2fcf4" providerId="LiveId" clId="{9DAA7C10-E5B0-4CC9-AB0E-CBB8E227BAB7}" dt="2025-12-08T15:03:57.441" v="1358" actId="478"/>
          <ac:spMkLst>
            <pc:docMk/>
            <pc:sldMk cId="2807670980" sldId="283"/>
            <ac:spMk id="3" creationId="{DB6AB8EA-59D5-A93F-FD16-8A0A3A9DFDCF}"/>
          </ac:spMkLst>
        </pc:spChg>
        <pc:spChg chg="add mod">
          <ac:chgData name="재은 이" userId="ee07f9e56af2fcf4" providerId="LiveId" clId="{9DAA7C10-E5B0-4CC9-AB0E-CBB8E227BAB7}" dt="2025-12-08T15:04:12.971" v="1381" actId="20577"/>
          <ac:spMkLst>
            <pc:docMk/>
            <pc:sldMk cId="2807670980" sldId="283"/>
            <ac:spMk id="4" creationId="{9F7DEDA6-E3F6-31C7-82EC-03FD0E5C9BC3}"/>
          </ac:spMkLst>
        </pc:spChg>
        <pc:spChg chg="add mod">
          <ac:chgData name="재은 이" userId="ee07f9e56af2fcf4" providerId="LiveId" clId="{9DAA7C10-E5B0-4CC9-AB0E-CBB8E227BAB7}" dt="2025-12-08T15:25:59.428" v="2201" actId="1076"/>
          <ac:spMkLst>
            <pc:docMk/>
            <pc:sldMk cId="2807670980" sldId="283"/>
            <ac:spMk id="6" creationId="{93F6759B-6355-F8B7-D6AE-21084BF58F83}"/>
          </ac:spMkLst>
        </pc:spChg>
        <pc:graphicFrameChg chg="add mod modGraphic">
          <ac:chgData name="재은 이" userId="ee07f9e56af2fcf4" providerId="LiveId" clId="{9DAA7C10-E5B0-4CC9-AB0E-CBB8E227BAB7}" dt="2025-12-08T15:26:05.221" v="2202" actId="1076"/>
          <ac:graphicFrameMkLst>
            <pc:docMk/>
            <pc:sldMk cId="2807670980" sldId="283"/>
            <ac:graphicFrameMk id="5" creationId="{A31A9C6B-7C0D-7319-2369-E51181FB93A4}"/>
          </ac:graphicFrameMkLst>
        </pc:graphicFrameChg>
      </pc:sldChg>
      <pc:sldChg chg="addSp modSp new mod modNotesTx">
        <pc:chgData name="재은 이" userId="ee07f9e56af2fcf4" providerId="LiveId" clId="{9DAA7C10-E5B0-4CC9-AB0E-CBB8E227BAB7}" dt="2025-12-08T15:49:21.009" v="2965" actId="20577"/>
        <pc:sldMkLst>
          <pc:docMk/>
          <pc:sldMk cId="1015671802" sldId="284"/>
        </pc:sldMkLst>
        <pc:spChg chg="add mod">
          <ac:chgData name="재은 이" userId="ee07f9e56af2fcf4" providerId="LiveId" clId="{9DAA7C10-E5B0-4CC9-AB0E-CBB8E227BAB7}" dt="2025-12-08T15:20:00.399" v="2053"/>
          <ac:spMkLst>
            <pc:docMk/>
            <pc:sldMk cId="1015671802" sldId="284"/>
            <ac:spMk id="2" creationId="{1A3D2441-2EB8-EB1E-BB1F-91FE5F3DED49}"/>
          </ac:spMkLst>
        </pc:spChg>
        <pc:spChg chg="add mod">
          <ac:chgData name="재은 이" userId="ee07f9e56af2fcf4" providerId="LiveId" clId="{9DAA7C10-E5B0-4CC9-AB0E-CBB8E227BAB7}" dt="2025-12-08T15:31:41.668" v="2283" actId="1076"/>
          <ac:spMkLst>
            <pc:docMk/>
            <pc:sldMk cId="1015671802" sldId="284"/>
            <ac:spMk id="4" creationId="{16C8D138-8587-A4C9-A66A-B8EC171E5B56}"/>
          </ac:spMkLst>
        </pc:spChg>
      </pc:sldChg>
      <pc:sldChg chg="addSp modSp add mod modNotesTx">
        <pc:chgData name="재은 이" userId="ee07f9e56af2fcf4" providerId="LiveId" clId="{9DAA7C10-E5B0-4CC9-AB0E-CBB8E227BAB7}" dt="2025-12-08T15:52:15.255" v="3224" actId="20577"/>
        <pc:sldMkLst>
          <pc:docMk/>
          <pc:sldMk cId="3334086291" sldId="285"/>
        </pc:sldMkLst>
        <pc:spChg chg="add mod">
          <ac:chgData name="재은 이" userId="ee07f9e56af2fcf4" providerId="LiveId" clId="{9DAA7C10-E5B0-4CC9-AB0E-CBB8E227BAB7}" dt="2025-12-08T15:20:02.942" v="2054"/>
          <ac:spMkLst>
            <pc:docMk/>
            <pc:sldMk cId="3334086291" sldId="285"/>
            <ac:spMk id="2" creationId="{DDF33A06-885B-42D3-E62E-F612A8FBCDAA}"/>
          </ac:spMkLst>
        </pc:spChg>
        <pc:spChg chg="add mod">
          <ac:chgData name="재은 이" userId="ee07f9e56af2fcf4" providerId="LiveId" clId="{9DAA7C10-E5B0-4CC9-AB0E-CBB8E227BAB7}" dt="2025-12-08T15:31:35.896" v="2282" actId="1076"/>
          <ac:spMkLst>
            <pc:docMk/>
            <pc:sldMk cId="3334086291" sldId="285"/>
            <ac:spMk id="4" creationId="{AFB9C6FE-ECF7-03C8-CF78-CD88CDFA9E40}"/>
          </ac:spMkLst>
        </pc:spChg>
      </pc:sldChg>
      <pc:sldChg chg="addSp modSp add mod modNotesTx">
        <pc:chgData name="재은 이" userId="ee07f9e56af2fcf4" providerId="LiveId" clId="{9DAA7C10-E5B0-4CC9-AB0E-CBB8E227BAB7}" dt="2025-12-08T15:55:47.368" v="3247" actId="20577"/>
        <pc:sldMkLst>
          <pc:docMk/>
          <pc:sldMk cId="429869673" sldId="286"/>
        </pc:sldMkLst>
        <pc:spChg chg="add mod">
          <ac:chgData name="재은 이" userId="ee07f9e56af2fcf4" providerId="LiveId" clId="{9DAA7C10-E5B0-4CC9-AB0E-CBB8E227BAB7}" dt="2025-12-08T15:20:05.142" v="2055"/>
          <ac:spMkLst>
            <pc:docMk/>
            <pc:sldMk cId="429869673" sldId="286"/>
            <ac:spMk id="2" creationId="{2534362A-8B34-C8B5-F4AC-7068FEBE6DD4}"/>
          </ac:spMkLst>
        </pc:spChg>
        <pc:spChg chg="add mod">
          <ac:chgData name="재은 이" userId="ee07f9e56af2fcf4" providerId="LiveId" clId="{9DAA7C10-E5B0-4CC9-AB0E-CBB8E227BAB7}" dt="2025-12-08T15:54:19.443" v="3234" actId="20577"/>
          <ac:spMkLst>
            <pc:docMk/>
            <pc:sldMk cId="429869673" sldId="286"/>
            <ac:spMk id="4" creationId="{B39045D1-07F5-5C37-5082-CBA0EA652503}"/>
          </ac:spMkLst>
        </pc:spChg>
      </pc:sldChg>
      <pc:sldChg chg="addSp modSp add mod modNotesTx">
        <pc:chgData name="재은 이" userId="ee07f9e56af2fcf4" providerId="LiveId" clId="{9DAA7C10-E5B0-4CC9-AB0E-CBB8E227BAB7}" dt="2025-12-08T15:57:05.961" v="3261" actId="20577"/>
        <pc:sldMkLst>
          <pc:docMk/>
          <pc:sldMk cId="1676456337" sldId="287"/>
        </pc:sldMkLst>
        <pc:spChg chg="add mod">
          <ac:chgData name="재은 이" userId="ee07f9e56af2fcf4" providerId="LiveId" clId="{9DAA7C10-E5B0-4CC9-AB0E-CBB8E227BAB7}" dt="2025-12-08T15:20:07.512" v="2056"/>
          <ac:spMkLst>
            <pc:docMk/>
            <pc:sldMk cId="1676456337" sldId="287"/>
            <ac:spMk id="2" creationId="{6E46193C-0B7E-521B-67AA-4D5435C2A5C9}"/>
          </ac:spMkLst>
        </pc:spChg>
        <pc:spChg chg="add mod">
          <ac:chgData name="재은 이" userId="ee07f9e56af2fcf4" providerId="LiveId" clId="{9DAA7C10-E5B0-4CC9-AB0E-CBB8E227BAB7}" dt="2025-12-08T15:54:32.957" v="3244" actId="20577"/>
          <ac:spMkLst>
            <pc:docMk/>
            <pc:sldMk cId="1676456337" sldId="287"/>
            <ac:spMk id="4" creationId="{B8E08B79-35F9-78FB-DF12-0A2EAE782B3F}"/>
          </ac:spMkLst>
        </pc:spChg>
      </pc:sldChg>
      <pc:sldChg chg="delSp modSp add del mod modNotesTx">
        <pc:chgData name="재은 이" userId="ee07f9e56af2fcf4" providerId="LiveId" clId="{9DAA7C10-E5B0-4CC9-AB0E-CBB8E227BAB7}" dt="2025-12-08T16:10:43.727" v="3311" actId="20577"/>
        <pc:sldMkLst>
          <pc:docMk/>
          <pc:sldMk cId="2374149986" sldId="288"/>
        </pc:sldMkLst>
        <pc:spChg chg="mod">
          <ac:chgData name="재은 이" userId="ee07f9e56af2fcf4" providerId="LiveId" clId="{9DAA7C10-E5B0-4CC9-AB0E-CBB8E227BAB7}" dt="2025-12-08T16:10:37.662" v="3308" actId="1076"/>
          <ac:spMkLst>
            <pc:docMk/>
            <pc:sldMk cId="2374149986" sldId="288"/>
            <ac:spMk id="4" creationId="{A8AFE285-1632-AB96-028E-8347EEA58050}"/>
          </ac:spMkLst>
        </pc:spChg>
        <pc:spChg chg="mod">
          <ac:chgData name="재은 이" userId="ee07f9e56af2fcf4" providerId="LiveId" clId="{9DAA7C10-E5B0-4CC9-AB0E-CBB8E227BAB7}" dt="2025-12-08T16:10:37.662" v="3308" actId="1076"/>
          <ac:spMkLst>
            <pc:docMk/>
            <pc:sldMk cId="2374149986" sldId="288"/>
            <ac:spMk id="6" creationId="{F6F08149-8CD6-6488-E6BB-CBDCE9B05B49}"/>
          </ac:spMkLst>
        </pc:spChg>
        <pc:spChg chg="del">
          <ac:chgData name="재은 이" userId="ee07f9e56af2fcf4" providerId="LiveId" clId="{9DAA7C10-E5B0-4CC9-AB0E-CBB8E227BAB7}" dt="2025-12-08T16:10:28.572" v="3307" actId="478"/>
          <ac:spMkLst>
            <pc:docMk/>
            <pc:sldMk cId="2374149986" sldId="288"/>
            <ac:spMk id="7" creationId="{D24FEF39-6188-B121-72CA-EAF93BCC28E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2B591C-464F-460B-A672-1D2B52A185DA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AB2C9E-410B-45F0-94F6-9A8752C58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8651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웹 </a:t>
            </a:r>
            <a:r>
              <a:rPr lang="ko-KR" altLang="en-US" dirty="0"/>
              <a:t>영상 대화</a:t>
            </a:r>
            <a:r>
              <a:rPr lang="en-US" altLang="ko-KR" dirty="0"/>
              <a:t>, </a:t>
            </a:r>
            <a:r>
              <a:rPr lang="ko-KR" altLang="en-US" dirty="0"/>
              <a:t>회상요법</a:t>
            </a:r>
            <a:r>
              <a:rPr lang="en-US" altLang="ko-KR" dirty="0"/>
              <a:t>, </a:t>
            </a:r>
            <a:r>
              <a:rPr lang="ko-KR" altLang="en-US" dirty="0"/>
              <a:t>인지자극치료</a:t>
            </a:r>
            <a:r>
              <a:rPr lang="en-US" altLang="ko-KR" dirty="0"/>
              <a:t>, </a:t>
            </a:r>
            <a:r>
              <a:rPr lang="ko-KR" altLang="en-US" dirty="0"/>
              <a:t>소셜 로봇</a:t>
            </a:r>
            <a:r>
              <a:rPr lang="en-US" altLang="ko-KR" dirty="0"/>
              <a:t>, </a:t>
            </a:r>
            <a:r>
              <a:rPr lang="ko-KR" altLang="en-US" dirty="0"/>
              <a:t>스마트폰 기반 대화형 에이전트 등에서</a:t>
            </a:r>
            <a:r>
              <a:rPr lang="en-US" altLang="ko-KR" dirty="0"/>
              <a:t>, </a:t>
            </a:r>
            <a:r>
              <a:rPr lang="ko-KR" altLang="en-US" dirty="0"/>
              <a:t>단순한 ‘</a:t>
            </a:r>
            <a:r>
              <a:rPr lang="ko-KR" altLang="en-US" dirty="0" err="1"/>
              <a:t>대화’와</a:t>
            </a:r>
            <a:r>
              <a:rPr lang="ko-KR" altLang="en-US" dirty="0"/>
              <a:t> ‘사회적 상호작용’ 만으로도 인지 기능과 정서 상태가 좋아진다는 결과들이 이미 많이 나와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저희의 </a:t>
            </a:r>
            <a:r>
              <a:rPr lang="en-US" altLang="ko-KR" dirty="0"/>
              <a:t>LT</a:t>
            </a:r>
            <a:r>
              <a:rPr lang="ko-KR" altLang="en-US" dirty="0"/>
              <a:t>는 이 근거들을 바탕으로</a:t>
            </a:r>
            <a:r>
              <a:rPr lang="en-US" altLang="ko-KR" dirty="0"/>
              <a:t>, </a:t>
            </a:r>
            <a:r>
              <a:rPr lang="ko-KR" altLang="en-US" dirty="0"/>
              <a:t>세션의 길이와 빈도</a:t>
            </a:r>
            <a:r>
              <a:rPr lang="en-US" altLang="ko-KR" dirty="0"/>
              <a:t>, </a:t>
            </a:r>
            <a:r>
              <a:rPr lang="ko-KR" altLang="en-US" dirty="0"/>
              <a:t>어떤 이야기를 할지</a:t>
            </a:r>
            <a:r>
              <a:rPr lang="en-US" altLang="ko-KR" dirty="0"/>
              <a:t>, </a:t>
            </a:r>
            <a:r>
              <a:rPr lang="ko-KR" altLang="en-US" dirty="0"/>
              <a:t>디지털 형식이 실제로 수용 가능한지</a:t>
            </a:r>
            <a:r>
              <a:rPr lang="en-US" altLang="ko-KR" dirty="0"/>
              <a:t>, </a:t>
            </a:r>
            <a:r>
              <a:rPr lang="ko-KR" altLang="en-US" dirty="0"/>
              <a:t>그리고 어떤 지표로 효과를 평가할 지까지 전체 구조를 근거 기반으로 설계하고자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530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87E0A-5F66-3C74-608C-DB532CC9F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8DD9CD-2A65-3C04-0D1D-DE114CF687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C69C0D-E156-DF35-61AA-D33DEB820C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 슬라이드는 사람</a:t>
            </a:r>
            <a:r>
              <a:rPr lang="en-US" altLang="ko-KR" dirty="0"/>
              <a:t>–</a:t>
            </a:r>
            <a:r>
              <a:rPr lang="ko-KR" altLang="en-US" dirty="0"/>
              <a:t>사람 웹 대화 연구에서 가져온 근거입니다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Dodge </a:t>
            </a:r>
            <a:r>
              <a:rPr lang="ko-KR" altLang="en-US" dirty="0"/>
              <a:t>연구는 하루 </a:t>
            </a:r>
            <a:r>
              <a:rPr lang="en-US" altLang="ko-KR" dirty="0"/>
              <a:t>30</a:t>
            </a:r>
            <a:r>
              <a:rPr lang="ko-KR" altLang="en-US" dirty="0"/>
              <a:t>분</a:t>
            </a:r>
            <a:r>
              <a:rPr lang="en-US" altLang="ko-KR" dirty="0"/>
              <a:t>, </a:t>
            </a:r>
            <a:r>
              <a:rPr lang="ko-KR" altLang="en-US" dirty="0"/>
              <a:t>주 </a:t>
            </a:r>
            <a:r>
              <a:rPr lang="en-US" altLang="ko-KR" dirty="0"/>
              <a:t>7</a:t>
            </a:r>
            <a:r>
              <a:rPr lang="ko-KR" altLang="en-US" dirty="0"/>
              <a:t>회</a:t>
            </a:r>
            <a:r>
              <a:rPr lang="en-US" altLang="ko-KR" dirty="0"/>
              <a:t>, 6</a:t>
            </a:r>
            <a:r>
              <a:rPr lang="ko-KR" altLang="en-US" dirty="0"/>
              <a:t>주 동안 </a:t>
            </a:r>
            <a:r>
              <a:rPr lang="ko-KR" altLang="en-US" dirty="0" err="1"/>
              <a:t>웹캠으로</a:t>
            </a:r>
            <a:r>
              <a:rPr lang="ko-KR" altLang="en-US" dirty="0"/>
              <a:t> 일상 대화를 한 결과</a:t>
            </a:r>
            <a:r>
              <a:rPr lang="en-US" altLang="ko-KR" dirty="0"/>
              <a:t>, </a:t>
            </a:r>
            <a:r>
              <a:rPr lang="ko-KR" altLang="en-US" dirty="0"/>
              <a:t>실행기능과 언어 기능이 좋아지고</a:t>
            </a:r>
            <a:r>
              <a:rPr lang="en-US" altLang="ko-KR" dirty="0"/>
              <a:t>, </a:t>
            </a:r>
            <a:r>
              <a:rPr lang="ko-KR" altLang="en-US" dirty="0"/>
              <a:t>고독감도 줄어들었다는 </a:t>
            </a:r>
            <a:r>
              <a:rPr lang="en-US" altLang="ko-KR" dirty="0"/>
              <a:t>RCT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A0D3C6-2683-F7DA-D13B-E581ECC69D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071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8BC88-3E6A-575B-61E8-C8B1B5AFC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842881-5433-E815-431F-6FD4098303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5D7FA6-E7C4-D486-725A-AACF97D2F9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I-CONECT </a:t>
            </a:r>
            <a:r>
              <a:rPr lang="ko-KR" altLang="en-US" dirty="0"/>
              <a:t>연구는 더 장기적인 설계로</a:t>
            </a:r>
            <a:r>
              <a:rPr lang="en-US" altLang="ko-KR" dirty="0"/>
              <a:t>, 30</a:t>
            </a:r>
            <a:r>
              <a:rPr lang="ko-KR" altLang="en-US" dirty="0"/>
              <a:t>분 영상 대화를 주 </a:t>
            </a:r>
            <a:r>
              <a:rPr lang="en-US" altLang="ko-KR" dirty="0"/>
              <a:t>4</a:t>
            </a:r>
            <a:r>
              <a:rPr lang="ko-KR" altLang="en-US" dirty="0"/>
              <a:t>회 </a:t>
            </a:r>
            <a:r>
              <a:rPr lang="en-US" altLang="ko-KR" dirty="0"/>
              <a:t>6</a:t>
            </a:r>
            <a:r>
              <a:rPr lang="ko-KR" altLang="en-US" dirty="0"/>
              <a:t>개월</a:t>
            </a:r>
            <a:r>
              <a:rPr lang="en-US" altLang="ko-KR" dirty="0"/>
              <a:t>, </a:t>
            </a:r>
            <a:r>
              <a:rPr lang="ko-KR" altLang="en-US" dirty="0"/>
              <a:t>이후 주 </a:t>
            </a:r>
            <a:r>
              <a:rPr lang="en-US" altLang="ko-KR" dirty="0"/>
              <a:t>2</a:t>
            </a:r>
            <a:r>
              <a:rPr lang="ko-KR" altLang="en-US" dirty="0"/>
              <a:t>회 </a:t>
            </a:r>
            <a:r>
              <a:rPr lang="en-US" altLang="ko-KR" dirty="0"/>
              <a:t>6</a:t>
            </a:r>
            <a:r>
              <a:rPr lang="ko-KR" altLang="en-US" dirty="0"/>
              <a:t>개월 유지하는 구조로</a:t>
            </a:r>
            <a:r>
              <a:rPr lang="en-US" altLang="ko-KR" dirty="0"/>
              <a:t>, </a:t>
            </a:r>
            <a:r>
              <a:rPr lang="ko-KR" altLang="en-US" dirty="0"/>
              <a:t>온라인 대화 자체가 인지 저하를 늦출 수 있는 지를 본 대규모 </a:t>
            </a:r>
            <a:r>
              <a:rPr lang="en-US" altLang="ko-KR" dirty="0"/>
              <a:t>RCT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두 연구를 근거로</a:t>
            </a:r>
            <a:r>
              <a:rPr lang="en-US" altLang="ko-KR" dirty="0"/>
              <a:t>, LT</a:t>
            </a:r>
            <a:r>
              <a:rPr lang="ko-KR" altLang="en-US" dirty="0"/>
              <a:t>는 경도 </a:t>
            </a:r>
            <a:r>
              <a:rPr lang="en-US" altLang="ko-KR" dirty="0"/>
              <a:t>MCI </a:t>
            </a:r>
            <a:r>
              <a:rPr lang="ko-KR" altLang="en-US" dirty="0"/>
              <a:t>기준 </a:t>
            </a:r>
            <a:r>
              <a:rPr lang="en-US" altLang="ko-KR" dirty="0"/>
              <a:t>1</a:t>
            </a:r>
            <a:r>
              <a:rPr lang="ko-KR" altLang="en-US" dirty="0"/>
              <a:t>세션 </a:t>
            </a:r>
            <a:r>
              <a:rPr lang="en-US" altLang="ko-KR" dirty="0"/>
              <a:t>20–30</a:t>
            </a:r>
            <a:r>
              <a:rPr lang="ko-KR" altLang="en-US" dirty="0"/>
              <a:t>분</a:t>
            </a:r>
            <a:r>
              <a:rPr lang="en-US" altLang="ko-KR" dirty="0"/>
              <a:t>, </a:t>
            </a:r>
            <a:r>
              <a:rPr lang="ko-KR" altLang="en-US" dirty="0"/>
              <a:t>주 </a:t>
            </a:r>
            <a:r>
              <a:rPr lang="en-US" altLang="ko-KR" dirty="0"/>
              <a:t>3–4</a:t>
            </a:r>
            <a:r>
              <a:rPr lang="ko-KR" altLang="en-US" dirty="0"/>
              <a:t>회 정도의 구조를 기본 설계로 삼았습니다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B20579-3CB3-2CF8-5C6B-2DA95ECAA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457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D6C0D-E58D-3A52-689C-5A6588165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3A62D1-A92C-A23C-CA20-FD633CF65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0ED618-463B-DF6F-542A-66151F7A2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회상요법에 대한 리뷰와 메타분석을 보면</a:t>
            </a:r>
            <a:r>
              <a:rPr lang="en-US" altLang="ko-KR" dirty="0"/>
              <a:t>, 30~60</a:t>
            </a:r>
            <a:r>
              <a:rPr lang="ko-KR" altLang="en-US" dirty="0"/>
              <a:t>분</a:t>
            </a:r>
            <a:r>
              <a:rPr lang="en-US" altLang="ko-KR" dirty="0"/>
              <a:t>, </a:t>
            </a:r>
            <a:r>
              <a:rPr lang="ko-KR" altLang="en-US" dirty="0"/>
              <a:t>주 </a:t>
            </a:r>
            <a:r>
              <a:rPr lang="en-US" altLang="ko-KR" dirty="0"/>
              <a:t>1</a:t>
            </a:r>
            <a:r>
              <a:rPr lang="ko-KR" altLang="en-US" dirty="0"/>
              <a:t>회 정도의 회상 대화만으로도 우울이 줄고</a:t>
            </a:r>
            <a:r>
              <a:rPr lang="en-US" altLang="ko-KR" dirty="0"/>
              <a:t>, </a:t>
            </a:r>
            <a:r>
              <a:rPr lang="ko-KR" altLang="en-US" dirty="0"/>
              <a:t>삶의 질과 자서전적 기억이 개선된다는 결과가 반복해서 보고됩니다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본 슬라이드에서 보여주고 있는 </a:t>
            </a:r>
            <a:r>
              <a:rPr lang="en-US" altLang="ko-KR" dirty="0"/>
              <a:t>CST</a:t>
            </a:r>
            <a:r>
              <a:rPr lang="ko-KR" altLang="en-US" dirty="0"/>
              <a:t>는 </a:t>
            </a:r>
            <a:r>
              <a:rPr lang="en-US" altLang="ko-KR" dirty="0"/>
              <a:t>45</a:t>
            </a:r>
            <a:r>
              <a:rPr lang="ko-KR" altLang="en-US" dirty="0"/>
              <a:t>분</a:t>
            </a:r>
            <a:r>
              <a:rPr lang="en-US" altLang="ko-KR" dirty="0"/>
              <a:t>, </a:t>
            </a:r>
            <a:r>
              <a:rPr lang="ko-KR" altLang="en-US" dirty="0"/>
              <a:t>주 </a:t>
            </a:r>
            <a:r>
              <a:rPr lang="en-US" altLang="ko-KR" dirty="0"/>
              <a:t>2</a:t>
            </a:r>
            <a:r>
              <a:rPr lang="ko-KR" altLang="en-US" dirty="0"/>
              <a:t>회</a:t>
            </a:r>
            <a:r>
              <a:rPr lang="en-US" altLang="ko-KR" dirty="0"/>
              <a:t>, 7</a:t>
            </a:r>
            <a:r>
              <a:rPr lang="ko-KR" altLang="en-US" dirty="0"/>
              <a:t>주 동안 시사 이야기</a:t>
            </a:r>
            <a:r>
              <a:rPr lang="en-US" altLang="ko-KR" dirty="0"/>
              <a:t>, </a:t>
            </a:r>
            <a:r>
              <a:rPr lang="ko-KR" altLang="en-US" dirty="0"/>
              <a:t>단어 게임</a:t>
            </a:r>
            <a:r>
              <a:rPr lang="en-US" altLang="ko-KR" dirty="0"/>
              <a:t>, </a:t>
            </a:r>
            <a:r>
              <a:rPr lang="ko-KR" altLang="en-US" dirty="0"/>
              <a:t>연상 활동을 하면서 인지 기능과 삶의 질을 향상시킨 대표적인 </a:t>
            </a:r>
            <a:r>
              <a:rPr lang="ko-KR" altLang="en-US" dirty="0" err="1"/>
              <a:t>비약물</a:t>
            </a:r>
            <a:r>
              <a:rPr lang="ko-KR" altLang="en-US" dirty="0"/>
              <a:t> 치료법입니다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이러한 결과들은 </a:t>
            </a:r>
            <a:r>
              <a:rPr lang="en-US" altLang="ko-KR" dirty="0"/>
              <a:t>LT</a:t>
            </a:r>
            <a:r>
              <a:rPr lang="ko-KR" altLang="en-US" dirty="0"/>
              <a:t>의 사랑 대화 주제를 설계할 때 과거 회상</a:t>
            </a:r>
            <a:r>
              <a:rPr lang="en-US" altLang="ko-KR" dirty="0"/>
              <a:t>, </a:t>
            </a:r>
            <a:r>
              <a:rPr lang="ko-KR" altLang="en-US" dirty="0"/>
              <a:t>관계 이야기</a:t>
            </a:r>
            <a:r>
              <a:rPr lang="en-US" altLang="ko-KR" dirty="0"/>
              <a:t>, </a:t>
            </a:r>
            <a:r>
              <a:rPr lang="ko-KR" altLang="en-US" dirty="0"/>
              <a:t>일상</a:t>
            </a:r>
            <a:r>
              <a:rPr lang="en-US" altLang="ko-KR" dirty="0"/>
              <a:t>, </a:t>
            </a:r>
            <a:r>
              <a:rPr lang="ko-KR" altLang="en-US" dirty="0"/>
              <a:t>간단한 놀이 요소가 효과적인 대화 소재라는 걸 보여줍니다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068632-AC69-B5C2-E3DE-9A64772F01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711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B9810-178B-06F3-DA4C-68EE865D3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C8EC57-5C59-18A9-556C-3856EA4147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723A35-9C9B-8804-DFFE-3FF6C23AF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소셜 로봇과 </a:t>
            </a:r>
            <a:r>
              <a:rPr lang="en-US" altLang="ko-KR" dirty="0"/>
              <a:t>PIO(</a:t>
            </a:r>
            <a:r>
              <a:rPr lang="ko-KR" altLang="en-US" dirty="0"/>
              <a:t>한국 기업인 </a:t>
            </a:r>
            <a:r>
              <a:rPr lang="ko-KR" altLang="en-US" dirty="0" err="1"/>
              <a:t>와이닷츠가</a:t>
            </a:r>
            <a:r>
              <a:rPr lang="ko-KR" altLang="en-US" dirty="0"/>
              <a:t> 개발한 로봇</a:t>
            </a:r>
            <a:r>
              <a:rPr lang="en-US" altLang="ko-KR" dirty="0"/>
              <a:t>) </a:t>
            </a:r>
            <a:r>
              <a:rPr lang="ko-KR" altLang="en-US" dirty="0"/>
              <a:t>프로그램 연구입니다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본문의 </a:t>
            </a:r>
            <a:r>
              <a:rPr lang="ko-KR" altLang="en-US" dirty="0" err="1"/>
              <a:t>연구들에서는</a:t>
            </a:r>
            <a:r>
              <a:rPr lang="ko-KR" altLang="en-US" dirty="0"/>
              <a:t> 노인</a:t>
            </a:r>
            <a:r>
              <a:rPr lang="en-US" altLang="ko-KR" dirty="0"/>
              <a:t>, </a:t>
            </a:r>
            <a:r>
              <a:rPr lang="ko-KR" altLang="en-US" dirty="0"/>
              <a:t>특히 경</a:t>
            </a:r>
            <a:r>
              <a:rPr lang="en-US" altLang="ko-KR" dirty="0"/>
              <a:t>·</a:t>
            </a:r>
            <a:r>
              <a:rPr lang="ko-KR" altLang="en-US" dirty="0"/>
              <a:t>중등도 치매 환자들에게 로봇과 </a:t>
            </a:r>
            <a:r>
              <a:rPr lang="en-US" altLang="ko-KR" dirty="0"/>
              <a:t>30</a:t>
            </a:r>
            <a:r>
              <a:rPr lang="ko-KR" altLang="en-US" dirty="0"/>
              <a:t>분 전후의 세션을 주 </a:t>
            </a:r>
            <a:r>
              <a:rPr lang="en-US" altLang="ko-KR" dirty="0"/>
              <a:t>2-3</a:t>
            </a:r>
            <a:r>
              <a:rPr lang="ko-KR" altLang="en-US" dirty="0"/>
              <a:t>회 제공했을 때</a:t>
            </a:r>
            <a:r>
              <a:rPr lang="en-US" altLang="ko-KR" dirty="0"/>
              <a:t>, </a:t>
            </a:r>
            <a:r>
              <a:rPr lang="ko-KR" altLang="en-US" dirty="0"/>
              <a:t>인지 기능이 유의하게 좋아지고 우울과 외로움이 줄어드는 경향이 관찰되었습니다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결과는 사람</a:t>
            </a:r>
            <a:r>
              <a:rPr lang="en-US" altLang="ko-KR" dirty="0"/>
              <a:t>–</a:t>
            </a:r>
            <a:r>
              <a:rPr lang="ko-KR" altLang="en-US" dirty="0"/>
              <a:t>사람 </a:t>
            </a:r>
            <a:r>
              <a:rPr lang="ko-KR" altLang="en-US" dirty="0" err="1"/>
              <a:t>대화뿐만</a:t>
            </a:r>
            <a:r>
              <a:rPr lang="ko-KR" altLang="en-US" dirty="0"/>
              <a:t> 아니라</a:t>
            </a:r>
            <a:r>
              <a:rPr lang="en-US" altLang="ko-KR" dirty="0"/>
              <a:t>, </a:t>
            </a:r>
            <a:r>
              <a:rPr lang="ko-KR" altLang="en-US" dirty="0"/>
              <a:t>디지털</a:t>
            </a:r>
            <a:r>
              <a:rPr lang="en-US" altLang="ko-KR" dirty="0"/>
              <a:t>·</a:t>
            </a:r>
            <a:r>
              <a:rPr lang="ko-KR" altLang="en-US" dirty="0"/>
              <a:t>로봇 매개 상호작용도 충분히 치료적 효과를 가질 수 있다는 점을 보여줍니다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</a:t>
            </a:r>
            <a:r>
              <a:rPr lang="en-US" altLang="ko-KR" dirty="0"/>
              <a:t>LT</a:t>
            </a:r>
            <a:r>
              <a:rPr lang="ko-KR" altLang="en-US" dirty="0"/>
              <a:t>도 </a:t>
            </a:r>
            <a:r>
              <a:rPr lang="en-US" altLang="ko-KR" dirty="0"/>
              <a:t>20~30</a:t>
            </a:r>
            <a:r>
              <a:rPr lang="ko-KR" altLang="en-US" dirty="0"/>
              <a:t>분이라는 시간을 부담 없이 유지하면서</a:t>
            </a:r>
            <a:r>
              <a:rPr lang="en-US" altLang="ko-KR" dirty="0"/>
              <a:t>, </a:t>
            </a:r>
            <a:r>
              <a:rPr lang="ko-KR" altLang="en-US" dirty="0"/>
              <a:t>사랑과 애착을 주제로 한 대화를 제공하면</a:t>
            </a:r>
            <a:r>
              <a:rPr lang="en-US" altLang="ko-KR" dirty="0"/>
              <a:t>, </a:t>
            </a:r>
            <a:r>
              <a:rPr lang="ko-KR" altLang="en-US" dirty="0"/>
              <a:t>인지와 정서를 동시에 지지할 수 있을 것으로 기대할 수 있습니다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B291DA-F302-86AB-0490-97CD3A0965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642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저희는 초기 틀로 답변의 변화를 단어형 객관식</a:t>
            </a:r>
            <a:r>
              <a:rPr lang="en-US" altLang="ko-KR" dirty="0"/>
              <a:t> </a:t>
            </a:r>
            <a:r>
              <a:rPr lang="ko-KR" altLang="en-US" dirty="0"/>
              <a:t>→ 문장형 객관식 → 단답형 → 짧은 문장형</a:t>
            </a:r>
            <a:r>
              <a:rPr lang="en-US" altLang="ko-KR" dirty="0"/>
              <a:t>(</a:t>
            </a:r>
            <a:r>
              <a:rPr lang="ko-KR" altLang="en-US" dirty="0"/>
              <a:t>주관식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4</a:t>
            </a:r>
            <a:r>
              <a:rPr lang="ko-KR" altLang="en-US" dirty="0"/>
              <a:t>단계로 구성했습니다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환자가 가능한 답변의 단계에 따라 그만큼 더 복잡한 사고</a:t>
            </a:r>
            <a:r>
              <a:rPr lang="en-US" altLang="ko-KR" dirty="0"/>
              <a:t>·</a:t>
            </a:r>
            <a:r>
              <a:rPr lang="ko-KR" altLang="en-US" dirty="0"/>
              <a:t>기억</a:t>
            </a:r>
            <a:r>
              <a:rPr lang="en-US" altLang="ko-KR" dirty="0"/>
              <a:t>·</a:t>
            </a:r>
            <a:r>
              <a:rPr lang="ko-KR" altLang="en-US" dirty="0"/>
              <a:t>감정을 처리할 수 있다는 지표가 됩니다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추후 환자의 대답 단계의 상승을 실제 능력 회복의 지표로 삼아 평가 도구로도 사용 가능할 것으로 예상합니다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B2C9E-410B-45F0-94F6-9A8752C5810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2904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각</a:t>
            </a:r>
            <a:r>
              <a:rPr lang="en-US" altLang="ko-KR" dirty="0"/>
              <a:t> </a:t>
            </a:r>
            <a:r>
              <a:rPr lang="ko-KR" altLang="en-US" dirty="0"/>
              <a:t>단계에 따른 설명과 가족이라는 주제로 각 단계에 실행가능한 질문과 예시들입니다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r>
              <a:rPr lang="ko-KR" altLang="en-US" dirty="0"/>
              <a:t>짧은 객관식의 답변이 가능하다는 것은 </a:t>
            </a:r>
            <a:r>
              <a:rPr lang="ko-KR" altLang="en-US" b="1" dirty="0"/>
              <a:t>자극을 인지하고 선택할 수 있는 기본 처리 능력을 가지고 있다는 것을 의미합니다</a:t>
            </a:r>
            <a:r>
              <a:rPr lang="en-US" altLang="ko-KR" b="1" dirty="0"/>
              <a:t>.</a:t>
            </a:r>
          </a:p>
          <a:p>
            <a:pPr>
              <a:buFont typeface="Arial" panose="020B0604020202020204" pitchFamily="34" charset="0"/>
              <a:buNone/>
            </a:pPr>
            <a:r>
              <a:rPr lang="ko-KR" altLang="en-US" dirty="0"/>
              <a:t>선택지를 보며 </a:t>
            </a:r>
            <a:r>
              <a:rPr lang="ko-KR" altLang="en-US" b="1" dirty="0"/>
              <a:t>기본적인 감정 인식</a:t>
            </a:r>
            <a:r>
              <a:rPr lang="en-US" altLang="ko-KR" dirty="0"/>
              <a:t>, </a:t>
            </a:r>
            <a:r>
              <a:rPr lang="ko-KR" altLang="en-US" b="1" dirty="0"/>
              <a:t>단순 판단</a:t>
            </a:r>
            <a:r>
              <a:rPr lang="en-US" altLang="ko-KR" dirty="0"/>
              <a:t>, </a:t>
            </a:r>
            <a:r>
              <a:rPr lang="ko-KR" altLang="en-US" b="1" dirty="0"/>
              <a:t>주의 집중</a:t>
            </a:r>
            <a:r>
              <a:rPr lang="ko-KR" altLang="en-US" dirty="0"/>
              <a:t>이 가능하고</a:t>
            </a:r>
            <a:r>
              <a:rPr lang="en-US" altLang="ko-KR" dirty="0"/>
              <a:t>, </a:t>
            </a:r>
            <a:r>
              <a:rPr lang="ko-KR" altLang="en-US" dirty="0"/>
              <a:t>인지 부하가 적기 때문에 </a:t>
            </a:r>
            <a:r>
              <a:rPr lang="en-US" altLang="ko-KR" dirty="0"/>
              <a:t>MCI </a:t>
            </a:r>
            <a:r>
              <a:rPr lang="ko-KR" altLang="en-US" dirty="0"/>
              <a:t>진입 단계에서 주로 사용됩니다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None/>
            </a:pP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r>
              <a:rPr lang="ko-KR" altLang="en-US" dirty="0"/>
              <a:t>보기를 보고 반응하는 반응 기반 기억을 사용하여 단어 형태의 답변을 객관식의 형태로 제시합니다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B2C9E-410B-45F0-94F6-9A8752C5810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4859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ko-KR" altLang="en-US" dirty="0"/>
              <a:t>다음은 문장형 객관식 단계입니다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문장형 객관식에 답변할 수 있다는 것은 환자의 </a:t>
            </a:r>
            <a:r>
              <a:rPr lang="ko-KR" altLang="en-US" b="1" dirty="0"/>
              <a:t>상황 이해력과 감정 분별 능력이 회복되었음을 의미합니다</a:t>
            </a:r>
            <a:r>
              <a:rPr lang="en-US" altLang="ko-KR" b="1" dirty="0"/>
              <a:t>.</a:t>
            </a:r>
            <a:br>
              <a:rPr lang="ko-KR" altLang="en-US" dirty="0"/>
            </a:br>
            <a:r>
              <a:rPr lang="ko-KR" altLang="en-US" dirty="0"/>
              <a:t>이 단계에서는 단순히 보기 중 하나를 고르는 수준을 넘어</a:t>
            </a:r>
            <a:r>
              <a:rPr lang="en-US" altLang="ko-KR" dirty="0"/>
              <a:t>, </a:t>
            </a:r>
            <a:r>
              <a:rPr lang="ko-KR" altLang="en-US" b="1" dirty="0"/>
              <a:t>문장의 의미를 해석하고 보다 복합적인 감정</a:t>
            </a:r>
            <a:r>
              <a:rPr lang="en-US" altLang="ko-KR" b="1" dirty="0"/>
              <a:t>·</a:t>
            </a:r>
            <a:r>
              <a:rPr lang="ko-KR" altLang="en-US" b="1" dirty="0"/>
              <a:t>상황을 판단하는 능력</a:t>
            </a:r>
            <a:r>
              <a:rPr lang="ko-KR" altLang="en-US" dirty="0"/>
              <a:t>이 요구됩니다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단순 인식의 단계에서 </a:t>
            </a:r>
            <a:r>
              <a:rPr lang="ko-KR" altLang="en-US" b="1" dirty="0"/>
              <a:t>의미를 해석하는 단계로 확장되었으며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감정의 강도나 이유와 같이 </a:t>
            </a:r>
            <a:r>
              <a:rPr lang="ko-KR" altLang="en-US" b="1" dirty="0"/>
              <a:t>더 세밀한 감정 구분까지 가능해진 상태</a:t>
            </a:r>
            <a:r>
              <a:rPr lang="ko-KR" altLang="en-US" dirty="0"/>
              <a:t>라고 볼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B2C9E-410B-45F0-94F6-9A8752C5810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9010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세 번째 단계인 </a:t>
            </a:r>
            <a:r>
              <a:rPr lang="ko-KR" altLang="en-US" b="1" dirty="0"/>
              <a:t>단답형 답변이 </a:t>
            </a:r>
            <a:r>
              <a:rPr lang="ko-KR" altLang="en-US" b="1" dirty="0" err="1"/>
              <a:t>가능해진다는</a:t>
            </a:r>
            <a:r>
              <a:rPr lang="ko-KR" altLang="en-US" b="1" dirty="0"/>
              <a:t> 것</a:t>
            </a:r>
            <a:r>
              <a:rPr lang="ko-KR" altLang="en-US" dirty="0"/>
              <a:t>은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환자가 </a:t>
            </a:r>
            <a:r>
              <a:rPr lang="ko-KR" altLang="en-US" b="1" dirty="0"/>
              <a:t>기억에서 직접 정보를 꺼내어 말하는 능력이 회복되고 있다</a:t>
            </a:r>
            <a:r>
              <a:rPr lang="ko-KR" altLang="en-US" dirty="0"/>
              <a:t>는 중요한 신호입니다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보기 없이 스스로 응답한다는 </a:t>
            </a:r>
            <a:r>
              <a:rPr lang="ko-KR" altLang="en-US" dirty="0" err="1"/>
              <a:t>것은</a:t>
            </a:r>
            <a:r>
              <a:rPr lang="ko-KR" altLang="en-US" b="1" dirty="0" err="1"/>
              <a:t>기억</a:t>
            </a:r>
            <a:r>
              <a:rPr lang="ko-KR" altLang="en-US" b="1" dirty="0"/>
              <a:t> 인출 능력</a:t>
            </a:r>
            <a:r>
              <a:rPr lang="en-US" altLang="ko-KR" b="1" dirty="0"/>
              <a:t>, </a:t>
            </a:r>
            <a:r>
              <a:rPr lang="ko-KR" altLang="en-US" b="1" dirty="0"/>
              <a:t>언어 표현</a:t>
            </a:r>
            <a:r>
              <a:rPr lang="en-US" altLang="ko-KR" b="1" dirty="0"/>
              <a:t>, </a:t>
            </a:r>
            <a:r>
              <a:rPr lang="ko-KR" altLang="en-US" b="1" dirty="0"/>
              <a:t>그리고 주의 집중 유지 능력</a:t>
            </a:r>
            <a:r>
              <a:rPr lang="ko-KR" altLang="en-US" dirty="0"/>
              <a:t>이 동시에 작동하고 있음을 의미합니다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이 단계에서는 장기기억이나 익숙한 감정 기반 기억을 적극적으로 활용할 수 있게 되며</a:t>
            </a:r>
            <a:r>
              <a:rPr lang="en-US" altLang="ko-KR" dirty="0"/>
              <a:t>, </a:t>
            </a:r>
            <a:r>
              <a:rPr lang="ko-KR" altLang="en-US" dirty="0"/>
              <a:t>그 결과 </a:t>
            </a:r>
            <a:r>
              <a:rPr lang="ko-KR" altLang="en-US" b="1" dirty="0"/>
              <a:t>감정의 뉘앙스가 더 정확하고 자연스럽게 표현되는 변화</a:t>
            </a:r>
            <a:r>
              <a:rPr lang="ko-KR" altLang="en-US" dirty="0"/>
              <a:t>가 나타납니다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B2C9E-410B-45F0-94F6-9A8752C5810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8641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 단계인 </a:t>
            </a:r>
            <a:r>
              <a:rPr lang="ko-KR" altLang="en-US" b="1" dirty="0"/>
              <a:t>짧은 주관식 답변</a:t>
            </a:r>
            <a:r>
              <a:rPr lang="ko-KR" altLang="en-US" dirty="0"/>
              <a:t>은</a:t>
            </a:r>
            <a:br>
              <a:rPr lang="ko-KR" altLang="en-US" dirty="0"/>
            </a:br>
            <a:r>
              <a:rPr lang="ko-KR" altLang="en-US" dirty="0"/>
              <a:t>환자가 </a:t>
            </a:r>
            <a:r>
              <a:rPr lang="ko-KR" altLang="en-US" b="1" dirty="0"/>
              <a:t>감정 표현 → 기억 회상 → 의미 부여</a:t>
            </a:r>
            <a:r>
              <a:rPr lang="ko-KR" altLang="en-US" dirty="0"/>
              <a:t>까지 스스로 수행할 수 있는 상태로 발전했음을 의미합니다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단계에서 환자가 자신의 감정을 문장으로 설명하는 모습은</a:t>
            </a:r>
            <a:r>
              <a:rPr lang="en-US" altLang="ko-KR" dirty="0"/>
              <a:t> </a:t>
            </a:r>
            <a:r>
              <a:rPr lang="ko-KR" altLang="en-US" b="1" dirty="0"/>
              <a:t>감정 조절</a:t>
            </a:r>
            <a:r>
              <a:rPr lang="en-US" altLang="ko-KR" b="1" dirty="0"/>
              <a:t>·</a:t>
            </a:r>
            <a:r>
              <a:rPr lang="ko-KR" altLang="en-US" b="1" dirty="0"/>
              <a:t>기억 검색</a:t>
            </a:r>
            <a:r>
              <a:rPr lang="en-US" altLang="ko-KR" b="1" dirty="0"/>
              <a:t>·</a:t>
            </a:r>
            <a:r>
              <a:rPr lang="ko-KR" altLang="en-US" b="1" dirty="0"/>
              <a:t>인과 관계 이해</a:t>
            </a:r>
            <a:r>
              <a:rPr lang="en-US" altLang="ko-KR" b="1" dirty="0"/>
              <a:t>·</a:t>
            </a:r>
            <a:r>
              <a:rPr lang="ko-KR" altLang="en-US" b="1" dirty="0"/>
              <a:t>언어 생성</a:t>
            </a:r>
            <a:r>
              <a:rPr lang="ko-KR" altLang="en-US" dirty="0"/>
              <a:t>이라는 네 가지 인지</a:t>
            </a:r>
            <a:r>
              <a:rPr lang="en-US" altLang="ko-KR" dirty="0"/>
              <a:t>·</a:t>
            </a:r>
            <a:r>
              <a:rPr lang="ko-KR" altLang="en-US" dirty="0"/>
              <a:t>정서 기능이 동시에 활성화되고 있다는 긍정적인 신호입니다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특히 주관식으로 감정을 풀어 말할 수 있다는 것은 </a:t>
            </a:r>
            <a:r>
              <a:rPr lang="ko-KR" altLang="en-US" b="1" dirty="0"/>
              <a:t>감정 회복</a:t>
            </a:r>
            <a:r>
              <a:rPr lang="en-US" altLang="ko-KR" b="1" dirty="0"/>
              <a:t>, </a:t>
            </a:r>
            <a:r>
              <a:rPr lang="ko-KR" altLang="en-US" b="1" dirty="0"/>
              <a:t>정서적 </a:t>
            </a:r>
            <a:r>
              <a:rPr lang="ko-KR" altLang="en-US" b="1" dirty="0" err="1"/>
              <a:t>연결감</a:t>
            </a:r>
            <a:r>
              <a:rPr lang="en-US" altLang="ko-KR" b="1" dirty="0"/>
              <a:t>, </a:t>
            </a:r>
            <a:r>
              <a:rPr lang="ko-KR" altLang="en-US" b="1" dirty="0"/>
              <a:t>그리고 자기 정체감의 회복</a:t>
            </a:r>
            <a:r>
              <a:rPr lang="ko-KR" altLang="en-US" dirty="0"/>
              <a:t>을 보여주는 중요한 임상적 지표로 해석할 수 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B2C9E-410B-45F0-94F6-9A8752C5810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2020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47B4A-C7FE-B4E1-3410-8F4C726CC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3280F2-9727-7120-2066-DBBB7C0A6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5862DC-F545-E0CA-9A0F-B7CB6CD33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다음으로는 </a:t>
            </a:r>
            <a:r>
              <a:rPr lang="en-US" altLang="ko-KR" dirty="0"/>
              <a:t>LT </a:t>
            </a:r>
            <a:r>
              <a:rPr lang="ko-KR" altLang="en-US" dirty="0"/>
              <a:t>스크립트를 기반을 대화 모델을 시연해 본 부분입니다</a:t>
            </a:r>
            <a:r>
              <a:rPr lang="en-US" altLang="ko-KR" dirty="0"/>
              <a:t>. </a:t>
            </a:r>
          </a:p>
          <a:p>
            <a:pPr marL="0" indent="0">
              <a:buFontTx/>
              <a:buNone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ko-KR" altLang="en-US" dirty="0"/>
              <a:t>우선 대화 설계 부분으로는 </a:t>
            </a:r>
            <a:r>
              <a:rPr lang="ko-KR" altLang="en-US" dirty="0">
                <a:sym typeface="Wingdings" panose="05000000000000000000" pitchFamily="2" charset="2"/>
              </a:rPr>
              <a:t>정서 공감형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인지 성찰형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동기 촉진형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행동 실천형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관계 조율형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회복 유지형 총 </a:t>
            </a:r>
            <a:r>
              <a:rPr lang="en-US" altLang="ko-KR" dirty="0">
                <a:sym typeface="Wingdings" panose="05000000000000000000" pitchFamily="2" charset="2"/>
              </a:rPr>
              <a:t>6</a:t>
            </a:r>
            <a:r>
              <a:rPr lang="ko-KR" altLang="en-US" dirty="0">
                <a:sym typeface="Wingdings" panose="05000000000000000000" pitchFamily="2" charset="2"/>
              </a:rPr>
              <a:t>가지의 </a:t>
            </a:r>
            <a:r>
              <a:rPr lang="en-US" altLang="ko-KR" dirty="0">
                <a:sym typeface="Wingdings" panose="05000000000000000000" pitchFamily="2" charset="2"/>
              </a:rPr>
              <a:t>HF</a:t>
            </a:r>
            <a:r>
              <a:rPr lang="ko-KR" altLang="en-US" dirty="0">
                <a:sym typeface="Wingdings" panose="05000000000000000000" pitchFamily="2" charset="2"/>
              </a:rPr>
              <a:t> 유형에 따른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서로 다른 대화를 제공하고 있습니다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  <a:p>
            <a:r>
              <a:rPr lang="ko-KR" altLang="en-US" dirty="0">
                <a:sym typeface="Wingdings" panose="05000000000000000000" pitchFamily="2" charset="2"/>
              </a:rPr>
              <a:t>선택된 유형에 맞는 상담자 멘트가 </a:t>
            </a:r>
            <a:r>
              <a:rPr lang="en-US" altLang="ko-KR" dirty="0">
                <a:sym typeface="Wingdings" panose="05000000000000000000" pitchFamily="2" charset="2"/>
              </a:rPr>
              <a:t>6</a:t>
            </a:r>
            <a:r>
              <a:rPr lang="ko-KR" altLang="en-US" dirty="0">
                <a:sym typeface="Wingdings" panose="05000000000000000000" pitchFamily="2" charset="2"/>
              </a:rPr>
              <a:t>턴 진행되고</a:t>
            </a:r>
            <a:r>
              <a:rPr lang="en-US" altLang="ko-KR" dirty="0">
                <a:sym typeface="Wingdings" panose="05000000000000000000" pitchFamily="2" charset="2"/>
              </a:rPr>
              <a:t>,  </a:t>
            </a:r>
            <a:r>
              <a:rPr lang="ko-KR" altLang="en-US" dirty="0">
                <a:sym typeface="Wingdings" panose="05000000000000000000" pitchFamily="2" charset="2"/>
              </a:rPr>
              <a:t>각 턴마다 </a:t>
            </a:r>
            <a:r>
              <a:rPr lang="en-US" altLang="ko-KR" dirty="0">
                <a:sym typeface="Wingdings" panose="05000000000000000000" pitchFamily="2" charset="2"/>
              </a:rPr>
              <a:t>3</a:t>
            </a:r>
            <a:r>
              <a:rPr lang="ko-KR" altLang="en-US" dirty="0">
                <a:sym typeface="Wingdings" panose="05000000000000000000" pitchFamily="2" charset="2"/>
              </a:rPr>
              <a:t>개</a:t>
            </a:r>
            <a:r>
              <a:rPr lang="en-US" altLang="ko-KR" dirty="0">
                <a:sym typeface="Wingdings" panose="05000000000000000000" pitchFamily="2" charset="2"/>
              </a:rPr>
              <a:t>~5</a:t>
            </a:r>
            <a:r>
              <a:rPr lang="ko-KR" altLang="en-US" dirty="0">
                <a:sym typeface="Wingdings" panose="05000000000000000000" pitchFamily="2" charset="2"/>
              </a:rPr>
              <a:t>개의 객관식 응답 버튼 중 하나를 고르면 대화가 진행됩니다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대화 구조는 감정자극 찾기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인지 감정 정리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감정 수용 또는 재해석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실행 또는 회복전략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상태 변화측정의 순서로 대화를 진행하였습니다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  <a:p>
            <a:pPr marL="0" indent="0">
              <a:buFontTx/>
              <a:buNone/>
            </a:pP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E35F63-75BD-C2C4-CC00-FB90B4DE29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B2C9E-410B-45F0-94F6-9A8752C5810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7069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>
                <a:sym typeface="Wingdings" panose="05000000000000000000" pitchFamily="2" charset="2"/>
              </a:rPr>
              <a:t>대화의 단계는 </a:t>
            </a:r>
            <a:r>
              <a:rPr lang="en-US" altLang="ko-KR" dirty="0">
                <a:sym typeface="Wingdings" panose="05000000000000000000" pitchFamily="2" charset="2"/>
              </a:rPr>
              <a:t>‘</a:t>
            </a:r>
            <a:r>
              <a:rPr lang="ko-KR" altLang="en-US" dirty="0">
                <a:sym typeface="Wingdings" panose="05000000000000000000" pitchFamily="2" charset="2"/>
              </a:rPr>
              <a:t>문장형 객관식</a:t>
            </a:r>
            <a:r>
              <a:rPr lang="en-US" altLang="ko-KR" dirty="0">
                <a:sym typeface="Wingdings" panose="05000000000000000000" pitchFamily="2" charset="2"/>
              </a:rPr>
              <a:t>’</a:t>
            </a:r>
            <a:r>
              <a:rPr lang="ko-KR" altLang="en-US" dirty="0">
                <a:sym typeface="Wingdings" panose="05000000000000000000" pitchFamily="2" charset="2"/>
              </a:rPr>
              <a:t> 답변의 단계를 사용하였습니다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r>
              <a:rPr lang="ko-KR" altLang="en-US" dirty="0">
                <a:sym typeface="Wingdings" panose="05000000000000000000" pitchFamily="2" charset="2"/>
              </a:rPr>
              <a:t>이 단계는 짧은 객관식과 주관식의 중간 단계로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의미해석과 감정 분별이 가능한 균형 단계임과 동시에 </a:t>
            </a:r>
            <a:r>
              <a:rPr lang="en-US" altLang="ko-KR" dirty="0">
                <a:sym typeface="Wingdings" panose="05000000000000000000" pitchFamily="2" charset="2"/>
              </a:rPr>
              <a:t>6</a:t>
            </a:r>
            <a:r>
              <a:rPr lang="ko-KR" altLang="en-US" dirty="0">
                <a:sym typeface="Wingdings" panose="05000000000000000000" pitchFamily="2" charset="2"/>
              </a:rPr>
              <a:t>유형 별 구성의 흐름이 가장 잘 드러날 수 있다고 생각하여 선택하였습니다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이전주차 </a:t>
            </a:r>
            <a:r>
              <a:rPr lang="ko-KR" altLang="en-US" dirty="0" err="1">
                <a:sym typeface="Wingdings" panose="05000000000000000000" pitchFamily="2" charset="2"/>
              </a:rPr>
              <a:t>수업때</a:t>
            </a:r>
            <a:r>
              <a:rPr lang="ko-KR" altLang="en-US" dirty="0">
                <a:sym typeface="Wingdings" panose="05000000000000000000" pitchFamily="2" charset="2"/>
              </a:rPr>
              <a:t> 진행된 </a:t>
            </a:r>
            <a:r>
              <a:rPr lang="en-US" altLang="ko-KR" dirty="0">
                <a:sym typeface="Wingdings" panose="05000000000000000000" pitchFamily="2" charset="2"/>
              </a:rPr>
              <a:t>MCI </a:t>
            </a:r>
            <a:r>
              <a:rPr lang="ko-KR" altLang="en-US" dirty="0">
                <a:sym typeface="Wingdings" panose="05000000000000000000" pitchFamily="2" charset="2"/>
              </a:rPr>
              <a:t>환자와 상담자 간의 </a:t>
            </a:r>
            <a:r>
              <a:rPr lang="en-US" altLang="ko-KR" dirty="0">
                <a:sym typeface="Wingdings" panose="05000000000000000000" pitchFamily="2" charset="2"/>
              </a:rPr>
              <a:t>ai </a:t>
            </a:r>
            <a:r>
              <a:rPr lang="ko-KR" altLang="en-US" dirty="0">
                <a:sym typeface="Wingdings" panose="05000000000000000000" pitchFamily="2" charset="2"/>
              </a:rPr>
              <a:t>대화스크립트 파일을 활용하여 최적화된 대화를 선정하였고 이를 </a:t>
            </a:r>
            <a:r>
              <a:rPr lang="en-US" altLang="ko-KR" dirty="0">
                <a:sym typeface="Wingdings" panose="05000000000000000000" pitchFamily="2" charset="2"/>
              </a:rPr>
              <a:t>LT </a:t>
            </a:r>
            <a:r>
              <a:rPr lang="ko-KR" altLang="en-US" dirty="0">
                <a:sym typeface="Wingdings" panose="05000000000000000000" pitchFamily="2" charset="2"/>
              </a:rPr>
              <a:t>스크립트에 적용하였습니다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pPr marL="0" indent="0">
              <a:buFontTx/>
              <a:buNone/>
            </a:pP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B2C9E-410B-45F0-94F6-9A8752C5810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57176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저희는 각 유형의 특징에 맞게 대화의 구성방식을 다르게 하여 모델을 설계해보았습니다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1</a:t>
            </a:r>
            <a:r>
              <a:rPr lang="ko-KR" altLang="en-US" dirty="0"/>
              <a:t>번 정서공감형 </a:t>
            </a:r>
            <a:r>
              <a:rPr lang="ko-KR" altLang="en-US" dirty="0" err="1"/>
              <a:t>대화방식입니다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정서공감형은 정서 민감성을 기반 감정인식이 우선시됩니다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 유형은 감정을 먼저 말로 표현할 수록 안정감이 증가합니다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감정을 </a:t>
            </a:r>
            <a:r>
              <a:rPr lang="ko-KR" altLang="en-US" dirty="0" err="1"/>
              <a:t>라벨링하는</a:t>
            </a:r>
            <a:r>
              <a:rPr lang="ko-KR" altLang="en-US" dirty="0"/>
              <a:t> 것과 자기위로방식이 효과적입니다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다음은 질문 내용과 질문 목적입니다</a:t>
            </a:r>
            <a:r>
              <a:rPr lang="en-US" altLang="ko-KR" dirty="0"/>
              <a:t>. ( </a:t>
            </a:r>
            <a:r>
              <a:rPr lang="ko-KR" altLang="en-US" dirty="0"/>
              <a:t>내용과 목적 읽을 수 있게 시간 좀 주기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정서 공감형은 감정을 세밀하게 탐지하고 이를 말로 풀어낼 때 가장 안정감을 얻기 때문에 감정탐색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감정 명명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자기위로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공감방식 선택의 흐름으로 대화를 구성하였습니다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B2C9E-410B-45F0-94F6-9A8752C5810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818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번 인지 성찰형 </a:t>
            </a:r>
            <a:r>
              <a:rPr lang="ko-KR" altLang="en-US" dirty="0" err="1"/>
              <a:t>대화방식입니다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인지 성찰형은 분석적 사고 기반의 성향이 강합니다</a:t>
            </a:r>
            <a:r>
              <a:rPr lang="en-US" altLang="ko-KR" dirty="0"/>
              <a:t>. </a:t>
            </a:r>
            <a:r>
              <a:rPr lang="ko-KR" altLang="en-US" dirty="0"/>
              <a:t>감정보다 문제 구조</a:t>
            </a:r>
            <a:r>
              <a:rPr lang="en-US" altLang="ko-KR" dirty="0"/>
              <a:t>, </a:t>
            </a:r>
            <a:r>
              <a:rPr lang="ko-KR" altLang="en-US" dirty="0"/>
              <a:t>원인파악이 우선입니다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상담효과는 인지적 구조화가 핵심입니다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다음은 질문 내용과 질문 목적입니다</a:t>
            </a:r>
            <a:r>
              <a:rPr lang="en-US" altLang="ko-KR" dirty="0"/>
              <a:t>. ( </a:t>
            </a:r>
            <a:r>
              <a:rPr lang="ko-KR" altLang="en-US" dirty="0"/>
              <a:t>내용과 목적 읽을 수 있게 시간 좀 주기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인지 성찰형은 감정보다 상황분석을 선호하기 때문에 문제구조 파악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사고패턴 분석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바꾸고 싶은 지점 설정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작은 행동계획의 흐름으로 구성하였습니다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B2C9E-410B-45F0-94F6-9A8752C5810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35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번 동기 촉진형 </a:t>
            </a:r>
            <a:r>
              <a:rPr lang="ko-KR" altLang="en-US" dirty="0" err="1"/>
              <a:t>대화방식입니다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동기촉진형은 성취동기와 활동성을 기반으로 상담을 진행하였습니다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의미</a:t>
            </a:r>
            <a:r>
              <a:rPr lang="en-US" altLang="ko-KR" dirty="0"/>
              <a:t>, </a:t>
            </a:r>
            <a:r>
              <a:rPr lang="ko-KR" altLang="en-US" dirty="0"/>
              <a:t>가치 발견이 곧 동기로 이어지는 유형입니다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작은 성공의 경험을 제공하는 것이 상담의 핵심입니다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다음은 질문 내용과 질문 목적입니다</a:t>
            </a:r>
            <a:r>
              <a:rPr lang="en-US" altLang="ko-KR" dirty="0"/>
              <a:t>. ( </a:t>
            </a:r>
            <a:r>
              <a:rPr lang="ko-KR" altLang="en-US" dirty="0"/>
              <a:t>내용과 목적 읽을 수 있게 시간 좀 주기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동기 촉진형은 의미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동기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행동의 순환 구조가 작동하는 것이 좋기 때문에 의미 찾기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작은 목표설정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자기 격려의 흐름으로 대화를 구성하였습니다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B2C9E-410B-45F0-94F6-9A8752C5810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4725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번 행동실천형 </a:t>
            </a:r>
            <a:r>
              <a:rPr lang="ko-KR" altLang="en-US" dirty="0" err="1"/>
              <a:t>대화방식입니다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행동실천형은 계획 후 실행패턴이 뚜렷한 군입니다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행동을 단계별로 분리하고 실행할 수 있도록 도와주는 것이 상담의 핵심입니다</a:t>
            </a:r>
            <a:r>
              <a:rPr lang="en-US" altLang="ko-KR" dirty="0"/>
              <a:t>. </a:t>
            </a:r>
          </a:p>
          <a:p>
            <a:r>
              <a:rPr lang="ko-KR" altLang="en-US" dirty="0" err="1"/>
              <a:t>실행할때의</a:t>
            </a:r>
            <a:r>
              <a:rPr lang="ko-KR" altLang="en-US" dirty="0"/>
              <a:t> 장애요인을 파악하고 행동전략을 만드는 대화로 구성하였습니다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다음은 질문 내용과 질문 목적입니다</a:t>
            </a:r>
            <a:r>
              <a:rPr lang="en-US" altLang="ko-KR" dirty="0"/>
              <a:t>. ( </a:t>
            </a:r>
            <a:r>
              <a:rPr lang="ko-KR" altLang="en-US" dirty="0"/>
              <a:t>내용과 목적 읽을 수 있게 시간 좀 주기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행동 실천형은 할 일 인식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단계별로 분리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방해요인 파악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전략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실행선언 구조가 행동변화에 가장 적합하기 때문에 해당 흐름으로 대화를 구성하였습니다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B2C9E-410B-45F0-94F6-9A8752C5810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6909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/>
              <a:t>번 관계 조율형 </a:t>
            </a:r>
            <a:r>
              <a:rPr lang="ko-KR" altLang="en-US" dirty="0" err="1"/>
              <a:t>대화방식입니다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관계 조율형은 배려와 조화를 기반으로 둔 대화를 구성하였습니다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사람과의 관계 속에서 있는 긴장</a:t>
            </a:r>
            <a:r>
              <a:rPr lang="en-US" altLang="ko-KR" dirty="0"/>
              <a:t>, </a:t>
            </a:r>
            <a:r>
              <a:rPr lang="ko-KR" altLang="en-US" dirty="0"/>
              <a:t>조화가 핵심 관심사입니다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자신이 관계 속에서 맡고 있는 역할을 자각하는 것이 중요합니다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다음은 질문 내용과 질문 목적입니다</a:t>
            </a:r>
            <a:r>
              <a:rPr lang="en-US" altLang="ko-KR" dirty="0"/>
              <a:t>. ( </a:t>
            </a:r>
            <a:r>
              <a:rPr lang="ko-KR" altLang="en-US" dirty="0"/>
              <a:t>내용과 목적 읽을 수 있게 시간 좀 주기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관계 조율형은 관계 내 나의 역할</a:t>
            </a:r>
            <a:r>
              <a:rPr lang="en-US" altLang="ko-KR" dirty="0"/>
              <a:t>, </a:t>
            </a:r>
            <a:r>
              <a:rPr lang="ko-KR" altLang="en-US" dirty="0"/>
              <a:t>감정의 흐름을 이해하고 조절하는 상담이 효과적이기 때문에 역할 파악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관계 조율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의사소통 전략 중심의 흐름으로 구성하였습니다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B2C9E-410B-45F0-94F6-9A8752C5810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2167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6</a:t>
            </a:r>
            <a:r>
              <a:rPr lang="ko-KR" altLang="en-US" dirty="0"/>
              <a:t>번 회복 유지형 </a:t>
            </a:r>
            <a:r>
              <a:rPr lang="ko-KR" altLang="en-US" dirty="0" err="1"/>
              <a:t>대화방식입니다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회복 유지형은 정서 안정성</a:t>
            </a:r>
            <a:r>
              <a:rPr lang="en-US" altLang="ko-KR" dirty="0"/>
              <a:t>, </a:t>
            </a:r>
            <a:r>
              <a:rPr lang="ko-KR" altLang="en-US" dirty="0"/>
              <a:t>꾸준함이 중요합니다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회복력을 키우는 접근이 효과적이며 회복습관을 명확히 </a:t>
            </a:r>
            <a:r>
              <a:rPr lang="ko-KR" altLang="en-US" dirty="0" err="1"/>
              <a:t>정의할때</a:t>
            </a:r>
            <a:r>
              <a:rPr lang="ko-KR" altLang="en-US" dirty="0"/>
              <a:t> 가장 큰 변화를 경험하기 때문에 다음과 같이 대화를 구성하였습니다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다음은 질문 내용과 질문 목적입니다</a:t>
            </a:r>
            <a:r>
              <a:rPr lang="en-US" altLang="ko-KR" dirty="0"/>
              <a:t>. ( </a:t>
            </a:r>
            <a:r>
              <a:rPr lang="ko-KR" altLang="en-US" dirty="0"/>
              <a:t>내용과 목적 읽을 수 있게 시간 좀 주기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회복 유지형은 스트레스 인식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회복 전략 식별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새로운 습관 구축이 가장 효과적인 구조입니다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(HTML. </a:t>
            </a:r>
            <a:r>
              <a:rPr lang="ko-KR" altLang="en-US" dirty="0">
                <a:sym typeface="Wingdings" panose="05000000000000000000" pitchFamily="2" charset="2"/>
              </a:rPr>
              <a:t>파일 열어서 순서대로 아무거나 선택하며 시연하기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B2C9E-410B-45F0-94F6-9A8752C5810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6964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스크립트 기반 대화모델을 제작한 후 저희가 생각한 개선해야 할 점입니다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첫번째로는 답변에 따라서 후속질문이 변화하는 구조로 개선이 필요합니다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현재는 정해진 질문들을 객관식으로 답변하는 구성이지만 답변을 통해 후속 질문들이 바뀐다면 좀 더 유기적인 상담이 가능할 것 같습니다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두번째로는 상담의 목적이 아닌 일상생활을 묻는 질문이나 짧은 인지기능 활성화용 질문을 배치하는 점입니다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현재는 질문의 전부가 상담의 정보를 얻기 위해 </a:t>
            </a:r>
            <a:r>
              <a:rPr lang="ko-KR" altLang="en-US" dirty="0" err="1"/>
              <a:t>배치되어있지만</a:t>
            </a:r>
            <a:r>
              <a:rPr lang="en-US" altLang="ko-KR" dirty="0"/>
              <a:t>, </a:t>
            </a:r>
            <a:r>
              <a:rPr lang="ko-KR" altLang="en-US" dirty="0"/>
              <a:t>상담용이 아닌 감정을 건들일 수 있는 일상적인 질문들을 포함한다면 </a:t>
            </a:r>
            <a:r>
              <a:rPr lang="ko-KR" altLang="en-US" dirty="0" err="1"/>
              <a:t>상담받는</a:t>
            </a:r>
            <a:r>
              <a:rPr lang="ko-KR" altLang="en-US" dirty="0"/>
              <a:t> 입장에서 좀 더 편안하게 상담에 임할 수 있습니다</a:t>
            </a:r>
            <a:r>
              <a:rPr lang="en-US" altLang="ko-KR" dirty="0"/>
              <a:t>. </a:t>
            </a:r>
            <a:r>
              <a:rPr lang="ko-KR" altLang="en-US" dirty="0"/>
              <a:t>앞선 근거를 보면</a:t>
            </a:r>
            <a:r>
              <a:rPr lang="en-US" altLang="ko-KR" dirty="0"/>
              <a:t>, </a:t>
            </a:r>
            <a:r>
              <a:rPr lang="ko-KR" altLang="en-US" b="1" dirty="0"/>
              <a:t>일상적인 가벼운 대화가 오히려 환자의 긴장을 완화하고 감정 개방을 촉진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세번째로는 각 유형별로 </a:t>
            </a:r>
            <a:r>
              <a:rPr lang="ko-KR" altLang="en-US" dirty="0" err="1"/>
              <a:t>대화스트립트의</a:t>
            </a:r>
            <a:r>
              <a:rPr lang="ko-KR" altLang="en-US" dirty="0"/>
              <a:t> 개수 증가입니다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현재는 각 유형별로 대화가 </a:t>
            </a:r>
            <a:r>
              <a:rPr lang="ko-KR" altLang="en-US" dirty="0" err="1"/>
              <a:t>한개씩만</a:t>
            </a:r>
            <a:r>
              <a:rPr lang="ko-KR" altLang="en-US" dirty="0"/>
              <a:t> </a:t>
            </a:r>
            <a:r>
              <a:rPr lang="ko-KR" altLang="en-US" dirty="0" err="1"/>
              <a:t>구성되어있지만</a:t>
            </a:r>
            <a:r>
              <a:rPr lang="en-US" altLang="ko-KR" dirty="0"/>
              <a:t>, </a:t>
            </a:r>
            <a:r>
              <a:rPr lang="ko-KR" altLang="en-US" dirty="0"/>
              <a:t>유형별로 대화의 종류가 </a:t>
            </a:r>
            <a:r>
              <a:rPr lang="en-US" altLang="ko-KR" dirty="0"/>
              <a:t>3~5</a:t>
            </a:r>
            <a:r>
              <a:rPr lang="ko-KR" altLang="en-US" dirty="0"/>
              <a:t>개로 증가할 경우</a:t>
            </a:r>
            <a:r>
              <a:rPr lang="en-US" altLang="ko-KR" dirty="0"/>
              <a:t>, </a:t>
            </a:r>
            <a:r>
              <a:rPr lang="ko-KR" altLang="en-US" dirty="0"/>
              <a:t>반복으로 상담진행가능</a:t>
            </a:r>
            <a:r>
              <a:rPr lang="en-US" altLang="ko-KR" dirty="0"/>
              <a:t>, </a:t>
            </a:r>
            <a:r>
              <a:rPr lang="ko-KR" altLang="en-US" dirty="0"/>
              <a:t>상담 스펙트럼 증가 등의 장점을 가질 수 있습니다</a:t>
            </a:r>
            <a:r>
              <a:rPr lang="en-US" altLang="ko-KR" dirty="0"/>
              <a:t>.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B2C9E-410B-45F0-94F6-9A8752C5810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3253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B7651-11E9-F008-DC2E-7EDA0D7D4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9C70D8-0217-21B5-D3B4-EE2695D263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BDADC0-2160-CE9F-ABE5-D3E456F94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시간</a:t>
            </a:r>
            <a:r>
              <a:rPr lang="en-US" altLang="ko-KR" dirty="0"/>
              <a:t>, </a:t>
            </a:r>
            <a:r>
              <a:rPr lang="ko-KR" altLang="en-US" dirty="0"/>
              <a:t>빈도</a:t>
            </a:r>
            <a:r>
              <a:rPr lang="en-US" altLang="ko-KR" dirty="0"/>
              <a:t>, </a:t>
            </a:r>
            <a:r>
              <a:rPr lang="ko-KR" altLang="en-US" dirty="0"/>
              <a:t>핵심 주제를 중심으로 </a:t>
            </a:r>
            <a:r>
              <a:rPr lang="en-US" altLang="ko-KR" dirty="0"/>
              <a:t>LT</a:t>
            </a:r>
            <a:r>
              <a:rPr lang="ko-KR" altLang="en-US" dirty="0"/>
              <a:t>를 어떻게 제작할 것인가 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사람</a:t>
            </a:r>
            <a:r>
              <a:rPr lang="en-US" altLang="ko-KR" dirty="0"/>
              <a:t>–</a:t>
            </a:r>
            <a:r>
              <a:rPr lang="ko-KR" altLang="en-US" dirty="0"/>
              <a:t>사람 대화</a:t>
            </a:r>
            <a:r>
              <a:rPr lang="en-US" altLang="ko-KR" dirty="0"/>
              <a:t>, </a:t>
            </a:r>
            <a:r>
              <a:rPr lang="ko-KR" altLang="en-US" dirty="0"/>
              <a:t>회상요법</a:t>
            </a:r>
            <a:r>
              <a:rPr lang="en-US" altLang="ko-KR" dirty="0"/>
              <a:t>, CST, </a:t>
            </a:r>
            <a:r>
              <a:rPr lang="ko-KR" altLang="en-US" dirty="0"/>
              <a:t>로봇 개입 연구를 종합해보면</a:t>
            </a:r>
            <a:r>
              <a:rPr lang="en-US" altLang="ko-KR" dirty="0"/>
              <a:t>, </a:t>
            </a:r>
            <a:r>
              <a:rPr lang="ko-KR" altLang="en-US" dirty="0"/>
              <a:t>대부분 </a:t>
            </a:r>
            <a:r>
              <a:rPr lang="en-US" altLang="ko-KR" dirty="0"/>
              <a:t>30</a:t>
            </a:r>
            <a:r>
              <a:rPr lang="ko-KR" altLang="en-US" dirty="0"/>
              <a:t>분 전후 세션에서 효과가 보고되고</a:t>
            </a:r>
            <a:r>
              <a:rPr lang="en-US" altLang="ko-KR" dirty="0"/>
              <a:t>, </a:t>
            </a:r>
            <a:r>
              <a:rPr lang="ko-KR" altLang="en-US" dirty="0"/>
              <a:t>또 실제 인터뷰에서도 </a:t>
            </a:r>
            <a:r>
              <a:rPr lang="en-US" altLang="ko-KR" dirty="0"/>
              <a:t>30</a:t>
            </a:r>
            <a:r>
              <a:rPr lang="ko-KR" altLang="en-US" dirty="0"/>
              <a:t>분 정도가 가장 선호된다는 결과가 많았습니다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따라서 </a:t>
            </a:r>
            <a:r>
              <a:rPr lang="en-US" altLang="ko-KR" dirty="0"/>
              <a:t>LT</a:t>
            </a:r>
            <a:r>
              <a:rPr lang="ko-KR" altLang="en-US" dirty="0"/>
              <a:t>는 경도 </a:t>
            </a:r>
            <a:r>
              <a:rPr lang="en-US" altLang="ko-KR" dirty="0"/>
              <a:t>MCI</a:t>
            </a:r>
            <a:r>
              <a:rPr lang="ko-KR" altLang="en-US" dirty="0"/>
              <a:t>의 경우 </a:t>
            </a:r>
            <a:r>
              <a:rPr lang="en-US" altLang="ko-KR" dirty="0"/>
              <a:t>20~30</a:t>
            </a:r>
            <a:r>
              <a:rPr lang="ko-KR" altLang="en-US" dirty="0"/>
              <a:t>분</a:t>
            </a:r>
            <a:r>
              <a:rPr lang="en-US" altLang="ko-KR" dirty="0"/>
              <a:t>, </a:t>
            </a:r>
            <a:r>
              <a:rPr lang="ko-KR" altLang="en-US" dirty="0"/>
              <a:t>중등도 이상에서는 </a:t>
            </a:r>
            <a:r>
              <a:rPr lang="en-US" altLang="ko-KR" dirty="0"/>
              <a:t>10~20</a:t>
            </a:r>
            <a:r>
              <a:rPr lang="ko-KR" altLang="en-US" dirty="0"/>
              <a:t>분으로 세션 길이를 설계하고</a:t>
            </a:r>
            <a:r>
              <a:rPr lang="en-US" altLang="ko-KR" dirty="0"/>
              <a:t>, </a:t>
            </a:r>
            <a:r>
              <a:rPr lang="ko-KR" altLang="en-US" dirty="0"/>
              <a:t>초기 </a:t>
            </a:r>
            <a:r>
              <a:rPr lang="en-US" altLang="ko-KR" dirty="0"/>
              <a:t>8~12</a:t>
            </a:r>
            <a:r>
              <a:rPr lang="ko-KR" altLang="en-US" dirty="0"/>
              <a:t>주 동안은 주 </a:t>
            </a:r>
            <a:r>
              <a:rPr lang="en-US" altLang="ko-KR" dirty="0"/>
              <a:t>3~4</a:t>
            </a:r>
            <a:r>
              <a:rPr lang="ko-KR" altLang="en-US" dirty="0"/>
              <a:t>회로 집중적으로</a:t>
            </a:r>
            <a:r>
              <a:rPr lang="en-US" altLang="ko-KR" dirty="0"/>
              <a:t>, </a:t>
            </a:r>
            <a:r>
              <a:rPr lang="ko-KR" altLang="en-US" dirty="0"/>
              <a:t>이후에는 주 </a:t>
            </a:r>
            <a:r>
              <a:rPr lang="en-US" altLang="ko-KR" dirty="0"/>
              <a:t>1~2</a:t>
            </a:r>
            <a:r>
              <a:rPr lang="ko-KR" altLang="en-US" dirty="0"/>
              <a:t>회 유지하는 구조가 합리적이라고 생각합니다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819FD9-AB55-F3FF-8212-56C2CD2D2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43122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9E2D9-80E9-E36D-CA4E-F5DFBDC89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732B65-D03C-7FD6-313A-A2D4CA8D6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85C214-0AC1-3F4F-062D-8D9CEDF4A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또한 회상요법</a:t>
            </a:r>
            <a:r>
              <a:rPr lang="en-US" altLang="ko-KR" dirty="0"/>
              <a:t>, I-CONECT, CST, </a:t>
            </a:r>
            <a:r>
              <a:rPr lang="ko-KR" altLang="en-US" dirty="0"/>
              <a:t>로봇 연구를 보면</a:t>
            </a:r>
            <a:r>
              <a:rPr lang="en-US" altLang="ko-KR" dirty="0"/>
              <a:t>, </a:t>
            </a:r>
            <a:r>
              <a:rPr lang="ko-KR" altLang="en-US" dirty="0"/>
              <a:t>공통적으로 효과적인 주제가</a:t>
            </a:r>
            <a:r>
              <a:rPr lang="en-US" altLang="ko-KR" dirty="0"/>
              <a:t> </a:t>
            </a:r>
            <a:r>
              <a:rPr lang="ko-KR" altLang="en-US" dirty="0"/>
              <a:t>과거 회상</a:t>
            </a:r>
            <a:r>
              <a:rPr lang="en-US" altLang="ko-KR" dirty="0"/>
              <a:t>, </a:t>
            </a:r>
            <a:r>
              <a:rPr lang="ko-KR" altLang="en-US" dirty="0"/>
              <a:t>관계와 애착</a:t>
            </a:r>
            <a:r>
              <a:rPr lang="en-US" altLang="ko-KR" dirty="0"/>
              <a:t>, </a:t>
            </a:r>
            <a:r>
              <a:rPr lang="ko-KR" altLang="en-US" dirty="0"/>
              <a:t>현재의 일상과 감정</a:t>
            </a:r>
            <a:r>
              <a:rPr lang="en-US" altLang="ko-KR" dirty="0"/>
              <a:t>, </a:t>
            </a:r>
            <a:r>
              <a:rPr lang="ko-KR" altLang="en-US" dirty="0"/>
              <a:t>그리고 가벼운 인지</a:t>
            </a:r>
            <a:r>
              <a:rPr lang="en-US" altLang="ko-KR" dirty="0"/>
              <a:t>·</a:t>
            </a:r>
            <a:r>
              <a:rPr lang="ko-KR" altLang="en-US" dirty="0"/>
              <a:t>놀이 요소 이 네 가지로 정리됩니다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LT</a:t>
            </a:r>
            <a:r>
              <a:rPr lang="ko-KR" altLang="en-US" dirty="0"/>
              <a:t>는 이 네 가지를 모두 사용하되 </a:t>
            </a:r>
            <a:r>
              <a:rPr lang="en-US" altLang="ko-KR" dirty="0"/>
              <a:t>, </a:t>
            </a:r>
            <a:r>
              <a:rPr lang="ko-KR" altLang="en-US" dirty="0"/>
              <a:t>예를 들어 ‘손주와 가장 행복했던 순간’</a:t>
            </a:r>
            <a:r>
              <a:rPr lang="en-US" altLang="ko-KR" dirty="0"/>
              <a:t>, ‘</a:t>
            </a:r>
            <a:r>
              <a:rPr lang="ko-KR" altLang="en-US" dirty="0"/>
              <a:t>가장 고마운 사람’ 같은 질문으로 자연스럽게 사랑의 감정을 이끌어내는 방식처럼 각 질문과 대화를 사랑</a:t>
            </a:r>
            <a:r>
              <a:rPr lang="en-US" altLang="ko-KR" dirty="0"/>
              <a:t>, </a:t>
            </a:r>
            <a:r>
              <a:rPr lang="ko-KR" altLang="en-US" dirty="0"/>
              <a:t>감사</a:t>
            </a:r>
            <a:r>
              <a:rPr lang="en-US" altLang="ko-KR" dirty="0"/>
              <a:t>, </a:t>
            </a:r>
            <a:r>
              <a:rPr lang="ko-KR" altLang="en-US" dirty="0"/>
              <a:t>소중함의 프레임으로 재구성 할 예정입니다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더불어</a:t>
            </a:r>
            <a:r>
              <a:rPr lang="en-US" altLang="ko-KR" dirty="0"/>
              <a:t>, </a:t>
            </a:r>
            <a:r>
              <a:rPr lang="ko-KR" altLang="en-US" dirty="0"/>
              <a:t>저희가 설문을 통해 나누는 </a:t>
            </a:r>
            <a:r>
              <a:rPr lang="en-US" altLang="ko-KR" dirty="0"/>
              <a:t>6</a:t>
            </a:r>
            <a:r>
              <a:rPr lang="ko-KR" altLang="en-US" dirty="0"/>
              <a:t>가지 유형과 환자의 상태에 따라</a:t>
            </a:r>
            <a:r>
              <a:rPr lang="en-US" altLang="ko-KR" dirty="0"/>
              <a:t>, </a:t>
            </a:r>
            <a:r>
              <a:rPr lang="ko-KR" altLang="en-US" dirty="0"/>
              <a:t>질문의 난이도</a:t>
            </a:r>
            <a:r>
              <a:rPr lang="en-US" altLang="ko-KR" dirty="0"/>
              <a:t>, </a:t>
            </a:r>
            <a:r>
              <a:rPr lang="ko-KR" altLang="en-US" dirty="0"/>
              <a:t>문장 길이</a:t>
            </a:r>
            <a:r>
              <a:rPr lang="en-US" altLang="ko-KR" dirty="0"/>
              <a:t>, </a:t>
            </a:r>
            <a:r>
              <a:rPr lang="ko-KR" altLang="en-US" dirty="0"/>
              <a:t>답변의 유형</a:t>
            </a:r>
            <a:r>
              <a:rPr lang="en-US" altLang="ko-KR" dirty="0"/>
              <a:t>, </a:t>
            </a:r>
            <a:r>
              <a:rPr lang="ko-KR" altLang="en-US" dirty="0"/>
              <a:t>질문 구성의 흐름</a:t>
            </a:r>
            <a:r>
              <a:rPr lang="en-US" altLang="ko-KR" dirty="0"/>
              <a:t>, </a:t>
            </a:r>
            <a:r>
              <a:rPr lang="ko-KR" altLang="en-US" dirty="0"/>
              <a:t>말투</a:t>
            </a:r>
            <a:r>
              <a:rPr lang="en-US" altLang="ko-KR" dirty="0"/>
              <a:t>, </a:t>
            </a:r>
            <a:r>
              <a:rPr lang="ko-KR" altLang="en-US" dirty="0" err="1"/>
              <a:t>이모지</a:t>
            </a:r>
            <a:r>
              <a:rPr lang="ko-KR" altLang="en-US" dirty="0"/>
              <a:t> 사용을 다르게 조절하여</a:t>
            </a:r>
            <a:r>
              <a:rPr lang="en-US" altLang="ko-KR" dirty="0"/>
              <a:t>, </a:t>
            </a:r>
            <a:r>
              <a:rPr lang="ko-KR" altLang="en-US" dirty="0"/>
              <a:t>각 환자에게 가장 편안하게 느껴지는 </a:t>
            </a:r>
            <a:r>
              <a:rPr lang="en-US" altLang="ko-KR" dirty="0"/>
              <a:t>‘Love talker’</a:t>
            </a:r>
            <a:r>
              <a:rPr lang="ko-KR" altLang="en-US" dirty="0"/>
              <a:t>를 제공할 계획입니다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621913-964C-D3F0-B418-13CC36EC0E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4658A-7774-4B6C-A59B-6AA468B2B311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586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DB5273-3285-CDA5-73A9-5042F25CA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C221D5-3D03-B503-C363-C9AA2279E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F94CB4-431B-F65C-ED27-58D4A1649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401A-9FD7-4C12-9792-661E5F08F94B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3E1837-0F38-E403-93CA-CD8D3DC1A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F28BE8-B34B-4EB1-1D54-152600835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BA39-38C1-452A-A1DE-032E336C5F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473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33EDC5-E6BA-F9F2-6A11-77B664FF6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754CB1-BD9D-0721-96B5-1290AF4BD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6614CF-25D9-3A9B-1EE7-8A889BB3D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401A-9FD7-4C12-9792-661E5F08F94B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D46DAD-101D-AEE9-B003-7604EF1BC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45DB50-C3BF-FCD4-A2C8-3938AA4B4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BA39-38C1-452A-A1DE-032E336C5F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222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C08606-E86B-8E85-9D0F-80CE2DA5D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AB4E29-84E4-8357-BA0F-88C05EE66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285EE9-2B6E-B14A-68C3-648246BDE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401A-9FD7-4C12-9792-661E5F08F94B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4CA1A9-238E-3225-5BCE-3DA7869DB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FE7B14-96DA-C627-EFAA-1B170A6B5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BA39-38C1-452A-A1DE-032E336C5F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281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7128A5-7127-7AF6-6BA8-635ADB7B3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302E6E-26E2-F604-4897-7D840DE1A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4C73A1-57CD-EE41-AE99-2DE6193E6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2CCDFA-7F64-B5D7-89A5-D825B95A6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401A-9FD7-4C12-9792-661E5F08F94B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4122C2-F839-1F24-7CB5-C7C39925F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2B43E0-4AE8-9C6D-E4A5-CE9DD7E0A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BA39-38C1-452A-A1DE-032E336C5F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361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A22526-8ACE-1358-8C21-51A1EF731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EF7206-83A2-EB81-CFCD-D45F55C9F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42724D-9400-7F9C-BD8E-F17074B1B0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B8EC13-9614-8368-599C-69EFE2E780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59E09E-039A-1070-FBEC-093C7F627A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6E75945-43A8-FB03-FA85-0FB36D9B2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401A-9FD7-4C12-9792-661E5F08F94B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EC36A3F-4265-6AAA-9E7E-984AF8DCC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2D86BB4-D326-1881-9F8E-B0FA262A3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BA39-38C1-452A-A1DE-032E336C5F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770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D5D124-F9A1-422B-EFED-28579BE9E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6E16D5-7764-5CF1-04FE-D7BEDA13C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401A-9FD7-4C12-9792-661E5F08F94B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CEA9A4-CBD1-F26B-1996-1FFD7D945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972D07-6700-8971-AB93-3B966F820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BA39-38C1-452A-A1DE-032E336C5F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399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B463F2A-A72B-88D8-2960-5FDFB17D0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401A-9FD7-4C12-9792-661E5F08F94B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EFDB2A1-0C19-69B5-E332-14B77E42E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A48751-541B-D44D-80DE-730832850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BA39-38C1-452A-A1DE-032E336C5F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094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79073E-A0A2-6158-9A4A-28113AB4D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1B2F64-AF46-41E0-D9CB-FECD280D0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0C5665-173F-F72F-B301-28BB5F1F9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B11253-14BF-7CCD-B6B3-48AA42155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401A-9FD7-4C12-9792-661E5F08F94B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FDD8FC-CAE6-A80A-E5AB-D39499D57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10C3E4-28B2-AFA9-589B-AB9924ACE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BA39-38C1-452A-A1DE-032E336C5F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9576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7229F3-4A93-632C-4A28-0C50C76F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AFB4F94-39EC-94F3-6B1E-25385A44EF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E019BE-000B-72B8-0377-8DB4FA6DC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99C0AF-1A18-7532-2A98-1BB96275E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401A-9FD7-4C12-9792-661E5F08F94B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C042C4-CDD4-AA84-DCCD-33D9316FC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1EB551-D6D1-AB10-CF1F-B3F8CB410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BA39-38C1-452A-A1DE-032E336C5F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9598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0DFEA9-CFAB-696A-2F57-B7DCA18A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7D4142-FA39-DB58-7B30-439CA3F034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D3562B-7CDF-814D-C259-9021B62BC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401A-9FD7-4C12-9792-661E5F08F94B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AE9CD1-AD36-924E-478D-E2273A7BF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1C4A90-7097-9610-3469-DC4B90F8B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BA39-38C1-452A-A1DE-032E336C5F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704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A5B1DB1-C01F-2C17-3D30-0B74580810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C28860-8A35-88B7-C8D0-2F254AF05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B4996A-66FE-2E39-D0B4-C6152E6A9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6401A-9FD7-4C12-9792-661E5F08F94B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F4B645-EB96-F580-6987-A44A74111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D24FA8-4A1A-0D59-8315-E4DBF3396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BA39-38C1-452A-A1DE-032E336C5F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9062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8F4A7EF-38DF-D055-C9C5-FDA696043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3F04BA-ED8B-D2F2-C496-B2C3E22B6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34A107-5830-E09B-B5E6-024A0F2E1A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6401A-9FD7-4C12-9792-661E5F08F94B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D0D2B2-FBC1-1728-47AA-F73B266E1B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091F41-BAEA-3E0C-07C1-4EFD3A5C4B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0ABA39-38C1-452A-A1DE-032E336C5F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327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F82478-4FC4-1266-C424-6C635E3FCE4E}"/>
              </a:ext>
            </a:extLst>
          </p:cNvPr>
          <p:cNvSpPr txBox="1"/>
          <p:nvPr/>
        </p:nvSpPr>
        <p:spPr>
          <a:xfrm>
            <a:off x="174171" y="176512"/>
            <a:ext cx="263886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LT, </a:t>
            </a:r>
            <a:r>
              <a:rPr lang="ko-KR" altLang="en-US" b="1" dirty="0"/>
              <a:t>논문 및 임상적 근거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79606-B09B-98E5-740A-4EC8EEF03DB4}"/>
              </a:ext>
            </a:extLst>
          </p:cNvPr>
          <p:cNvSpPr txBox="1"/>
          <p:nvPr/>
        </p:nvSpPr>
        <p:spPr>
          <a:xfrm>
            <a:off x="174171" y="753290"/>
            <a:ext cx="64876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논문 및 임상적 자료를 근거로 한 개발 방향성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B6D380-216E-1063-9D12-76271482FCE5}"/>
              </a:ext>
            </a:extLst>
          </p:cNvPr>
          <p:cNvSpPr txBox="1"/>
          <p:nvPr/>
        </p:nvSpPr>
        <p:spPr>
          <a:xfrm>
            <a:off x="174171" y="1835885"/>
            <a:ext cx="102098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■ 핵심 전제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고령</a:t>
            </a:r>
            <a:r>
              <a:rPr lang="en-US" altLang="ko-KR" dirty="0"/>
              <a:t>·MCI·</a:t>
            </a:r>
            <a:r>
              <a:rPr lang="ko-KR" altLang="en-US" dirty="0"/>
              <a:t>치매 대상 연구에서 일상 대화</a:t>
            </a:r>
            <a:r>
              <a:rPr lang="en-US" altLang="ko-KR" dirty="0"/>
              <a:t>, </a:t>
            </a:r>
            <a:r>
              <a:rPr lang="ko-KR" altLang="en-US" dirty="0"/>
              <a:t>회상 대화</a:t>
            </a:r>
            <a:r>
              <a:rPr lang="en-US" altLang="ko-KR" dirty="0"/>
              <a:t>, </a:t>
            </a:r>
            <a:r>
              <a:rPr lang="ko-KR" altLang="en-US" dirty="0"/>
              <a:t>디지털 대화 에이전트</a:t>
            </a:r>
            <a:r>
              <a:rPr lang="en-US" altLang="ko-KR" dirty="0"/>
              <a:t>, </a:t>
            </a:r>
            <a:r>
              <a:rPr lang="ko-KR" altLang="en-US" dirty="0"/>
              <a:t>소셜 로봇만으로도 </a:t>
            </a:r>
            <a:endParaRPr lang="en-US" altLang="ko-KR" dirty="0"/>
          </a:p>
          <a:p>
            <a:r>
              <a:rPr lang="en-US" altLang="ko-KR" dirty="0"/>
              <a:t>    </a:t>
            </a:r>
            <a:r>
              <a:rPr lang="ko-KR" altLang="en-US" dirty="0"/>
              <a:t>인지기능</a:t>
            </a:r>
            <a:r>
              <a:rPr lang="en-US" altLang="ko-KR" dirty="0"/>
              <a:t>, </a:t>
            </a:r>
            <a:r>
              <a:rPr lang="ko-KR" altLang="en-US" dirty="0"/>
              <a:t>우울</a:t>
            </a:r>
            <a:r>
              <a:rPr lang="en-US" altLang="ko-KR" dirty="0"/>
              <a:t>, </a:t>
            </a:r>
            <a:r>
              <a:rPr lang="ko-KR" altLang="en-US" dirty="0"/>
              <a:t>고독감</a:t>
            </a:r>
            <a:r>
              <a:rPr lang="en-US" altLang="ko-KR" dirty="0"/>
              <a:t>, </a:t>
            </a:r>
            <a:r>
              <a:rPr lang="ko-KR" altLang="en-US" dirty="0"/>
              <a:t>삶의 질에 긍정적 효과가 보고됨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6781D-C1AC-45A9-7577-1F67AB4E1159}"/>
              </a:ext>
            </a:extLst>
          </p:cNvPr>
          <p:cNvSpPr txBox="1"/>
          <p:nvPr/>
        </p:nvSpPr>
        <p:spPr>
          <a:xfrm>
            <a:off x="174171" y="3668990"/>
            <a:ext cx="759374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■ </a:t>
            </a:r>
            <a:r>
              <a:rPr lang="en-US" altLang="ko-KR" dirty="0"/>
              <a:t>LT</a:t>
            </a:r>
            <a:r>
              <a:rPr lang="ko-KR" altLang="en-US" dirty="0"/>
              <a:t>의 임상적 포지션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1.</a:t>
            </a:r>
            <a:r>
              <a:rPr lang="ko-KR" altLang="en-US" dirty="0"/>
              <a:t> 세션 길이</a:t>
            </a:r>
            <a:r>
              <a:rPr lang="en-US" altLang="ko-KR" dirty="0"/>
              <a:t>/</a:t>
            </a:r>
            <a:r>
              <a:rPr lang="ko-KR" altLang="en-US" dirty="0"/>
              <a:t>빈도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대화 주제</a:t>
            </a:r>
            <a:r>
              <a:rPr lang="en-US" altLang="ko-KR" dirty="0"/>
              <a:t>/</a:t>
            </a:r>
            <a:r>
              <a:rPr lang="ko-KR" altLang="en-US" dirty="0"/>
              <a:t>내용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디지털 도입 가능성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평가 지표</a:t>
            </a:r>
            <a:endParaRPr lang="en-US" altLang="ko-KR" dirty="0"/>
          </a:p>
          <a:p>
            <a:r>
              <a:rPr lang="ko-KR" altLang="en-US" dirty="0"/>
              <a:t>→ 이를 체계적으로 설계한 “사랑 정서 기반 대화형 인지</a:t>
            </a:r>
            <a:r>
              <a:rPr lang="en-US" altLang="ko-KR" dirty="0"/>
              <a:t>·</a:t>
            </a:r>
            <a:r>
              <a:rPr lang="ko-KR" altLang="en-US" dirty="0"/>
              <a:t>정서 개입 도구</a:t>
            </a:r>
          </a:p>
        </p:txBody>
      </p:sp>
    </p:spTree>
    <p:extLst>
      <p:ext uri="{BB962C8B-B14F-4D97-AF65-F5344CB8AC3E}">
        <p14:creationId xmlns:p14="http://schemas.microsoft.com/office/powerpoint/2010/main" val="2474238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62175-07BE-D417-08EF-D3F2C127D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47FC3A-9961-2F5D-619F-9E86A35496F6}"/>
              </a:ext>
            </a:extLst>
          </p:cNvPr>
          <p:cNvSpPr txBox="1"/>
          <p:nvPr/>
        </p:nvSpPr>
        <p:spPr>
          <a:xfrm>
            <a:off x="174171" y="176512"/>
            <a:ext cx="263886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LT, </a:t>
            </a:r>
            <a:r>
              <a:rPr lang="ko-KR" altLang="en-US" b="1" dirty="0"/>
              <a:t>논문 및 임상적 근거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8BD881-0A83-DD30-F984-58A9E84EAD30}"/>
              </a:ext>
            </a:extLst>
          </p:cNvPr>
          <p:cNvSpPr txBox="1"/>
          <p:nvPr/>
        </p:nvSpPr>
        <p:spPr>
          <a:xfrm>
            <a:off x="174171" y="717843"/>
            <a:ext cx="7887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(1) </a:t>
            </a:r>
            <a:r>
              <a:rPr lang="ko-KR" altLang="en-US" sz="2400" b="1" dirty="0"/>
              <a:t>사람</a:t>
            </a:r>
            <a:r>
              <a:rPr lang="en-US" altLang="ko-KR" sz="2400" b="1" dirty="0"/>
              <a:t>–</a:t>
            </a:r>
            <a:r>
              <a:rPr lang="ko-KR" altLang="en-US" sz="2400" b="1" dirty="0"/>
              <a:t>사람 웹 대화 </a:t>
            </a:r>
            <a:r>
              <a:rPr lang="en-US" altLang="ko-KR" sz="2400" b="1" dirty="0"/>
              <a:t>RCT: </a:t>
            </a:r>
            <a:r>
              <a:rPr lang="ko-KR" altLang="en-US" sz="2400" b="1" dirty="0"/>
              <a:t>세션 시간</a:t>
            </a:r>
            <a:r>
              <a:rPr lang="en-US" altLang="ko-KR" sz="2400" b="1" dirty="0"/>
              <a:t>·</a:t>
            </a:r>
            <a:r>
              <a:rPr lang="ko-KR" altLang="en-US" sz="2400" b="1" dirty="0"/>
              <a:t>빈도에 대한 근거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53DAFE-7C46-0F7A-3F42-804E6A2BE6E5}"/>
              </a:ext>
            </a:extLst>
          </p:cNvPr>
          <p:cNvSpPr txBox="1"/>
          <p:nvPr/>
        </p:nvSpPr>
        <p:spPr>
          <a:xfrm>
            <a:off x="174171" y="2156989"/>
            <a:ext cx="637386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■ </a:t>
            </a:r>
            <a:r>
              <a:rPr lang="en-US" altLang="ko-KR" dirty="0"/>
              <a:t>Dodge et al., 2015 RCT (</a:t>
            </a:r>
            <a:r>
              <a:rPr lang="ko-KR" altLang="en-US" dirty="0"/>
              <a:t>웹 영상 대화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대상</a:t>
            </a:r>
            <a:r>
              <a:rPr lang="en-US" altLang="ko-KR" dirty="0"/>
              <a:t>: </a:t>
            </a:r>
            <a:r>
              <a:rPr lang="ko-KR" altLang="en-US" dirty="0"/>
              <a:t>고령자</a:t>
            </a:r>
            <a:r>
              <a:rPr lang="en-US" altLang="ko-KR" dirty="0"/>
              <a:t>(</a:t>
            </a:r>
            <a:r>
              <a:rPr lang="ko-KR" altLang="en-US" dirty="0"/>
              <a:t>정상 </a:t>
            </a:r>
            <a:r>
              <a:rPr lang="en-US" altLang="ko-KR" dirty="0"/>
              <a:t>+ MCI, CDR 0.5 </a:t>
            </a:r>
            <a:r>
              <a:rPr lang="ko-KR" altLang="en-US" dirty="0"/>
              <a:t>포함</a:t>
            </a:r>
            <a:r>
              <a:rPr lang="en-US" altLang="ko-KR" dirty="0"/>
              <a:t>) 83</a:t>
            </a:r>
            <a:r>
              <a:rPr lang="ko-KR" altLang="en-US" dirty="0"/>
              <a:t>명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방법 </a:t>
            </a:r>
            <a:r>
              <a:rPr lang="en-US" altLang="ko-KR" dirty="0"/>
              <a:t>: </a:t>
            </a:r>
            <a:r>
              <a:rPr lang="ko-KR" altLang="en-US" dirty="0"/>
              <a:t>하루 </a:t>
            </a:r>
            <a:r>
              <a:rPr lang="en-US" altLang="ko-KR" dirty="0"/>
              <a:t>30</a:t>
            </a:r>
            <a:r>
              <a:rPr lang="ko-KR" altLang="en-US" dirty="0"/>
              <a:t>분</a:t>
            </a:r>
            <a:r>
              <a:rPr lang="en-US" altLang="ko-KR" dirty="0"/>
              <a:t>, </a:t>
            </a:r>
            <a:r>
              <a:rPr lang="ko-KR" altLang="en-US" dirty="0"/>
              <a:t>주 </a:t>
            </a:r>
            <a:r>
              <a:rPr lang="en-US" altLang="ko-KR" dirty="0"/>
              <a:t>7</a:t>
            </a:r>
            <a:r>
              <a:rPr lang="ko-KR" altLang="en-US" dirty="0"/>
              <a:t>회</a:t>
            </a:r>
            <a:r>
              <a:rPr lang="en-US" altLang="ko-KR" dirty="0"/>
              <a:t>, 6</a:t>
            </a:r>
            <a:r>
              <a:rPr lang="ko-KR" altLang="en-US" dirty="0"/>
              <a:t>주간 훈련된 대화자와 영상통화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대조군</a:t>
            </a:r>
            <a:r>
              <a:rPr lang="en-US" altLang="ko-KR" dirty="0"/>
              <a:t>: </a:t>
            </a:r>
            <a:r>
              <a:rPr lang="ko-KR" altLang="en-US" dirty="0"/>
              <a:t>주 </a:t>
            </a:r>
            <a:r>
              <a:rPr lang="en-US" altLang="ko-KR" dirty="0"/>
              <a:t>1</a:t>
            </a:r>
            <a:r>
              <a:rPr lang="ko-KR" altLang="en-US" dirty="0"/>
              <a:t>회 </a:t>
            </a:r>
            <a:r>
              <a:rPr lang="en-US" altLang="ko-KR" dirty="0"/>
              <a:t>10</a:t>
            </a:r>
            <a:r>
              <a:rPr lang="ko-KR" altLang="en-US" dirty="0"/>
              <a:t>분 전화통화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22DF62-22B7-849B-8D35-7776F90D774E}"/>
              </a:ext>
            </a:extLst>
          </p:cNvPr>
          <p:cNvSpPr txBox="1"/>
          <p:nvPr/>
        </p:nvSpPr>
        <p:spPr>
          <a:xfrm>
            <a:off x="174171" y="4150133"/>
            <a:ext cx="10885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→ 결과</a:t>
            </a:r>
            <a:endParaRPr lang="en-US" altLang="ko-KR" b="1" dirty="0"/>
          </a:p>
          <a:p>
            <a:r>
              <a:rPr lang="en-US" altLang="ko-KR" b="1" dirty="0"/>
              <a:t>- </a:t>
            </a:r>
            <a:r>
              <a:rPr lang="ko-KR" altLang="en-US" b="1" dirty="0"/>
              <a:t>언어 유창성</a:t>
            </a:r>
            <a:r>
              <a:rPr lang="en-US" altLang="ko-KR" b="1" dirty="0"/>
              <a:t>·</a:t>
            </a:r>
            <a:r>
              <a:rPr lang="ko-KR" altLang="en-US" b="1" dirty="0"/>
              <a:t>집행기능 일부 향상</a:t>
            </a:r>
            <a:endParaRPr lang="en-US" altLang="ko-KR" b="1" dirty="0"/>
          </a:p>
          <a:p>
            <a:r>
              <a:rPr lang="en-US" altLang="ko-KR" b="1" dirty="0"/>
              <a:t>- </a:t>
            </a:r>
            <a:r>
              <a:rPr lang="ko-KR" altLang="en-US" b="1" dirty="0"/>
              <a:t>고독감 감소</a:t>
            </a:r>
            <a:r>
              <a:rPr lang="en-US" altLang="ko-KR" b="1" dirty="0"/>
              <a:t>, </a:t>
            </a:r>
            <a:r>
              <a:rPr lang="ko-KR" altLang="en-US" b="1" dirty="0"/>
              <a:t>높은 순응도</a:t>
            </a:r>
            <a:r>
              <a:rPr lang="en-US" altLang="ko-KR" b="1" dirty="0"/>
              <a:t>(</a:t>
            </a:r>
            <a:r>
              <a:rPr lang="ko-KR" altLang="en-US" b="1" dirty="0"/>
              <a:t>탈락 </a:t>
            </a:r>
            <a:r>
              <a:rPr lang="en-US" altLang="ko-KR" b="1" dirty="0"/>
              <a:t>0</a:t>
            </a:r>
            <a:r>
              <a:rPr lang="ko-KR" altLang="en-US" b="1" dirty="0"/>
              <a:t>명</a:t>
            </a:r>
            <a:r>
              <a:rPr lang="en-US" altLang="ko-KR" b="1" dirty="0"/>
              <a:t>, </a:t>
            </a:r>
            <a:r>
              <a:rPr lang="ko-KR" altLang="en-US" b="1" dirty="0"/>
              <a:t>참여일수 평균 </a:t>
            </a:r>
            <a:r>
              <a:rPr lang="en-US" altLang="ko-KR" b="1" dirty="0"/>
              <a:t>89%)</a:t>
            </a:r>
          </a:p>
        </p:txBody>
      </p:sp>
      <p:pic>
        <p:nvPicPr>
          <p:cNvPr id="9" name="그림 8" descr="텍스트, 스크린샷, 폰트, 문서이(가) 표시된 사진">
            <a:extLst>
              <a:ext uri="{FF2B5EF4-FFF2-40B4-BE49-F238E27FC236}">
                <a16:creationId xmlns:a16="http://schemas.microsoft.com/office/drawing/2014/main" id="{852A57DF-5AFF-15EE-F4BD-FC06B9692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656" y="2348351"/>
            <a:ext cx="5224417" cy="216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448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ED356-A8A1-93C6-1EC2-D16206B62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42A56C-4CA5-68B7-B787-8566F9DED35A}"/>
              </a:ext>
            </a:extLst>
          </p:cNvPr>
          <p:cNvSpPr txBox="1"/>
          <p:nvPr/>
        </p:nvSpPr>
        <p:spPr>
          <a:xfrm>
            <a:off x="174171" y="176512"/>
            <a:ext cx="263886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LT, </a:t>
            </a:r>
            <a:r>
              <a:rPr lang="ko-KR" altLang="en-US" b="1" dirty="0"/>
              <a:t>논문 및 임상적 근거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951B79-C44D-FAF5-1E31-7A2E19C569AD}"/>
              </a:ext>
            </a:extLst>
          </p:cNvPr>
          <p:cNvSpPr txBox="1"/>
          <p:nvPr/>
        </p:nvSpPr>
        <p:spPr>
          <a:xfrm>
            <a:off x="174171" y="717843"/>
            <a:ext cx="7887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(2) </a:t>
            </a:r>
            <a:r>
              <a:rPr lang="ko-KR" altLang="en-US" sz="2400" b="1" dirty="0"/>
              <a:t>사람</a:t>
            </a:r>
            <a:r>
              <a:rPr lang="en-US" altLang="ko-KR" sz="2400" b="1" dirty="0"/>
              <a:t>–</a:t>
            </a:r>
            <a:r>
              <a:rPr lang="ko-KR" altLang="en-US" sz="2400" b="1" dirty="0"/>
              <a:t>사람 웹 대화 </a:t>
            </a:r>
            <a:r>
              <a:rPr lang="en-US" altLang="ko-KR" sz="2400" b="1" dirty="0"/>
              <a:t>RCT: </a:t>
            </a:r>
            <a:r>
              <a:rPr lang="ko-KR" altLang="en-US" sz="2400" b="1" dirty="0"/>
              <a:t>세션 시간</a:t>
            </a:r>
            <a:r>
              <a:rPr lang="en-US" altLang="ko-KR" sz="2400" b="1" dirty="0"/>
              <a:t>·</a:t>
            </a:r>
            <a:r>
              <a:rPr lang="ko-KR" altLang="en-US" sz="2400" b="1" dirty="0"/>
              <a:t>빈도에 대한 근거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7E9EB-431E-BA79-795B-7120BE5F8F77}"/>
              </a:ext>
            </a:extLst>
          </p:cNvPr>
          <p:cNvSpPr txBox="1"/>
          <p:nvPr/>
        </p:nvSpPr>
        <p:spPr>
          <a:xfrm>
            <a:off x="174171" y="2156989"/>
            <a:ext cx="699422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■ </a:t>
            </a:r>
            <a:r>
              <a:rPr lang="en-US" altLang="ko-KR" dirty="0"/>
              <a:t>I-CONECT Trial (</a:t>
            </a:r>
            <a:r>
              <a:rPr lang="ko-KR" altLang="en-US" dirty="0"/>
              <a:t>장기 온라인 대화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대상</a:t>
            </a:r>
            <a:r>
              <a:rPr lang="en-US" altLang="ko-KR" dirty="0"/>
              <a:t>: 75</a:t>
            </a:r>
            <a:r>
              <a:rPr lang="ko-KR" altLang="en-US" dirty="0"/>
              <a:t>세 이상</a:t>
            </a:r>
            <a:r>
              <a:rPr lang="en-US" altLang="ko-KR" dirty="0"/>
              <a:t>, </a:t>
            </a:r>
            <a:r>
              <a:rPr lang="ko-KR" altLang="en-US" dirty="0"/>
              <a:t>정상 </a:t>
            </a:r>
            <a:r>
              <a:rPr lang="en-US" altLang="ko-KR" dirty="0"/>
              <a:t>+ MCI, </a:t>
            </a:r>
            <a:r>
              <a:rPr lang="ko-KR" altLang="en-US" dirty="0"/>
              <a:t>사회적 고립 노인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방법 </a:t>
            </a:r>
            <a:r>
              <a:rPr lang="en-US" altLang="ko-KR" dirty="0"/>
              <a:t>: 30</a:t>
            </a:r>
            <a:r>
              <a:rPr lang="ko-KR" altLang="en-US" dirty="0"/>
              <a:t>분 영상 대화</a:t>
            </a:r>
            <a:r>
              <a:rPr lang="en-US" altLang="ko-KR" dirty="0"/>
              <a:t>, </a:t>
            </a:r>
            <a:r>
              <a:rPr lang="ko-KR" altLang="en-US" dirty="0"/>
              <a:t>주 </a:t>
            </a:r>
            <a:r>
              <a:rPr lang="en-US" altLang="ko-KR" dirty="0"/>
              <a:t>4</a:t>
            </a:r>
            <a:r>
              <a:rPr lang="ko-KR" altLang="en-US" dirty="0"/>
              <a:t>회</a:t>
            </a:r>
            <a:r>
              <a:rPr lang="en-US" altLang="ko-KR" dirty="0"/>
              <a:t>, 6</a:t>
            </a:r>
            <a:r>
              <a:rPr lang="ko-KR" altLang="en-US" dirty="0"/>
              <a:t>개월 → 이후 주 </a:t>
            </a:r>
            <a:r>
              <a:rPr lang="en-US" altLang="ko-KR" dirty="0"/>
              <a:t>2</a:t>
            </a:r>
            <a:r>
              <a:rPr lang="ko-KR" altLang="en-US" dirty="0"/>
              <a:t>회</a:t>
            </a:r>
            <a:r>
              <a:rPr lang="en-US" altLang="ko-KR" dirty="0"/>
              <a:t>, 6</a:t>
            </a:r>
            <a:r>
              <a:rPr lang="ko-KR" altLang="en-US" dirty="0"/>
              <a:t>개월 유지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목표</a:t>
            </a:r>
            <a:r>
              <a:rPr lang="en-US" altLang="ko-KR" dirty="0"/>
              <a:t>: </a:t>
            </a:r>
            <a:r>
              <a:rPr lang="ko-KR" altLang="en-US" dirty="0"/>
              <a:t>온라인 대화를 통해 인지 저하를 늦출 수 있는지 검증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C7FE2F-0983-8B7D-13AE-62EF4C5B308D}"/>
              </a:ext>
            </a:extLst>
          </p:cNvPr>
          <p:cNvSpPr txBox="1"/>
          <p:nvPr/>
        </p:nvSpPr>
        <p:spPr>
          <a:xfrm>
            <a:off x="174171" y="4150133"/>
            <a:ext cx="10885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→ </a:t>
            </a:r>
            <a:r>
              <a:rPr lang="en-US" altLang="ko-KR" b="1" dirty="0"/>
              <a:t>LT</a:t>
            </a:r>
            <a:r>
              <a:rPr lang="ko-KR" altLang="en-US" b="1" dirty="0"/>
              <a:t>로의 전환 포인트</a:t>
            </a:r>
            <a:endParaRPr lang="en-US" altLang="ko-KR" b="1" dirty="0"/>
          </a:p>
          <a:p>
            <a:r>
              <a:rPr lang="en-US" altLang="ko-KR" b="1" dirty="0"/>
              <a:t>- 30</a:t>
            </a:r>
            <a:r>
              <a:rPr lang="ko-KR" altLang="en-US" b="1" dirty="0"/>
              <a:t>분 전후의 일상 대화가 고령</a:t>
            </a:r>
            <a:r>
              <a:rPr lang="en-US" altLang="ko-KR" b="1" dirty="0"/>
              <a:t>·MCI</a:t>
            </a:r>
            <a:r>
              <a:rPr lang="ko-KR" altLang="en-US" b="1" dirty="0"/>
              <a:t>에서도 안전하고 효과적</a:t>
            </a:r>
          </a:p>
          <a:p>
            <a:r>
              <a:rPr lang="en-US" altLang="ko-KR" b="1" dirty="0"/>
              <a:t>- LT </a:t>
            </a:r>
            <a:r>
              <a:rPr lang="ko-KR" altLang="en-US" b="1" dirty="0"/>
              <a:t>경증 </a:t>
            </a:r>
            <a:r>
              <a:rPr lang="en-US" altLang="ko-KR" b="1" dirty="0"/>
              <a:t>MCI </a:t>
            </a:r>
            <a:r>
              <a:rPr lang="ko-KR" altLang="en-US" b="1" dirty="0"/>
              <a:t>세션 길이 기준을 </a:t>
            </a:r>
            <a:r>
              <a:rPr lang="en-US" altLang="ko-KR" b="1" dirty="0"/>
              <a:t>20–30</a:t>
            </a:r>
            <a:r>
              <a:rPr lang="ko-KR" altLang="en-US" b="1" dirty="0"/>
              <a:t>분으로 잡는 근거</a:t>
            </a:r>
          </a:p>
        </p:txBody>
      </p:sp>
      <p:pic>
        <p:nvPicPr>
          <p:cNvPr id="8" name="그림 7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4ADE27-8BA8-4942-FDD6-E7A3A4933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393" y="2093785"/>
            <a:ext cx="4816257" cy="297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32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FD2C6-CC35-1112-0DD0-8B1C2749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79BE92-2D9A-B8BC-9CE6-6EEEE84E1B12}"/>
              </a:ext>
            </a:extLst>
          </p:cNvPr>
          <p:cNvSpPr txBox="1"/>
          <p:nvPr/>
        </p:nvSpPr>
        <p:spPr>
          <a:xfrm>
            <a:off x="174171" y="176512"/>
            <a:ext cx="263886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LT, </a:t>
            </a:r>
            <a:r>
              <a:rPr lang="ko-KR" altLang="en-US" b="1" dirty="0"/>
              <a:t>논문 및 임상적 근거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6C40D0-85B9-AC01-AAB2-E84B4820386B}"/>
              </a:ext>
            </a:extLst>
          </p:cNvPr>
          <p:cNvSpPr txBox="1"/>
          <p:nvPr/>
        </p:nvSpPr>
        <p:spPr>
          <a:xfrm>
            <a:off x="174171" y="753290"/>
            <a:ext cx="7595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(3) </a:t>
            </a:r>
            <a:r>
              <a:rPr lang="ko-KR" altLang="en-US" sz="2400" b="1" dirty="0"/>
              <a:t>회상요법</a:t>
            </a:r>
            <a:r>
              <a:rPr lang="en-US" altLang="ko-KR" sz="2400" b="1" dirty="0"/>
              <a:t>·CST: </a:t>
            </a:r>
            <a:r>
              <a:rPr lang="ko-KR" altLang="en-US" sz="2400" b="1" dirty="0"/>
              <a:t>대화 주제와 세션 구조에 대한 근거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70CDF9-9DAB-D114-CD5D-20C31258A91F}"/>
              </a:ext>
            </a:extLst>
          </p:cNvPr>
          <p:cNvSpPr txBox="1"/>
          <p:nvPr/>
        </p:nvSpPr>
        <p:spPr>
          <a:xfrm>
            <a:off x="107794" y="4882434"/>
            <a:ext cx="622176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■ </a:t>
            </a:r>
            <a:r>
              <a:rPr lang="en-US" altLang="ko-KR" sz="1600" dirty="0"/>
              <a:t>Reminiscence Therapy(</a:t>
            </a:r>
            <a:r>
              <a:rPr lang="ko-KR" altLang="en-US" sz="1600" dirty="0"/>
              <a:t>회상요법</a:t>
            </a:r>
            <a:r>
              <a:rPr lang="en-US" altLang="ko-KR" sz="1600" dirty="0"/>
              <a:t>) – Cochrane </a:t>
            </a:r>
            <a:r>
              <a:rPr lang="ko-KR" altLang="en-US" sz="1600" dirty="0"/>
              <a:t>리뷰 </a:t>
            </a:r>
            <a:r>
              <a:rPr lang="en-US" altLang="ko-KR" sz="1600" dirty="0"/>
              <a:t>&amp; </a:t>
            </a:r>
            <a:r>
              <a:rPr lang="ko-KR" altLang="en-US" sz="1600" dirty="0"/>
              <a:t>메타분석</a:t>
            </a:r>
            <a:endParaRPr lang="en-US" altLang="ko-KR" sz="1600" dirty="0"/>
          </a:p>
          <a:p>
            <a:r>
              <a:rPr lang="en-US" altLang="ko-KR" sz="1600" dirty="0"/>
              <a:t>= </a:t>
            </a:r>
            <a:r>
              <a:rPr lang="ko-KR" altLang="en-US" sz="1600" dirty="0"/>
              <a:t>세션</a:t>
            </a:r>
            <a:r>
              <a:rPr lang="en-US" altLang="ko-KR" sz="1600" dirty="0"/>
              <a:t>: 30–60</a:t>
            </a:r>
            <a:r>
              <a:rPr lang="ko-KR" altLang="en-US" sz="1600" dirty="0"/>
              <a:t>분</a:t>
            </a:r>
            <a:r>
              <a:rPr lang="en-US" altLang="ko-KR" sz="1600" dirty="0"/>
              <a:t>, </a:t>
            </a:r>
            <a:r>
              <a:rPr lang="ko-KR" altLang="en-US" sz="1600" dirty="0"/>
              <a:t>주 </a:t>
            </a:r>
            <a:r>
              <a:rPr lang="en-US" altLang="ko-KR" sz="1600" dirty="0"/>
              <a:t>1</a:t>
            </a:r>
            <a:r>
              <a:rPr lang="ko-KR" altLang="en-US" sz="1600" dirty="0"/>
              <a:t>회</a:t>
            </a:r>
            <a:r>
              <a:rPr lang="en-US" altLang="ko-KR" sz="1600" dirty="0"/>
              <a:t>, 6–12</a:t>
            </a:r>
            <a:r>
              <a:rPr lang="ko-KR" altLang="en-US" sz="1600" dirty="0"/>
              <a:t>주</a:t>
            </a:r>
          </a:p>
          <a:p>
            <a:r>
              <a:rPr lang="en-US" altLang="ko-KR" sz="1600" dirty="0"/>
              <a:t>- </a:t>
            </a:r>
            <a:r>
              <a:rPr lang="ko-KR" altLang="en-US" sz="1600" dirty="0"/>
              <a:t>주제</a:t>
            </a:r>
            <a:r>
              <a:rPr lang="en-US" altLang="ko-KR" sz="1600" dirty="0"/>
              <a:t>: </a:t>
            </a:r>
            <a:r>
              <a:rPr lang="ko-KR" altLang="en-US" sz="1600" dirty="0"/>
              <a:t>과거 경험</a:t>
            </a:r>
            <a:r>
              <a:rPr lang="en-US" altLang="ko-KR" sz="1600" dirty="0"/>
              <a:t>, </a:t>
            </a:r>
            <a:r>
              <a:rPr lang="ko-KR" altLang="en-US" sz="1600" dirty="0"/>
              <a:t>가족</a:t>
            </a:r>
            <a:r>
              <a:rPr lang="en-US" altLang="ko-KR" sz="1600" dirty="0"/>
              <a:t>, </a:t>
            </a:r>
            <a:r>
              <a:rPr lang="ko-KR" altLang="en-US" sz="1600" dirty="0"/>
              <a:t>중요한 사건</a:t>
            </a:r>
            <a:r>
              <a:rPr lang="en-US" altLang="ko-KR" sz="1600" dirty="0"/>
              <a:t>, </a:t>
            </a:r>
            <a:r>
              <a:rPr lang="ko-KR" altLang="en-US" sz="1600" dirty="0"/>
              <a:t>음악</a:t>
            </a:r>
            <a:r>
              <a:rPr lang="en-US" altLang="ko-KR" sz="1600" dirty="0"/>
              <a:t>·</a:t>
            </a:r>
            <a:r>
              <a:rPr lang="ko-KR" altLang="en-US" sz="1600" dirty="0"/>
              <a:t>사진 활용</a:t>
            </a:r>
          </a:p>
          <a:p>
            <a:r>
              <a:rPr lang="en-US" altLang="ko-KR" sz="1600" dirty="0"/>
              <a:t>- </a:t>
            </a:r>
            <a:r>
              <a:rPr lang="ko-KR" altLang="en-US" sz="1600" dirty="0"/>
              <a:t>효과</a:t>
            </a:r>
            <a:r>
              <a:rPr lang="en-US" altLang="ko-KR" sz="1600" dirty="0"/>
              <a:t>: </a:t>
            </a:r>
            <a:r>
              <a:rPr lang="ko-KR" altLang="en-US" sz="1600" dirty="0"/>
              <a:t>우울 감소</a:t>
            </a:r>
            <a:r>
              <a:rPr lang="en-US" altLang="ko-KR" sz="1600" dirty="0"/>
              <a:t>, </a:t>
            </a:r>
            <a:r>
              <a:rPr lang="ko-KR" altLang="en-US" sz="1600" dirty="0"/>
              <a:t>삶의 질</a:t>
            </a:r>
            <a:r>
              <a:rPr lang="en-US" altLang="ko-KR" sz="1600" dirty="0"/>
              <a:t>·</a:t>
            </a:r>
            <a:r>
              <a:rPr lang="ko-KR" altLang="en-US" sz="1600" dirty="0"/>
              <a:t>자서전적 기억 개선</a:t>
            </a:r>
          </a:p>
        </p:txBody>
      </p:sp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1BADC4-41E9-E834-F89B-DE6BE6C39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71" y="1655205"/>
            <a:ext cx="6089015" cy="2903231"/>
          </a:xfrm>
          <a:prstGeom prst="rect">
            <a:avLst/>
          </a:prstGeom>
        </p:spPr>
      </p:pic>
      <p:pic>
        <p:nvPicPr>
          <p:cNvPr id="11" name="그림 10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7E357C-6B29-7242-B711-1155B1E8C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334" y="1331206"/>
            <a:ext cx="4404742" cy="35512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CE3D2F-40B4-B03A-14ED-E7E55EEB2888}"/>
              </a:ext>
            </a:extLst>
          </p:cNvPr>
          <p:cNvSpPr txBox="1"/>
          <p:nvPr/>
        </p:nvSpPr>
        <p:spPr>
          <a:xfrm>
            <a:off x="6096000" y="5421043"/>
            <a:ext cx="610455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■ </a:t>
            </a:r>
            <a:r>
              <a:rPr lang="en-US" altLang="ko-KR" sz="1600" dirty="0"/>
              <a:t>Cognitive Stimulation Therapy(CST) – Spector et al</a:t>
            </a:r>
          </a:p>
          <a:p>
            <a:r>
              <a:rPr lang="en-US" altLang="ko-KR" sz="1600" dirty="0"/>
              <a:t>- </a:t>
            </a:r>
            <a:r>
              <a:rPr lang="ko-KR" altLang="en-US" sz="1600" dirty="0"/>
              <a:t>구조</a:t>
            </a:r>
            <a:r>
              <a:rPr lang="en-US" altLang="ko-KR" sz="1600" dirty="0"/>
              <a:t>: 45</a:t>
            </a:r>
            <a:r>
              <a:rPr lang="ko-KR" altLang="en-US" sz="1600" dirty="0"/>
              <a:t>분 세션</a:t>
            </a:r>
            <a:r>
              <a:rPr lang="en-US" altLang="ko-KR" sz="1600" dirty="0"/>
              <a:t>, </a:t>
            </a:r>
            <a:r>
              <a:rPr lang="ko-KR" altLang="en-US" sz="1600" dirty="0"/>
              <a:t>주 </a:t>
            </a:r>
            <a:r>
              <a:rPr lang="en-US" altLang="ko-KR" sz="1600" dirty="0"/>
              <a:t>2</a:t>
            </a:r>
            <a:r>
              <a:rPr lang="ko-KR" altLang="en-US" sz="1600" dirty="0"/>
              <a:t>회</a:t>
            </a:r>
            <a:r>
              <a:rPr lang="en-US" altLang="ko-KR" sz="1600" dirty="0"/>
              <a:t>, 7</a:t>
            </a:r>
            <a:r>
              <a:rPr lang="ko-KR" altLang="en-US" sz="1600" dirty="0"/>
              <a:t>주</a:t>
            </a:r>
            <a:r>
              <a:rPr lang="en-US" altLang="ko-KR" sz="1600" dirty="0"/>
              <a:t>(</a:t>
            </a:r>
            <a:r>
              <a:rPr lang="ko-KR" altLang="en-US" sz="1600" dirty="0"/>
              <a:t>총 </a:t>
            </a:r>
            <a:r>
              <a:rPr lang="en-US" altLang="ko-KR" sz="1600" dirty="0"/>
              <a:t>14</a:t>
            </a:r>
            <a:r>
              <a:rPr lang="ko-KR" altLang="en-US" sz="1600" dirty="0"/>
              <a:t>회</a:t>
            </a:r>
            <a:r>
              <a:rPr lang="en-US" altLang="ko-KR" sz="1600" dirty="0"/>
              <a:t>)</a:t>
            </a:r>
          </a:p>
          <a:p>
            <a:r>
              <a:rPr lang="en-US" altLang="ko-KR" sz="1600" dirty="0"/>
              <a:t>- </a:t>
            </a:r>
            <a:r>
              <a:rPr lang="ko-KR" altLang="en-US" sz="1600" dirty="0"/>
              <a:t>내용</a:t>
            </a:r>
            <a:r>
              <a:rPr lang="en-US" altLang="ko-KR" sz="1600" dirty="0"/>
              <a:t>: </a:t>
            </a:r>
            <a:r>
              <a:rPr lang="ko-KR" altLang="en-US" sz="1600" dirty="0"/>
              <a:t>시사</a:t>
            </a:r>
            <a:r>
              <a:rPr lang="en-US" altLang="ko-KR" sz="1600" dirty="0"/>
              <a:t>, </a:t>
            </a:r>
            <a:r>
              <a:rPr lang="ko-KR" altLang="en-US" sz="1600" dirty="0"/>
              <a:t>단어 게임</a:t>
            </a:r>
            <a:r>
              <a:rPr lang="en-US" altLang="ko-KR" sz="1600" dirty="0"/>
              <a:t>, </a:t>
            </a:r>
            <a:r>
              <a:rPr lang="ko-KR" altLang="en-US" sz="1600" dirty="0"/>
              <a:t>연상</a:t>
            </a:r>
            <a:r>
              <a:rPr lang="en-US" altLang="ko-KR" sz="1600" dirty="0"/>
              <a:t>, </a:t>
            </a:r>
            <a:r>
              <a:rPr lang="ko-KR" altLang="en-US" sz="1600" dirty="0"/>
              <a:t>그룹 대화 등</a:t>
            </a:r>
          </a:p>
          <a:p>
            <a:r>
              <a:rPr lang="en-US" altLang="ko-KR" sz="1600" dirty="0"/>
              <a:t>- </a:t>
            </a:r>
            <a:r>
              <a:rPr lang="ko-KR" altLang="en-US" sz="1600" dirty="0"/>
              <a:t>효과</a:t>
            </a:r>
            <a:r>
              <a:rPr lang="en-US" altLang="ko-KR" sz="1600" dirty="0"/>
              <a:t>: </a:t>
            </a:r>
            <a:r>
              <a:rPr lang="ko-KR" altLang="en-US" sz="1600" dirty="0"/>
              <a:t>경도</a:t>
            </a:r>
            <a:r>
              <a:rPr lang="en-US" altLang="ko-KR" sz="1600" dirty="0"/>
              <a:t>~</a:t>
            </a:r>
            <a:r>
              <a:rPr lang="ko-KR" altLang="en-US" sz="1600" dirty="0"/>
              <a:t>중등도 치매에서 인지 기능 및 삶의 질 유의한 향상</a:t>
            </a:r>
          </a:p>
        </p:txBody>
      </p:sp>
    </p:spTree>
    <p:extLst>
      <p:ext uri="{BB962C8B-B14F-4D97-AF65-F5344CB8AC3E}">
        <p14:creationId xmlns:p14="http://schemas.microsoft.com/office/powerpoint/2010/main" val="3574998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1E784-8091-12C8-C8A8-622ADF565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681726-D1E2-C242-B317-B2EF3890E001}"/>
              </a:ext>
            </a:extLst>
          </p:cNvPr>
          <p:cNvSpPr txBox="1"/>
          <p:nvPr/>
        </p:nvSpPr>
        <p:spPr>
          <a:xfrm>
            <a:off x="174171" y="176512"/>
            <a:ext cx="263886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LT, </a:t>
            </a:r>
            <a:r>
              <a:rPr lang="ko-KR" altLang="en-US" b="1" dirty="0"/>
              <a:t>논문 및 임상적 근거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63B0A4-0F96-55F7-0122-13D2B1A78E7D}"/>
              </a:ext>
            </a:extLst>
          </p:cNvPr>
          <p:cNvSpPr txBox="1"/>
          <p:nvPr/>
        </p:nvSpPr>
        <p:spPr>
          <a:xfrm>
            <a:off x="174171" y="753290"/>
            <a:ext cx="778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(4) </a:t>
            </a:r>
            <a:r>
              <a:rPr lang="ko-KR" altLang="en-US" sz="2400" b="1" dirty="0"/>
              <a:t>소셜 로봇</a:t>
            </a:r>
            <a:r>
              <a:rPr lang="en-US" altLang="ko-KR" sz="2400" b="1" dirty="0"/>
              <a:t>·PIO </a:t>
            </a:r>
            <a:r>
              <a:rPr lang="ko-KR" altLang="en-US" sz="2400" b="1" dirty="0"/>
              <a:t>연구</a:t>
            </a:r>
            <a:r>
              <a:rPr lang="en-US" altLang="ko-KR" sz="2400" b="1" dirty="0"/>
              <a:t>: </a:t>
            </a:r>
            <a:r>
              <a:rPr lang="ko-KR" altLang="en-US" sz="2400" b="1" dirty="0"/>
              <a:t>세션 길이</a:t>
            </a:r>
            <a:r>
              <a:rPr lang="en-US" altLang="ko-KR" sz="2400" b="1" dirty="0"/>
              <a:t>·</a:t>
            </a:r>
            <a:r>
              <a:rPr lang="ko-KR" altLang="en-US" sz="2400" b="1" dirty="0"/>
              <a:t>정서</a:t>
            </a:r>
            <a:r>
              <a:rPr lang="en-US" altLang="ko-KR" sz="2400" b="1" dirty="0"/>
              <a:t>/</a:t>
            </a:r>
            <a:r>
              <a:rPr lang="ko-KR" altLang="en-US" sz="2400" b="1" dirty="0"/>
              <a:t>인지 효과 근거</a:t>
            </a:r>
          </a:p>
        </p:txBody>
      </p:sp>
      <p:pic>
        <p:nvPicPr>
          <p:cNvPr id="3" name="그림 2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2001AA-728E-8D48-FCAA-4D0CCC39F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92" y="1852663"/>
            <a:ext cx="4458086" cy="2423370"/>
          </a:xfrm>
          <a:prstGeom prst="rect">
            <a:avLst/>
          </a:prstGeom>
        </p:spPr>
      </p:pic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79F9C0-CE69-724D-2ECC-FBB536C07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195" y="1788800"/>
            <a:ext cx="4762913" cy="27586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57C9C4-71B8-4DBB-306F-A038E6644609}"/>
              </a:ext>
            </a:extLst>
          </p:cNvPr>
          <p:cNvSpPr txBox="1"/>
          <p:nvPr/>
        </p:nvSpPr>
        <p:spPr>
          <a:xfrm>
            <a:off x="306535" y="5566101"/>
            <a:ext cx="643156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/>
              <a:t>■ </a:t>
            </a:r>
            <a:r>
              <a:rPr lang="en-US" altLang="ko-KR" sz="1600"/>
              <a:t>Lim et al., 2023 – </a:t>
            </a:r>
            <a:r>
              <a:rPr lang="ko-KR" altLang="en-US" sz="1600"/>
              <a:t>소셜 로봇 개입</a:t>
            </a:r>
            <a:r>
              <a:rPr lang="en-US" altLang="ko-KR" sz="1600"/>
              <a:t>(</a:t>
            </a:r>
            <a:r>
              <a:rPr lang="ko-KR" altLang="en-US" sz="1600"/>
              <a:t>독거 노인</a:t>
            </a:r>
            <a:r>
              <a:rPr lang="en-US" altLang="ko-KR" sz="1600"/>
              <a:t>)</a:t>
            </a:r>
          </a:p>
          <a:p>
            <a:pPr marL="285750" indent="-285750">
              <a:buFontTx/>
              <a:buChar char="-"/>
            </a:pPr>
            <a:r>
              <a:rPr lang="en-US" altLang="ko-KR" sz="1600"/>
              <a:t>Frontiers</a:t>
            </a:r>
            <a:r>
              <a:rPr lang="ko-KR" altLang="en-US" sz="1600"/>
              <a:t>구조</a:t>
            </a:r>
            <a:r>
              <a:rPr lang="en-US" altLang="ko-KR" sz="1600"/>
              <a:t>: 30</a:t>
            </a:r>
            <a:r>
              <a:rPr lang="ko-KR" altLang="en-US" sz="1600"/>
              <a:t>분 세션</a:t>
            </a:r>
            <a:r>
              <a:rPr lang="en-US" altLang="ko-KR" sz="1600"/>
              <a:t>, </a:t>
            </a:r>
            <a:r>
              <a:rPr lang="ko-KR" altLang="en-US" sz="1600"/>
              <a:t>주 </a:t>
            </a:r>
            <a:r>
              <a:rPr lang="en-US" altLang="ko-KR" sz="1600"/>
              <a:t>3</a:t>
            </a:r>
            <a:r>
              <a:rPr lang="ko-KR" altLang="en-US" sz="1600"/>
              <a:t>회</a:t>
            </a:r>
            <a:r>
              <a:rPr lang="en-US" altLang="ko-KR" sz="1600"/>
              <a:t>, 4</a:t>
            </a:r>
            <a:r>
              <a:rPr lang="ko-KR" altLang="en-US" sz="1600"/>
              <a:t>주</a:t>
            </a:r>
            <a:endParaRPr lang="en-US" altLang="ko-KR" sz="1600"/>
          </a:p>
          <a:p>
            <a:pPr marL="285750" indent="-285750">
              <a:buFontTx/>
              <a:buChar char="-"/>
            </a:pPr>
            <a:r>
              <a:rPr lang="ko-KR" altLang="en-US" sz="1600"/>
              <a:t>내용</a:t>
            </a:r>
            <a:r>
              <a:rPr lang="en-US" altLang="ko-KR" sz="1600"/>
              <a:t>: </a:t>
            </a:r>
            <a:r>
              <a:rPr lang="ko-KR" altLang="en-US" sz="1600"/>
              <a:t>로봇과의 대화</a:t>
            </a:r>
            <a:r>
              <a:rPr lang="en-US" altLang="ko-KR" sz="1600"/>
              <a:t>, </a:t>
            </a:r>
            <a:r>
              <a:rPr lang="ko-KR" altLang="en-US" sz="1600"/>
              <a:t>게임</a:t>
            </a:r>
            <a:r>
              <a:rPr lang="en-US" altLang="ko-KR" sz="1600"/>
              <a:t>, </a:t>
            </a:r>
            <a:r>
              <a:rPr lang="ko-KR" altLang="en-US" sz="1600"/>
              <a:t>활동 안내</a:t>
            </a:r>
            <a:endParaRPr lang="en-US" altLang="ko-KR" sz="1600"/>
          </a:p>
          <a:p>
            <a:pPr marL="285750" indent="-285750">
              <a:buFontTx/>
              <a:buChar char="-"/>
            </a:pPr>
            <a:r>
              <a:rPr lang="ko-KR" altLang="en-US" sz="1600"/>
              <a:t>결과</a:t>
            </a:r>
            <a:r>
              <a:rPr lang="en-US" altLang="ko-KR" sz="1600"/>
              <a:t>: </a:t>
            </a:r>
            <a:r>
              <a:rPr lang="ko-KR" altLang="en-US" sz="1600"/>
              <a:t>인지기능</a:t>
            </a:r>
            <a:r>
              <a:rPr lang="en-US" altLang="ko-KR" sz="1600"/>
              <a:t>, </a:t>
            </a:r>
            <a:r>
              <a:rPr lang="ko-KR" altLang="en-US" sz="1600"/>
              <a:t>우울</a:t>
            </a:r>
            <a:r>
              <a:rPr lang="en-US" altLang="ko-KR" sz="1600"/>
              <a:t>, </a:t>
            </a:r>
            <a:r>
              <a:rPr lang="ko-KR" altLang="en-US" sz="1600"/>
              <a:t>외로움</a:t>
            </a:r>
            <a:r>
              <a:rPr lang="en-US" altLang="ko-KR" sz="1600"/>
              <a:t>, </a:t>
            </a:r>
            <a:r>
              <a:rPr lang="ko-KR" altLang="en-US" sz="1600"/>
              <a:t>삶의 질 지표 일부에서 유의한 개선</a:t>
            </a:r>
            <a:endParaRPr lang="en-US" altLang="ko-KR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E32652-4711-40D6-EBE3-C18EEFE6A3C3}"/>
              </a:ext>
            </a:extLst>
          </p:cNvPr>
          <p:cNvSpPr txBox="1"/>
          <p:nvPr/>
        </p:nvSpPr>
        <p:spPr>
          <a:xfrm>
            <a:off x="5580258" y="4816019"/>
            <a:ext cx="644958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■ </a:t>
            </a:r>
            <a:r>
              <a:rPr lang="en-US" altLang="ko-KR" sz="1600" dirty="0"/>
              <a:t>Lim &amp; Oh, 2025 – PIO </a:t>
            </a:r>
            <a:r>
              <a:rPr lang="ko-KR" altLang="en-US" sz="1600" dirty="0"/>
              <a:t>로봇 </a:t>
            </a:r>
            <a:r>
              <a:rPr lang="en-US" altLang="ko-KR" sz="1600" dirty="0"/>
              <a:t>RCT (</a:t>
            </a:r>
            <a:r>
              <a:rPr lang="ko-KR" altLang="en-US" sz="1600" dirty="0"/>
              <a:t>경</a:t>
            </a:r>
            <a:r>
              <a:rPr lang="en-US" altLang="ko-KR" sz="1600" dirty="0"/>
              <a:t>·</a:t>
            </a:r>
            <a:r>
              <a:rPr lang="ko-KR" altLang="en-US" sz="1600" dirty="0"/>
              <a:t>중등도 치매</a:t>
            </a:r>
            <a:r>
              <a:rPr lang="en-US" altLang="ko-KR" sz="1600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PLOS+1</a:t>
            </a:r>
            <a:r>
              <a:rPr lang="ko-KR" altLang="en-US" sz="1600" dirty="0"/>
              <a:t>대상</a:t>
            </a:r>
            <a:r>
              <a:rPr lang="en-US" altLang="ko-KR" sz="1600" dirty="0"/>
              <a:t>: </a:t>
            </a:r>
            <a:r>
              <a:rPr lang="ko-KR" altLang="en-US" sz="1600" dirty="0"/>
              <a:t>경도</a:t>
            </a:r>
            <a:r>
              <a:rPr lang="en-US" altLang="ko-KR" sz="1600" dirty="0"/>
              <a:t>~</a:t>
            </a:r>
            <a:r>
              <a:rPr lang="ko-KR" altLang="en-US" sz="1600" dirty="0"/>
              <a:t>중등도 치매 노인 </a:t>
            </a:r>
            <a:r>
              <a:rPr lang="en-US" altLang="ko-KR" sz="1600" dirty="0"/>
              <a:t>66</a:t>
            </a:r>
            <a:r>
              <a:rPr lang="ko-KR" altLang="en-US" sz="1600" dirty="0"/>
              <a:t>명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실험군</a:t>
            </a:r>
            <a:r>
              <a:rPr lang="ko-KR" altLang="en-US" sz="1600" dirty="0"/>
              <a:t> </a:t>
            </a:r>
            <a:r>
              <a:rPr lang="en-US" altLang="ko-KR" sz="1600" dirty="0"/>
              <a:t>33, </a:t>
            </a:r>
            <a:r>
              <a:rPr lang="ko-KR" altLang="en-US" sz="1600" dirty="0"/>
              <a:t>대조군 </a:t>
            </a:r>
            <a:r>
              <a:rPr lang="en-US" altLang="ko-KR" sz="1600" dirty="0"/>
              <a:t>33)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내용</a:t>
            </a:r>
            <a:r>
              <a:rPr lang="en-US" altLang="ko-KR" sz="1600" dirty="0"/>
              <a:t>: 30–50</a:t>
            </a:r>
            <a:r>
              <a:rPr lang="ko-KR" altLang="en-US" sz="1600" dirty="0"/>
              <a:t>분</a:t>
            </a:r>
            <a:r>
              <a:rPr lang="en-US" altLang="ko-KR" sz="1600" dirty="0"/>
              <a:t>, </a:t>
            </a:r>
            <a:r>
              <a:rPr lang="ko-KR" altLang="en-US" sz="1600" dirty="0"/>
              <a:t>주 </a:t>
            </a:r>
            <a:r>
              <a:rPr lang="en-US" altLang="ko-KR" sz="1600" dirty="0"/>
              <a:t>2</a:t>
            </a:r>
            <a:r>
              <a:rPr lang="ko-KR" altLang="en-US" sz="1600" dirty="0"/>
              <a:t>회</a:t>
            </a:r>
            <a:r>
              <a:rPr lang="en-US" altLang="ko-KR" sz="1600" dirty="0"/>
              <a:t>, 6</a:t>
            </a:r>
            <a:r>
              <a:rPr lang="ko-KR" altLang="en-US" sz="1600" dirty="0"/>
              <a:t>주 </a:t>
            </a:r>
            <a:r>
              <a:rPr lang="en-US" altLang="ko-KR" sz="1600" dirty="0"/>
              <a:t>PIO </a:t>
            </a:r>
            <a:r>
              <a:rPr lang="ko-KR" altLang="en-US" sz="1600" dirty="0"/>
              <a:t>로봇 프로그램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결과</a:t>
            </a:r>
            <a:r>
              <a:rPr lang="en-US" altLang="ko-KR" sz="1600" dirty="0"/>
              <a:t>: </a:t>
            </a:r>
            <a:r>
              <a:rPr lang="ko-KR" altLang="en-US" sz="1600" dirty="0"/>
              <a:t>실험군에서 인지기능 유의한 향상</a:t>
            </a:r>
            <a:r>
              <a:rPr lang="en-US" altLang="ko-KR" sz="1600" dirty="0"/>
              <a:t>, </a:t>
            </a:r>
            <a:r>
              <a:rPr lang="ko-KR" altLang="en-US" sz="1600" dirty="0"/>
              <a:t>우울 감소 경향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095729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7DEDA6-E3F6-31C7-82EC-03FD0E5C9BC3}"/>
              </a:ext>
            </a:extLst>
          </p:cNvPr>
          <p:cNvSpPr txBox="1"/>
          <p:nvPr/>
        </p:nvSpPr>
        <p:spPr>
          <a:xfrm>
            <a:off x="174171" y="176512"/>
            <a:ext cx="142058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 dirty="0"/>
              <a:t>대화의 단계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31A9C6B-7C0D-7319-2369-E51181FB93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313885"/>
              </p:ext>
            </p:extLst>
          </p:nvPr>
        </p:nvGraphicFramePr>
        <p:xfrm>
          <a:off x="838200" y="2072640"/>
          <a:ext cx="10515600" cy="1828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815348">
                  <a:extLst>
                    <a:ext uri="{9D8B030D-6E8A-4147-A177-3AD203B41FA5}">
                      <a16:colId xmlns:a16="http://schemas.microsoft.com/office/drawing/2014/main" val="3193693728"/>
                    </a:ext>
                  </a:extLst>
                </a:gridCol>
                <a:gridCol w="5700252">
                  <a:extLst>
                    <a:ext uri="{9D8B030D-6E8A-4147-A177-3AD203B41FA5}">
                      <a16:colId xmlns:a16="http://schemas.microsoft.com/office/drawing/2014/main" val="25210204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단계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환자의 인지</a:t>
                      </a:r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·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감정 변화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747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짧은 객관식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기본 자극 인식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선택 판단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주의 집중 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1028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문장형 객관식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상황 이해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감정 분별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의미 해석 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0509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단답형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보기 없이 기억 인출 가능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언어 표현 능력 회복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3304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짧은 주관식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감정 서술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기억</a:t>
                      </a:r>
                      <a:r>
                        <a:rPr lang="en-US" altLang="ko-KR" dirty="0"/>
                        <a:t>+</a:t>
                      </a:r>
                      <a:r>
                        <a:rPr lang="ko-KR" altLang="en-US" dirty="0"/>
                        <a:t>감정 연결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정서적 의미 형성 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48724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3F6759B-6355-F8B7-D6AE-21084BF58F83}"/>
              </a:ext>
            </a:extLst>
          </p:cNvPr>
          <p:cNvSpPr txBox="1"/>
          <p:nvPr/>
        </p:nvSpPr>
        <p:spPr>
          <a:xfrm>
            <a:off x="1976282" y="4975123"/>
            <a:ext cx="8406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→ 답변 단계의 향상에 따라 더 복잡한 사고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기억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감정 처리 가능의 지표 </a:t>
            </a:r>
          </a:p>
        </p:txBody>
      </p:sp>
    </p:spTree>
    <p:extLst>
      <p:ext uri="{BB962C8B-B14F-4D97-AF65-F5344CB8AC3E}">
        <p14:creationId xmlns:p14="http://schemas.microsoft.com/office/powerpoint/2010/main" val="2807670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3D2441-2EB8-EB1E-BB1F-91FE5F3DED49}"/>
              </a:ext>
            </a:extLst>
          </p:cNvPr>
          <p:cNvSpPr txBox="1"/>
          <p:nvPr/>
        </p:nvSpPr>
        <p:spPr>
          <a:xfrm>
            <a:off x="174171" y="176512"/>
            <a:ext cx="142058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 dirty="0"/>
              <a:t>대화의 단계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8D138-8587-A4C9-A66A-B8EC171E5B56}"/>
              </a:ext>
            </a:extLst>
          </p:cNvPr>
          <p:cNvSpPr txBox="1"/>
          <p:nvPr/>
        </p:nvSpPr>
        <p:spPr>
          <a:xfrm>
            <a:off x="884462" y="1443841"/>
            <a:ext cx="1001577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1. </a:t>
            </a:r>
            <a:r>
              <a:rPr lang="ko-KR" altLang="en-US" b="1" dirty="0"/>
              <a:t>짧은 객관식이 가능할 때 나타나는 변화</a:t>
            </a:r>
          </a:p>
          <a:p>
            <a:pPr>
              <a:buNone/>
            </a:pPr>
            <a:r>
              <a:rPr lang="ko-KR" altLang="en-US" b="1" dirty="0"/>
              <a:t>“자극을 인지하고 선택할 수 있는 기본 처리 능력 회복”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선택지를 보며 </a:t>
            </a:r>
            <a:r>
              <a:rPr lang="ko-KR" altLang="en-US" b="1" dirty="0"/>
              <a:t>기본적인 감정 인식</a:t>
            </a:r>
            <a:r>
              <a:rPr lang="en-US" altLang="ko-KR" dirty="0"/>
              <a:t>, </a:t>
            </a:r>
            <a:r>
              <a:rPr lang="ko-KR" altLang="en-US" b="1" dirty="0"/>
              <a:t>단순 판단</a:t>
            </a:r>
            <a:r>
              <a:rPr lang="en-US" altLang="ko-KR" dirty="0"/>
              <a:t>, </a:t>
            </a:r>
            <a:r>
              <a:rPr lang="ko-KR" altLang="en-US" b="1" dirty="0"/>
              <a:t>주의 집중</a:t>
            </a:r>
            <a:r>
              <a:rPr lang="ko-KR" altLang="en-US" dirty="0"/>
              <a:t>이 가능함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인지 부하가 적기 때문에 </a:t>
            </a:r>
            <a:r>
              <a:rPr lang="en-US" altLang="ko-KR" dirty="0"/>
              <a:t>MCI </a:t>
            </a:r>
            <a:r>
              <a:rPr lang="ko-KR" altLang="en-US" dirty="0"/>
              <a:t>진입 단계에서 주로 사용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외부 자극</a:t>
            </a:r>
            <a:r>
              <a:rPr lang="en-US" altLang="ko-KR" dirty="0"/>
              <a:t>(</a:t>
            </a:r>
            <a:r>
              <a:rPr lang="ko-KR" altLang="en-US" dirty="0"/>
              <a:t>보기</a:t>
            </a:r>
            <a:r>
              <a:rPr lang="en-US" altLang="ko-KR" dirty="0"/>
              <a:t>)</a:t>
            </a:r>
            <a:r>
              <a:rPr lang="ko-KR" altLang="en-US" dirty="0"/>
              <a:t>을 보고 반응하는 </a:t>
            </a:r>
            <a:r>
              <a:rPr lang="ko-KR" altLang="en-US" b="1" dirty="0"/>
              <a:t>반응 기반 기억</a:t>
            </a:r>
            <a:r>
              <a:rPr lang="ko-KR" altLang="en-US" dirty="0"/>
              <a:t>을 사용할 수 있음을 의미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>
              <a:buNone/>
            </a:pPr>
            <a:r>
              <a:rPr lang="en-US" altLang="ko-KR" b="1" dirty="0"/>
              <a:t>Ex)</a:t>
            </a:r>
          </a:p>
          <a:p>
            <a:pPr>
              <a:buNone/>
            </a:pPr>
            <a:r>
              <a:rPr lang="ko-KR" altLang="en-US" b="1" dirty="0"/>
              <a:t>주제</a:t>
            </a:r>
            <a:r>
              <a:rPr lang="en-US" altLang="ko-KR" b="1" dirty="0"/>
              <a:t>: </a:t>
            </a:r>
            <a:r>
              <a:rPr lang="ko-KR" altLang="en-US" b="1" dirty="0"/>
              <a:t>가족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“오늘 가장 먼저 떠오르는 가족은 누구인가요</a:t>
            </a:r>
            <a:r>
              <a:rPr lang="en-US" altLang="ko-KR" dirty="0"/>
              <a:t>?”</a:t>
            </a:r>
            <a:br>
              <a:rPr lang="en-US" altLang="ko-KR" dirty="0"/>
            </a:br>
            <a:r>
              <a:rPr lang="en-US" altLang="ko-KR" dirty="0"/>
              <a:t> ① </a:t>
            </a:r>
            <a:r>
              <a:rPr lang="ko-KR" altLang="en-US" dirty="0"/>
              <a:t>아들 ② 딸 ③ 배우자 ④ 손주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“최근 가장 자주 만난 가족은 누구인가요</a:t>
            </a:r>
            <a:r>
              <a:rPr lang="en-US" altLang="ko-KR" dirty="0"/>
              <a:t>?”</a:t>
            </a:r>
            <a:br>
              <a:rPr lang="en-US" altLang="ko-KR" dirty="0"/>
            </a:br>
            <a:r>
              <a:rPr lang="en-US" altLang="ko-KR" dirty="0"/>
              <a:t> ① </a:t>
            </a:r>
            <a:r>
              <a:rPr lang="ko-KR" altLang="en-US" dirty="0"/>
              <a:t>아들 ② 딸 ③ 형제자매 ④ 기타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“요즘 연락 자주 하는 가족은 누구인가요</a:t>
            </a:r>
            <a:r>
              <a:rPr lang="en-US" altLang="ko-KR" dirty="0"/>
              <a:t>?”</a:t>
            </a:r>
            <a:br>
              <a:rPr lang="en-US" altLang="ko-KR" dirty="0"/>
            </a:br>
            <a:r>
              <a:rPr lang="en-US" altLang="ko-KR" dirty="0"/>
              <a:t> ① </a:t>
            </a:r>
            <a:r>
              <a:rPr lang="ko-KR" altLang="en-US" dirty="0"/>
              <a:t>아들 ② 딸 ③ 사위</a:t>
            </a:r>
            <a:r>
              <a:rPr lang="en-US" altLang="ko-KR" dirty="0"/>
              <a:t>/</a:t>
            </a:r>
            <a:r>
              <a:rPr lang="ko-KR" altLang="en-US" dirty="0"/>
              <a:t>며느리 ④ 손주</a:t>
            </a:r>
          </a:p>
        </p:txBody>
      </p:sp>
    </p:spTree>
    <p:extLst>
      <p:ext uri="{BB962C8B-B14F-4D97-AF65-F5344CB8AC3E}">
        <p14:creationId xmlns:p14="http://schemas.microsoft.com/office/powerpoint/2010/main" val="1015671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985A9-598B-DA2F-D705-6A93E185A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F33A06-885B-42D3-E62E-F612A8FBCDAA}"/>
              </a:ext>
            </a:extLst>
          </p:cNvPr>
          <p:cNvSpPr txBox="1"/>
          <p:nvPr/>
        </p:nvSpPr>
        <p:spPr>
          <a:xfrm>
            <a:off x="174171" y="176512"/>
            <a:ext cx="142058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 dirty="0"/>
              <a:t>대화의 단계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9C6FE-ECF7-03C8-CF78-CD88CDFA9E40}"/>
              </a:ext>
            </a:extLst>
          </p:cNvPr>
          <p:cNvSpPr txBox="1"/>
          <p:nvPr/>
        </p:nvSpPr>
        <p:spPr>
          <a:xfrm>
            <a:off x="884462" y="1443841"/>
            <a:ext cx="731907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2. </a:t>
            </a:r>
            <a:r>
              <a:rPr lang="ko-KR" altLang="en-US" b="1" dirty="0"/>
              <a:t>문장형 객관식이 가능할 때 나타나는 변화</a:t>
            </a:r>
          </a:p>
          <a:p>
            <a:pPr>
              <a:buNone/>
            </a:pPr>
            <a:r>
              <a:rPr lang="ko-KR" altLang="en-US" b="1" dirty="0"/>
              <a:t>“상황 이해력과 감정 분별 능력이 살아남”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문장의 의미를 해석하고 </a:t>
            </a:r>
            <a:r>
              <a:rPr lang="ko-KR" altLang="en-US" b="1" dirty="0"/>
              <a:t>조금 더 복잡한 감정</a:t>
            </a:r>
            <a:r>
              <a:rPr lang="en-US" altLang="ko-KR" b="1" dirty="0"/>
              <a:t>·</a:t>
            </a:r>
            <a:r>
              <a:rPr lang="ko-KR" altLang="en-US" b="1" dirty="0"/>
              <a:t>상황 선택</a:t>
            </a:r>
            <a:r>
              <a:rPr lang="ko-KR" altLang="en-US" dirty="0"/>
              <a:t>이 가능해짐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단순 인식 → </a:t>
            </a:r>
            <a:r>
              <a:rPr lang="ko-KR" altLang="en-US" b="1" dirty="0"/>
              <a:t>의미 해석</a:t>
            </a:r>
            <a:r>
              <a:rPr lang="ko-KR" altLang="en-US" dirty="0"/>
              <a:t> 단계로 확장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감정의 강도</a:t>
            </a:r>
            <a:r>
              <a:rPr lang="en-US" altLang="ko-KR" dirty="0"/>
              <a:t>, </a:t>
            </a:r>
            <a:r>
              <a:rPr lang="ko-KR" altLang="en-US" dirty="0"/>
              <a:t>이유와 같은 ‘조금 더 미세한 감정 </a:t>
            </a:r>
            <a:r>
              <a:rPr lang="ko-KR" altLang="en-US" dirty="0" err="1"/>
              <a:t>구분’이</a:t>
            </a:r>
            <a:r>
              <a:rPr lang="ko-KR" altLang="en-US" dirty="0"/>
              <a:t> 가능해짐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r>
              <a:rPr lang="en-US" altLang="ko-KR" b="1" dirty="0"/>
              <a:t>Ex)</a:t>
            </a:r>
            <a:endParaRPr lang="en-US" altLang="ko-KR" dirty="0"/>
          </a:p>
          <a:p>
            <a:pPr>
              <a:buNone/>
            </a:pPr>
            <a:r>
              <a:rPr lang="ko-KR" altLang="en-US" b="1" dirty="0"/>
              <a:t>주제</a:t>
            </a:r>
            <a:r>
              <a:rPr lang="en-US" altLang="ko-KR" b="1" dirty="0"/>
              <a:t>: </a:t>
            </a:r>
            <a:r>
              <a:rPr lang="ko-KR" altLang="en-US" b="1" dirty="0"/>
              <a:t>가족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“아들과 이야기할 때 주로 어떤 감정을 느끼시나요</a:t>
            </a:r>
            <a:r>
              <a:rPr lang="en-US" altLang="ko-KR" dirty="0"/>
              <a:t>?”</a:t>
            </a:r>
            <a:br>
              <a:rPr lang="en-US" altLang="ko-KR" dirty="0"/>
            </a:br>
            <a:r>
              <a:rPr lang="en-US" altLang="ko-KR" dirty="0"/>
              <a:t> ① </a:t>
            </a:r>
            <a:r>
              <a:rPr lang="ko-KR" altLang="en-US" dirty="0"/>
              <a:t>편안함 ② 든든함 ③ 걱정됨 ④ 잘 모르겠음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“손주를 떠올릴 때 가장 먼저 드는 생각은 무엇인가요</a:t>
            </a:r>
            <a:r>
              <a:rPr lang="en-US" altLang="ko-KR" dirty="0"/>
              <a:t>?”</a:t>
            </a:r>
            <a:br>
              <a:rPr lang="en-US" altLang="ko-KR" dirty="0"/>
            </a:br>
            <a:r>
              <a:rPr lang="en-US" altLang="ko-KR" dirty="0"/>
              <a:t> ① </a:t>
            </a:r>
            <a:r>
              <a:rPr lang="ko-KR" altLang="en-US" dirty="0"/>
              <a:t>귀여움 ② 뿌듯함 ③ 보고 싶음 ④ 기타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“가족 중 한 사람을 도와준 경험을 떠올리면 어떤 기분인가요</a:t>
            </a:r>
            <a:r>
              <a:rPr lang="en-US" altLang="ko-KR" dirty="0"/>
              <a:t>?”</a:t>
            </a:r>
            <a:br>
              <a:rPr lang="en-US" altLang="ko-KR" dirty="0"/>
            </a:br>
            <a:r>
              <a:rPr lang="en-US" altLang="ko-KR" dirty="0"/>
              <a:t> ① </a:t>
            </a:r>
            <a:r>
              <a:rPr lang="ko-KR" altLang="en-US" dirty="0"/>
              <a:t>보람 ② 안도 ③ 기쁨 ④ 기억 안 남</a:t>
            </a:r>
          </a:p>
        </p:txBody>
      </p:sp>
    </p:spTree>
    <p:extLst>
      <p:ext uri="{BB962C8B-B14F-4D97-AF65-F5344CB8AC3E}">
        <p14:creationId xmlns:p14="http://schemas.microsoft.com/office/powerpoint/2010/main" val="3334086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69836-D8C3-1861-7A16-051ECF0C4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34362A-8B34-C8B5-F4AC-7068FEBE6DD4}"/>
              </a:ext>
            </a:extLst>
          </p:cNvPr>
          <p:cNvSpPr txBox="1"/>
          <p:nvPr/>
        </p:nvSpPr>
        <p:spPr>
          <a:xfrm>
            <a:off x="174171" y="176512"/>
            <a:ext cx="142058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 dirty="0"/>
              <a:t>대화의 단계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9045D1-07F5-5C37-5082-CBA0EA652503}"/>
              </a:ext>
            </a:extLst>
          </p:cNvPr>
          <p:cNvSpPr txBox="1"/>
          <p:nvPr/>
        </p:nvSpPr>
        <p:spPr>
          <a:xfrm>
            <a:off x="884462" y="1305341"/>
            <a:ext cx="781008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3. </a:t>
            </a:r>
            <a:r>
              <a:rPr lang="ko-KR" altLang="en-US" b="1" dirty="0"/>
              <a:t>단답형 답변이 가능할 때 나타나는 변화</a:t>
            </a:r>
          </a:p>
          <a:p>
            <a:pPr>
              <a:buNone/>
            </a:pPr>
            <a:r>
              <a:rPr lang="ko-KR" altLang="en-US" b="1" dirty="0"/>
              <a:t> “기억에서 직접 꺼내어 말하는 능력이 회복되고 있음”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보기 없이 스스로 답을 말한다는 것은</a:t>
            </a:r>
            <a:br>
              <a:rPr lang="ko-KR" altLang="en-US" dirty="0"/>
            </a:br>
            <a:r>
              <a:rPr lang="en-US" altLang="ko-KR" dirty="0"/>
              <a:t>‘</a:t>
            </a:r>
            <a:r>
              <a:rPr lang="ko-KR" altLang="en-US" b="1" dirty="0"/>
              <a:t>기억 인출 능력</a:t>
            </a:r>
            <a:r>
              <a:rPr lang="en-US" altLang="ko-KR" b="1" dirty="0"/>
              <a:t>, </a:t>
            </a:r>
            <a:r>
              <a:rPr lang="ko-KR" altLang="en-US" b="1" dirty="0"/>
              <a:t>언어 표현</a:t>
            </a:r>
            <a:r>
              <a:rPr lang="en-US" altLang="ko-KR" b="1" dirty="0"/>
              <a:t>, </a:t>
            </a:r>
            <a:r>
              <a:rPr lang="ko-KR" altLang="en-US" b="1" dirty="0"/>
              <a:t>주의 유지 능력</a:t>
            </a:r>
            <a:r>
              <a:rPr lang="en-US" altLang="ko-KR" b="1" dirty="0"/>
              <a:t>’</a:t>
            </a:r>
            <a:r>
              <a:rPr lang="ko-KR" altLang="en-US" dirty="0"/>
              <a:t>이 모두 작동하고 있음을 의미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장기기억 또는 익숙한 감정 기반 기억을 활용할 수 있음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감정의 뉘앙스가 더 정확하게 표현됨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r>
              <a:rPr lang="en-US" altLang="ko-KR" b="1" dirty="0"/>
              <a:t>Ex)</a:t>
            </a:r>
          </a:p>
          <a:p>
            <a:pPr>
              <a:buNone/>
            </a:pPr>
            <a:r>
              <a:rPr lang="ko-KR" altLang="en-US" b="1" dirty="0"/>
              <a:t>주제</a:t>
            </a:r>
            <a:r>
              <a:rPr lang="en-US" altLang="ko-KR" b="1" dirty="0"/>
              <a:t>: </a:t>
            </a:r>
            <a:r>
              <a:rPr lang="ko-KR" altLang="en-US" b="1" dirty="0"/>
              <a:t>가족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“요즘 가장 보고 싶은 가족은 누구인가요</a:t>
            </a:r>
            <a:r>
              <a:rPr lang="en-US" altLang="ko-KR" dirty="0"/>
              <a:t>?”</a:t>
            </a:r>
            <a:br>
              <a:rPr lang="en-US" altLang="ko-KR" dirty="0"/>
            </a:br>
            <a:r>
              <a:rPr lang="en-US" altLang="ko-KR" dirty="0"/>
              <a:t>→ “</a:t>
            </a:r>
            <a:r>
              <a:rPr lang="ko-KR" altLang="en-US" dirty="0"/>
              <a:t>손주요</a:t>
            </a:r>
            <a:r>
              <a:rPr lang="en-US" altLang="ko-KR" dirty="0"/>
              <a:t>.”</a:t>
            </a:r>
          </a:p>
          <a:p>
            <a:pPr>
              <a:buFont typeface="+mj-lt"/>
              <a:buAutoNum type="arabicPeriod"/>
            </a:pPr>
            <a:r>
              <a:rPr lang="en-US" altLang="ko-KR" dirty="0"/>
              <a:t>“</a:t>
            </a:r>
            <a:r>
              <a:rPr lang="ko-KR" altLang="en-US" dirty="0"/>
              <a:t>가장 편안함을 주는 가족은 누구인가요</a:t>
            </a:r>
            <a:r>
              <a:rPr lang="en-US" altLang="ko-KR" dirty="0"/>
              <a:t>?”</a:t>
            </a:r>
            <a:br>
              <a:rPr lang="en-US" altLang="ko-KR" dirty="0"/>
            </a:br>
            <a:r>
              <a:rPr lang="en-US" altLang="ko-KR" dirty="0"/>
              <a:t>→ “</a:t>
            </a:r>
            <a:r>
              <a:rPr lang="ko-KR" altLang="en-US" dirty="0"/>
              <a:t>딸이요</a:t>
            </a:r>
            <a:r>
              <a:rPr lang="en-US" altLang="ko-KR" dirty="0"/>
              <a:t>.”</a:t>
            </a:r>
          </a:p>
          <a:p>
            <a:pPr>
              <a:buFont typeface="+mj-lt"/>
              <a:buAutoNum type="arabicPeriod"/>
            </a:pPr>
            <a:r>
              <a:rPr lang="en-US" altLang="ko-KR" dirty="0"/>
              <a:t>“</a:t>
            </a:r>
            <a:r>
              <a:rPr lang="ko-KR" altLang="en-US" dirty="0"/>
              <a:t>최근 통화했던 가족은 누구인가요</a:t>
            </a:r>
            <a:r>
              <a:rPr lang="en-US" altLang="ko-KR" dirty="0"/>
              <a:t>?”</a:t>
            </a:r>
            <a:br>
              <a:rPr lang="en-US" altLang="ko-KR" dirty="0"/>
            </a:br>
            <a:r>
              <a:rPr lang="en-US" altLang="ko-KR" dirty="0"/>
              <a:t>→ “</a:t>
            </a:r>
            <a:r>
              <a:rPr lang="ko-KR" altLang="en-US" dirty="0"/>
              <a:t>막내아들이요</a:t>
            </a:r>
            <a:r>
              <a:rPr lang="en-US" altLang="ko-KR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429869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B00AA-239B-19A9-FC3C-75698396C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46193C-0B7E-521B-67AA-4D5435C2A5C9}"/>
              </a:ext>
            </a:extLst>
          </p:cNvPr>
          <p:cNvSpPr txBox="1"/>
          <p:nvPr/>
        </p:nvSpPr>
        <p:spPr>
          <a:xfrm>
            <a:off x="174171" y="176512"/>
            <a:ext cx="142058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 dirty="0"/>
              <a:t>대화의 단계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E08B79-35F9-78FB-DF12-0A2EAE782B3F}"/>
              </a:ext>
            </a:extLst>
          </p:cNvPr>
          <p:cNvSpPr txBox="1"/>
          <p:nvPr/>
        </p:nvSpPr>
        <p:spPr>
          <a:xfrm>
            <a:off x="884462" y="1443841"/>
            <a:ext cx="1015033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4. </a:t>
            </a:r>
            <a:r>
              <a:rPr lang="ko-KR" altLang="en-US" b="1" dirty="0"/>
              <a:t>짧은 주관식 답변이 가능할 때 나타나는 변화</a:t>
            </a:r>
          </a:p>
          <a:p>
            <a:pPr>
              <a:buNone/>
            </a:pPr>
            <a:r>
              <a:rPr lang="ko-KR" altLang="en-US" b="1" dirty="0"/>
              <a:t>“감정 표현 → 기억 회상 → 의미 부여까지 가능해진 상태”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환자가 </a:t>
            </a:r>
            <a:r>
              <a:rPr lang="ko-KR" altLang="en-US" b="1" dirty="0"/>
              <a:t>감정을 문장으로 설명</a:t>
            </a:r>
            <a:r>
              <a:rPr lang="ko-KR" altLang="en-US" dirty="0"/>
              <a:t>할 수 있으면 </a:t>
            </a:r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b="1" dirty="0"/>
              <a:t>감정 조절</a:t>
            </a:r>
            <a:r>
              <a:rPr lang="en-US" altLang="ko-KR" b="1" dirty="0"/>
              <a:t>/</a:t>
            </a:r>
            <a:r>
              <a:rPr lang="ko-KR" altLang="en-US" b="1" dirty="0"/>
              <a:t>기억 검색</a:t>
            </a:r>
            <a:r>
              <a:rPr lang="en-US" altLang="ko-KR" b="1" dirty="0"/>
              <a:t>/</a:t>
            </a:r>
            <a:r>
              <a:rPr lang="ko-KR" altLang="en-US" b="1" dirty="0"/>
              <a:t>인과 관계 이해</a:t>
            </a:r>
            <a:r>
              <a:rPr lang="en-US" altLang="ko-KR" b="1" dirty="0"/>
              <a:t>/</a:t>
            </a:r>
            <a:r>
              <a:rPr lang="ko-KR" altLang="en-US" b="1" dirty="0"/>
              <a:t>언어 생성</a:t>
            </a:r>
            <a:r>
              <a:rPr lang="en-US" altLang="ko-KR" dirty="0"/>
              <a:t>’</a:t>
            </a:r>
            <a:r>
              <a:rPr lang="ko-KR" altLang="en-US" dirty="0"/>
              <a:t> </a:t>
            </a:r>
            <a:r>
              <a:rPr lang="en-US" altLang="ko-KR" dirty="0"/>
              <a:t>4</a:t>
            </a:r>
            <a:r>
              <a:rPr lang="ko-KR" altLang="en-US" dirty="0"/>
              <a:t>가지가 함께 작동한다는 긍정적 신호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주관식으로 감정을 말하는 것</a:t>
            </a:r>
            <a:r>
              <a:rPr lang="en-US" altLang="ko-KR" dirty="0"/>
              <a:t>: </a:t>
            </a:r>
            <a:r>
              <a:rPr lang="ko-KR" altLang="en-US" b="1" dirty="0"/>
              <a:t>감정 회복</a:t>
            </a:r>
            <a:r>
              <a:rPr lang="en-US" altLang="ko-KR" b="1" dirty="0"/>
              <a:t>, </a:t>
            </a:r>
            <a:r>
              <a:rPr lang="ko-KR" altLang="en-US" b="1" dirty="0"/>
              <a:t>정서 연결</a:t>
            </a:r>
            <a:r>
              <a:rPr lang="en-US" altLang="ko-KR" b="1" dirty="0"/>
              <a:t>, </a:t>
            </a:r>
            <a:r>
              <a:rPr lang="ko-KR" altLang="en-US" b="1" dirty="0"/>
              <a:t>자기 </a:t>
            </a:r>
            <a:r>
              <a:rPr lang="ko-KR" altLang="en-US" b="1" dirty="0" err="1"/>
              <a:t>정체감</a:t>
            </a:r>
            <a:r>
              <a:rPr lang="ko-KR" altLang="en-US" b="1" dirty="0"/>
              <a:t> 회복</a:t>
            </a:r>
            <a:r>
              <a:rPr lang="ko-KR" altLang="en-US" dirty="0"/>
              <a:t>을 의미하는 중요한 지표</a:t>
            </a:r>
            <a:endParaRPr lang="en-US" altLang="ko-KR" dirty="0"/>
          </a:p>
          <a:p>
            <a:endParaRPr lang="en-US" altLang="ko-KR" b="1" dirty="0"/>
          </a:p>
          <a:p>
            <a:r>
              <a:rPr lang="en-US" altLang="ko-KR" b="1" dirty="0"/>
              <a:t>Ex)</a:t>
            </a:r>
          </a:p>
          <a:p>
            <a:pPr>
              <a:buNone/>
            </a:pPr>
            <a:r>
              <a:rPr lang="ko-KR" altLang="en-US" b="1" dirty="0"/>
              <a:t>주제</a:t>
            </a:r>
            <a:r>
              <a:rPr lang="en-US" altLang="ko-KR" b="1" dirty="0"/>
              <a:t>: </a:t>
            </a:r>
            <a:r>
              <a:rPr lang="ko-KR" altLang="en-US" b="1" dirty="0"/>
              <a:t>가족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“요즘 손주를 떠올리면 어떤 기분이 드시나요</a:t>
            </a:r>
            <a:r>
              <a:rPr lang="en-US" altLang="ko-KR" dirty="0"/>
              <a:t>?”</a:t>
            </a:r>
            <a:br>
              <a:rPr lang="en-US" altLang="ko-KR" dirty="0"/>
            </a:br>
            <a:r>
              <a:rPr lang="en-US" altLang="ko-KR" dirty="0"/>
              <a:t>→ “</a:t>
            </a:r>
            <a:r>
              <a:rPr lang="ko-KR" altLang="en-US" dirty="0"/>
              <a:t>보고 싶고</a:t>
            </a:r>
            <a:r>
              <a:rPr lang="en-US" altLang="ko-KR" dirty="0"/>
              <a:t>, </a:t>
            </a:r>
            <a:r>
              <a:rPr lang="ko-KR" altLang="en-US" dirty="0"/>
              <a:t>같이 산책 가던 생각이 나요</a:t>
            </a:r>
            <a:r>
              <a:rPr lang="en-US" altLang="ko-KR" dirty="0"/>
              <a:t>.”</a:t>
            </a:r>
          </a:p>
          <a:p>
            <a:pPr>
              <a:buFont typeface="+mj-lt"/>
              <a:buAutoNum type="arabicPeriod"/>
            </a:pPr>
            <a:r>
              <a:rPr lang="en-US" altLang="ko-KR" dirty="0"/>
              <a:t>“</a:t>
            </a:r>
            <a:r>
              <a:rPr lang="ko-KR" altLang="en-US" dirty="0"/>
              <a:t>가장 마음에 남는 가족과의 순간은 </a:t>
            </a:r>
            <a:r>
              <a:rPr lang="ko-KR" altLang="en-US" dirty="0" err="1"/>
              <a:t>언제였나요</a:t>
            </a:r>
            <a:r>
              <a:rPr lang="en-US" altLang="ko-KR" dirty="0"/>
              <a:t>?”</a:t>
            </a:r>
            <a:br>
              <a:rPr lang="en-US" altLang="ko-KR" dirty="0"/>
            </a:br>
            <a:r>
              <a:rPr lang="en-US" altLang="ko-KR" dirty="0"/>
              <a:t>→ “</a:t>
            </a:r>
            <a:r>
              <a:rPr lang="ko-KR" altLang="en-US" dirty="0"/>
              <a:t>딸이 생일 때 찾아와서 케이크 사준 게 기억에 남아요</a:t>
            </a:r>
            <a:r>
              <a:rPr lang="en-US" altLang="ko-KR" dirty="0"/>
              <a:t>.”</a:t>
            </a:r>
          </a:p>
          <a:p>
            <a:pPr>
              <a:buFont typeface="+mj-lt"/>
              <a:buAutoNum type="arabicPeriod"/>
            </a:pPr>
            <a:r>
              <a:rPr lang="en-US" altLang="ko-KR" dirty="0"/>
              <a:t>“</a:t>
            </a:r>
            <a:r>
              <a:rPr lang="ko-KR" altLang="en-US" dirty="0"/>
              <a:t>가족에게 지금 가장 하고 싶은 말이 있다면 무엇인가요</a:t>
            </a:r>
            <a:r>
              <a:rPr lang="en-US" altLang="ko-KR" dirty="0"/>
              <a:t>?”</a:t>
            </a:r>
            <a:br>
              <a:rPr lang="en-US" altLang="ko-KR" dirty="0"/>
            </a:br>
            <a:r>
              <a:rPr lang="en-US" altLang="ko-KR" dirty="0"/>
              <a:t>→ “</a:t>
            </a:r>
            <a:r>
              <a:rPr lang="ko-KR" altLang="en-US" dirty="0"/>
              <a:t>늘 고맙다고 말하고 싶어요</a:t>
            </a:r>
            <a:r>
              <a:rPr lang="en-US" altLang="ko-KR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676456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3192F-C718-6191-4BAE-CBDF85F1A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7AA439-900A-264B-09C3-4BDA26D61410}"/>
              </a:ext>
            </a:extLst>
          </p:cNvPr>
          <p:cNvSpPr txBox="1"/>
          <p:nvPr/>
        </p:nvSpPr>
        <p:spPr>
          <a:xfrm>
            <a:off x="174171" y="176512"/>
            <a:ext cx="31389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LT </a:t>
            </a:r>
            <a:r>
              <a:rPr lang="ko-KR" altLang="en-US" b="1" dirty="0"/>
              <a:t>스크립트 기반 대화 모델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FE285-1632-AB96-028E-8347EEA58050}"/>
              </a:ext>
            </a:extLst>
          </p:cNvPr>
          <p:cNvSpPr txBox="1"/>
          <p:nvPr/>
        </p:nvSpPr>
        <p:spPr>
          <a:xfrm>
            <a:off x="174171" y="1401341"/>
            <a:ext cx="1144896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■ 대화 설계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>
                <a:sym typeface="Wingdings" panose="05000000000000000000" pitchFamily="2" charset="2"/>
              </a:rPr>
              <a:t>정서 공감형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인지 성찰형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동기 촉진형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행동 실천형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관계 조율형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회복 유지형 총 </a:t>
            </a:r>
            <a:r>
              <a:rPr lang="en-US" altLang="ko-KR" dirty="0">
                <a:sym typeface="Wingdings" panose="05000000000000000000" pitchFamily="2" charset="2"/>
              </a:rPr>
              <a:t>6</a:t>
            </a:r>
            <a:r>
              <a:rPr lang="ko-KR" altLang="en-US" dirty="0">
                <a:sym typeface="Wingdings" panose="05000000000000000000" pitchFamily="2" charset="2"/>
              </a:rPr>
              <a:t>가지의 </a:t>
            </a:r>
            <a:r>
              <a:rPr lang="en-US" altLang="ko-KR" dirty="0">
                <a:sym typeface="Wingdings" panose="05000000000000000000" pitchFamily="2" charset="2"/>
              </a:rPr>
              <a:t>HF</a:t>
            </a:r>
            <a:r>
              <a:rPr lang="ko-KR" altLang="en-US" dirty="0">
                <a:sym typeface="Wingdings" panose="05000000000000000000" pitchFamily="2" charset="2"/>
              </a:rPr>
              <a:t> 유형에 따른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서로 다른 대화를 제공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선택된 유형에 맞는 상담자 멘트가 </a:t>
            </a:r>
            <a:r>
              <a:rPr lang="en-US" altLang="ko-KR" dirty="0">
                <a:sym typeface="Wingdings" panose="05000000000000000000" pitchFamily="2" charset="2"/>
              </a:rPr>
              <a:t>6</a:t>
            </a:r>
            <a:r>
              <a:rPr lang="ko-KR" altLang="en-US" dirty="0">
                <a:sym typeface="Wingdings" panose="05000000000000000000" pitchFamily="2" charset="2"/>
              </a:rPr>
              <a:t>턴 진행됨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각 턴마다 </a:t>
            </a:r>
            <a:r>
              <a:rPr lang="en-US" altLang="ko-KR" dirty="0">
                <a:sym typeface="Wingdings" panose="05000000000000000000" pitchFamily="2" charset="2"/>
              </a:rPr>
              <a:t>3</a:t>
            </a:r>
            <a:r>
              <a:rPr lang="ko-KR" altLang="en-US" dirty="0">
                <a:sym typeface="Wingdings" panose="05000000000000000000" pitchFamily="2" charset="2"/>
              </a:rPr>
              <a:t>개</a:t>
            </a:r>
            <a:r>
              <a:rPr lang="en-US" altLang="ko-KR" dirty="0">
                <a:sym typeface="Wingdings" panose="05000000000000000000" pitchFamily="2" charset="2"/>
              </a:rPr>
              <a:t>~5</a:t>
            </a:r>
            <a:r>
              <a:rPr lang="ko-KR" altLang="en-US" dirty="0">
                <a:sym typeface="Wingdings" panose="05000000000000000000" pitchFamily="2" charset="2"/>
              </a:rPr>
              <a:t>개의 객관식 응답 버튼 중 하나를 고르면 대화가 진행됨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F08149-8CD6-6488-E6BB-CBDCE9B05B49}"/>
              </a:ext>
            </a:extLst>
          </p:cNvPr>
          <p:cNvSpPr txBox="1"/>
          <p:nvPr/>
        </p:nvSpPr>
        <p:spPr>
          <a:xfrm>
            <a:off x="174171" y="3657653"/>
            <a:ext cx="285366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■ 대화 구조 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감정 자극 찾기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인지 감정 정리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감정 수용 또는 재해석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실행 또는 회복 전략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상태 변화 측정</a:t>
            </a: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74149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F0A39-3CED-4BD2-CBFB-BEEBAF462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ADEDB8-2E88-9811-4881-523607A2FB35}"/>
              </a:ext>
            </a:extLst>
          </p:cNvPr>
          <p:cNvSpPr txBox="1"/>
          <p:nvPr/>
        </p:nvSpPr>
        <p:spPr>
          <a:xfrm>
            <a:off x="174171" y="176512"/>
            <a:ext cx="31389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LT </a:t>
            </a:r>
            <a:r>
              <a:rPr lang="ko-KR" altLang="en-US" b="1" dirty="0"/>
              <a:t>스크립트 기반 대화 모델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7CEEBE-D974-BCBC-E32C-24D9C9A3253F}"/>
              </a:ext>
            </a:extLst>
          </p:cNvPr>
          <p:cNvSpPr txBox="1"/>
          <p:nvPr/>
        </p:nvSpPr>
        <p:spPr>
          <a:xfrm>
            <a:off x="174171" y="1633816"/>
            <a:ext cx="471154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■ 대화의 단계 설정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 </a:t>
            </a:r>
            <a:r>
              <a:rPr lang="ko-KR" altLang="en-US" dirty="0"/>
              <a:t>문장형 객관식 사용</a:t>
            </a:r>
            <a:endParaRPr lang="en-US" altLang="ko-KR" dirty="0"/>
          </a:p>
          <a:p>
            <a:r>
              <a:rPr lang="en-US" altLang="ko-KR" dirty="0"/>
              <a:t>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dirty="0">
                <a:latin typeface="Arial" panose="020B0604020202020204" pitchFamily="34" charset="0"/>
              </a:rPr>
              <a:t> </a:t>
            </a:r>
            <a:r>
              <a:rPr lang="ko-KR" altLang="ko-KR" dirty="0">
                <a:latin typeface="Arial" panose="020B0604020202020204" pitchFamily="34" charset="0"/>
              </a:rPr>
              <a:t>의미 해석 + 감정 분별이 가능한 ‘균형 단계’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dirty="0">
                <a:latin typeface="Arial" panose="020B0604020202020204" pitchFamily="34" charset="0"/>
              </a:rPr>
              <a:t> </a:t>
            </a:r>
            <a:r>
              <a:rPr lang="ko-KR" altLang="ko-KR" dirty="0">
                <a:latin typeface="Arial" panose="020B0604020202020204" pitchFamily="34" charset="0"/>
              </a:rPr>
              <a:t>6유형별</a:t>
            </a:r>
            <a:r>
              <a:rPr lang="en-US" altLang="ko-KR" dirty="0">
                <a:latin typeface="Arial" panose="020B0604020202020204" pitchFamily="34" charset="0"/>
              </a:rPr>
              <a:t> </a:t>
            </a:r>
            <a:r>
              <a:rPr lang="ko-KR" altLang="en-US" dirty="0">
                <a:latin typeface="Arial" panose="020B0604020202020204" pitchFamily="34" charset="0"/>
              </a:rPr>
              <a:t>구성의 흐름이</a:t>
            </a:r>
            <a:r>
              <a:rPr lang="ko-KR" altLang="ko-KR" dirty="0">
                <a:latin typeface="Arial" panose="020B0604020202020204" pitchFamily="34" charset="0"/>
              </a:rPr>
              <a:t> 가장 잘 드러남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E6C64C-3379-501C-8C8A-E373D906A3EB}"/>
              </a:ext>
            </a:extLst>
          </p:cNvPr>
          <p:cNvSpPr txBox="1"/>
          <p:nvPr/>
        </p:nvSpPr>
        <p:spPr>
          <a:xfrm>
            <a:off x="174171" y="4233797"/>
            <a:ext cx="114201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■  </a:t>
            </a:r>
            <a:r>
              <a:rPr lang="en-US" altLang="ko-KR" dirty="0"/>
              <a:t>AI </a:t>
            </a:r>
            <a:r>
              <a:rPr lang="ko-KR" altLang="en-US" dirty="0"/>
              <a:t>를 이용해 만든 스크립트 파일들을 적용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이전 수업 주차 때 진행된 </a:t>
            </a:r>
            <a:r>
              <a:rPr lang="en-US" altLang="ko-KR" dirty="0"/>
              <a:t>MCI </a:t>
            </a:r>
            <a:r>
              <a:rPr lang="ko-KR" altLang="en-US" dirty="0"/>
              <a:t>환자와 </a:t>
            </a:r>
            <a:r>
              <a:rPr lang="ko-KR" altLang="en-US" dirty="0" err="1"/>
              <a:t>상담자간의</a:t>
            </a:r>
            <a:r>
              <a:rPr lang="ko-KR" altLang="en-US" dirty="0"/>
              <a:t> 대화 스크립트 파일들을 이용하여 최적화된 대화방식을</a:t>
            </a:r>
            <a:endParaRPr lang="en-US" altLang="ko-KR" dirty="0"/>
          </a:p>
          <a:p>
            <a:r>
              <a:rPr lang="ko-KR" altLang="en-US" dirty="0"/>
              <a:t> 선정 후</a:t>
            </a:r>
            <a:r>
              <a:rPr lang="en-US" altLang="ko-KR" dirty="0"/>
              <a:t> LT </a:t>
            </a:r>
            <a:r>
              <a:rPr lang="ko-KR" altLang="en-US" dirty="0"/>
              <a:t>프로그램에 스크립트로 적용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91949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F0A39-3CED-4BD2-CBFB-BEEBAF462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ADEDB8-2E88-9811-4881-523607A2FB35}"/>
              </a:ext>
            </a:extLst>
          </p:cNvPr>
          <p:cNvSpPr txBox="1"/>
          <p:nvPr/>
        </p:nvSpPr>
        <p:spPr>
          <a:xfrm>
            <a:off x="174171" y="176512"/>
            <a:ext cx="31389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LT </a:t>
            </a:r>
            <a:r>
              <a:rPr lang="ko-KR" altLang="en-US" b="1" dirty="0"/>
              <a:t>스크립트 기반 대화 모델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994A4B-27F1-0E49-A5BD-0565A36308E7}"/>
              </a:ext>
            </a:extLst>
          </p:cNvPr>
          <p:cNvSpPr txBox="1"/>
          <p:nvPr/>
        </p:nvSpPr>
        <p:spPr>
          <a:xfrm>
            <a:off x="3463636" y="155771"/>
            <a:ext cx="2199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1. </a:t>
            </a:r>
            <a:r>
              <a:rPr lang="ko-KR" altLang="en-US" sz="2400" b="1" dirty="0"/>
              <a:t>정서 공감형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7CEEBE-D974-BCBC-E32C-24D9C9A3253F}"/>
              </a:ext>
            </a:extLst>
          </p:cNvPr>
          <p:cNvSpPr txBox="1"/>
          <p:nvPr/>
        </p:nvSpPr>
        <p:spPr>
          <a:xfrm>
            <a:off x="174171" y="542150"/>
            <a:ext cx="82191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■ 대화 구성 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정서 민감성 기반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감정 인식이 우선시됨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ym typeface="Wingdings" panose="05000000000000000000" pitchFamily="2" charset="2"/>
              </a:rPr>
              <a:t>이 유형은 감정을 먼저 말로 표현할 수록 안정감이 증가함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ym typeface="Wingdings" panose="05000000000000000000" pitchFamily="2" charset="2"/>
              </a:rPr>
              <a:t>감정 라벨링과 자기위로 방식이 효과적</a:t>
            </a:r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A58A441-B77F-E099-7905-73E2544C19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928835"/>
              </p:ext>
            </p:extLst>
          </p:nvPr>
        </p:nvGraphicFramePr>
        <p:xfrm>
          <a:off x="301603" y="2065031"/>
          <a:ext cx="1144309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041">
                  <a:extLst>
                    <a:ext uri="{9D8B030D-6E8A-4147-A177-3AD203B41FA5}">
                      <a16:colId xmlns:a16="http://schemas.microsoft.com/office/drawing/2014/main" val="948832524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592456319"/>
                    </a:ext>
                  </a:extLst>
                </a:gridCol>
                <a:gridCol w="3728853">
                  <a:extLst>
                    <a:ext uri="{9D8B030D-6E8A-4147-A177-3AD203B41FA5}">
                      <a16:colId xmlns:a16="http://schemas.microsoft.com/office/drawing/2014/main" val="3971482462"/>
                    </a:ext>
                  </a:extLst>
                </a:gridCol>
              </a:tblGrid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질문 내용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예시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질문 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535075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지금 마음 상태를 한 단어로 표현한다면 어떤 느낌일까요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현재 감정의 시작점을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4372688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마음이 가장 많이 흔들렸던 순간이 </a:t>
                      </a:r>
                      <a:r>
                        <a:rPr lang="ko-KR" altLang="en-US" dirty="0" err="1"/>
                        <a:t>언제였을까요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감정을 유발한 사건 탐색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846113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그 순간의 감정은 어떤 말로 부를 수 있을까요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감정에 언어를 붙여 인식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083322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그때의 나에게 어떤 말을 해주고 </a:t>
                      </a:r>
                      <a:r>
                        <a:rPr lang="ko-KR" altLang="en-US" dirty="0" err="1"/>
                        <a:t>싶은가요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자기 자신을 돌보는 말 유도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699019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이야기를 나누다 보니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어떤 방식의 공감이 가장 위로가 되나요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어떤 공감 방식이 위로되는지 파악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256540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지금 마음상태는 처음 </a:t>
                      </a:r>
                      <a:r>
                        <a:rPr lang="ko-KR" altLang="en-US" dirty="0" err="1"/>
                        <a:t>시작할때와</a:t>
                      </a:r>
                      <a:r>
                        <a:rPr lang="ko-KR" altLang="en-US" dirty="0"/>
                        <a:t> 비교해서 </a:t>
                      </a:r>
                      <a:r>
                        <a:rPr lang="ko-KR" altLang="en-US" dirty="0" err="1"/>
                        <a:t>어떤가요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대화 후 감정 변화를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8440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D12A8E4-7749-FCF4-32EF-CD46793271E5}"/>
              </a:ext>
            </a:extLst>
          </p:cNvPr>
          <p:cNvSpPr txBox="1"/>
          <p:nvPr/>
        </p:nvSpPr>
        <p:spPr>
          <a:xfrm>
            <a:off x="301603" y="4670904"/>
            <a:ext cx="111462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■ 요약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>
                <a:sym typeface="Wingdings" panose="05000000000000000000" pitchFamily="2" charset="2"/>
              </a:rPr>
              <a:t>정서 공감형은 감정을 세밀하게 탐지하고 이를 말로 </a:t>
            </a:r>
            <a:r>
              <a:rPr lang="ko-KR" altLang="en-US" dirty="0" err="1">
                <a:sym typeface="Wingdings" panose="05000000000000000000" pitchFamily="2" charset="2"/>
              </a:rPr>
              <a:t>풀어낼때</a:t>
            </a:r>
            <a:r>
              <a:rPr lang="ko-KR" altLang="en-US" dirty="0">
                <a:sym typeface="Wingdings" panose="05000000000000000000" pitchFamily="2" charset="2"/>
              </a:rPr>
              <a:t> 가장 안정감을 얻기 때문에</a:t>
            </a:r>
            <a:br>
              <a:rPr lang="en-US" altLang="ko-KR" dirty="0">
                <a:sym typeface="Wingdings" panose="05000000000000000000" pitchFamily="2" charset="2"/>
              </a:rPr>
            </a:b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b="1" dirty="0">
                <a:sym typeface="Wingdings" panose="05000000000000000000" pitchFamily="2" charset="2"/>
              </a:rPr>
              <a:t>감정탐색 </a:t>
            </a:r>
            <a:r>
              <a:rPr lang="en-US" altLang="ko-KR" b="1" dirty="0"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ym typeface="Wingdings" panose="05000000000000000000" pitchFamily="2" charset="2"/>
              </a:rPr>
              <a:t>감정 명명 </a:t>
            </a:r>
            <a:r>
              <a:rPr lang="en-US" altLang="ko-KR" b="1" dirty="0"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ym typeface="Wingdings" panose="05000000000000000000" pitchFamily="2" charset="2"/>
              </a:rPr>
              <a:t>자기 위로 </a:t>
            </a:r>
            <a:r>
              <a:rPr lang="en-US" altLang="ko-KR" b="1" dirty="0"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ym typeface="Wingdings" panose="05000000000000000000" pitchFamily="2" charset="2"/>
              </a:rPr>
              <a:t>공감 방식 선택</a:t>
            </a:r>
            <a:r>
              <a:rPr lang="ko-KR" altLang="en-US" dirty="0">
                <a:sym typeface="Wingdings" panose="05000000000000000000" pitchFamily="2" charset="2"/>
              </a:rPr>
              <a:t>의 흐름으로 구성</a:t>
            </a: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23080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F0A39-3CED-4BD2-CBFB-BEEBAF462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ADEDB8-2E88-9811-4881-523607A2FB35}"/>
              </a:ext>
            </a:extLst>
          </p:cNvPr>
          <p:cNvSpPr txBox="1"/>
          <p:nvPr/>
        </p:nvSpPr>
        <p:spPr>
          <a:xfrm>
            <a:off x="174171" y="176512"/>
            <a:ext cx="31389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LT </a:t>
            </a:r>
            <a:r>
              <a:rPr lang="ko-KR" altLang="en-US" b="1" dirty="0"/>
              <a:t>스크립트 기반 대화 모델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994A4B-27F1-0E49-A5BD-0565A36308E7}"/>
              </a:ext>
            </a:extLst>
          </p:cNvPr>
          <p:cNvSpPr txBox="1"/>
          <p:nvPr/>
        </p:nvSpPr>
        <p:spPr>
          <a:xfrm>
            <a:off x="3463636" y="155771"/>
            <a:ext cx="2199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2. </a:t>
            </a:r>
            <a:r>
              <a:rPr lang="ko-KR" altLang="en-US" sz="2400" b="1" dirty="0"/>
              <a:t>인지 성찰형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7CEEBE-D974-BCBC-E32C-24D9C9A3253F}"/>
              </a:ext>
            </a:extLst>
          </p:cNvPr>
          <p:cNvSpPr txBox="1"/>
          <p:nvPr/>
        </p:nvSpPr>
        <p:spPr>
          <a:xfrm>
            <a:off x="174171" y="542150"/>
            <a:ext cx="82191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■ 대화 구성 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분석적 사고 기반의 성향이 강함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감정보다 문제구조</a:t>
            </a:r>
            <a:r>
              <a:rPr lang="en-US" altLang="ko-KR" dirty="0"/>
              <a:t>, </a:t>
            </a:r>
            <a:r>
              <a:rPr lang="ko-KR" altLang="en-US" dirty="0"/>
              <a:t>원인파악이 우선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상담효과는 인지적 구조화가 핵심</a:t>
            </a:r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A58A441-B77F-E099-7905-73E2544C19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630547"/>
              </p:ext>
            </p:extLst>
          </p:nvPr>
        </p:nvGraphicFramePr>
        <p:xfrm>
          <a:off x="301603" y="2065031"/>
          <a:ext cx="1144309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041">
                  <a:extLst>
                    <a:ext uri="{9D8B030D-6E8A-4147-A177-3AD203B41FA5}">
                      <a16:colId xmlns:a16="http://schemas.microsoft.com/office/drawing/2014/main" val="948832524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592456319"/>
                    </a:ext>
                  </a:extLst>
                </a:gridCol>
                <a:gridCol w="3728853">
                  <a:extLst>
                    <a:ext uri="{9D8B030D-6E8A-4147-A177-3AD203B41FA5}">
                      <a16:colId xmlns:a16="http://schemas.microsoft.com/office/drawing/2014/main" val="3971482462"/>
                    </a:ext>
                  </a:extLst>
                </a:gridCol>
              </a:tblGrid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질문 내용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예시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질문 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535075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요즘 머릿속을 가장 자주차지하는 생각은 어떤 것 인가요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떠오르는 주요생각 파악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4372688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제일 큰 </a:t>
                      </a:r>
                      <a:r>
                        <a:rPr lang="ko-KR" altLang="en-US" dirty="0" err="1"/>
                        <a:t>문제같다</a:t>
                      </a:r>
                      <a:r>
                        <a:rPr lang="ko-KR" altLang="en-US" dirty="0"/>
                        <a:t> 싶은 핵심을 고르면 무엇일까요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문제의 핵심 요인 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846113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비슷한 상황에서 보통 </a:t>
                      </a:r>
                      <a:r>
                        <a:rPr lang="ko-KR" altLang="en-US" dirty="0" err="1"/>
                        <a:t>어떤식으로</a:t>
                      </a:r>
                      <a:r>
                        <a:rPr lang="ko-KR" altLang="en-US" dirty="0"/>
                        <a:t> 반응해왔던 것 같나요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사고 패턴 자각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083322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그 패턴 중에서 바꾸고 싶은 부분이 있다면 어디일까요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변화가 필요한 인지요소 구체화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699019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그 지점을 바꾸기 위해 현실적으로 할 수 있는 행동은 무엇일까요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실행 가능한 작은 행동 결합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256540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오늘의 대화에서 기억해 두고 싶은 생각은 무엇인가요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핵심 결과 정리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8440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D12A8E4-7749-FCF4-32EF-CD46793271E5}"/>
              </a:ext>
            </a:extLst>
          </p:cNvPr>
          <p:cNvSpPr txBox="1"/>
          <p:nvPr/>
        </p:nvSpPr>
        <p:spPr>
          <a:xfrm>
            <a:off x="301603" y="4670904"/>
            <a:ext cx="111462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■ 요약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>
                <a:sym typeface="Wingdings" panose="05000000000000000000" pitchFamily="2" charset="2"/>
              </a:rPr>
              <a:t>인지 성찰형은 감정보다 </a:t>
            </a:r>
            <a:r>
              <a:rPr lang="en-US" altLang="ko-KR" dirty="0">
                <a:sym typeface="Wingdings" panose="05000000000000000000" pitchFamily="2" charset="2"/>
              </a:rPr>
              <a:t>‘</a:t>
            </a:r>
            <a:r>
              <a:rPr lang="ko-KR" altLang="en-US" dirty="0">
                <a:sym typeface="Wingdings" panose="05000000000000000000" pitchFamily="2" charset="2"/>
              </a:rPr>
              <a:t>상황분석</a:t>
            </a:r>
            <a:r>
              <a:rPr lang="en-US" altLang="ko-KR" dirty="0">
                <a:sym typeface="Wingdings" panose="05000000000000000000" pitchFamily="2" charset="2"/>
              </a:rPr>
              <a:t>’</a:t>
            </a:r>
            <a:r>
              <a:rPr lang="ko-KR" altLang="en-US" dirty="0">
                <a:sym typeface="Wingdings" panose="05000000000000000000" pitchFamily="2" charset="2"/>
              </a:rPr>
              <a:t>을 선호하기 때문에 </a:t>
            </a:r>
            <a:br>
              <a:rPr lang="en-US" altLang="ko-KR" dirty="0">
                <a:sym typeface="Wingdings" panose="05000000000000000000" pitchFamily="2" charset="2"/>
              </a:rPr>
            </a:b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b="1" dirty="0">
                <a:sym typeface="Wingdings" panose="05000000000000000000" pitchFamily="2" charset="2"/>
              </a:rPr>
              <a:t>문제구조 파악 </a:t>
            </a:r>
            <a:r>
              <a:rPr lang="en-US" altLang="ko-KR" b="1" dirty="0"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ym typeface="Wingdings" panose="05000000000000000000" pitchFamily="2" charset="2"/>
              </a:rPr>
              <a:t>사고패턴 분석 </a:t>
            </a:r>
            <a:r>
              <a:rPr lang="en-US" altLang="ko-KR" b="1" dirty="0"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ym typeface="Wingdings" panose="05000000000000000000" pitchFamily="2" charset="2"/>
              </a:rPr>
              <a:t>바꾸고 싶은 지점 설정 </a:t>
            </a:r>
            <a:r>
              <a:rPr lang="en-US" altLang="ko-KR" b="1" dirty="0"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ym typeface="Wingdings" panose="05000000000000000000" pitchFamily="2" charset="2"/>
              </a:rPr>
              <a:t>작은 행동계획</a:t>
            </a:r>
            <a:r>
              <a:rPr lang="ko-KR" altLang="en-US" dirty="0">
                <a:sym typeface="Wingdings" panose="05000000000000000000" pitchFamily="2" charset="2"/>
              </a:rPr>
              <a:t>의 흐름으로 구성</a:t>
            </a: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746187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F0A39-3CED-4BD2-CBFB-BEEBAF462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ADEDB8-2E88-9811-4881-523607A2FB35}"/>
              </a:ext>
            </a:extLst>
          </p:cNvPr>
          <p:cNvSpPr txBox="1"/>
          <p:nvPr/>
        </p:nvSpPr>
        <p:spPr>
          <a:xfrm>
            <a:off x="174171" y="176512"/>
            <a:ext cx="31389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LT </a:t>
            </a:r>
            <a:r>
              <a:rPr lang="ko-KR" altLang="en-US" b="1" dirty="0"/>
              <a:t>스크립트 기반 대화 모델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994A4B-27F1-0E49-A5BD-0565A36308E7}"/>
              </a:ext>
            </a:extLst>
          </p:cNvPr>
          <p:cNvSpPr txBox="1"/>
          <p:nvPr/>
        </p:nvSpPr>
        <p:spPr>
          <a:xfrm>
            <a:off x="3463636" y="155771"/>
            <a:ext cx="2199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3. </a:t>
            </a:r>
            <a:r>
              <a:rPr lang="ko-KR" altLang="en-US" sz="2400" b="1" dirty="0"/>
              <a:t>동기 촉진형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7CEEBE-D974-BCBC-E32C-24D9C9A3253F}"/>
              </a:ext>
            </a:extLst>
          </p:cNvPr>
          <p:cNvSpPr txBox="1"/>
          <p:nvPr/>
        </p:nvSpPr>
        <p:spPr>
          <a:xfrm>
            <a:off x="174171" y="542150"/>
            <a:ext cx="82191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■ 대화 구성 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성취 동기 </a:t>
            </a:r>
            <a:r>
              <a:rPr lang="en-US" altLang="ko-KR" dirty="0"/>
              <a:t>+ </a:t>
            </a:r>
            <a:r>
              <a:rPr lang="ko-KR" altLang="en-US" dirty="0"/>
              <a:t>활동성 기반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의미</a:t>
            </a:r>
            <a:r>
              <a:rPr lang="en-US" altLang="ko-KR" dirty="0"/>
              <a:t>, </a:t>
            </a:r>
            <a:r>
              <a:rPr lang="ko-KR" altLang="en-US" dirty="0"/>
              <a:t>가치 발견이 곧 동기로 이어지는 유형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작은 성공 경험을 제공하는 것이 핵심</a:t>
            </a:r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A58A441-B77F-E099-7905-73E2544C19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333558"/>
              </p:ext>
            </p:extLst>
          </p:nvPr>
        </p:nvGraphicFramePr>
        <p:xfrm>
          <a:off x="301603" y="2065031"/>
          <a:ext cx="1144309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041">
                  <a:extLst>
                    <a:ext uri="{9D8B030D-6E8A-4147-A177-3AD203B41FA5}">
                      <a16:colId xmlns:a16="http://schemas.microsoft.com/office/drawing/2014/main" val="948832524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592456319"/>
                    </a:ext>
                  </a:extLst>
                </a:gridCol>
                <a:gridCol w="3728853">
                  <a:extLst>
                    <a:ext uri="{9D8B030D-6E8A-4147-A177-3AD203B41FA5}">
                      <a16:colId xmlns:a16="http://schemas.microsoft.com/office/drawing/2014/main" val="3971482462"/>
                    </a:ext>
                  </a:extLst>
                </a:gridCol>
              </a:tblGrid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질문 내용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예시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질문 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535075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요즘 힘이 빠진다고 느끼는 순간은 </a:t>
                      </a:r>
                      <a:r>
                        <a:rPr lang="ko-KR" altLang="en-US" dirty="0" err="1"/>
                        <a:t>언제인가요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에너지가 떨어지는 지점 파악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4372688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반대로 </a:t>
                      </a:r>
                      <a:r>
                        <a:rPr lang="ko-KR" altLang="en-US" dirty="0" err="1"/>
                        <a:t>작더라고</a:t>
                      </a:r>
                      <a:r>
                        <a:rPr lang="ko-KR" altLang="en-US" dirty="0"/>
                        <a:t> 조금 힘이 난다 싶은 순간은 </a:t>
                      </a:r>
                      <a:r>
                        <a:rPr lang="ko-KR" altLang="en-US" dirty="0" err="1"/>
                        <a:t>언제인가요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에너지를 공급하는 자원 파악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846113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지금 이 정도면 해볼 수 있겠다 싶은 작은 목표를 정해볼까요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작은 목표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083322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그 목표를 달성 했을 때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나에게 어떤 의미가 생길 것 같나요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목표에 담긴 개인적 의미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699019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목표를 떠올리며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지금 나에게 하고 싶은 응원한마디는 무엇일까요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자기 격려 문장 만들기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256540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상담 후에 뭔가 한번 해볼까 하는 마음은 어느정도 인가요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동기수준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8440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D12A8E4-7749-FCF4-32EF-CD46793271E5}"/>
              </a:ext>
            </a:extLst>
          </p:cNvPr>
          <p:cNvSpPr txBox="1"/>
          <p:nvPr/>
        </p:nvSpPr>
        <p:spPr>
          <a:xfrm>
            <a:off x="301603" y="4670904"/>
            <a:ext cx="111462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■ 요약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>
                <a:sym typeface="Wingdings" panose="05000000000000000000" pitchFamily="2" charset="2"/>
              </a:rPr>
              <a:t>동기 촉진형은 의미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동기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행동의 순환 구조가 잘 작동하므로</a:t>
            </a:r>
            <a:br>
              <a:rPr lang="en-US" altLang="ko-KR" dirty="0">
                <a:sym typeface="Wingdings" panose="05000000000000000000" pitchFamily="2" charset="2"/>
              </a:rPr>
            </a:b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b="1" dirty="0">
                <a:sym typeface="Wingdings" panose="05000000000000000000" pitchFamily="2" charset="2"/>
              </a:rPr>
              <a:t>의미 찾기 </a:t>
            </a:r>
            <a:r>
              <a:rPr lang="en-US" altLang="ko-KR" b="1" dirty="0"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ym typeface="Wingdings" panose="05000000000000000000" pitchFamily="2" charset="2"/>
              </a:rPr>
              <a:t>작은 목표 설정 </a:t>
            </a:r>
            <a:r>
              <a:rPr lang="en-US" altLang="ko-KR" b="1" dirty="0"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ym typeface="Wingdings" panose="05000000000000000000" pitchFamily="2" charset="2"/>
              </a:rPr>
              <a:t>자기 격려</a:t>
            </a:r>
            <a:r>
              <a:rPr lang="ko-KR" altLang="en-US" dirty="0">
                <a:sym typeface="Wingdings" panose="05000000000000000000" pitchFamily="2" charset="2"/>
              </a:rPr>
              <a:t>의 흐름으로 구성</a:t>
            </a: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06298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F0A39-3CED-4BD2-CBFB-BEEBAF462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ADEDB8-2E88-9811-4881-523607A2FB35}"/>
              </a:ext>
            </a:extLst>
          </p:cNvPr>
          <p:cNvSpPr txBox="1"/>
          <p:nvPr/>
        </p:nvSpPr>
        <p:spPr>
          <a:xfrm>
            <a:off x="174171" y="176512"/>
            <a:ext cx="31389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LT </a:t>
            </a:r>
            <a:r>
              <a:rPr lang="ko-KR" altLang="en-US" b="1" dirty="0"/>
              <a:t>스크립트 기반 대화 모델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994A4B-27F1-0E49-A5BD-0565A36308E7}"/>
              </a:ext>
            </a:extLst>
          </p:cNvPr>
          <p:cNvSpPr txBox="1"/>
          <p:nvPr/>
        </p:nvSpPr>
        <p:spPr>
          <a:xfrm>
            <a:off x="3463636" y="155771"/>
            <a:ext cx="2199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4. </a:t>
            </a:r>
            <a:r>
              <a:rPr lang="ko-KR" altLang="en-US" sz="2400" b="1" dirty="0"/>
              <a:t>행동 실천형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7CEEBE-D974-BCBC-E32C-24D9C9A3253F}"/>
              </a:ext>
            </a:extLst>
          </p:cNvPr>
          <p:cNvSpPr txBox="1"/>
          <p:nvPr/>
        </p:nvSpPr>
        <p:spPr>
          <a:xfrm>
            <a:off x="174171" y="542150"/>
            <a:ext cx="82191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■ 대화 구성 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계획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실행 패턴이 </a:t>
            </a:r>
            <a:r>
              <a:rPr lang="ko-KR" altLang="en-US" dirty="0" err="1">
                <a:sym typeface="Wingdings" panose="05000000000000000000" pitchFamily="2" charset="2"/>
              </a:rPr>
              <a:t>뚜렷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ko-KR" altLang="en-US" dirty="0"/>
              <a:t>행동을 쪼개고 실행하는 것이 핵심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실행 장애요인을 파악하고 행동전략을 만드는 대화 구성</a:t>
            </a:r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A58A441-B77F-E099-7905-73E2544C19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426420"/>
              </p:ext>
            </p:extLst>
          </p:nvPr>
        </p:nvGraphicFramePr>
        <p:xfrm>
          <a:off x="301603" y="2065031"/>
          <a:ext cx="1144309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041">
                  <a:extLst>
                    <a:ext uri="{9D8B030D-6E8A-4147-A177-3AD203B41FA5}">
                      <a16:colId xmlns:a16="http://schemas.microsoft.com/office/drawing/2014/main" val="948832524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592456319"/>
                    </a:ext>
                  </a:extLst>
                </a:gridCol>
                <a:gridCol w="3728853">
                  <a:extLst>
                    <a:ext uri="{9D8B030D-6E8A-4147-A177-3AD203B41FA5}">
                      <a16:colId xmlns:a16="http://schemas.microsoft.com/office/drawing/2014/main" val="3971482462"/>
                    </a:ext>
                  </a:extLst>
                </a:gridCol>
              </a:tblGrid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질문 내용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예시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질문 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535075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요즘 가장 미루고 있는 일 한가지가 있다면 무엇일까요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미루는 행동파악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4372688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그 일 전체 말고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단계만 한다면 어떤 행동을 할 수 있을까요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행동을 단계별로 쪼개기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846113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그 작은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단계를 막는 가장 큰 이유는 무엇일까요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실행을 방해하는 요인 파악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083322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그 이유를 줄이기 위해 현실적으로 해볼 방법이 있을까요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방해 요인을 줄이는 전략 제안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699019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오늘 대화를 마치기전에 다음 한걸음을 한 문장으로 정리해볼까요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행동 선언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256540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지금 이 계획의 실행 가능성을 평가해볼까요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실행 가능성 평가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8440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D12A8E4-7749-FCF4-32EF-CD46793271E5}"/>
              </a:ext>
            </a:extLst>
          </p:cNvPr>
          <p:cNvSpPr txBox="1"/>
          <p:nvPr/>
        </p:nvSpPr>
        <p:spPr>
          <a:xfrm>
            <a:off x="301603" y="4670904"/>
            <a:ext cx="111462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■ 요약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>
                <a:sym typeface="Wingdings" panose="05000000000000000000" pitchFamily="2" charset="2"/>
              </a:rPr>
              <a:t>실행형은 </a:t>
            </a:r>
            <a:r>
              <a:rPr lang="ko-KR" altLang="en-US" b="1" dirty="0">
                <a:sym typeface="Wingdings" panose="05000000000000000000" pitchFamily="2" charset="2"/>
              </a:rPr>
              <a:t>할 일 </a:t>
            </a:r>
            <a:r>
              <a:rPr lang="en-US" altLang="ko-KR" b="1" dirty="0"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ym typeface="Wingdings" panose="05000000000000000000" pitchFamily="2" charset="2"/>
              </a:rPr>
              <a:t>쪼개기 </a:t>
            </a:r>
            <a:r>
              <a:rPr lang="en-US" altLang="ko-KR" b="1" dirty="0"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ym typeface="Wingdings" panose="05000000000000000000" pitchFamily="2" charset="2"/>
              </a:rPr>
              <a:t>방해요인 </a:t>
            </a:r>
            <a:r>
              <a:rPr lang="en-US" altLang="ko-KR" b="1" dirty="0"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ym typeface="Wingdings" panose="05000000000000000000" pitchFamily="2" charset="2"/>
              </a:rPr>
              <a:t>전략 </a:t>
            </a:r>
            <a:r>
              <a:rPr lang="en-US" altLang="ko-KR" b="1" dirty="0"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ym typeface="Wingdings" panose="05000000000000000000" pitchFamily="2" charset="2"/>
              </a:rPr>
              <a:t>실행 선언</a:t>
            </a:r>
            <a:r>
              <a:rPr lang="ko-KR" altLang="en-US" dirty="0">
                <a:sym typeface="Wingdings" panose="05000000000000000000" pitchFamily="2" charset="2"/>
              </a:rPr>
              <a:t> 구조가 행동 변화에 가장 적합하기 때문에 </a:t>
            </a:r>
            <a:br>
              <a:rPr lang="en-US" altLang="ko-KR" dirty="0">
                <a:sym typeface="Wingdings" panose="05000000000000000000" pitchFamily="2" charset="2"/>
              </a:rPr>
            </a:b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해당 흐름으로 대화 진행</a:t>
            </a: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34809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F0A39-3CED-4BD2-CBFB-BEEBAF462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ADEDB8-2E88-9811-4881-523607A2FB35}"/>
              </a:ext>
            </a:extLst>
          </p:cNvPr>
          <p:cNvSpPr txBox="1"/>
          <p:nvPr/>
        </p:nvSpPr>
        <p:spPr>
          <a:xfrm>
            <a:off x="174171" y="176512"/>
            <a:ext cx="31389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LT </a:t>
            </a:r>
            <a:r>
              <a:rPr lang="ko-KR" altLang="en-US" b="1" dirty="0"/>
              <a:t>스크립트 기반 대화 모델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994A4B-27F1-0E49-A5BD-0565A36308E7}"/>
              </a:ext>
            </a:extLst>
          </p:cNvPr>
          <p:cNvSpPr txBox="1"/>
          <p:nvPr/>
        </p:nvSpPr>
        <p:spPr>
          <a:xfrm>
            <a:off x="3463636" y="155771"/>
            <a:ext cx="2199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5. </a:t>
            </a:r>
            <a:r>
              <a:rPr lang="ko-KR" altLang="en-US" sz="2400" b="1" dirty="0"/>
              <a:t>관계 조율형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7CEEBE-D974-BCBC-E32C-24D9C9A3253F}"/>
              </a:ext>
            </a:extLst>
          </p:cNvPr>
          <p:cNvSpPr txBox="1"/>
          <p:nvPr/>
        </p:nvSpPr>
        <p:spPr>
          <a:xfrm>
            <a:off x="174171" y="542150"/>
            <a:ext cx="82191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■ 대화 구성 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배려 조화 기반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사람과의 관계 속에 있는 긴장</a:t>
            </a:r>
            <a:r>
              <a:rPr lang="en-US" altLang="ko-KR" dirty="0"/>
              <a:t>,</a:t>
            </a:r>
            <a:r>
              <a:rPr lang="ko-KR" altLang="en-US" dirty="0"/>
              <a:t>조화가 핵심 관심사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자신이 관계 속에서 맡고 있는 역할을 자각하는 것이 중요</a:t>
            </a:r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A58A441-B77F-E099-7905-73E2544C19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759288"/>
              </p:ext>
            </p:extLst>
          </p:nvPr>
        </p:nvGraphicFramePr>
        <p:xfrm>
          <a:off x="301603" y="2065031"/>
          <a:ext cx="1144309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041">
                  <a:extLst>
                    <a:ext uri="{9D8B030D-6E8A-4147-A177-3AD203B41FA5}">
                      <a16:colId xmlns:a16="http://schemas.microsoft.com/office/drawing/2014/main" val="948832524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592456319"/>
                    </a:ext>
                  </a:extLst>
                </a:gridCol>
                <a:gridCol w="3728853">
                  <a:extLst>
                    <a:ext uri="{9D8B030D-6E8A-4147-A177-3AD203B41FA5}">
                      <a16:colId xmlns:a16="http://schemas.microsoft.com/office/drawing/2014/main" val="3971482462"/>
                    </a:ext>
                  </a:extLst>
                </a:gridCol>
              </a:tblGrid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질문 내용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예시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질문 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535075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요즘 자주 떠오르는 사람이나 관계가 있다면 누구일까요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중심 관계 대상 탐색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4372688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그 관계의 요즘 분위기를 한마디로 표현한다면 어떨까요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현재 관계 분위기 파악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846113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그 관계 안에서 나는 보통 어떤 역할을 하는 편인가요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자신이 맡고 있는 역할 자각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083322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그 역할 중에서 달라졌으면 하는 부분이 있다면 무엇일까요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바꾸고 싶은 지점 명확화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699019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다음에 그 사람을 </a:t>
                      </a:r>
                      <a:r>
                        <a:rPr lang="ko-KR" altLang="en-US" dirty="0" err="1"/>
                        <a:t>만났을때</a:t>
                      </a:r>
                      <a:r>
                        <a:rPr lang="ko-KR" altLang="en-US" dirty="0"/>
                        <a:t> 해볼 수 있는 대화방식이 있을까요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다음 대화에서 해볼 시도 탐색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256540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이야기 후 그 관계에 대해서 느끼는 마음이 달라졌나요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관계에 대한 현재 감정 정리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8440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D12A8E4-7749-FCF4-32EF-CD46793271E5}"/>
              </a:ext>
            </a:extLst>
          </p:cNvPr>
          <p:cNvSpPr txBox="1"/>
          <p:nvPr/>
        </p:nvSpPr>
        <p:spPr>
          <a:xfrm>
            <a:off x="301603" y="4670904"/>
            <a:ext cx="111462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■ 요약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>
                <a:sym typeface="Wingdings" panose="05000000000000000000" pitchFamily="2" charset="2"/>
              </a:rPr>
              <a:t>관계 조율형은 관계 내 역할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감정의 흐름을 이해하고 조절하는 상담이 효과적이기 때문에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b="1" dirty="0">
                <a:sym typeface="Wingdings" panose="05000000000000000000" pitchFamily="2" charset="2"/>
              </a:rPr>
              <a:t>역할 파악 </a:t>
            </a:r>
            <a:r>
              <a:rPr lang="en-US" altLang="ko-KR" b="1" dirty="0"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ym typeface="Wingdings" panose="05000000000000000000" pitchFamily="2" charset="2"/>
              </a:rPr>
              <a:t>관계 조율 </a:t>
            </a:r>
            <a:r>
              <a:rPr lang="en-US" altLang="ko-KR" b="1" dirty="0"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ym typeface="Wingdings" panose="05000000000000000000" pitchFamily="2" charset="2"/>
              </a:rPr>
              <a:t>의사소통</a:t>
            </a:r>
            <a:r>
              <a:rPr lang="ko-KR" altLang="en-US" dirty="0">
                <a:sym typeface="Wingdings" panose="05000000000000000000" pitchFamily="2" charset="2"/>
              </a:rPr>
              <a:t> 전략 중심의 흐름으로 구성</a:t>
            </a: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15281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F0A39-3CED-4BD2-CBFB-BEEBAF462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ADEDB8-2E88-9811-4881-523607A2FB35}"/>
              </a:ext>
            </a:extLst>
          </p:cNvPr>
          <p:cNvSpPr txBox="1"/>
          <p:nvPr/>
        </p:nvSpPr>
        <p:spPr>
          <a:xfrm>
            <a:off x="174171" y="176512"/>
            <a:ext cx="31389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LT </a:t>
            </a:r>
            <a:r>
              <a:rPr lang="ko-KR" altLang="en-US" b="1" dirty="0"/>
              <a:t>스크립트 기반 대화 모델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994A4B-27F1-0E49-A5BD-0565A36308E7}"/>
              </a:ext>
            </a:extLst>
          </p:cNvPr>
          <p:cNvSpPr txBox="1"/>
          <p:nvPr/>
        </p:nvSpPr>
        <p:spPr>
          <a:xfrm>
            <a:off x="3463636" y="155771"/>
            <a:ext cx="2199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6. </a:t>
            </a:r>
            <a:r>
              <a:rPr lang="ko-KR" altLang="en-US" sz="2400" b="1" dirty="0"/>
              <a:t>회복 유지형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7CEEBE-D974-BCBC-E32C-24D9C9A3253F}"/>
              </a:ext>
            </a:extLst>
          </p:cNvPr>
          <p:cNvSpPr txBox="1"/>
          <p:nvPr/>
        </p:nvSpPr>
        <p:spPr>
          <a:xfrm>
            <a:off x="174171" y="542150"/>
            <a:ext cx="82191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■ 대화 구성 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정서 안정성</a:t>
            </a:r>
            <a:r>
              <a:rPr lang="en-US" altLang="ko-KR" dirty="0"/>
              <a:t>, </a:t>
            </a:r>
            <a:r>
              <a:rPr lang="ko-KR" altLang="en-US" dirty="0"/>
              <a:t>꾸준함이 중요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회복력을 키우는 접근이 효과적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회복 습관을 명확히 정의할 때 가장 큰 변화를 경험</a:t>
            </a:r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A58A441-B77F-E099-7905-73E2544C19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459133"/>
              </p:ext>
            </p:extLst>
          </p:nvPr>
        </p:nvGraphicFramePr>
        <p:xfrm>
          <a:off x="301603" y="2065031"/>
          <a:ext cx="1144309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041">
                  <a:extLst>
                    <a:ext uri="{9D8B030D-6E8A-4147-A177-3AD203B41FA5}">
                      <a16:colId xmlns:a16="http://schemas.microsoft.com/office/drawing/2014/main" val="948832524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592456319"/>
                    </a:ext>
                  </a:extLst>
                </a:gridCol>
                <a:gridCol w="3728853">
                  <a:extLst>
                    <a:ext uri="{9D8B030D-6E8A-4147-A177-3AD203B41FA5}">
                      <a16:colId xmlns:a16="http://schemas.microsoft.com/office/drawing/2014/main" val="3971482462"/>
                    </a:ext>
                  </a:extLst>
                </a:gridCol>
              </a:tblGrid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질문 내용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예시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질문 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535075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최근에 특히 마음이 많이 힘들었다고 느낀 순간이 있나요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최근 스트레스 사건 파악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4372688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그때 나는 보통 어떻게 반응하셨나요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현재 반응 패턴 탐색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846113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지금까지 경험으로 도움이 되었던 회복 방법이 있다면 무엇일까요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효과 있었던 회복 전략 파악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083322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반대로 도움이 되지 않았던 방식도 있을까요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효과 없는 전략 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699019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도움을 줄 수 있는 회복습관을 하나 추가한다면 </a:t>
                      </a:r>
                      <a:r>
                        <a:rPr lang="ko-KR" altLang="en-US" dirty="0" err="1"/>
                        <a:t>어떤게</a:t>
                      </a:r>
                      <a:r>
                        <a:rPr lang="ko-KR" altLang="en-US" dirty="0"/>
                        <a:t> 좋을까요</a:t>
                      </a:r>
                      <a:r>
                        <a:rPr lang="en-US" altLang="ko-KR" dirty="0"/>
                        <a:t>?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새로운 회복 습관 선택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256540"/>
                  </a:ext>
                </a:extLst>
              </a:tr>
              <a:tr h="324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마음의 안정감을 표현한다면 </a:t>
                      </a:r>
                      <a:r>
                        <a:rPr lang="ko-KR" altLang="en-US" dirty="0" err="1"/>
                        <a:t>몇점</a:t>
                      </a:r>
                      <a:r>
                        <a:rPr lang="ko-KR" altLang="en-US" dirty="0"/>
                        <a:t> 정도 일까요</a:t>
                      </a:r>
                      <a:r>
                        <a:rPr lang="en-US" altLang="ko-KR" dirty="0"/>
                        <a:t>?”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안정감 수준 체크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8440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D12A8E4-7749-FCF4-32EF-CD46793271E5}"/>
              </a:ext>
            </a:extLst>
          </p:cNvPr>
          <p:cNvSpPr txBox="1"/>
          <p:nvPr/>
        </p:nvSpPr>
        <p:spPr>
          <a:xfrm>
            <a:off x="301603" y="4670904"/>
            <a:ext cx="111462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■ 요약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>
                <a:sym typeface="Wingdings" panose="05000000000000000000" pitchFamily="2" charset="2"/>
              </a:rPr>
              <a:t>회복 유지형은 </a:t>
            </a:r>
            <a:r>
              <a:rPr lang="ko-KR" altLang="en-US" b="1" dirty="0">
                <a:sym typeface="Wingdings" panose="05000000000000000000" pitchFamily="2" charset="2"/>
              </a:rPr>
              <a:t>스트레스 인식 </a:t>
            </a:r>
            <a:r>
              <a:rPr lang="en-US" altLang="ko-KR" b="1" dirty="0"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ym typeface="Wingdings" panose="05000000000000000000" pitchFamily="2" charset="2"/>
              </a:rPr>
              <a:t>회복 전략 식별 </a:t>
            </a:r>
            <a:r>
              <a:rPr lang="en-US" altLang="ko-KR" b="1" dirty="0"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ym typeface="Wingdings" panose="05000000000000000000" pitchFamily="2" charset="2"/>
              </a:rPr>
              <a:t>새로운 습관 구축</a:t>
            </a:r>
            <a:r>
              <a:rPr lang="ko-KR" altLang="en-US" dirty="0">
                <a:sym typeface="Wingdings" panose="05000000000000000000" pitchFamily="2" charset="2"/>
              </a:rPr>
              <a:t>이 가장 효과적인 구조</a:t>
            </a: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03841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F0A39-3CED-4BD2-CBFB-BEEBAF462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ADEDB8-2E88-9811-4881-523607A2FB35}"/>
              </a:ext>
            </a:extLst>
          </p:cNvPr>
          <p:cNvSpPr txBox="1"/>
          <p:nvPr/>
        </p:nvSpPr>
        <p:spPr>
          <a:xfrm>
            <a:off x="174171" y="176512"/>
            <a:ext cx="31389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LT </a:t>
            </a:r>
            <a:r>
              <a:rPr lang="ko-KR" altLang="en-US" b="1" dirty="0"/>
              <a:t>스크립트 기반 대화 모델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7CEEBE-D974-BCBC-E32C-24D9C9A3253F}"/>
              </a:ext>
            </a:extLst>
          </p:cNvPr>
          <p:cNvSpPr txBox="1"/>
          <p:nvPr/>
        </p:nvSpPr>
        <p:spPr>
          <a:xfrm>
            <a:off x="174171" y="1397675"/>
            <a:ext cx="11634916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■ 개선점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b="1" dirty="0"/>
              <a:t>답변에 따라서 후속 질문이 변화하는 구조로 개선 필요성</a:t>
            </a:r>
            <a:endParaRPr lang="en-US" altLang="ko-KR" b="1" dirty="0"/>
          </a:p>
          <a:p>
            <a:endParaRPr lang="en-US" altLang="ko-KR" dirty="0"/>
          </a:p>
          <a:p>
            <a:r>
              <a:rPr lang="ko-KR" altLang="en-US" dirty="0"/>
              <a:t>현재는 정해진 질문들을 객관식으로 답변하는 구성이지만 답변을 통해 후속 질문들이 바뀐다면 좀 더 유기적인</a:t>
            </a:r>
            <a:endParaRPr lang="en-US" altLang="ko-KR" dirty="0"/>
          </a:p>
          <a:p>
            <a:r>
              <a:rPr lang="ko-KR" altLang="en-US" dirty="0"/>
              <a:t>상담 가능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b="1" dirty="0"/>
              <a:t>상담의 목적이 아닌 일상생활을 묻는 질문이나 짧은 인지기능 활성화용 질문 배치 필요성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dirty="0"/>
              <a:t>현재는 질문의 전부가 상담의 정보를 얻기 위해 배치되어 있지만 상담용이 아닌 감정적인 일상적인 질문들을 </a:t>
            </a:r>
            <a:endParaRPr lang="en-US" altLang="ko-KR" dirty="0"/>
          </a:p>
          <a:p>
            <a:r>
              <a:rPr lang="ko-KR" altLang="en-US" dirty="0"/>
              <a:t>포함한다면</a:t>
            </a:r>
            <a:r>
              <a:rPr lang="en-US" altLang="ko-KR" dirty="0"/>
              <a:t> </a:t>
            </a:r>
            <a:r>
              <a:rPr lang="ko-KR" altLang="en-US" dirty="0"/>
              <a:t>상담을 받는 입장에서 좀더 편안하고 몰입하여 상담에 임할 수 있음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b="1" dirty="0"/>
              <a:t>각 유형별로 대화 스크립트의 개수 증가</a:t>
            </a:r>
            <a:endParaRPr lang="en-US" altLang="ko-KR" b="1" dirty="0"/>
          </a:p>
          <a:p>
            <a:endParaRPr lang="en-US" altLang="ko-KR" dirty="0"/>
          </a:p>
          <a:p>
            <a:r>
              <a:rPr lang="ko-KR" altLang="en-US" dirty="0"/>
              <a:t>현재는 각 유형별로 대화가 한 개씩 </a:t>
            </a:r>
            <a:r>
              <a:rPr lang="ko-KR" altLang="en-US" dirty="0" err="1"/>
              <a:t>구성되어있지만</a:t>
            </a:r>
            <a:r>
              <a:rPr lang="ko-KR" altLang="en-US" dirty="0"/>
              <a:t> 유형별로 대화의 종류가 </a:t>
            </a:r>
            <a:r>
              <a:rPr lang="en-US" altLang="ko-KR" dirty="0"/>
              <a:t>3</a:t>
            </a:r>
            <a:r>
              <a:rPr lang="ko-KR" altLang="en-US" dirty="0"/>
              <a:t>개</a:t>
            </a:r>
            <a:r>
              <a:rPr lang="en-US" altLang="ko-KR" dirty="0"/>
              <a:t>~5</a:t>
            </a:r>
            <a:r>
              <a:rPr lang="ko-KR" altLang="en-US" dirty="0"/>
              <a:t>개로 증가할 경우</a:t>
            </a:r>
            <a:endParaRPr lang="en-US" altLang="ko-KR" dirty="0"/>
          </a:p>
          <a:p>
            <a:r>
              <a:rPr lang="ko-KR" altLang="en-US" dirty="0"/>
              <a:t>반복으로 상담 진행가능</a:t>
            </a:r>
            <a:r>
              <a:rPr lang="en-US" altLang="ko-KR" dirty="0"/>
              <a:t>, </a:t>
            </a:r>
            <a:r>
              <a:rPr lang="ko-KR" altLang="en-US" dirty="0"/>
              <a:t>상담의 스펙트럼 증가 등 유의미한 장점들을 가질 수 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92157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4BBC8-3DD2-E1F5-FEE8-90B5DE3EC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A7B539-CB8B-6A64-CDFC-9C886C9D7BC2}"/>
              </a:ext>
            </a:extLst>
          </p:cNvPr>
          <p:cNvSpPr txBox="1"/>
          <p:nvPr/>
        </p:nvSpPr>
        <p:spPr>
          <a:xfrm>
            <a:off x="174171" y="753290"/>
            <a:ext cx="2365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LT </a:t>
            </a:r>
            <a:r>
              <a:rPr lang="ko-KR" altLang="en-US" sz="2400" b="1" dirty="0"/>
              <a:t>세션 설계 안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10D8D2-BB21-2090-42A5-1C9AB71773CD}"/>
              </a:ext>
            </a:extLst>
          </p:cNvPr>
          <p:cNvSpPr txBox="1"/>
          <p:nvPr/>
        </p:nvSpPr>
        <p:spPr>
          <a:xfrm>
            <a:off x="174171" y="1647178"/>
            <a:ext cx="914949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■ 세션 길이 </a:t>
            </a:r>
            <a:r>
              <a:rPr lang="en-US" altLang="ko-KR" dirty="0"/>
              <a:t>(1</a:t>
            </a:r>
            <a:r>
              <a:rPr lang="ko-KR" altLang="en-US" dirty="0"/>
              <a:t>회 기준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 경도 </a:t>
            </a:r>
            <a:r>
              <a:rPr lang="en-US" altLang="ko-KR" dirty="0"/>
              <a:t>MCI: 20–30</a:t>
            </a:r>
            <a:r>
              <a:rPr lang="ko-KR" altLang="en-US" dirty="0"/>
              <a:t>분</a:t>
            </a:r>
            <a:endParaRPr lang="en-US" altLang="ko-KR" dirty="0"/>
          </a:p>
          <a:p>
            <a:r>
              <a:rPr lang="ko-KR" altLang="en-US" dirty="0"/>
              <a:t>→</a:t>
            </a:r>
            <a:r>
              <a:rPr lang="en-US" altLang="ko-KR" dirty="0"/>
              <a:t> </a:t>
            </a:r>
            <a:r>
              <a:rPr lang="ko-KR" altLang="en-US" dirty="0"/>
              <a:t>인간 대화 </a:t>
            </a:r>
            <a:r>
              <a:rPr lang="en-US" altLang="ko-KR" dirty="0"/>
              <a:t>RCT, I-CONECT, </a:t>
            </a:r>
            <a:r>
              <a:rPr lang="ko-KR" altLang="en-US" dirty="0"/>
              <a:t>회상요법</a:t>
            </a:r>
            <a:r>
              <a:rPr lang="en-US" altLang="ko-KR" dirty="0"/>
              <a:t>, CST, </a:t>
            </a:r>
            <a:r>
              <a:rPr lang="ko-KR" altLang="en-US" dirty="0"/>
              <a:t>로봇 연구에서 </a:t>
            </a:r>
            <a:r>
              <a:rPr lang="en-US" altLang="ko-KR" dirty="0"/>
              <a:t>30</a:t>
            </a:r>
            <a:r>
              <a:rPr lang="ko-KR" altLang="en-US" dirty="0"/>
              <a:t>분 전후가 효과적</a:t>
            </a:r>
            <a:r>
              <a:rPr lang="en-US" altLang="ko-KR" dirty="0"/>
              <a:t>·</a:t>
            </a:r>
            <a:r>
              <a:rPr lang="ko-KR" altLang="en-US" dirty="0"/>
              <a:t>선호됨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 중등도 이상</a:t>
            </a:r>
            <a:r>
              <a:rPr lang="en-US" altLang="ko-KR" dirty="0"/>
              <a:t>: 10–20</a:t>
            </a:r>
            <a:r>
              <a:rPr lang="ko-KR" altLang="en-US" dirty="0"/>
              <a:t>분</a:t>
            </a:r>
          </a:p>
          <a:p>
            <a:r>
              <a:rPr lang="ko-KR" altLang="en-US" dirty="0"/>
              <a:t>→</a:t>
            </a:r>
            <a:r>
              <a:rPr lang="en-US" altLang="ko-KR" dirty="0"/>
              <a:t> </a:t>
            </a:r>
            <a:r>
              <a:rPr lang="ko-KR" altLang="en-US" dirty="0"/>
              <a:t>집중력</a:t>
            </a:r>
            <a:r>
              <a:rPr lang="en-US" altLang="ko-KR" dirty="0"/>
              <a:t>·</a:t>
            </a:r>
            <a:r>
              <a:rPr lang="ko-KR" altLang="en-US" dirty="0"/>
              <a:t>피로도 고려 시 </a:t>
            </a:r>
            <a:r>
              <a:rPr lang="en-US" altLang="ko-KR" dirty="0"/>
              <a:t>30</a:t>
            </a:r>
            <a:r>
              <a:rPr lang="ko-KR" altLang="en-US" dirty="0"/>
              <a:t>분 이하로 나눔이 </a:t>
            </a:r>
            <a:r>
              <a:rPr lang="ko-KR" altLang="en-US" dirty="0" err="1"/>
              <a:t>바람직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8171C8-3384-7E2B-B8C6-5DBEDC092D4F}"/>
              </a:ext>
            </a:extLst>
          </p:cNvPr>
          <p:cNvSpPr txBox="1"/>
          <p:nvPr/>
        </p:nvSpPr>
        <p:spPr>
          <a:xfrm>
            <a:off x="174171" y="4110726"/>
            <a:ext cx="727949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■ 빈도</a:t>
            </a:r>
            <a:r>
              <a:rPr lang="en-US" altLang="ko-KR" dirty="0"/>
              <a:t>·</a:t>
            </a:r>
            <a:r>
              <a:rPr lang="ko-KR" altLang="en-US" dirty="0"/>
              <a:t>기간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 err="1"/>
              <a:t>집중기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8–12</a:t>
            </a:r>
            <a:r>
              <a:rPr lang="ko-KR" altLang="en-US" dirty="0"/>
              <a:t>주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→</a:t>
            </a:r>
            <a:r>
              <a:rPr lang="en-US" altLang="ko-KR" dirty="0"/>
              <a:t> </a:t>
            </a:r>
            <a:r>
              <a:rPr lang="ko-KR" altLang="en-US" dirty="0"/>
              <a:t>주 </a:t>
            </a:r>
            <a:r>
              <a:rPr lang="en-US" altLang="ko-KR" dirty="0"/>
              <a:t>3–4</a:t>
            </a:r>
            <a:r>
              <a:rPr lang="ko-KR" altLang="en-US" dirty="0"/>
              <a:t>회 </a:t>
            </a:r>
            <a:r>
              <a:rPr lang="en-US" altLang="ko-KR" dirty="0"/>
              <a:t>(20–30</a:t>
            </a:r>
            <a:r>
              <a:rPr lang="ko-KR" altLang="en-US" dirty="0"/>
              <a:t>분</a:t>
            </a:r>
            <a:r>
              <a:rPr lang="en-US" altLang="ko-KR" dirty="0"/>
              <a:t>): I-CONECT </a:t>
            </a:r>
            <a:r>
              <a:rPr lang="ko-KR" altLang="en-US" dirty="0"/>
              <a:t>고용량</a:t>
            </a:r>
            <a:r>
              <a:rPr lang="en-US" altLang="ko-KR" dirty="0"/>
              <a:t>(</a:t>
            </a:r>
            <a:r>
              <a:rPr lang="ko-KR" altLang="en-US" dirty="0"/>
              <a:t>주 </a:t>
            </a:r>
            <a:r>
              <a:rPr lang="en-US" altLang="ko-KR" dirty="0"/>
              <a:t>4</a:t>
            </a:r>
            <a:r>
              <a:rPr lang="ko-KR" altLang="en-US" dirty="0"/>
              <a:t>회</a:t>
            </a:r>
            <a:r>
              <a:rPr lang="en-US" altLang="ko-KR" dirty="0"/>
              <a:t>, 6</a:t>
            </a:r>
            <a:r>
              <a:rPr lang="ko-KR" altLang="en-US" dirty="0"/>
              <a:t>개월</a:t>
            </a:r>
            <a:r>
              <a:rPr lang="en-US" altLang="ko-KR" dirty="0"/>
              <a:t>)</a:t>
            </a:r>
            <a:r>
              <a:rPr lang="ko-KR" altLang="en-US" dirty="0"/>
              <a:t>을 단축 적용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 err="1"/>
              <a:t>유지기</a:t>
            </a:r>
            <a:endParaRPr lang="en-US" altLang="ko-KR" dirty="0"/>
          </a:p>
          <a:p>
            <a:r>
              <a:rPr lang="ko-KR" altLang="en-US" dirty="0"/>
              <a:t>→</a:t>
            </a:r>
            <a:r>
              <a:rPr lang="en-US" altLang="ko-KR" dirty="0"/>
              <a:t> </a:t>
            </a:r>
            <a:r>
              <a:rPr lang="ko-KR" altLang="en-US" dirty="0"/>
              <a:t>주 </a:t>
            </a:r>
            <a:r>
              <a:rPr lang="en-US" altLang="ko-KR" dirty="0"/>
              <a:t>1–2</a:t>
            </a:r>
            <a:r>
              <a:rPr lang="ko-KR" altLang="en-US" dirty="0"/>
              <a:t>회 </a:t>
            </a:r>
            <a:r>
              <a:rPr lang="en-US" altLang="ko-KR" dirty="0"/>
              <a:t>(10–30</a:t>
            </a:r>
            <a:r>
              <a:rPr lang="ko-KR" altLang="en-US" dirty="0"/>
              <a:t>분</a:t>
            </a:r>
            <a:r>
              <a:rPr lang="en-US" altLang="ko-KR" dirty="0"/>
              <a:t>): </a:t>
            </a:r>
            <a:r>
              <a:rPr lang="ko-KR" altLang="en-US" dirty="0"/>
              <a:t>회상요법</a:t>
            </a:r>
            <a:r>
              <a:rPr lang="en-US" altLang="ko-KR" dirty="0"/>
              <a:t>·CST·</a:t>
            </a:r>
            <a:r>
              <a:rPr lang="ko-KR" altLang="en-US" dirty="0"/>
              <a:t>로봇 연구 패턴과 유사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932329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65FFD-8107-299B-641D-90E160539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CF7FED-B35C-D342-7F06-362693184091}"/>
              </a:ext>
            </a:extLst>
          </p:cNvPr>
          <p:cNvSpPr txBox="1"/>
          <p:nvPr/>
        </p:nvSpPr>
        <p:spPr>
          <a:xfrm>
            <a:off x="174171" y="753290"/>
            <a:ext cx="2365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LT </a:t>
            </a:r>
            <a:r>
              <a:rPr lang="ko-KR" altLang="en-US" sz="2400" b="1" dirty="0"/>
              <a:t>세션 설계 안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3E8F12-99D6-6B80-CBC4-7EB82F324BA0}"/>
              </a:ext>
            </a:extLst>
          </p:cNvPr>
          <p:cNvSpPr txBox="1"/>
          <p:nvPr/>
        </p:nvSpPr>
        <p:spPr>
          <a:xfrm>
            <a:off x="174171" y="1647178"/>
            <a:ext cx="66207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■ 근거에서 공통된 “효과적인 주제”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과거 회상</a:t>
            </a:r>
            <a:r>
              <a:rPr lang="en-US" altLang="ko-KR" dirty="0"/>
              <a:t>: </a:t>
            </a:r>
            <a:r>
              <a:rPr lang="ko-KR" altLang="en-US" dirty="0"/>
              <a:t>어린 시절</a:t>
            </a:r>
            <a:r>
              <a:rPr lang="en-US" altLang="ko-KR" dirty="0"/>
              <a:t>, </a:t>
            </a:r>
            <a:r>
              <a:rPr lang="ko-KR" altLang="en-US" dirty="0"/>
              <a:t>가족</a:t>
            </a:r>
            <a:r>
              <a:rPr lang="en-US" altLang="ko-KR" dirty="0"/>
              <a:t>, </a:t>
            </a:r>
            <a:r>
              <a:rPr lang="ko-KR" altLang="en-US" dirty="0"/>
              <a:t>학교</a:t>
            </a:r>
            <a:r>
              <a:rPr lang="en-US" altLang="ko-KR" dirty="0"/>
              <a:t>·</a:t>
            </a:r>
            <a:r>
              <a:rPr lang="ko-KR" altLang="en-US" dirty="0"/>
              <a:t>직장</a:t>
            </a:r>
            <a:r>
              <a:rPr lang="en-US" altLang="ko-KR" dirty="0"/>
              <a:t>, </a:t>
            </a:r>
            <a:r>
              <a:rPr lang="ko-KR" altLang="en-US" dirty="0"/>
              <a:t>여행</a:t>
            </a:r>
            <a:r>
              <a:rPr lang="en-US" altLang="ko-KR" dirty="0"/>
              <a:t>, </a:t>
            </a:r>
            <a:r>
              <a:rPr lang="ko-KR" altLang="en-US" dirty="0"/>
              <a:t>특별한 날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관계</a:t>
            </a:r>
            <a:r>
              <a:rPr lang="en-US" altLang="ko-KR" dirty="0"/>
              <a:t>·</a:t>
            </a:r>
            <a:r>
              <a:rPr lang="ko-KR" altLang="en-US" dirty="0"/>
              <a:t>애착</a:t>
            </a:r>
            <a:r>
              <a:rPr lang="en-US" altLang="ko-KR" dirty="0"/>
              <a:t>: </a:t>
            </a:r>
            <a:r>
              <a:rPr lang="ko-KR" altLang="en-US" dirty="0"/>
              <a:t>배우자</a:t>
            </a:r>
            <a:r>
              <a:rPr lang="en-US" altLang="ko-KR" dirty="0"/>
              <a:t>, </a:t>
            </a:r>
            <a:r>
              <a:rPr lang="ko-KR" altLang="en-US" dirty="0"/>
              <a:t>자녀</a:t>
            </a:r>
            <a:r>
              <a:rPr lang="en-US" altLang="ko-KR" dirty="0"/>
              <a:t>·</a:t>
            </a:r>
            <a:r>
              <a:rPr lang="ko-KR" altLang="en-US" dirty="0"/>
              <a:t>손주</a:t>
            </a:r>
            <a:r>
              <a:rPr lang="en-US" altLang="ko-KR" dirty="0"/>
              <a:t>, </a:t>
            </a:r>
            <a:r>
              <a:rPr lang="ko-KR" altLang="en-US" dirty="0"/>
              <a:t>고마웠던 사람</a:t>
            </a:r>
            <a:r>
              <a:rPr lang="en-US" altLang="ko-KR" dirty="0"/>
              <a:t>, </a:t>
            </a:r>
            <a:r>
              <a:rPr lang="ko-KR" altLang="en-US" dirty="0" err="1"/>
              <a:t>위로받은</a:t>
            </a:r>
            <a:r>
              <a:rPr lang="ko-KR" altLang="en-US" dirty="0"/>
              <a:t> 경험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현재 일상</a:t>
            </a:r>
            <a:r>
              <a:rPr lang="en-US" altLang="ko-KR" dirty="0"/>
              <a:t>·</a:t>
            </a:r>
            <a:r>
              <a:rPr lang="ko-KR" altLang="en-US" dirty="0"/>
              <a:t>감정</a:t>
            </a:r>
            <a:r>
              <a:rPr lang="en-US" altLang="ko-KR" dirty="0"/>
              <a:t>: </a:t>
            </a:r>
            <a:r>
              <a:rPr lang="ko-KR" altLang="en-US" dirty="0"/>
              <a:t>오늘 하루</a:t>
            </a:r>
            <a:r>
              <a:rPr lang="en-US" altLang="ko-KR" dirty="0"/>
              <a:t>, </a:t>
            </a:r>
            <a:r>
              <a:rPr lang="ko-KR" altLang="en-US" dirty="0"/>
              <a:t>몸 상태</a:t>
            </a:r>
            <a:r>
              <a:rPr lang="en-US" altLang="ko-KR" dirty="0"/>
              <a:t>, </a:t>
            </a:r>
            <a:r>
              <a:rPr lang="ko-KR" altLang="en-US" dirty="0"/>
              <a:t>취미</a:t>
            </a:r>
            <a:r>
              <a:rPr lang="en-US" altLang="ko-KR" dirty="0"/>
              <a:t>, </a:t>
            </a:r>
            <a:r>
              <a:rPr lang="ko-KR" altLang="en-US" dirty="0"/>
              <a:t>날씨</a:t>
            </a:r>
            <a:r>
              <a:rPr lang="en-US" altLang="ko-KR" dirty="0"/>
              <a:t>, </a:t>
            </a:r>
            <a:r>
              <a:rPr lang="ko-KR" altLang="en-US" dirty="0"/>
              <a:t>기분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놀이</a:t>
            </a:r>
            <a:r>
              <a:rPr lang="en-US" altLang="ko-KR" dirty="0"/>
              <a:t>/</a:t>
            </a:r>
            <a:r>
              <a:rPr lang="ko-KR" altLang="en-US" dirty="0"/>
              <a:t>인지 자극</a:t>
            </a:r>
            <a:r>
              <a:rPr lang="en-US" altLang="ko-KR" dirty="0"/>
              <a:t>: </a:t>
            </a:r>
            <a:r>
              <a:rPr lang="ko-KR" altLang="en-US" dirty="0"/>
              <a:t>단어 연상</a:t>
            </a:r>
            <a:r>
              <a:rPr lang="en-US" altLang="ko-KR" dirty="0"/>
              <a:t>, </a:t>
            </a:r>
            <a:r>
              <a:rPr lang="ko-KR" altLang="en-US" dirty="0"/>
              <a:t>사진 보고 이야기</a:t>
            </a:r>
            <a:r>
              <a:rPr lang="en-US" altLang="ko-KR" dirty="0"/>
              <a:t>, </a:t>
            </a:r>
            <a:r>
              <a:rPr lang="ko-KR" altLang="en-US" dirty="0"/>
              <a:t>간단 퀴즈</a:t>
            </a:r>
            <a:r>
              <a:rPr lang="en-US" altLang="ko-KR" dirty="0"/>
              <a:t>·</a:t>
            </a:r>
            <a:r>
              <a:rPr lang="ko-KR" altLang="en-US" dirty="0"/>
              <a:t>노래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8E8657-04A9-1CBF-47E2-1FDF2585F3C8}"/>
              </a:ext>
            </a:extLst>
          </p:cNvPr>
          <p:cNvSpPr txBox="1"/>
          <p:nvPr/>
        </p:nvSpPr>
        <p:spPr>
          <a:xfrm>
            <a:off x="174171" y="4056660"/>
            <a:ext cx="970490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■ </a:t>
            </a:r>
            <a:r>
              <a:rPr lang="en-US" altLang="ko-KR" dirty="0"/>
              <a:t>LT</a:t>
            </a:r>
            <a:r>
              <a:rPr lang="ko-KR" altLang="en-US" dirty="0"/>
              <a:t>의 설계 방향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위 주제들을 “사랑</a:t>
            </a:r>
            <a:r>
              <a:rPr lang="en-US" altLang="ko-KR" dirty="0"/>
              <a:t>·</a:t>
            </a:r>
            <a:r>
              <a:rPr lang="ko-KR" altLang="en-US" dirty="0"/>
              <a:t>감사</a:t>
            </a:r>
            <a:r>
              <a:rPr lang="en-US" altLang="ko-KR" dirty="0"/>
              <a:t>·</a:t>
            </a:r>
            <a:r>
              <a:rPr lang="ko-KR" altLang="en-US" dirty="0"/>
              <a:t>소중함” 프레임으로 재구성</a:t>
            </a:r>
          </a:p>
          <a:p>
            <a:r>
              <a:rPr lang="ko-KR" altLang="en-US" dirty="0"/>
              <a:t>예</a:t>
            </a:r>
            <a:r>
              <a:rPr lang="en-US" altLang="ko-KR" dirty="0"/>
              <a:t>) “</a:t>
            </a:r>
            <a:r>
              <a:rPr lang="ko-KR" altLang="en-US" dirty="0"/>
              <a:t>손주와 가장 행복했던 순간은 </a:t>
            </a:r>
            <a:r>
              <a:rPr lang="ko-KR" altLang="en-US" dirty="0" err="1"/>
              <a:t>언제였나요</a:t>
            </a:r>
            <a:r>
              <a:rPr lang="en-US" altLang="ko-KR" dirty="0"/>
              <a:t>?”</a:t>
            </a:r>
          </a:p>
          <a:p>
            <a:r>
              <a:rPr lang="ko-KR" altLang="en-US" dirty="0"/>
              <a:t>예</a:t>
            </a:r>
            <a:r>
              <a:rPr lang="en-US" altLang="ko-KR" dirty="0"/>
              <a:t>) “</a:t>
            </a:r>
            <a:r>
              <a:rPr lang="ko-KR" altLang="en-US" dirty="0"/>
              <a:t>가장 고마운 사람에게 편지를 쓴다면 어떤 말을 하고 </a:t>
            </a:r>
            <a:r>
              <a:rPr lang="ko-KR" altLang="en-US" dirty="0" err="1"/>
              <a:t>싶으세요</a:t>
            </a:r>
            <a:r>
              <a:rPr lang="en-US" altLang="ko-KR" dirty="0"/>
              <a:t>?”</a:t>
            </a:r>
          </a:p>
          <a:p>
            <a:endParaRPr lang="en-US" altLang="ko-KR" dirty="0"/>
          </a:p>
          <a:p>
            <a:r>
              <a:rPr lang="en-US" altLang="ko-KR" dirty="0"/>
              <a:t>- 6</a:t>
            </a:r>
            <a:r>
              <a:rPr lang="ko-KR" altLang="en-US" dirty="0"/>
              <a:t>성향 </a:t>
            </a:r>
            <a:r>
              <a:rPr lang="en-US" altLang="ko-KR" dirty="0"/>
              <a:t>x </a:t>
            </a:r>
            <a:r>
              <a:rPr lang="ko-KR" altLang="en-US" dirty="0"/>
              <a:t>경증</a:t>
            </a:r>
            <a:r>
              <a:rPr lang="en-US" altLang="ko-KR" dirty="0"/>
              <a:t>/</a:t>
            </a:r>
            <a:r>
              <a:rPr lang="ko-KR" altLang="en-US" dirty="0"/>
              <a:t>중증에 따라</a:t>
            </a:r>
          </a:p>
          <a:p>
            <a:r>
              <a:rPr lang="ko-KR" altLang="en-US" dirty="0"/>
              <a:t>→ 질문 난이도</a:t>
            </a:r>
            <a:r>
              <a:rPr lang="en-US" altLang="ko-KR" dirty="0"/>
              <a:t>, </a:t>
            </a:r>
            <a:r>
              <a:rPr lang="ko-KR" altLang="en-US" dirty="0"/>
              <a:t>문장 길이</a:t>
            </a:r>
            <a:r>
              <a:rPr lang="en-US" altLang="ko-KR" dirty="0"/>
              <a:t>, </a:t>
            </a:r>
            <a:r>
              <a:rPr lang="ko-KR" altLang="en-US" dirty="0"/>
              <a:t>답변의 유형</a:t>
            </a:r>
            <a:r>
              <a:rPr lang="en-US" altLang="ko-KR" dirty="0"/>
              <a:t>, </a:t>
            </a:r>
            <a:r>
              <a:rPr lang="ko-KR" altLang="en-US" dirty="0"/>
              <a:t>질문 구성의 흐름</a:t>
            </a:r>
            <a:r>
              <a:rPr lang="en-US" altLang="ko-KR" dirty="0"/>
              <a:t>, </a:t>
            </a:r>
            <a:r>
              <a:rPr lang="ko-KR" altLang="en-US" dirty="0"/>
              <a:t>속도</a:t>
            </a:r>
            <a:r>
              <a:rPr lang="en-US" altLang="ko-KR" dirty="0"/>
              <a:t>, </a:t>
            </a:r>
            <a:r>
              <a:rPr lang="ko-KR" altLang="en-US" dirty="0" err="1"/>
              <a:t>이모지</a:t>
            </a:r>
            <a:r>
              <a:rPr lang="en-US" altLang="ko-KR" dirty="0"/>
              <a:t>·</a:t>
            </a:r>
            <a:r>
              <a:rPr lang="ko-KR" altLang="en-US" dirty="0"/>
              <a:t>음성 톤 다르게 적용</a:t>
            </a:r>
          </a:p>
        </p:txBody>
      </p:sp>
    </p:spTree>
    <p:extLst>
      <p:ext uri="{BB962C8B-B14F-4D97-AF65-F5344CB8AC3E}">
        <p14:creationId xmlns:p14="http://schemas.microsoft.com/office/powerpoint/2010/main" val="2488125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1552</TotalTime>
  <Words>4164</Words>
  <Application>Microsoft Office PowerPoint</Application>
  <PresentationFormat>와이드스크린</PresentationFormat>
  <Paragraphs>503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규철 백</dc:creator>
  <cp:lastModifiedBy>재은 이</cp:lastModifiedBy>
  <cp:revision>12</cp:revision>
  <dcterms:created xsi:type="dcterms:W3CDTF">2025-11-24T03:20:39Z</dcterms:created>
  <dcterms:modified xsi:type="dcterms:W3CDTF">2025-12-08T16:28:24Z</dcterms:modified>
</cp:coreProperties>
</file>