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5" r:id="rId2"/>
    <p:sldId id="284" r:id="rId3"/>
    <p:sldId id="286" r:id="rId4"/>
    <p:sldId id="287" r:id="rId5"/>
    <p:sldId id="288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66" r:id="rId25"/>
    <p:sldId id="283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A84"/>
    <a:srgbClr val="FBE3D6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2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4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9DC65-3048-4B86-AB8F-4630A14A3BF6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830C2-9E79-43BC-A06C-991D033FB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51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30C2-9E79-43BC-A06C-991D033FBB5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89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30C2-9E79-43BC-A06C-991D033FBB5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33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F7D66-AB99-0ACF-2D21-EE672D75D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CCCF47-53A1-D2C2-0CC5-12455623C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35126E-8261-6038-A9F3-0764A270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898B92-2FB8-1709-E7A3-1FC25370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75AEC-E371-0B6B-ABD8-575ABABF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47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2B20C-F3A1-D6B8-617A-40FE0118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D8B33-EF81-1691-948D-B5BE7261F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2C444-33CE-EA96-1151-706385B4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81DC6-6365-8CE3-415E-30221A86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60CD9-7AF0-1FD3-1B3D-1A1FA89D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19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A0AFC-8459-6C39-779A-C75B9BAA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2F5A4-2B97-A118-E176-D4A906F3F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E46379-1858-97C0-5C85-C19FF528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DA184-7E22-1C5A-8A3B-224B14FE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989D22-1AAE-CB3C-B43D-F15626EA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2264D-C3EB-1228-28C0-25E0A2F8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B81D72-1BA1-0733-8964-EB695A2B6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F83431-16C9-8156-C973-556D84E06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ACC688-55B9-F982-A632-3FD8FFB6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D8F416-432A-F5BE-5868-216EE6C6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D8390C-08E7-733E-99A1-9F5F89CD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5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A39A8-3FB2-083D-263D-30004D1D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FA5E11-AEBA-E614-20DE-0F0010A77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EDA15E-B87E-0425-B00A-76097C663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8837D1-C008-AD20-23B4-1688EA9A1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8CB83D-0EDD-73F4-BAB2-C4322018F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4AB0AF-8927-E241-A317-6C06B0EC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430FFC-C75E-797D-0C8F-7D0117AB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137828-4E54-9A2B-9746-9BF72B05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39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90A0A-8707-3646-E3E7-9791D595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467DBA-D3D0-CE8C-D3B6-57E1AE08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FCD45F-30CB-4D85-D35F-240B6150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A61819-07F6-DD9B-A117-D75C7432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59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6C1C83-3306-73E6-DFAB-4DDE38549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7CE930-ABF1-DAF5-EE07-F341549B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4F2E2-6925-C012-37E4-5623AD71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0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F44B4-DDC6-12F5-A0CC-7788ACED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F300ED-87DD-07D7-7157-03DCC743B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2A39DF-6EEA-A804-FC12-932A8F1FE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ADDE0D-950A-04F3-FB36-03235460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492044-75FD-7B5F-075E-92DB2794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354425-B2CD-7029-EE6A-1D0103C7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53964-29BB-351F-561B-4C0C44A76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973C2E-981F-8DCD-0EDE-C83AC0CF2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9A6DA-6BD4-861D-51A5-7E3EBFE83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A2A51-4D2F-CDDA-C5AF-B5B6457A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ED56D0-6F17-6FCE-8A63-6E2DA3A1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BACA39-62B1-623D-065A-53043850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5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E038C-1B59-0CD6-D289-39E476F1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E9B710-0E39-057E-2737-AA781B2B8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5BEB7-B7FC-57D0-A184-292ACC25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8A2AF-EFCB-A2E9-00BD-86561867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44EA1-103C-4C00-3C24-A57C8CC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79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814687-539F-12EC-1180-71199BF24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04BCB0-B71E-7EF2-B323-63DB2527D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4D134-11F5-B3F4-5ABE-D749B4C7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B10750-AAAD-9B5F-13FD-E69617B9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0D99C-3F38-7608-531F-CF9C9125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22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2C293C-B636-BCB7-839E-FF390DAC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B95072-D6C3-AA95-9D18-E1522B56A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5C1FB2-FAD4-11AA-A09B-F339258D8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B06FF-98C5-4D5B-A62B-B5E45405C13E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C18997-7F4F-E405-5E56-F9B78BE14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54EB2-114B-691D-6F22-D329CD5E4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59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대화 주제</a:t>
            </a:r>
            <a:r>
              <a:rPr lang="en-US" altLang="ko-KR" sz="2800" dirty="0"/>
              <a:t>, </a:t>
            </a:r>
            <a:r>
              <a:rPr lang="ko-KR" altLang="en-US" sz="2800" dirty="0"/>
              <a:t>방식 유형의 축소화 진행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427300"/>
            <a:ext cx="10806704" cy="1594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대화 방식</a:t>
            </a:r>
            <a:endParaRPr lang="en-US" altLang="ko-KR" sz="28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Carl Rogers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Person-Centered Therapy, Lazarus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BASIC-ID </a:t>
            </a:r>
            <a:r>
              <a:rPr lang="ko-KR" altLang="en-US" sz="2000" b="1" dirty="0"/>
              <a:t>모델 참고</a:t>
            </a:r>
            <a:endParaRPr lang="en-US" altLang="ko-KR" sz="20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인간의 대화특성을 감정</a:t>
            </a:r>
            <a:r>
              <a:rPr lang="en-US" altLang="ko-KR" sz="2000" dirty="0"/>
              <a:t>, </a:t>
            </a:r>
            <a:r>
              <a:rPr lang="ko-KR" altLang="en-US" sz="2000" dirty="0"/>
              <a:t>인지</a:t>
            </a:r>
            <a:r>
              <a:rPr lang="en-US" altLang="ko-KR" sz="2000" dirty="0"/>
              <a:t>, </a:t>
            </a:r>
            <a:r>
              <a:rPr lang="ko-KR" altLang="en-US" sz="2000" dirty="0"/>
              <a:t>동기</a:t>
            </a:r>
            <a:r>
              <a:rPr lang="en-US" altLang="ko-KR" sz="2000" dirty="0"/>
              <a:t>, </a:t>
            </a:r>
            <a:r>
              <a:rPr lang="ko-KR" altLang="en-US" sz="2000" dirty="0"/>
              <a:t>행동 </a:t>
            </a:r>
            <a:r>
              <a:rPr lang="en-US" altLang="ko-KR" sz="2000" dirty="0"/>
              <a:t>4</a:t>
            </a:r>
            <a:r>
              <a:rPr lang="ko-KR" altLang="en-US" sz="2000" dirty="0"/>
              <a:t>축으로 분류</a:t>
            </a:r>
            <a:endParaRPr lang="en-US" altLang="ko-KR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221EC8-4172-CF1A-9B52-10D1353C42AC}"/>
              </a:ext>
            </a:extLst>
          </p:cNvPr>
          <p:cNvGrpSpPr/>
          <p:nvPr/>
        </p:nvGrpSpPr>
        <p:grpSpPr>
          <a:xfrm>
            <a:off x="2361234" y="3351318"/>
            <a:ext cx="6794343" cy="3344955"/>
            <a:chOff x="2361234" y="3351318"/>
            <a:chExt cx="6794343" cy="33449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0FADEE-4658-C3F4-521F-4EDA6BD09968}"/>
                </a:ext>
              </a:extLst>
            </p:cNvPr>
            <p:cNvSpPr txBox="1"/>
            <p:nvPr/>
          </p:nvSpPr>
          <p:spPr>
            <a:xfrm>
              <a:off x="2361234" y="3351318"/>
              <a:ext cx="2002421" cy="3344955"/>
            </a:xfrm>
            <a:prstGeom prst="rect">
              <a:avLst/>
            </a:prstGeom>
            <a:noFill/>
            <a:ln w="38100" cap="rnd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공감형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격려형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논리형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창의형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차분형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직설형</a:t>
              </a:r>
              <a:endParaRPr lang="en-US" altLang="ko-KR" sz="2400" dirty="0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450EFDCF-C926-3833-0EBE-8ACC88BE0F15}"/>
                </a:ext>
              </a:extLst>
            </p:cNvPr>
            <p:cNvSpPr/>
            <p:nvPr/>
          </p:nvSpPr>
          <p:spPr>
            <a:xfrm>
              <a:off x="4988689" y="4664980"/>
              <a:ext cx="1539433" cy="7176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023D33-F42B-CCA3-A11D-DD2C6CC6C012}"/>
                </a:ext>
              </a:extLst>
            </p:cNvPr>
            <p:cNvSpPr txBox="1"/>
            <p:nvPr/>
          </p:nvSpPr>
          <p:spPr>
            <a:xfrm>
              <a:off x="7153156" y="3905315"/>
              <a:ext cx="2002421" cy="2236959"/>
            </a:xfrm>
            <a:prstGeom prst="rect">
              <a:avLst/>
            </a:prstGeom>
            <a:noFill/>
            <a:ln w="38100" cap="rnd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감정형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인지형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동기형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행동형</a:t>
              </a:r>
              <a:endParaRPr lang="en-US" altLang="ko-K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4612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대화 주제</a:t>
            </a:r>
            <a:r>
              <a:rPr lang="en-US" altLang="ko-KR" sz="2800" dirty="0"/>
              <a:t>, </a:t>
            </a:r>
            <a:r>
              <a:rPr lang="ko-KR" altLang="en-US" sz="2800" dirty="0"/>
              <a:t>방식 유형의 축소화 진행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210956"/>
            <a:ext cx="10806704" cy="1964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/>
              <a:t>대화 주제</a:t>
            </a:r>
            <a:endParaRPr lang="en-US" altLang="ko-KR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Carl Rogers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Person-Centered Therapy, Lazarus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BASIC-ID </a:t>
            </a:r>
            <a:r>
              <a:rPr lang="ko-KR" altLang="en-US" sz="2000" b="1" dirty="0"/>
              <a:t>모델 참고</a:t>
            </a:r>
            <a:endParaRPr lang="en-US" altLang="ko-KR" sz="20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대화주제를 자기인식</a:t>
            </a:r>
            <a:r>
              <a:rPr lang="en-US" altLang="ko-KR" sz="2000" dirty="0"/>
              <a:t> </a:t>
            </a:r>
            <a:r>
              <a:rPr lang="ko-KR" altLang="en-US" sz="2000" dirty="0"/>
              <a:t>정서조절</a:t>
            </a:r>
            <a:r>
              <a:rPr lang="en-US" altLang="ko-KR" sz="2000" dirty="0"/>
              <a:t>, </a:t>
            </a:r>
            <a:r>
              <a:rPr lang="ko-KR" altLang="en-US" sz="2000" dirty="0"/>
              <a:t>관계 소통</a:t>
            </a:r>
            <a:r>
              <a:rPr lang="en-US" altLang="ko-KR" sz="2000" dirty="0"/>
              <a:t>, </a:t>
            </a:r>
            <a:r>
              <a:rPr lang="ko-KR" altLang="en-US" sz="2000" dirty="0"/>
              <a:t>회복</a:t>
            </a:r>
            <a:r>
              <a:rPr lang="en-US" altLang="ko-KR" sz="2000" dirty="0"/>
              <a:t> </a:t>
            </a:r>
            <a:r>
              <a:rPr lang="ko-KR" altLang="en-US" sz="2000" dirty="0"/>
              <a:t>적응</a:t>
            </a:r>
            <a:r>
              <a:rPr lang="en-US" altLang="ko-KR" sz="2000" dirty="0"/>
              <a:t>, </a:t>
            </a:r>
            <a:r>
              <a:rPr lang="ko-KR" altLang="en-US" sz="2000" dirty="0"/>
              <a:t>행동 습관 </a:t>
            </a:r>
            <a:r>
              <a:rPr lang="en-US" altLang="ko-KR" sz="2000" dirty="0"/>
              <a:t>4</a:t>
            </a:r>
            <a:r>
              <a:rPr lang="ko-KR" altLang="en-US" sz="2000" dirty="0"/>
              <a:t>축으로 분류</a:t>
            </a:r>
            <a:endParaRPr lang="en-US" altLang="ko-KR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1F7A81C-7981-1C30-9161-4674C12BD7ED}"/>
              </a:ext>
            </a:extLst>
          </p:cNvPr>
          <p:cNvGrpSpPr/>
          <p:nvPr/>
        </p:nvGrpSpPr>
        <p:grpSpPr>
          <a:xfrm>
            <a:off x="2361234" y="3351318"/>
            <a:ext cx="8032832" cy="3344955"/>
            <a:chOff x="2361234" y="3351318"/>
            <a:chExt cx="8032832" cy="33449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77CBA2-D2AA-C265-C4E8-7ECC96E83F6A}"/>
                </a:ext>
              </a:extLst>
            </p:cNvPr>
            <p:cNvSpPr txBox="1"/>
            <p:nvPr/>
          </p:nvSpPr>
          <p:spPr>
            <a:xfrm>
              <a:off x="2361234" y="3351318"/>
              <a:ext cx="2002421" cy="3344955"/>
            </a:xfrm>
            <a:prstGeom prst="rect">
              <a:avLst/>
            </a:prstGeom>
            <a:noFill/>
            <a:ln w="38100" cap="rnd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자기인식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대인관계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회복력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긍정습관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인지기능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마음 챙김</a:t>
              </a:r>
              <a:endParaRPr lang="en-US" altLang="ko-KR" sz="2400" dirty="0"/>
            </a:p>
          </p:txBody>
        </p:sp>
        <p:sp>
          <p:nvSpPr>
            <p:cNvPr id="8" name="화살표: 오른쪽 7">
              <a:extLst>
                <a:ext uri="{FF2B5EF4-FFF2-40B4-BE49-F238E27FC236}">
                  <a16:creationId xmlns:a16="http://schemas.microsoft.com/office/drawing/2014/main" id="{E973835C-C4AD-DFB8-02C6-138002605620}"/>
                </a:ext>
              </a:extLst>
            </p:cNvPr>
            <p:cNvSpPr/>
            <p:nvPr/>
          </p:nvSpPr>
          <p:spPr>
            <a:xfrm>
              <a:off x="4988689" y="4664980"/>
              <a:ext cx="1539433" cy="7176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65C582-4FA2-2B2B-7B78-7E5D9CF0C2B5}"/>
                </a:ext>
              </a:extLst>
            </p:cNvPr>
            <p:cNvSpPr txBox="1"/>
            <p:nvPr/>
          </p:nvSpPr>
          <p:spPr>
            <a:xfrm>
              <a:off x="7153156" y="3905315"/>
              <a:ext cx="3240910" cy="2236959"/>
            </a:xfrm>
            <a:prstGeom prst="rect">
              <a:avLst/>
            </a:prstGeom>
            <a:noFill/>
            <a:ln w="38100" cap="rnd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자기인식</a:t>
              </a:r>
              <a:r>
                <a:rPr lang="en-US" altLang="ko-KR" sz="2400" dirty="0"/>
                <a:t> · </a:t>
              </a:r>
              <a:r>
                <a:rPr lang="ko-KR" altLang="en-US" sz="2400" dirty="0"/>
                <a:t>정서조절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관계 </a:t>
              </a:r>
              <a:r>
                <a:rPr lang="en-US" altLang="ko-KR" sz="2400" dirty="0"/>
                <a:t>· </a:t>
              </a:r>
              <a:r>
                <a:rPr lang="ko-KR" altLang="en-US" sz="2400" dirty="0"/>
                <a:t>소통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회복 </a:t>
              </a:r>
              <a:r>
                <a:rPr lang="en-US" altLang="ko-KR" sz="2400" dirty="0"/>
                <a:t>· </a:t>
              </a:r>
              <a:r>
                <a:rPr lang="ko-KR" altLang="en-US" sz="2400" dirty="0"/>
                <a:t>적응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행동 </a:t>
              </a:r>
              <a:r>
                <a:rPr lang="en-US" altLang="ko-KR" sz="2400" dirty="0"/>
                <a:t>· </a:t>
              </a:r>
              <a:r>
                <a:rPr lang="ko-KR" altLang="en-US" sz="2400" dirty="0"/>
                <a:t>습관</a:t>
              </a:r>
              <a:endParaRPr lang="en-US" altLang="ko-K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95312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ko-KR" sz="2800" dirty="0"/>
              <a:t>6 </a:t>
            </a:r>
            <a:r>
              <a:rPr lang="en-US" altLang="ko-KR" sz="2800" dirty="0">
                <a:sym typeface="Wingdings" panose="05000000000000000000" pitchFamily="2" charset="2"/>
              </a:rPr>
              <a:t> 4 </a:t>
            </a:r>
            <a:r>
              <a:rPr lang="ko-KR" altLang="en-US" sz="2800" dirty="0">
                <a:sym typeface="Wingdings" panose="05000000000000000000" pitchFamily="2" charset="2"/>
              </a:rPr>
              <a:t>유형 축소 및 </a:t>
            </a:r>
            <a:r>
              <a:rPr lang="en-US" altLang="ko-KR" sz="2800" dirty="0">
                <a:sym typeface="Wingdings" panose="05000000000000000000" pitchFamily="2" charset="2"/>
              </a:rPr>
              <a:t>MECE </a:t>
            </a:r>
            <a:r>
              <a:rPr lang="ko-KR" altLang="en-US" sz="2800" dirty="0">
                <a:sym typeface="Wingdings" panose="05000000000000000000" pitchFamily="2" charset="2"/>
              </a:rPr>
              <a:t>검증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210956"/>
            <a:ext cx="10806704" cy="5165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/>
              <a:t>기존 문제점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6 </a:t>
            </a:r>
            <a:r>
              <a:rPr lang="ko-KR" altLang="en-US" sz="2000" dirty="0"/>
              <a:t>유형 모델에서는 유사 성향 </a:t>
            </a:r>
            <a:r>
              <a:rPr lang="en-US" altLang="ko-KR" sz="2000" dirty="0"/>
              <a:t>( </a:t>
            </a:r>
            <a:r>
              <a:rPr lang="ko-KR" altLang="en-US" sz="2000" dirty="0"/>
              <a:t>예 </a:t>
            </a:r>
            <a:r>
              <a:rPr lang="en-US" altLang="ko-KR" sz="2000" dirty="0"/>
              <a:t>: </a:t>
            </a:r>
            <a:r>
              <a:rPr lang="ko-KR" altLang="en-US" sz="2000" dirty="0"/>
              <a:t>공감형 </a:t>
            </a:r>
            <a:r>
              <a:rPr lang="en-US" altLang="ko-KR" sz="2000" dirty="0"/>
              <a:t>vs </a:t>
            </a:r>
            <a:r>
              <a:rPr lang="ko-KR" altLang="en-US" sz="2000" dirty="0"/>
              <a:t>격려형 </a:t>
            </a:r>
            <a:r>
              <a:rPr lang="en-US" altLang="ko-KR" sz="2000" dirty="0"/>
              <a:t>) </a:t>
            </a:r>
            <a:r>
              <a:rPr lang="ko-KR" altLang="en-US" sz="2000" dirty="0"/>
              <a:t>간 중복 발생</a:t>
            </a:r>
            <a:endParaRPr lang="en-US" altLang="ko-KR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일부 문항은 서로 다른 축에 동시에 속하는 해석 가능성 존재</a:t>
            </a:r>
            <a:r>
              <a:rPr lang="en-US" altLang="ko-KR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 err="1">
                <a:sym typeface="Wingdings" panose="05000000000000000000" pitchFamily="2" charset="2"/>
              </a:rPr>
              <a:t>상호배타성</a:t>
            </a:r>
            <a:r>
              <a:rPr lang="ko-KR" altLang="en-US" sz="2000" dirty="0">
                <a:sym typeface="Wingdings" panose="05000000000000000000" pitchFamily="2" charset="2"/>
              </a:rPr>
              <a:t> 위배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ko-KR" altLang="en-US" sz="2400" b="1" dirty="0">
                <a:sym typeface="Wingdings" panose="05000000000000000000" pitchFamily="2" charset="2"/>
              </a:rPr>
              <a:t>개선 사항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ym typeface="Wingdings" panose="05000000000000000000" pitchFamily="2" charset="2"/>
              </a:rPr>
              <a:t>각 문항은 하나의 </a:t>
            </a:r>
            <a:r>
              <a:rPr lang="ko-KR" altLang="en-US" sz="2000" dirty="0" err="1">
                <a:sym typeface="Wingdings" panose="05000000000000000000" pitchFamily="2" charset="2"/>
              </a:rPr>
              <a:t>심리축에만</a:t>
            </a:r>
            <a:r>
              <a:rPr lang="ko-KR" altLang="en-US" sz="2000" dirty="0">
                <a:sym typeface="Wingdings" panose="05000000000000000000" pitchFamily="2" charset="2"/>
              </a:rPr>
              <a:t> 속하도록 교차항목 제거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ym typeface="Wingdings" panose="05000000000000000000" pitchFamily="2" charset="2"/>
              </a:rPr>
              <a:t>4</a:t>
            </a:r>
            <a:r>
              <a:rPr lang="ko-KR" altLang="en-US" sz="2000" dirty="0">
                <a:sym typeface="Wingdings" panose="05000000000000000000" pitchFamily="2" charset="2"/>
              </a:rPr>
              <a:t>축이 모든 인간 대화성향을 포괄하도록 설계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ym typeface="Wingdings" panose="05000000000000000000" pitchFamily="2" charset="2"/>
              </a:rPr>
              <a:t>대화방식 </a:t>
            </a:r>
            <a:r>
              <a:rPr lang="en-US" altLang="ko-KR" sz="2000" dirty="0">
                <a:sym typeface="Wingdings" panose="05000000000000000000" pitchFamily="2" charset="2"/>
              </a:rPr>
              <a:t>4</a:t>
            </a:r>
            <a:r>
              <a:rPr lang="ko-KR" altLang="en-US" sz="2000" dirty="0">
                <a:sym typeface="Wingdings" panose="05000000000000000000" pitchFamily="2" charset="2"/>
              </a:rPr>
              <a:t>유형 </a:t>
            </a:r>
            <a:r>
              <a:rPr lang="en-US" altLang="ko-KR" sz="2000" dirty="0">
                <a:sym typeface="Wingdings" panose="05000000000000000000" pitchFamily="2" charset="2"/>
              </a:rPr>
              <a:t>X </a:t>
            </a:r>
            <a:r>
              <a:rPr lang="ko-KR" altLang="en-US" sz="2000" dirty="0">
                <a:sym typeface="Wingdings" panose="05000000000000000000" pitchFamily="2" charset="2"/>
              </a:rPr>
              <a:t>대화주제 </a:t>
            </a:r>
            <a:r>
              <a:rPr lang="en-US" altLang="ko-KR" sz="2000" dirty="0">
                <a:sym typeface="Wingdings" panose="05000000000000000000" pitchFamily="2" charset="2"/>
              </a:rPr>
              <a:t>4</a:t>
            </a:r>
            <a:r>
              <a:rPr lang="ko-KR" altLang="en-US" sz="2000" dirty="0">
                <a:sym typeface="Wingdings" panose="05000000000000000000" pitchFamily="2" charset="2"/>
              </a:rPr>
              <a:t>유형 </a:t>
            </a:r>
            <a:r>
              <a:rPr lang="en-US" altLang="ko-KR" sz="2000" dirty="0">
                <a:sym typeface="Wingdings" panose="05000000000000000000" pitchFamily="2" charset="2"/>
              </a:rPr>
              <a:t>= </a:t>
            </a:r>
            <a:r>
              <a:rPr lang="ko-KR" altLang="en-US" sz="2000" dirty="0">
                <a:sym typeface="Wingdings" panose="05000000000000000000" pitchFamily="2" charset="2"/>
              </a:rPr>
              <a:t>총 </a:t>
            </a:r>
            <a:r>
              <a:rPr lang="en-US" altLang="ko-KR" sz="2000" dirty="0">
                <a:sym typeface="Wingdings" panose="05000000000000000000" pitchFamily="2" charset="2"/>
              </a:rPr>
              <a:t>16</a:t>
            </a:r>
            <a:r>
              <a:rPr lang="ko-KR" altLang="en-US" sz="2000" dirty="0">
                <a:sym typeface="Wingdings" panose="05000000000000000000" pitchFamily="2" charset="2"/>
              </a:rPr>
              <a:t>개 개인화 프로필 조합 가능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3475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회원가입 및 로그인 기능 추가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130022"/>
            <a:ext cx="8503342" cy="295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/>
              <a:t>개인별 세션 구별 가능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회원가입 및 로그인을 통해 개별화된 검사를 진행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히스토리 탭을 통하여 </a:t>
            </a:r>
            <a:r>
              <a:rPr lang="ko-KR" altLang="en-US" dirty="0" err="1">
                <a:sym typeface="Wingdings" panose="05000000000000000000" pitchFamily="2" charset="2"/>
              </a:rPr>
              <a:t>회차</a:t>
            </a:r>
            <a:r>
              <a:rPr lang="ko-KR" altLang="en-US" dirty="0">
                <a:sym typeface="Wingdings" panose="05000000000000000000" pitchFamily="2" charset="2"/>
              </a:rPr>
              <a:t> 별 성향 변화 추이를 시각화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대화방식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대화 주제 별 라인그래프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사용자는 자신의 정서 인지 성향 변화를 누적적으로 확인 가능하다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48E636-F07D-DA3B-497D-24C2E8A6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84" y="998755"/>
            <a:ext cx="3540397" cy="26778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1041CA-7CF1-1131-526D-9CC64E336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71" y="4088845"/>
            <a:ext cx="3637576" cy="25682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E1429B-8BE6-7F91-2EC0-EF93F3415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906" y="4088845"/>
            <a:ext cx="6676024" cy="27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회원가입 및 로그인 기능 추가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130022"/>
            <a:ext cx="8503342" cy="295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/>
              <a:t>개인별 세션 구별 가능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회원가입 및 로그인을 통해 개별화된 검사를 진행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히스토리 탭을 통하여 </a:t>
            </a:r>
            <a:r>
              <a:rPr lang="ko-KR" altLang="en-US" dirty="0" err="1">
                <a:sym typeface="Wingdings" panose="05000000000000000000" pitchFamily="2" charset="2"/>
              </a:rPr>
              <a:t>회차별</a:t>
            </a:r>
            <a:r>
              <a:rPr lang="ko-KR" altLang="en-US" dirty="0">
                <a:sym typeface="Wingdings" panose="05000000000000000000" pitchFamily="2" charset="2"/>
              </a:rPr>
              <a:t> 성향 변화 추이를 시각화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대화방식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대화 주제 별 라인그래프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사용자는 자신의 정서 인지 성향 변화를 누적적으로 확인 가능하다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48E636-F07D-DA3B-497D-24C2E8A6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84" y="998755"/>
            <a:ext cx="3540397" cy="26778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1041CA-7CF1-1131-526D-9CC64E336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71" y="4088845"/>
            <a:ext cx="3637576" cy="25682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E1429B-8BE6-7F91-2EC0-EF93F3415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906" y="4088845"/>
            <a:ext cx="6676024" cy="27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0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ko-KR" sz="2800" dirty="0"/>
              <a:t>4 x 4 </a:t>
            </a:r>
            <a:r>
              <a:rPr lang="ko-KR" altLang="en-US" sz="2800" dirty="0"/>
              <a:t>매트릭스 구조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990656"/>
            <a:ext cx="7740869" cy="379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 </a:t>
            </a:r>
            <a:r>
              <a:rPr lang="ko-KR" altLang="en-US" sz="2400" dirty="0"/>
              <a:t>대화방식</a:t>
            </a:r>
            <a:r>
              <a:rPr lang="en-US" altLang="ko-KR" sz="2400" dirty="0"/>
              <a:t>(How)</a:t>
            </a:r>
          </a:p>
          <a:p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공감형 </a:t>
            </a:r>
            <a:r>
              <a:rPr lang="en-US" altLang="ko-KR" sz="2400" dirty="0"/>
              <a:t>: </a:t>
            </a:r>
            <a:r>
              <a:rPr lang="ko-KR" altLang="en-US" sz="2400" dirty="0"/>
              <a:t>감정 공감</a:t>
            </a:r>
            <a:r>
              <a:rPr lang="en-US" altLang="ko-KR" sz="2400" dirty="0"/>
              <a:t>·</a:t>
            </a:r>
            <a:r>
              <a:rPr lang="ko-KR" altLang="en-US" sz="2400" dirty="0"/>
              <a:t>수용적 태도</a:t>
            </a:r>
            <a:endParaRPr lang="en-US" altLang="ko-KR" sz="24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인지형</a:t>
            </a:r>
            <a:r>
              <a:rPr lang="en-US" altLang="ko-KR" sz="2400" dirty="0"/>
              <a:t>: </a:t>
            </a:r>
            <a:r>
              <a:rPr lang="ko-KR" altLang="en-US" sz="2400" dirty="0"/>
              <a:t>사고</a:t>
            </a:r>
            <a:r>
              <a:rPr lang="en-US" altLang="ko-KR" sz="2400" dirty="0"/>
              <a:t>·</a:t>
            </a:r>
            <a:r>
              <a:rPr lang="ko-KR" altLang="en-US" sz="2400" dirty="0"/>
              <a:t>논리 구조 탐색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동기형</a:t>
            </a:r>
            <a:r>
              <a:rPr lang="en-US" altLang="ko-KR" sz="2400" dirty="0"/>
              <a:t>: </a:t>
            </a:r>
            <a:r>
              <a:rPr lang="ko-KR" altLang="en-US" sz="2400" dirty="0"/>
              <a:t>내적 동기 강화</a:t>
            </a:r>
            <a:r>
              <a:rPr lang="en-US" altLang="ko-KR" sz="2400" dirty="0"/>
              <a:t>·</a:t>
            </a:r>
            <a:r>
              <a:rPr lang="ko-KR" altLang="en-US" sz="2400" dirty="0"/>
              <a:t>변화 이유 도출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행동형</a:t>
            </a:r>
            <a:r>
              <a:rPr lang="en-US" altLang="ko-KR" sz="2400" dirty="0"/>
              <a:t>: </a:t>
            </a:r>
            <a:r>
              <a:rPr lang="ko-KR" altLang="en-US" sz="2400" dirty="0"/>
              <a:t>실제 실행</a:t>
            </a:r>
            <a:r>
              <a:rPr lang="en-US" altLang="ko-KR" sz="2400" dirty="0"/>
              <a:t>·</a:t>
            </a:r>
            <a:r>
              <a:rPr lang="ko-KR" altLang="en-US" sz="2400" dirty="0"/>
              <a:t>습관 형성 집중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06EAD-61D1-2A32-B334-574056FE394E}"/>
              </a:ext>
            </a:extLst>
          </p:cNvPr>
          <p:cNvSpPr txBox="1"/>
          <p:nvPr/>
        </p:nvSpPr>
        <p:spPr>
          <a:xfrm>
            <a:off x="6096000" y="1990656"/>
            <a:ext cx="7740869" cy="379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 </a:t>
            </a:r>
            <a:r>
              <a:rPr lang="ko-KR" altLang="en-US" sz="2400" dirty="0"/>
              <a:t>대화주제</a:t>
            </a:r>
            <a:r>
              <a:rPr lang="en-US" altLang="ko-KR" sz="2400" dirty="0"/>
              <a:t>(What)</a:t>
            </a:r>
          </a:p>
          <a:p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자기인식</a:t>
            </a:r>
            <a:r>
              <a:rPr lang="en-US" altLang="ko-KR" sz="2400" dirty="0"/>
              <a:t>·</a:t>
            </a:r>
            <a:r>
              <a:rPr lang="ko-KR" altLang="en-US" sz="2400" dirty="0"/>
              <a:t>정서조절</a:t>
            </a:r>
            <a:r>
              <a:rPr lang="en-US" altLang="ko-KR" sz="2400" dirty="0"/>
              <a:t>: </a:t>
            </a:r>
            <a:r>
              <a:rPr lang="ko-KR" altLang="en-US" sz="2400" dirty="0"/>
              <a:t>감정 인식</a:t>
            </a:r>
            <a:r>
              <a:rPr lang="en-US" altLang="ko-KR" sz="2400" dirty="0"/>
              <a:t>·</a:t>
            </a:r>
            <a:r>
              <a:rPr lang="ko-KR" altLang="en-US" sz="2400" dirty="0"/>
              <a:t>조절 기술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관계</a:t>
            </a:r>
            <a:r>
              <a:rPr lang="en-US" altLang="ko-KR" sz="2400" dirty="0"/>
              <a:t>·</a:t>
            </a:r>
            <a:r>
              <a:rPr lang="ko-KR" altLang="en-US" sz="2400" dirty="0"/>
              <a:t>소통</a:t>
            </a:r>
            <a:r>
              <a:rPr lang="en-US" altLang="ko-KR" sz="2400" dirty="0"/>
              <a:t>: </a:t>
            </a:r>
            <a:r>
              <a:rPr lang="ko-KR" altLang="en-US" sz="2400" dirty="0"/>
              <a:t>타인과 상호작용</a:t>
            </a:r>
            <a:r>
              <a:rPr lang="en-US" altLang="ko-KR" sz="2400" dirty="0"/>
              <a:t>·</a:t>
            </a:r>
            <a:r>
              <a:rPr lang="ko-KR" altLang="en-US" sz="2400" dirty="0"/>
              <a:t>경계</a:t>
            </a:r>
            <a:r>
              <a:rPr lang="en-US" altLang="ko-KR" sz="2400" dirty="0"/>
              <a:t>·</a:t>
            </a:r>
            <a:r>
              <a:rPr lang="ko-KR" altLang="en-US" sz="2400" dirty="0"/>
              <a:t>소통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회복</a:t>
            </a:r>
            <a:r>
              <a:rPr lang="en-US" altLang="ko-KR" sz="2400" dirty="0"/>
              <a:t>·</a:t>
            </a:r>
            <a:r>
              <a:rPr lang="ko-KR" altLang="en-US" sz="2400" dirty="0"/>
              <a:t>적응</a:t>
            </a:r>
            <a:r>
              <a:rPr lang="en-US" altLang="ko-KR" sz="2400" dirty="0"/>
              <a:t>: </a:t>
            </a:r>
            <a:r>
              <a:rPr lang="ko-KR" altLang="en-US" sz="2400" dirty="0"/>
              <a:t>스트레스</a:t>
            </a:r>
            <a:r>
              <a:rPr lang="en-US" altLang="ko-KR" sz="2400" dirty="0"/>
              <a:t>·</a:t>
            </a:r>
            <a:r>
              <a:rPr lang="ko-KR" altLang="en-US" sz="2400" dirty="0"/>
              <a:t>실패</a:t>
            </a:r>
            <a:r>
              <a:rPr lang="en-US" altLang="ko-KR" sz="2400" dirty="0"/>
              <a:t>·</a:t>
            </a:r>
            <a:r>
              <a:rPr lang="ko-KR" altLang="en-US" sz="2400" dirty="0"/>
              <a:t>역경 대처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행동</a:t>
            </a:r>
            <a:r>
              <a:rPr lang="en-US" altLang="ko-KR" sz="2400" dirty="0"/>
              <a:t>·</a:t>
            </a:r>
            <a:r>
              <a:rPr lang="ko-KR" altLang="en-US" sz="2400" dirty="0"/>
              <a:t>습관</a:t>
            </a:r>
            <a:r>
              <a:rPr lang="en-US" altLang="ko-KR" sz="2400" dirty="0"/>
              <a:t>: </a:t>
            </a:r>
            <a:r>
              <a:rPr lang="ko-KR" altLang="en-US" sz="2400" dirty="0"/>
              <a:t>생활 루틴</a:t>
            </a:r>
            <a:r>
              <a:rPr lang="en-US" altLang="ko-KR" sz="2400" dirty="0"/>
              <a:t>·</a:t>
            </a:r>
            <a:r>
              <a:rPr lang="ko-KR" altLang="en-US" sz="2400" dirty="0"/>
              <a:t>목표설정</a:t>
            </a:r>
            <a:r>
              <a:rPr lang="en-US" altLang="ko-KR" sz="2400" dirty="0"/>
              <a:t>·</a:t>
            </a:r>
            <a:r>
              <a:rPr lang="ko-KR" altLang="en-US" sz="2400" dirty="0"/>
              <a:t>실전</a:t>
            </a:r>
          </a:p>
        </p:txBody>
      </p:sp>
    </p:spTree>
    <p:extLst>
      <p:ext uri="{BB962C8B-B14F-4D97-AF65-F5344CB8AC3E}">
        <p14:creationId xmlns:p14="http://schemas.microsoft.com/office/powerpoint/2010/main" val="418953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9580-7FCD-31D8-FBA5-1EED66EA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85AA1-0189-B8B5-940E-3D2420475D00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8716A-39F0-B4DB-ADA0-39A59B8B7635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근거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25DE5-B1C4-EEB6-9C96-A7969B566619}"/>
              </a:ext>
            </a:extLst>
          </p:cNvPr>
          <p:cNvSpPr txBox="1"/>
          <p:nvPr/>
        </p:nvSpPr>
        <p:spPr>
          <a:xfrm>
            <a:off x="177671" y="1990656"/>
            <a:ext cx="5750163" cy="393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 </a:t>
            </a:r>
            <a:r>
              <a:rPr lang="ko-KR" altLang="en-US" sz="2400" dirty="0"/>
              <a:t>대화방식</a:t>
            </a:r>
            <a:r>
              <a:rPr lang="en-US" altLang="ko-KR" sz="2400" dirty="0"/>
              <a:t>(How)</a:t>
            </a:r>
          </a:p>
          <a:p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공감형 </a:t>
            </a:r>
            <a:r>
              <a:rPr lang="en-US" altLang="ko-KR" sz="2000" dirty="0"/>
              <a:t>: Hill</a:t>
            </a:r>
            <a:r>
              <a:rPr lang="ko-KR" altLang="en-US" sz="2000" dirty="0"/>
              <a:t> </a:t>
            </a:r>
            <a:r>
              <a:rPr lang="en-US" altLang="ko-KR" sz="2000" dirty="0"/>
              <a:t>Model(</a:t>
            </a:r>
            <a:r>
              <a:rPr lang="ko-KR" altLang="en-US" sz="2000" dirty="0"/>
              <a:t>탐색 단계</a:t>
            </a:r>
            <a:r>
              <a:rPr lang="en-US" altLang="ko-KR" sz="2000" dirty="0"/>
              <a:t>), MI</a:t>
            </a:r>
            <a:r>
              <a:rPr lang="ko-KR" altLang="en-US" sz="2000" dirty="0"/>
              <a:t>의</a:t>
            </a:r>
            <a:r>
              <a:rPr lang="en-US" altLang="ko-KR" sz="2000" dirty="0"/>
              <a:t> Empathy)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인지형</a:t>
            </a:r>
            <a:r>
              <a:rPr lang="en-US" altLang="ko-KR" sz="2000" dirty="0"/>
              <a:t>: CBT, REBT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동기형</a:t>
            </a:r>
            <a:r>
              <a:rPr lang="en-US" altLang="ko-KR" sz="2000" dirty="0"/>
              <a:t>: MI,</a:t>
            </a:r>
            <a:r>
              <a:rPr lang="ko-KR" altLang="en-US" sz="2000" dirty="0"/>
              <a:t> </a:t>
            </a:r>
            <a:r>
              <a:rPr lang="en-US" altLang="ko-KR" sz="2000" dirty="0"/>
              <a:t>Self-determination</a:t>
            </a:r>
            <a:r>
              <a:rPr lang="ko-KR" altLang="en-US" sz="2000" dirty="0"/>
              <a:t> </a:t>
            </a:r>
            <a:r>
              <a:rPr lang="en-US" altLang="ko-KR" sz="2000" dirty="0"/>
              <a:t>Theory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행동형</a:t>
            </a:r>
            <a:r>
              <a:rPr lang="en-US" altLang="ko-KR" sz="2000" dirty="0"/>
              <a:t>: Behavioral Activation, Solution-Focused Therapy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CBCB5-6FF2-5B4D-6DFC-B149532847D7}"/>
              </a:ext>
            </a:extLst>
          </p:cNvPr>
          <p:cNvSpPr txBox="1"/>
          <p:nvPr/>
        </p:nvSpPr>
        <p:spPr>
          <a:xfrm>
            <a:off x="6096000" y="1990656"/>
            <a:ext cx="5918329" cy="4549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 </a:t>
            </a:r>
            <a:r>
              <a:rPr lang="ko-KR" altLang="en-US" sz="2400" dirty="0"/>
              <a:t>대화주제</a:t>
            </a:r>
            <a:r>
              <a:rPr lang="en-US" altLang="ko-KR" sz="2400" dirty="0"/>
              <a:t>(What)</a:t>
            </a:r>
          </a:p>
          <a:p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자기인식</a:t>
            </a:r>
            <a:r>
              <a:rPr lang="en-US" altLang="ko-KR" sz="2000" dirty="0"/>
              <a:t>·</a:t>
            </a:r>
            <a:r>
              <a:rPr lang="ko-KR" altLang="en-US" sz="2000" dirty="0"/>
              <a:t>정서조절</a:t>
            </a:r>
            <a:r>
              <a:rPr lang="en-US" altLang="ko-KR" sz="2000" dirty="0"/>
              <a:t>: Emotion</a:t>
            </a:r>
            <a:r>
              <a:rPr lang="ko-KR" altLang="en-US" sz="2000" dirty="0"/>
              <a:t> </a:t>
            </a:r>
            <a:r>
              <a:rPr lang="en-US" altLang="ko-KR" sz="2000" dirty="0"/>
              <a:t>Regulation</a:t>
            </a:r>
            <a:r>
              <a:rPr lang="ko-KR" altLang="en-US" sz="2000" dirty="0"/>
              <a:t> </a:t>
            </a:r>
            <a:r>
              <a:rPr lang="en-US" altLang="ko-KR" sz="2000" dirty="0"/>
              <a:t>Theory(Gross,</a:t>
            </a:r>
            <a:r>
              <a:rPr lang="ko-KR" altLang="en-US" sz="2000" dirty="0"/>
              <a:t> </a:t>
            </a:r>
            <a:r>
              <a:rPr lang="en-US" altLang="ko-KR" sz="2000" dirty="0"/>
              <a:t>1998)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관계</a:t>
            </a:r>
            <a:r>
              <a:rPr lang="en-US" altLang="ko-KR" sz="2000" dirty="0"/>
              <a:t>·</a:t>
            </a:r>
            <a:r>
              <a:rPr lang="ko-KR" altLang="en-US" sz="2000" dirty="0"/>
              <a:t>소통</a:t>
            </a:r>
            <a:r>
              <a:rPr lang="en-US" altLang="ko-KR" sz="2000" dirty="0"/>
              <a:t>: Interpersonal Theory Sulivan, 1953)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회복</a:t>
            </a:r>
            <a:r>
              <a:rPr lang="en-US" altLang="ko-KR" sz="2000" dirty="0"/>
              <a:t>·</a:t>
            </a:r>
            <a:r>
              <a:rPr lang="ko-KR" altLang="en-US" sz="2000" dirty="0"/>
              <a:t>적응</a:t>
            </a:r>
            <a:r>
              <a:rPr lang="en-US" altLang="ko-KR" sz="2000" dirty="0"/>
              <a:t>: Resilience</a:t>
            </a:r>
            <a:r>
              <a:rPr lang="ko-KR" altLang="en-US" sz="2000" dirty="0"/>
              <a:t> </a:t>
            </a:r>
            <a:r>
              <a:rPr lang="en-US" altLang="ko-KR" sz="2000" dirty="0"/>
              <a:t>Theory</a:t>
            </a:r>
            <a:r>
              <a:rPr lang="ko-KR" altLang="en-US" sz="2000" dirty="0"/>
              <a:t> </a:t>
            </a:r>
            <a:r>
              <a:rPr lang="en-US" altLang="ko-KR" sz="2000" dirty="0"/>
              <a:t>(Masten,</a:t>
            </a:r>
            <a:r>
              <a:rPr lang="ko-KR" altLang="en-US" sz="2000" dirty="0"/>
              <a:t> </a:t>
            </a:r>
            <a:r>
              <a:rPr lang="en-US" altLang="ko-KR" sz="2000" dirty="0"/>
              <a:t>2001)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행동</a:t>
            </a:r>
            <a:r>
              <a:rPr lang="en-US" altLang="ko-KR" sz="2000" dirty="0"/>
              <a:t>·</a:t>
            </a:r>
            <a:r>
              <a:rPr lang="ko-KR" altLang="en-US" sz="2000" dirty="0"/>
              <a:t>습관</a:t>
            </a:r>
            <a:r>
              <a:rPr lang="en-US" altLang="ko-KR" sz="2000" dirty="0"/>
              <a:t>: Behavioral</a:t>
            </a:r>
            <a:r>
              <a:rPr lang="ko-KR" altLang="en-US" sz="2000" dirty="0"/>
              <a:t> </a:t>
            </a:r>
            <a:r>
              <a:rPr lang="en-US" altLang="ko-KR" sz="2000" dirty="0"/>
              <a:t>Activation (Jacobson et al, 2001)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4678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582E-4485-CCD9-B5E8-7F15AB0C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C4954-D53C-D373-D37E-6B8E4FB9B422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22858-DDC1-81A9-9716-842C55B15B2A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공감형 </a:t>
            </a:r>
            <a:r>
              <a:rPr lang="en-US" altLang="ko-KR" sz="2800" dirty="0"/>
              <a:t>× </a:t>
            </a:r>
            <a:r>
              <a:rPr lang="ko-KR" altLang="en-US" sz="2800" dirty="0"/>
              <a:t>자기인식</a:t>
            </a:r>
            <a:r>
              <a:rPr lang="en-US" altLang="ko-KR" sz="2800" dirty="0"/>
              <a:t>·</a:t>
            </a:r>
            <a:r>
              <a:rPr lang="ko-KR" altLang="en-US" sz="2800" dirty="0"/>
              <a:t>정서조절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B7E2A-1C35-2D8C-0E89-2E9C7C0D6651}"/>
              </a:ext>
            </a:extLst>
          </p:cNvPr>
          <p:cNvSpPr txBox="1"/>
          <p:nvPr/>
        </p:nvSpPr>
        <p:spPr>
          <a:xfrm>
            <a:off x="177671" y="1879413"/>
            <a:ext cx="575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감정 수용</a:t>
            </a:r>
            <a:r>
              <a:rPr lang="en-US" altLang="ko-KR" sz="2400" dirty="0"/>
              <a:t>·</a:t>
            </a:r>
            <a:r>
              <a:rPr lang="ko-KR" altLang="en-US" sz="2400" dirty="0"/>
              <a:t>탐색</a:t>
            </a:r>
            <a:r>
              <a:rPr lang="en-US" altLang="ko-KR" sz="2400" dirty="0"/>
              <a:t>, </a:t>
            </a:r>
            <a:r>
              <a:rPr lang="ko-KR" altLang="en-US" sz="2400" dirty="0"/>
              <a:t>위로 중심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27D8D-0641-544C-CAFA-22F6FC67D9DE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 순간 어떤 감정이 </a:t>
            </a:r>
            <a:r>
              <a:rPr lang="ko-KR" altLang="en-US" sz="2400" dirty="0" err="1"/>
              <a:t>드셨는지</a:t>
            </a:r>
            <a:r>
              <a:rPr lang="ko-KR" altLang="en-US" sz="2400" dirty="0"/>
              <a:t> 천천히 말씀해 주세요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그런 상황에서 그렇게 느끼신 것이 너무나 자연스러워요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지금 이 순간 느끼시는 것을 있는 그대로 받아들여도 돼요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77B5F-BAAC-BCCA-AA1E-3507A3FD08FE}"/>
              </a:ext>
            </a:extLst>
          </p:cNvPr>
          <p:cNvSpPr txBox="1"/>
          <p:nvPr/>
        </p:nvSpPr>
        <p:spPr>
          <a:xfrm>
            <a:off x="177671" y="5333682"/>
            <a:ext cx="11902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Hill</a:t>
            </a:r>
            <a:r>
              <a:rPr lang="ko-KR" altLang="en-US" sz="2000" dirty="0"/>
              <a:t>의 </a:t>
            </a:r>
            <a:r>
              <a:rPr lang="en-US" altLang="ko-KR" sz="2000" dirty="0"/>
              <a:t>3</a:t>
            </a:r>
            <a:r>
              <a:rPr lang="ko-KR" altLang="en-US" sz="2000" dirty="0"/>
              <a:t>단계 모델 중 탐색 단계는 </a:t>
            </a:r>
            <a:r>
              <a:rPr lang="en-US" altLang="ko-KR" sz="2000" dirty="0"/>
              <a:t>Rogers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내담자</a:t>
            </a:r>
            <a:r>
              <a:rPr lang="ko-KR" altLang="en-US" sz="2000" dirty="0"/>
              <a:t> 중심 치료를 기반으로 하며</a:t>
            </a:r>
            <a:r>
              <a:rPr lang="en-US" altLang="ko-KR" sz="2000" dirty="0"/>
              <a:t>, </a:t>
            </a:r>
            <a:r>
              <a:rPr lang="ko-KR" altLang="en-US" sz="2000" dirty="0"/>
              <a:t>무조건적 긍정적 존중과 공감적 경청을 핵심으로 둔다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이 단계에서 상담자는 재진술과 감정 반영을 통해 내담자가 안전하게 자신의 감정을 탐색하도록 돕는다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0585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FEB4C-A8DC-8AC7-3212-4CF37B18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4B6F74-005A-E16E-13E3-FB11DFD6009D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C7CB2-9F01-91E0-A157-8D737429670F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공감형 </a:t>
            </a:r>
            <a:r>
              <a:rPr lang="en-US" altLang="ko-KR" sz="2800" dirty="0"/>
              <a:t>× </a:t>
            </a:r>
            <a:r>
              <a:rPr lang="ko-KR" altLang="en-US" sz="2800" dirty="0"/>
              <a:t>관계</a:t>
            </a:r>
            <a:r>
              <a:rPr lang="en-US" altLang="ko-KR" sz="2800" dirty="0"/>
              <a:t>·</a:t>
            </a:r>
            <a:r>
              <a:rPr lang="ko-KR" altLang="en-US" sz="2800" dirty="0"/>
              <a:t>소통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8BB810-4F7F-B3FD-D80A-EDD4C752B900}"/>
              </a:ext>
            </a:extLst>
          </p:cNvPr>
          <p:cNvSpPr txBox="1"/>
          <p:nvPr/>
        </p:nvSpPr>
        <p:spPr>
          <a:xfrm>
            <a:off x="177671" y="1879413"/>
            <a:ext cx="7342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관계 속 감정 공감</a:t>
            </a:r>
            <a:r>
              <a:rPr lang="en-US" altLang="ko-KR" sz="2400" dirty="0"/>
              <a:t>, </a:t>
            </a:r>
            <a:r>
              <a:rPr lang="ko-KR" altLang="en-US" sz="2400" dirty="0"/>
              <a:t>정서적 이해 중시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6147D-5BE0-EA54-F9F7-4D62F1A81444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그분이 그렇게 말씀하셨을 때 얼마나 </a:t>
            </a:r>
            <a:r>
              <a:rPr lang="ko-KR" altLang="en-US" sz="2400" dirty="0" err="1"/>
              <a:t>상처받으셨을지</a:t>
            </a:r>
            <a:r>
              <a:rPr lang="ko-KR" altLang="en-US" sz="2400" dirty="0"/>
              <a:t> 이해해요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사랑하는 사람과의 대화에서 그런 감정을 느끼는 것은 당연해요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상대방도 당신의 마음을 알면 분명 이해할 거예요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E4DF2-84E7-C0FD-0BE2-7CF014461D61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대인관계 이론은 관계 내 감정 경험의 타당화가 치료적 변화를 촉진한다고 본다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정서중심치료</a:t>
            </a:r>
            <a:r>
              <a:rPr lang="en-US" altLang="ko-KR" sz="2000" dirty="0"/>
              <a:t>(EFT)</a:t>
            </a:r>
            <a:r>
              <a:rPr lang="ko-KR" altLang="en-US" sz="2000" dirty="0"/>
              <a:t>는 애착 이론을 기반으로 관계 내 정서적 반응성과 안정된 애착을 형성하도록 돕는다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83849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BD63C-2880-73C6-FBF0-AA23F886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9F4EB0-759D-FC65-2E01-770532B565A6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880F5-62C5-E641-1271-9DBE1BC3228F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공감형 </a:t>
            </a:r>
            <a:r>
              <a:rPr lang="en-US" altLang="ko-KR" sz="2800" dirty="0"/>
              <a:t>× </a:t>
            </a:r>
            <a:r>
              <a:rPr lang="ko-KR" altLang="en-US" sz="2800" dirty="0"/>
              <a:t>회복</a:t>
            </a:r>
            <a:r>
              <a:rPr lang="en-US" altLang="ko-KR" sz="2800" dirty="0"/>
              <a:t>·</a:t>
            </a:r>
            <a:r>
              <a:rPr lang="ko-KR" altLang="en-US" sz="2800" dirty="0"/>
              <a:t>적응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29BFF-A055-4221-16A3-451D62119BB8}"/>
              </a:ext>
            </a:extLst>
          </p:cNvPr>
          <p:cNvSpPr txBox="1"/>
          <p:nvPr/>
        </p:nvSpPr>
        <p:spPr>
          <a:xfrm>
            <a:off x="177671" y="1879413"/>
            <a:ext cx="7042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좌절</a:t>
            </a:r>
            <a:r>
              <a:rPr lang="en-US" altLang="ko-KR" sz="2400" dirty="0"/>
              <a:t>·</a:t>
            </a:r>
            <a:r>
              <a:rPr lang="ko-KR" altLang="en-US" sz="2400" dirty="0"/>
              <a:t>상처 공감</a:t>
            </a:r>
            <a:r>
              <a:rPr lang="en-US" altLang="ko-KR" sz="2400" dirty="0"/>
              <a:t>, '</a:t>
            </a:r>
            <a:r>
              <a:rPr lang="ko-KR" altLang="en-US" sz="2400" dirty="0"/>
              <a:t>함께 회복</a:t>
            </a:r>
            <a:r>
              <a:rPr lang="en-US" altLang="ko-KR" sz="2400" dirty="0"/>
              <a:t>' </a:t>
            </a:r>
            <a:r>
              <a:rPr lang="ko-KR" altLang="en-US" sz="2400" dirty="0"/>
              <a:t>메시지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7B34C-9885-8ACD-3834-48FD356AD2CA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힘든 시간을 겪으셨지만</a:t>
            </a:r>
            <a:r>
              <a:rPr lang="en-US" altLang="ko-KR" sz="2400" dirty="0"/>
              <a:t>, </a:t>
            </a:r>
            <a:r>
              <a:rPr lang="ko-KR" altLang="en-US" sz="2400" dirty="0"/>
              <a:t>이미 여기까지 잘 </a:t>
            </a:r>
            <a:r>
              <a:rPr lang="ko-KR" altLang="en-US" sz="2400" dirty="0" err="1"/>
              <a:t>견뎌내셨어요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 아픔을 혼자 감당하지 않아도 돼요</a:t>
            </a:r>
            <a:r>
              <a:rPr lang="en-US" altLang="ko-KR" sz="2400" dirty="0"/>
              <a:t>. </a:t>
            </a:r>
            <a:r>
              <a:rPr lang="ko-KR" altLang="en-US" sz="2400" dirty="0"/>
              <a:t>제가 함께 </a:t>
            </a:r>
            <a:r>
              <a:rPr lang="ko-KR" altLang="en-US" sz="2400" dirty="0" err="1"/>
              <a:t>있을게요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당신의 회복 과정을 믿어요</a:t>
            </a:r>
            <a:r>
              <a:rPr lang="en-US" altLang="ko-KR" sz="2400" dirty="0"/>
              <a:t>. </a:t>
            </a:r>
            <a:r>
              <a:rPr lang="ko-KR" altLang="en-US" sz="2400" dirty="0"/>
              <a:t>천천히</a:t>
            </a:r>
            <a:r>
              <a:rPr lang="en-US" altLang="ko-KR" sz="2400" dirty="0"/>
              <a:t>, </a:t>
            </a:r>
            <a:r>
              <a:rPr lang="ko-KR" altLang="en-US" sz="2400" dirty="0"/>
              <a:t>함께 나아가요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AA97E-7D0E-D26B-C6D4-34128E47FBDA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회복탄력성 이론은 스트레스 상황에서도 적응적 기능을 유지하는 능력을 강조한다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Dialectical Behavior Therapy</a:t>
            </a:r>
            <a:r>
              <a:rPr lang="ko-KR" altLang="en-US" sz="2000" dirty="0"/>
              <a:t>의 감정 타당화 기법은 내담자의 고통을 인정하면서 동시에 변화 가능성을 제시한다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540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E5FF-2E27-2F3B-9056-54460EE7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560745-C4EA-08BF-3341-42FD370F1E9E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AAF04-FB38-D188-BE1A-8D74D021CC30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공감형 </a:t>
            </a:r>
            <a:r>
              <a:rPr lang="en-US" altLang="ko-KR" sz="2800" dirty="0"/>
              <a:t>× </a:t>
            </a:r>
            <a:r>
              <a:rPr lang="ko-KR" altLang="en-US" sz="2800" dirty="0"/>
              <a:t>행동</a:t>
            </a:r>
            <a:r>
              <a:rPr lang="en-US" altLang="ko-KR" sz="2800" dirty="0"/>
              <a:t>·</a:t>
            </a:r>
            <a:r>
              <a:rPr lang="ko-KR" altLang="en-US" sz="2800" dirty="0"/>
              <a:t>습관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3BFF7-7216-B01D-C5A2-98C5AA354AEC}"/>
              </a:ext>
            </a:extLst>
          </p:cNvPr>
          <p:cNvSpPr txBox="1"/>
          <p:nvPr/>
        </p:nvSpPr>
        <p:spPr>
          <a:xfrm>
            <a:off x="177671" y="1879413"/>
            <a:ext cx="6901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감정적 부담 완화</a:t>
            </a:r>
            <a:r>
              <a:rPr lang="en-US" altLang="ko-KR" sz="2400" dirty="0"/>
              <a:t>, </a:t>
            </a:r>
            <a:r>
              <a:rPr lang="ko-KR" altLang="en-US" sz="2400" dirty="0"/>
              <a:t>작은 실천 격려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F8FC9-0AC0-E2DA-071F-07A184204022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조금씩만 해도 충분해요</a:t>
            </a:r>
            <a:r>
              <a:rPr lang="en-US" altLang="ko-KR" sz="2400" dirty="0"/>
              <a:t>. </a:t>
            </a:r>
            <a:r>
              <a:rPr lang="ko-KR" altLang="en-US" sz="2400" dirty="0"/>
              <a:t>당신의 속도로 천천히 나아가면 돼요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완벽하지 않아도 괜찮아요</a:t>
            </a:r>
            <a:r>
              <a:rPr lang="en-US" altLang="ko-KR" sz="2400" dirty="0"/>
              <a:t>. </a:t>
            </a:r>
            <a:r>
              <a:rPr lang="ko-KR" altLang="en-US" sz="2400" dirty="0"/>
              <a:t>시도하는 것만으로도 대단해요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실천이 부담스럽다면</a:t>
            </a:r>
            <a:r>
              <a:rPr lang="en-US" altLang="ko-KR" sz="2400" dirty="0"/>
              <a:t>, </a:t>
            </a:r>
            <a:r>
              <a:rPr lang="ko-KR" altLang="en-US" sz="2400" dirty="0"/>
              <a:t>먼저 마음의 준비부터 시작해요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D8F88-A69A-5D6C-AE10-CF45AD7A4223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행동활성화 접근에서는 초기 단계에서 동기 강화와 감정적 지지가 중요하다고 본다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동기강화상담의 공감 원칙은 내담자의 양가감정을 존중하면서 변화를 촉진한다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766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6D85-E6F5-5025-7A10-9420D4FB3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FDA457-B684-020A-E943-90D26A311534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32EDA-F17F-E972-C66F-1C8FAA2889E0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인지형 </a:t>
            </a:r>
            <a:r>
              <a:rPr lang="en-US" altLang="ko-KR" sz="2800" dirty="0"/>
              <a:t>× </a:t>
            </a:r>
            <a:r>
              <a:rPr lang="ko-KR" altLang="en-US" sz="2800" dirty="0"/>
              <a:t>자기인식</a:t>
            </a:r>
            <a:r>
              <a:rPr lang="en-US" altLang="ko-KR" sz="2800" dirty="0"/>
              <a:t>·</a:t>
            </a:r>
            <a:r>
              <a:rPr lang="ko-KR" altLang="en-US" sz="2800" dirty="0"/>
              <a:t>정서조절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A8988-3043-95A6-E18C-C023B24F9DE7}"/>
              </a:ext>
            </a:extLst>
          </p:cNvPr>
          <p:cNvSpPr txBox="1"/>
          <p:nvPr/>
        </p:nvSpPr>
        <p:spPr>
          <a:xfrm>
            <a:off x="177671" y="1879413"/>
            <a:ext cx="5750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감정 원인 논리적 분석</a:t>
            </a:r>
            <a:r>
              <a:rPr lang="en-US" altLang="ko-KR" sz="2400" dirty="0"/>
              <a:t>, </a:t>
            </a:r>
            <a:r>
              <a:rPr lang="ko-KR" altLang="en-US" sz="2400" dirty="0"/>
              <a:t>사고 탐색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069DD-FEDE-36B5-25EA-F448F8CD7A2B}"/>
              </a:ext>
            </a:extLst>
          </p:cNvPr>
          <p:cNvSpPr txBox="1"/>
          <p:nvPr/>
        </p:nvSpPr>
        <p:spPr>
          <a:xfrm>
            <a:off x="177671" y="2793191"/>
            <a:ext cx="10889722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그때 어떤 생각이 이 감정을 불러일으켰을까요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감정이 생긴 이유를 생각해보면</a:t>
            </a:r>
            <a:r>
              <a:rPr lang="en-US" altLang="ko-KR" sz="2400" dirty="0"/>
              <a:t>, </a:t>
            </a:r>
            <a:r>
              <a:rPr lang="ko-KR" altLang="en-US" sz="2400" dirty="0"/>
              <a:t>어떤 신념이 영향을 미쳤을까요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 상황을 다시 생각해보면</a:t>
            </a:r>
            <a:r>
              <a:rPr lang="en-US" altLang="ko-KR" sz="2400" dirty="0"/>
              <a:t>, </a:t>
            </a:r>
            <a:r>
              <a:rPr lang="ko-KR" altLang="en-US" sz="2400" dirty="0"/>
              <a:t>다르게 해석할 방법이 있을까요</a:t>
            </a:r>
            <a:r>
              <a:rPr lang="en-US" altLang="ko-KR" sz="2400" dirty="0"/>
              <a:t>?"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9B3F2-A064-29CE-5BD1-4286B47B5864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인지행동치료</a:t>
            </a:r>
            <a:r>
              <a:rPr lang="en-US" altLang="ko-KR" sz="2000" dirty="0"/>
              <a:t>(CBT)</a:t>
            </a:r>
            <a:r>
              <a:rPr lang="ko-KR" altLang="en-US" sz="2000" dirty="0"/>
              <a:t>는 사고</a:t>
            </a:r>
            <a:r>
              <a:rPr lang="en-US" altLang="ko-KR" sz="2000" dirty="0"/>
              <a:t>-</a:t>
            </a:r>
            <a:r>
              <a:rPr lang="ko-KR" altLang="en-US" sz="2000" dirty="0"/>
              <a:t>감정</a:t>
            </a:r>
            <a:r>
              <a:rPr lang="en-US" altLang="ko-KR" sz="2000" dirty="0"/>
              <a:t>-</a:t>
            </a:r>
            <a:r>
              <a:rPr lang="ko-KR" altLang="en-US" sz="2000" dirty="0"/>
              <a:t>행동 간의 관계를 이해하고 비합리적 사고를 교정하도록 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Beck</a:t>
            </a:r>
            <a:r>
              <a:rPr lang="ko-KR" altLang="en-US" sz="2000" dirty="0"/>
              <a:t>의 인지 모델은 자동적 사고를 탐지하고 도전하는 과정을 통해 정서 조절을 돕는다고 본다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1833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D7137-3394-0688-3506-5FB27861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5D365A-051B-526A-6518-56FF22A6D7A7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32543-551F-34FA-55B6-D82EA3DA3989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인지형 </a:t>
            </a:r>
            <a:r>
              <a:rPr lang="en-US" altLang="ko-KR" sz="2800" dirty="0"/>
              <a:t>× </a:t>
            </a:r>
            <a:r>
              <a:rPr lang="ko-KR" altLang="en-US" sz="2800" dirty="0"/>
              <a:t>관계</a:t>
            </a:r>
            <a:r>
              <a:rPr lang="en-US" altLang="ko-KR" sz="2800" dirty="0"/>
              <a:t>·</a:t>
            </a:r>
            <a:r>
              <a:rPr lang="ko-KR" altLang="en-US" sz="2800" dirty="0"/>
              <a:t>소통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F3DEE-D578-8563-76EC-883DCF4FBC60}"/>
              </a:ext>
            </a:extLst>
          </p:cNvPr>
          <p:cNvSpPr txBox="1"/>
          <p:nvPr/>
        </p:nvSpPr>
        <p:spPr>
          <a:xfrm>
            <a:off x="177671" y="1879413"/>
            <a:ext cx="7740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관계 오해 논리적 재해석</a:t>
            </a:r>
            <a:r>
              <a:rPr lang="en-US" altLang="ko-KR" sz="2400" dirty="0"/>
              <a:t>, </a:t>
            </a:r>
            <a:r>
              <a:rPr lang="ko-KR" altLang="en-US" sz="2400" dirty="0"/>
              <a:t>사실관계 중시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8B88A-9FB7-E036-8EA7-889AF6205329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 상황에서 상대방의 의도를 어떻게 해석하셨나요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관계에서의 오해는 종종 사고 왜곡에서 비롯돼요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감정보다 사실에 집중하면 관계 개선 방법이 보일 거예요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E276F-6B15-4C47-DB54-C351D851B49D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인지적 대인관계 치료</a:t>
            </a:r>
            <a:r>
              <a:rPr lang="en-US" altLang="ko-KR" sz="2000" dirty="0"/>
              <a:t>(Cognitive Interpersonal Therapy)</a:t>
            </a:r>
            <a:r>
              <a:rPr lang="ko-KR" altLang="en-US" sz="2000" dirty="0"/>
              <a:t>는 귀인 오류</a:t>
            </a:r>
            <a:r>
              <a:rPr lang="en-US" altLang="ko-KR" sz="2000" dirty="0"/>
              <a:t>(attribution errors)</a:t>
            </a:r>
            <a:r>
              <a:rPr lang="ko-KR" altLang="en-US" sz="2000" dirty="0"/>
              <a:t>와 마음 이론</a:t>
            </a:r>
            <a:r>
              <a:rPr lang="en-US" altLang="ko-KR" sz="2000" dirty="0"/>
              <a:t>(theory of mind) </a:t>
            </a:r>
            <a:r>
              <a:rPr lang="ko-KR" altLang="en-US" sz="2000" dirty="0"/>
              <a:t>결함을 교정하여 관계 기능을 개선한다</a:t>
            </a:r>
            <a:r>
              <a:rPr lang="en-US" altLang="ko-KR" sz="2000" dirty="0"/>
              <a:t>. CBT</a:t>
            </a:r>
            <a:r>
              <a:rPr lang="ko-KR" altLang="en-US" sz="2000" dirty="0"/>
              <a:t>의 인지 재구조화는 관계에서의 부정적 해석 편향을 수정한다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2968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8131D-69C0-2516-9216-36994722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A9A81A-8E87-3106-1C03-6A80D3A30EB0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44C82-CEC0-F449-4D6C-1B8B3B005F48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인지형 </a:t>
            </a:r>
            <a:r>
              <a:rPr lang="en-US" altLang="ko-KR" sz="2800" dirty="0"/>
              <a:t>× </a:t>
            </a:r>
            <a:r>
              <a:rPr lang="ko-KR" altLang="en-US" sz="2800" dirty="0"/>
              <a:t>회복</a:t>
            </a:r>
            <a:r>
              <a:rPr lang="en-US" altLang="ko-KR" sz="2800" dirty="0"/>
              <a:t>·</a:t>
            </a:r>
            <a:r>
              <a:rPr lang="ko-KR" altLang="en-US" sz="2800" dirty="0"/>
              <a:t>적응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57555-E7BE-FBF8-D73D-080555A286D4}"/>
              </a:ext>
            </a:extLst>
          </p:cNvPr>
          <p:cNvSpPr txBox="1"/>
          <p:nvPr/>
        </p:nvSpPr>
        <p:spPr>
          <a:xfrm>
            <a:off x="177671" y="1879413"/>
            <a:ext cx="6380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스트레스 요인 체계적 분석</a:t>
            </a:r>
            <a:r>
              <a:rPr lang="en-US" altLang="ko-KR" sz="2400" dirty="0"/>
              <a:t>·</a:t>
            </a:r>
            <a:r>
              <a:rPr lang="ko-KR" altLang="en-US" sz="2400" dirty="0"/>
              <a:t>분류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DA403-CF0C-FC4D-D33A-0207D6C195DB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스트레스 상황을 요인별로 나눠볼까요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문제를 체계적으로 분석하면 해결책이 더 명확하게 보일 거예요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역경을 극복하려면</a:t>
            </a:r>
            <a:r>
              <a:rPr lang="en-US" altLang="ko-KR" sz="2400" dirty="0"/>
              <a:t>, </a:t>
            </a:r>
            <a:r>
              <a:rPr lang="ko-KR" altLang="en-US" sz="2400" dirty="0"/>
              <a:t>먼저 문제의 본질을 이해하는 것이 중요해요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2B381-4FDA-E47C-193D-1418DB7E2500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문제 해결 치료</a:t>
            </a:r>
            <a:r>
              <a:rPr lang="en-US" altLang="ko-KR" sz="2000" dirty="0"/>
              <a:t>(Problem-Solving Therapy)</a:t>
            </a:r>
            <a:r>
              <a:rPr lang="ko-KR" altLang="en-US" sz="2000" dirty="0"/>
              <a:t>는 스트레스 상황을 정의</a:t>
            </a:r>
            <a:r>
              <a:rPr lang="en-US" altLang="ko-KR" sz="2000" dirty="0"/>
              <a:t>-</a:t>
            </a:r>
            <a:r>
              <a:rPr lang="ko-KR" altLang="en-US" sz="2000" dirty="0"/>
              <a:t>대안 생성</a:t>
            </a:r>
            <a:r>
              <a:rPr lang="en-US" altLang="ko-KR" sz="2000" dirty="0"/>
              <a:t>-</a:t>
            </a:r>
            <a:r>
              <a:rPr lang="ko-KR" altLang="en-US" sz="2000" dirty="0"/>
              <a:t>평가</a:t>
            </a:r>
            <a:r>
              <a:rPr lang="en-US" altLang="ko-KR" sz="2000" dirty="0"/>
              <a:t>-</a:t>
            </a:r>
            <a:r>
              <a:rPr lang="ko-KR" altLang="en-US" sz="2000" dirty="0"/>
              <a:t>실행의 단계로 </a:t>
            </a:r>
            <a:r>
              <a:rPr lang="ko-KR" altLang="en-US" sz="2000" dirty="0" err="1"/>
              <a:t>구조화하여</a:t>
            </a:r>
            <a:r>
              <a:rPr lang="ko-KR" altLang="en-US" sz="2000" dirty="0"/>
              <a:t> 대처 능력을 향상시킨다</a:t>
            </a:r>
            <a:r>
              <a:rPr lang="en-US" altLang="ko-KR" sz="2000" dirty="0"/>
              <a:t>. CBT</a:t>
            </a:r>
            <a:r>
              <a:rPr lang="ko-KR" altLang="en-US" sz="2000" dirty="0"/>
              <a:t>의 인지 재구조화는 스트레스 상황에 대한 파국적 사고를 수정한다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70151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6CA2D-FE17-3946-B18A-506A2DF53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D28747-9052-7FBE-4375-084BDB892FFE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26C8D-633C-364E-B279-20FFCCA50C01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 인지형 </a:t>
            </a:r>
            <a:r>
              <a:rPr lang="en-US" altLang="ko-KR" sz="2800" dirty="0"/>
              <a:t>× </a:t>
            </a:r>
            <a:r>
              <a:rPr lang="ko-KR" altLang="en-US" sz="2800" dirty="0"/>
              <a:t>행동</a:t>
            </a:r>
            <a:r>
              <a:rPr lang="en-US" altLang="ko-KR" sz="2800" dirty="0"/>
              <a:t>·</a:t>
            </a:r>
            <a:r>
              <a:rPr lang="ko-KR" altLang="en-US" sz="2800" dirty="0"/>
              <a:t>습관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0CFE9-1E9C-7453-3F07-707CAF53E353}"/>
              </a:ext>
            </a:extLst>
          </p:cNvPr>
          <p:cNvSpPr txBox="1"/>
          <p:nvPr/>
        </p:nvSpPr>
        <p:spPr>
          <a:xfrm>
            <a:off x="177671" y="1879413"/>
            <a:ext cx="575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행동 루틴 비합리적 패턴 점검</a:t>
            </a:r>
            <a:r>
              <a:rPr lang="en-US" altLang="ko-KR" sz="2400" dirty="0"/>
              <a:t>·</a:t>
            </a:r>
            <a:r>
              <a:rPr lang="ko-KR" altLang="en-US" sz="2400" dirty="0"/>
              <a:t>개선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A7BCD-DB23-9010-B1A0-A79209DA509D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현재 행동 패턴을 분석해보면</a:t>
            </a:r>
            <a:r>
              <a:rPr lang="en-US" altLang="ko-KR" sz="2400" dirty="0"/>
              <a:t>, </a:t>
            </a:r>
            <a:r>
              <a:rPr lang="ko-KR" altLang="en-US" sz="2400" dirty="0"/>
              <a:t>어떤 부분이 비효율적인가요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습관이 당신에게 어떤 영향을 미치는지 논리적으로 살펴봐요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목표 달성을 위해 행동 계획을 체계적으로 수립하는 것이 중요해요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19DCF-0FE0-992F-49D7-DE8DF5FDD8F8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REBT(Rational Emotive Behavior Therapy)</a:t>
            </a:r>
            <a:r>
              <a:rPr lang="ko-KR" altLang="en-US" sz="2000" dirty="0"/>
              <a:t>는 비합리적 신념</a:t>
            </a:r>
            <a:r>
              <a:rPr lang="en-US" altLang="ko-KR" sz="2000" dirty="0"/>
              <a:t>(irrational beliefs)</a:t>
            </a:r>
            <a:r>
              <a:rPr lang="ko-KR" altLang="en-US" sz="2000" dirty="0"/>
              <a:t>이 부적응적 행동을 유발한다고 보고</a:t>
            </a:r>
            <a:r>
              <a:rPr lang="en-US" altLang="ko-KR" sz="2000" dirty="0"/>
              <a:t>, </a:t>
            </a:r>
            <a:r>
              <a:rPr lang="ko-KR" altLang="en-US" sz="2000" dirty="0"/>
              <a:t>논박</a:t>
            </a:r>
            <a:r>
              <a:rPr lang="en-US" altLang="ko-KR" sz="2000" dirty="0"/>
              <a:t>(disputation)</a:t>
            </a:r>
            <a:r>
              <a:rPr lang="ko-KR" altLang="en-US" sz="2000" dirty="0"/>
              <a:t>을 통해 이를 수정한다</a:t>
            </a:r>
            <a:r>
              <a:rPr lang="en-US" altLang="ko-KR" sz="2000" dirty="0"/>
              <a:t>. Behavioral Activation</a:t>
            </a:r>
            <a:r>
              <a:rPr lang="ko-KR" altLang="en-US" sz="2000" dirty="0"/>
              <a:t>에서도 행동</a:t>
            </a:r>
            <a:r>
              <a:rPr lang="en-US" altLang="ko-KR" sz="2000" dirty="0"/>
              <a:t>-</a:t>
            </a:r>
            <a:r>
              <a:rPr lang="ko-KR" altLang="en-US" sz="2000" dirty="0"/>
              <a:t>사고</a:t>
            </a:r>
            <a:r>
              <a:rPr lang="en-US" altLang="ko-KR" sz="2000" dirty="0"/>
              <a:t>-</a:t>
            </a:r>
            <a:r>
              <a:rPr lang="ko-KR" altLang="en-US" sz="2000" dirty="0"/>
              <a:t>감정의 연결고리를 분석하여 우울증을 치료한다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20815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BEC0-B9AC-35D1-B61B-5CD9C6AD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314308-C687-9F78-BFA8-64014389581C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AF7B7-18B1-A2CD-4C0A-C10C4D161239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동기형 </a:t>
            </a:r>
            <a:r>
              <a:rPr lang="en-US" altLang="ko-KR" sz="2800" dirty="0"/>
              <a:t>× </a:t>
            </a:r>
            <a:r>
              <a:rPr lang="ko-KR" altLang="en-US" sz="2800" dirty="0"/>
              <a:t>자기인식</a:t>
            </a:r>
            <a:r>
              <a:rPr lang="en-US" altLang="ko-KR" sz="2800" dirty="0"/>
              <a:t>·</a:t>
            </a:r>
            <a:r>
              <a:rPr lang="ko-KR" altLang="en-US" sz="2800" dirty="0"/>
              <a:t>정서조절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D159B-7225-1A5E-BA6E-24B455B05D9A}"/>
              </a:ext>
            </a:extLst>
          </p:cNvPr>
          <p:cNvSpPr txBox="1"/>
          <p:nvPr/>
        </p:nvSpPr>
        <p:spPr>
          <a:xfrm>
            <a:off x="177671" y="1879413"/>
            <a:ext cx="6964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감정 조절 필요성</a:t>
            </a:r>
            <a:r>
              <a:rPr lang="en-US" altLang="ko-KR" sz="2400" dirty="0"/>
              <a:t>·</a:t>
            </a:r>
            <a:r>
              <a:rPr lang="ko-KR" altLang="en-US" sz="2400" dirty="0"/>
              <a:t>긍정 변화 강조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A6A70-A2E6-5A68-FF8C-5342514FFC86}"/>
              </a:ext>
            </a:extLst>
          </p:cNvPr>
          <p:cNvSpPr txBox="1"/>
          <p:nvPr/>
        </p:nvSpPr>
        <p:spPr>
          <a:xfrm>
            <a:off x="177671" y="2793191"/>
            <a:ext cx="10842426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감정을 잘 다루게 되면</a:t>
            </a:r>
            <a:r>
              <a:rPr lang="en-US" altLang="ko-KR" sz="2400" dirty="0"/>
              <a:t>, </a:t>
            </a:r>
            <a:r>
              <a:rPr lang="ko-KR" altLang="en-US" sz="2400" dirty="0"/>
              <a:t>당신의 삶이 어떻게 달라질까요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감정 조절 능력을 키우는 것이 당신에게 왜 중요한가요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감정을 이해하고 조절하는 것은 원하는 삶을 살기 위한 첫걸음이에요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E50AE-7114-E263-3A76-ED9BEE928A51}"/>
              </a:ext>
            </a:extLst>
          </p:cNvPr>
          <p:cNvSpPr txBox="1"/>
          <p:nvPr/>
        </p:nvSpPr>
        <p:spPr>
          <a:xfrm>
            <a:off x="177671" y="5333682"/>
            <a:ext cx="11902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동기강화상담</a:t>
            </a:r>
            <a:r>
              <a:rPr lang="en-US" altLang="ko-KR" sz="2000" dirty="0"/>
              <a:t>(Motivational Interviewing)</a:t>
            </a:r>
            <a:r>
              <a:rPr lang="ko-KR" altLang="en-US" sz="2000" dirty="0"/>
              <a:t>은 내담자의 양가감정을 탐색하고</a:t>
            </a:r>
            <a:r>
              <a:rPr lang="en-US" altLang="ko-KR" sz="2000" dirty="0"/>
              <a:t>, </a:t>
            </a:r>
            <a:r>
              <a:rPr lang="ko-KR" altLang="en-US" sz="2000" dirty="0"/>
              <a:t>변화 대화를 유도하여 내적 동기를 강화한다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자기결정이론</a:t>
            </a:r>
            <a:r>
              <a:rPr lang="en-US" altLang="ko-KR" sz="2000" dirty="0"/>
              <a:t>(Self-Determination Theory)</a:t>
            </a:r>
            <a:r>
              <a:rPr lang="ko-KR" altLang="en-US" sz="2000" dirty="0"/>
              <a:t>은 자율성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유능감</a:t>
            </a:r>
            <a:r>
              <a:rPr lang="en-US" altLang="ko-KR" sz="2000" dirty="0"/>
              <a:t>, </a:t>
            </a:r>
            <a:r>
              <a:rPr lang="ko-KR" altLang="en-US" sz="2000" dirty="0"/>
              <a:t>관계성 욕구가 충족될 때 지속적인 변화가 이루어진다고 본다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17019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9E-1448-2133-5E3D-B50B25C5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1FBC17-D2DE-75EF-9B7A-79A2AE47EB8D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47FFE-9D9C-3352-1381-4A75DB22FF0B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동기형 </a:t>
            </a:r>
            <a:r>
              <a:rPr lang="en-US" altLang="ko-KR" sz="2800" dirty="0"/>
              <a:t>× </a:t>
            </a:r>
            <a:r>
              <a:rPr lang="ko-KR" altLang="en-US" sz="2800" dirty="0"/>
              <a:t>관계</a:t>
            </a:r>
            <a:r>
              <a:rPr lang="en-US" altLang="ko-KR" sz="2800" dirty="0"/>
              <a:t>·</a:t>
            </a:r>
            <a:r>
              <a:rPr lang="ko-KR" altLang="en-US" sz="2800" dirty="0"/>
              <a:t>소통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4B3CE-72B5-E1AE-7C2C-1EB3D0180E78}"/>
              </a:ext>
            </a:extLst>
          </p:cNvPr>
          <p:cNvSpPr txBox="1"/>
          <p:nvPr/>
        </p:nvSpPr>
        <p:spPr>
          <a:xfrm>
            <a:off x="177671" y="1879413"/>
            <a:ext cx="7137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관계 개선 가능성</a:t>
            </a:r>
            <a:r>
              <a:rPr lang="en-US" altLang="ko-KR" sz="2400" dirty="0"/>
              <a:t>·</a:t>
            </a:r>
            <a:r>
              <a:rPr lang="ko-KR" altLang="en-US" sz="2400" dirty="0"/>
              <a:t>변화 의미 제시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816DB-B784-3CAF-5321-563A6A6CA489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관계를 개선하고 싶다는 마음이 이미 변화의 시작이에요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당신에게는 관계를 바꿀 수 있는 힘이 있어요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당신이라면 충분히 더 나은 관계를 만들 수 있어요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E623B-554E-1281-7982-073453BC8160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자기효능감 촉진 원칙은 내담자가 관계를 개선할 능력에 대한 믿음을 강화한다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해결중심치료</a:t>
            </a:r>
            <a:r>
              <a:rPr lang="en-US" altLang="ko-KR" sz="2000" dirty="0"/>
              <a:t>(Solution-Focused Therapy)</a:t>
            </a:r>
            <a:r>
              <a:rPr lang="ko-KR" altLang="en-US" sz="2000" dirty="0"/>
              <a:t>는 문제보다 해결에 초점을 맞추고</a:t>
            </a:r>
            <a:r>
              <a:rPr lang="en-US" altLang="ko-KR" sz="2000" dirty="0"/>
              <a:t>, </a:t>
            </a:r>
            <a:r>
              <a:rPr lang="ko-KR" altLang="en-US" sz="2000" dirty="0"/>
              <a:t>예외 질문을 통해 긍정적 변화를 유도한다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1925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1A10-BDDA-7B0E-7B79-110ADEB9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04231C-6AD3-10F3-9819-4068F2C3ED3E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5D906-8392-DDD9-5524-CC6C49F0847C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동기형 </a:t>
            </a:r>
            <a:r>
              <a:rPr lang="en-US" altLang="ko-KR" sz="2800" dirty="0"/>
              <a:t>× </a:t>
            </a:r>
            <a:r>
              <a:rPr lang="ko-KR" altLang="en-US" sz="2800" dirty="0"/>
              <a:t>회복</a:t>
            </a:r>
            <a:r>
              <a:rPr lang="en-US" altLang="ko-KR" sz="2800" dirty="0"/>
              <a:t>·</a:t>
            </a:r>
            <a:r>
              <a:rPr lang="ko-KR" altLang="en-US" sz="2800" dirty="0"/>
              <a:t>적응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FA13D-CC54-D583-D7D8-3B03D7A4FAEC}"/>
              </a:ext>
            </a:extLst>
          </p:cNvPr>
          <p:cNvSpPr txBox="1"/>
          <p:nvPr/>
        </p:nvSpPr>
        <p:spPr>
          <a:xfrm>
            <a:off x="177671" y="1879413"/>
            <a:ext cx="575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위기 상황 회복 의지 자극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29E36-580B-B135-9308-955623492559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힘든 시간을 견뎌내고 있는 당신</a:t>
            </a:r>
            <a:r>
              <a:rPr lang="en-US" altLang="ko-KR" sz="2400" dirty="0"/>
              <a:t>, </a:t>
            </a:r>
            <a:r>
              <a:rPr lang="ko-KR" altLang="en-US" sz="2400" dirty="0"/>
              <a:t>정말 대단해요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경험이 당신을 더 강하고 지혜롭게 만들 거예요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당신에게는 이 상황을 극복할 힘이 있어요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A97BE-50C2-2AAC-89B0-960049C1D029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회복탄력성 중재는 강점 기반 접근법을 통해 역경 속에서도 성장 가능성을 제시한다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외상 후 성장</a:t>
            </a:r>
            <a:r>
              <a:rPr lang="en-US" altLang="ko-KR" sz="2000" dirty="0"/>
              <a:t>(Post-Traumatic Growth) </a:t>
            </a:r>
            <a:r>
              <a:rPr lang="ko-KR" altLang="en-US" sz="2000" dirty="0"/>
              <a:t>이론은 시련의 경험을 긍정적 변화로 전환하도록 돕는다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67264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49B-4F82-85E4-A902-7D4CB0BB0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51936E-8A1D-75FA-3A3F-F57A3028CEE6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ED21C-1382-D792-3565-062736297D63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동기형 </a:t>
            </a:r>
            <a:r>
              <a:rPr lang="en-US" altLang="ko-KR" sz="2800" dirty="0"/>
              <a:t>× </a:t>
            </a:r>
            <a:r>
              <a:rPr lang="ko-KR" altLang="en-US" sz="2800" dirty="0"/>
              <a:t>행동</a:t>
            </a:r>
            <a:r>
              <a:rPr lang="en-US" altLang="ko-KR" sz="2800" dirty="0"/>
              <a:t>·</a:t>
            </a:r>
            <a:r>
              <a:rPr lang="ko-KR" altLang="en-US" sz="2800" dirty="0"/>
              <a:t>습관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6375D9-5465-39CF-12DC-601E46F552CC}"/>
              </a:ext>
            </a:extLst>
          </p:cNvPr>
          <p:cNvSpPr txBox="1"/>
          <p:nvPr/>
        </p:nvSpPr>
        <p:spPr>
          <a:xfrm>
            <a:off x="177671" y="1879413"/>
            <a:ext cx="575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행동 변화 동기 부여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01D22-CB17-D225-27F0-9B2E38363819}"/>
              </a:ext>
            </a:extLst>
          </p:cNvPr>
          <p:cNvSpPr txBox="1"/>
          <p:nvPr/>
        </p:nvSpPr>
        <p:spPr>
          <a:xfrm>
            <a:off x="177671" y="2793191"/>
            <a:ext cx="11331157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작은 실천 하나가 큰 변화의 시작이에요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행동을 계속하면 당신의 삶이 어떻게 달라질까요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한 걸음씩 나아가다 보면</a:t>
            </a:r>
            <a:r>
              <a:rPr lang="en-US" altLang="ko-KR" sz="2400" dirty="0"/>
              <a:t>, </a:t>
            </a:r>
            <a:r>
              <a:rPr lang="ko-KR" altLang="en-US" sz="2400" dirty="0"/>
              <a:t>어느새 큰 변화를 만들어낸 자신을 발견할 거예요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ECD7E-54F3-64ED-688E-037CB9365F38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행동활성화 접근은 내재적 동기를 강화해 실질적 변화와 성취감을 유도한다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목표설정이론</a:t>
            </a:r>
            <a:r>
              <a:rPr lang="en-US" altLang="ko-KR" sz="2000" dirty="0"/>
              <a:t>(Goal-Setting Theory)</a:t>
            </a:r>
            <a:r>
              <a:rPr lang="ko-KR" altLang="en-US" sz="2000" dirty="0"/>
              <a:t>은 구체적이고 도전적인 목표가 동기를 극대화한다고 본다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82002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6A7CF-A44E-2E49-AD5F-5E624310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05871-834F-09FD-E4C0-119C758B0E2B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00690-0293-B446-2061-7E2478014567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행동형 </a:t>
            </a:r>
            <a:r>
              <a:rPr lang="en-US" altLang="ko-KR" sz="2800" dirty="0"/>
              <a:t>× </a:t>
            </a:r>
            <a:r>
              <a:rPr lang="ko-KR" altLang="en-US" sz="2800" dirty="0"/>
              <a:t>자기인식</a:t>
            </a:r>
            <a:r>
              <a:rPr lang="en-US" altLang="ko-KR" sz="2800" dirty="0"/>
              <a:t>·</a:t>
            </a:r>
            <a:r>
              <a:rPr lang="ko-KR" altLang="en-US" sz="2800" dirty="0"/>
              <a:t>정서조절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567C8-FCC8-300B-9F94-62A337DC9A6E}"/>
              </a:ext>
            </a:extLst>
          </p:cNvPr>
          <p:cNvSpPr txBox="1"/>
          <p:nvPr/>
        </p:nvSpPr>
        <p:spPr>
          <a:xfrm>
            <a:off x="177671" y="1879413"/>
            <a:ext cx="575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감정 조절 구체적 </a:t>
            </a:r>
            <a:r>
              <a:rPr lang="ko-KR" altLang="en-US" sz="2400" dirty="0" err="1"/>
              <a:t>실천법</a:t>
            </a:r>
            <a:r>
              <a:rPr lang="ko-KR" altLang="en-US" sz="2400" dirty="0"/>
              <a:t> 선호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EDF71-F66E-3BBA-7BE1-2E8F0D6166EF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지금 당장 할 수 있는 호흡법을 </a:t>
            </a:r>
            <a:r>
              <a:rPr lang="ko-KR" altLang="en-US" sz="2400" dirty="0" err="1"/>
              <a:t>알려드릴게요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감정이 복받칠 때 </a:t>
            </a:r>
            <a:r>
              <a:rPr lang="en-US" altLang="ko-KR" sz="2400" dirty="0"/>
              <a:t>5-4-3-2-1 </a:t>
            </a:r>
            <a:r>
              <a:rPr lang="ko-KR" altLang="en-US" sz="2400" dirty="0" err="1"/>
              <a:t>그라운딩</a:t>
            </a:r>
            <a:r>
              <a:rPr lang="ko-KR" altLang="en-US" sz="2400" dirty="0"/>
              <a:t> 기법을 시도해볼까요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매일 </a:t>
            </a:r>
            <a:r>
              <a:rPr lang="en-US" altLang="ko-KR" sz="2400" dirty="0"/>
              <a:t>5</a:t>
            </a:r>
            <a:r>
              <a:rPr lang="ko-KR" altLang="en-US" sz="2400" dirty="0"/>
              <a:t>분씩 명상하는 루틴을 만들어보는 건 어떨까요</a:t>
            </a:r>
            <a:r>
              <a:rPr lang="en-US" altLang="ko-KR" sz="2400" dirty="0"/>
              <a:t>?"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E630B-B50B-7181-1F34-EB7ADDC0885A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Dialectical Behavior Therapy(DBT)</a:t>
            </a:r>
            <a:r>
              <a:rPr lang="ko-KR" altLang="en-US" sz="2000" dirty="0"/>
              <a:t>의 정서 조절 기술</a:t>
            </a:r>
            <a:r>
              <a:rPr lang="en-US" altLang="ko-KR" sz="2000" dirty="0"/>
              <a:t>(emotion regulation skills)</a:t>
            </a:r>
            <a:r>
              <a:rPr lang="ko-KR" altLang="en-US" sz="2000" dirty="0"/>
              <a:t>은 </a:t>
            </a:r>
            <a:r>
              <a:rPr lang="ko-KR" altLang="en-US" sz="2000" dirty="0" err="1"/>
              <a:t>마음챙김</a:t>
            </a:r>
            <a:r>
              <a:rPr lang="en-US" altLang="ko-KR" sz="2000" dirty="0"/>
              <a:t>, </a:t>
            </a:r>
            <a:r>
              <a:rPr lang="ko-KR" altLang="en-US" sz="2000" dirty="0"/>
              <a:t>호흡법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그라운딩</a:t>
            </a:r>
            <a:r>
              <a:rPr lang="ko-KR" altLang="en-US" sz="2000" dirty="0"/>
              <a:t> 등 구체적이고 즉시 실행 가능한 기법을 제공한다</a:t>
            </a:r>
            <a:r>
              <a:rPr lang="en-US" altLang="ko-KR" sz="2000" dirty="0"/>
              <a:t>. Mindfulness-Based Stress Reduction(MBSR)</a:t>
            </a:r>
            <a:r>
              <a:rPr lang="ko-KR" altLang="en-US" sz="2000" dirty="0"/>
              <a:t>은 명상과 신체 스캔 등 체계적인 실습 프로토콜을 제공한다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68354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B2BB-B4D5-1AEC-80EA-C062B27C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9ADA5-F073-CD7B-E9C6-871759B94574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1EDA5-D307-7F57-1FDA-6E417B1D122F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행동형 </a:t>
            </a:r>
            <a:r>
              <a:rPr lang="en-US" altLang="ko-KR" sz="2800" dirty="0"/>
              <a:t>× </a:t>
            </a:r>
            <a:r>
              <a:rPr lang="ko-KR" altLang="en-US" sz="2800" dirty="0"/>
              <a:t>관계</a:t>
            </a:r>
            <a:r>
              <a:rPr lang="en-US" altLang="ko-KR" sz="2800" dirty="0"/>
              <a:t>·</a:t>
            </a:r>
            <a:r>
              <a:rPr lang="ko-KR" altLang="en-US" sz="2800" dirty="0"/>
              <a:t>소통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74D7A-1E68-4B1B-8A5B-E0C2DDCDEA45}"/>
              </a:ext>
            </a:extLst>
          </p:cNvPr>
          <p:cNvSpPr txBox="1"/>
          <p:nvPr/>
        </p:nvSpPr>
        <p:spPr>
          <a:xfrm>
            <a:off x="177671" y="1879413"/>
            <a:ext cx="8461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관계 대화 구체적 표현법</a:t>
            </a:r>
            <a:r>
              <a:rPr lang="en-US" altLang="ko-KR" sz="2400" dirty="0"/>
              <a:t>·</a:t>
            </a:r>
            <a:r>
              <a:rPr lang="ko-KR" altLang="en-US" sz="2400" dirty="0"/>
              <a:t>커뮤니케이션 기술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80FFB-F673-11F5-926F-6F7BAEA5E2B5}"/>
              </a:ext>
            </a:extLst>
          </p:cNvPr>
          <p:cNvSpPr txBox="1"/>
          <p:nvPr/>
        </p:nvSpPr>
        <p:spPr>
          <a:xfrm>
            <a:off x="177671" y="2793191"/>
            <a:ext cx="11078908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상대방에게 이렇게 말해보세요</a:t>
            </a:r>
            <a:r>
              <a:rPr lang="en-US" altLang="ko-KR" sz="2400" dirty="0"/>
              <a:t>: '</a:t>
            </a:r>
            <a:r>
              <a:rPr lang="ko-KR" altLang="en-US" sz="2400" dirty="0"/>
              <a:t>나는 </a:t>
            </a:r>
            <a:r>
              <a:rPr lang="en-US" altLang="ko-KR" sz="2400" dirty="0"/>
              <a:t>___</a:t>
            </a:r>
            <a:r>
              <a:rPr lang="ko-KR" altLang="en-US" sz="2400" dirty="0"/>
              <a:t>할 때 </a:t>
            </a:r>
            <a:r>
              <a:rPr lang="en-US" altLang="ko-KR" sz="2400" dirty="0"/>
              <a:t>___</a:t>
            </a:r>
            <a:r>
              <a:rPr lang="ko-KR" altLang="en-US" sz="2400" dirty="0"/>
              <a:t>한 감정을 느꼈어</a:t>
            </a:r>
            <a:r>
              <a:rPr lang="en-US" altLang="ko-KR" sz="2400" dirty="0"/>
              <a:t>'"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갈등 상황에서 사용할 </a:t>
            </a:r>
            <a:r>
              <a:rPr lang="en-US" altLang="ko-KR" sz="2400" dirty="0"/>
              <a:t>'</a:t>
            </a:r>
            <a:r>
              <a:rPr lang="ko-KR" altLang="en-US" sz="2400" dirty="0"/>
              <a:t>나</a:t>
            </a:r>
            <a:r>
              <a:rPr lang="en-US" altLang="ko-KR" sz="2400" dirty="0"/>
              <a:t>-</a:t>
            </a:r>
            <a:r>
              <a:rPr lang="ko-KR" altLang="en-US" sz="2400" dirty="0" err="1"/>
              <a:t>전달법</a:t>
            </a:r>
            <a:r>
              <a:rPr lang="en-US" altLang="ko-KR" sz="2400" dirty="0"/>
              <a:t>'</a:t>
            </a:r>
            <a:r>
              <a:rPr lang="ko-KR" altLang="en-US" sz="2400" dirty="0"/>
              <a:t>을 연습해봐요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관계 개선을 위해 매일 감사 표현을 한 번씩 실천해보는 건 어떨까요</a:t>
            </a:r>
            <a:r>
              <a:rPr lang="en-US" altLang="ko-KR" sz="2400" dirty="0"/>
              <a:t>?"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0A852-653D-91F0-311B-DBEF3DD68C2E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의사소통 기술 훈련</a:t>
            </a:r>
            <a:r>
              <a:rPr lang="en-US" altLang="ko-KR" sz="2000" dirty="0"/>
              <a:t>(communication skills training)</a:t>
            </a:r>
            <a:r>
              <a:rPr lang="ko-KR" altLang="en-US" sz="2000" dirty="0"/>
              <a:t>은 적극적 경청</a:t>
            </a:r>
            <a:r>
              <a:rPr lang="en-US" altLang="ko-KR" sz="2000" dirty="0"/>
              <a:t>, </a:t>
            </a:r>
            <a:r>
              <a:rPr lang="ko-KR" altLang="en-US" sz="2000" dirty="0"/>
              <a:t>나</a:t>
            </a:r>
            <a:r>
              <a:rPr lang="en-US" altLang="ko-KR" sz="2000" dirty="0"/>
              <a:t>-</a:t>
            </a:r>
            <a:r>
              <a:rPr lang="ko-KR" altLang="en-US" sz="2000" dirty="0" err="1"/>
              <a:t>전달법</a:t>
            </a:r>
            <a:r>
              <a:rPr lang="en-US" altLang="ko-KR" sz="2000" dirty="0"/>
              <a:t>, </a:t>
            </a:r>
            <a:r>
              <a:rPr lang="ko-KR" altLang="en-US" sz="2000" dirty="0"/>
              <a:t>비폭력 대화 등 구체적 기법을 가르친다</a:t>
            </a:r>
            <a:r>
              <a:rPr lang="en-US" altLang="ko-KR" sz="2000" dirty="0"/>
              <a:t>. Emotionally Focused Therapy</a:t>
            </a:r>
            <a:r>
              <a:rPr lang="ko-KR" altLang="en-US" sz="2000" dirty="0"/>
              <a:t>는 애착 기반 대화 기술을 실습한다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34625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01C7-BD42-1152-E49A-A14DAF36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70E5E-0814-2668-9948-790661A83DEB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C838A-D086-31DB-4BB3-0CAC91FCAE68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행동형 </a:t>
            </a:r>
            <a:r>
              <a:rPr lang="en-US" altLang="ko-KR" sz="2800" dirty="0"/>
              <a:t>× </a:t>
            </a:r>
            <a:r>
              <a:rPr lang="ko-KR" altLang="en-US" sz="2800" dirty="0"/>
              <a:t>회복</a:t>
            </a:r>
            <a:r>
              <a:rPr lang="en-US" altLang="ko-KR" sz="2800" dirty="0"/>
              <a:t>·</a:t>
            </a:r>
            <a:r>
              <a:rPr lang="ko-KR" altLang="en-US" sz="2800" dirty="0"/>
              <a:t>적응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A6F31-8CD0-D2D1-2106-778E39318FC0}"/>
              </a:ext>
            </a:extLst>
          </p:cNvPr>
          <p:cNvSpPr txBox="1"/>
          <p:nvPr/>
        </p:nvSpPr>
        <p:spPr>
          <a:xfrm>
            <a:off x="177671" y="1879413"/>
            <a:ext cx="7200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회복 실천 전략</a:t>
            </a:r>
            <a:r>
              <a:rPr lang="en-US" altLang="ko-KR" sz="2400" dirty="0"/>
              <a:t>(</a:t>
            </a:r>
            <a:r>
              <a:rPr lang="ko-KR" altLang="en-US" sz="2400" dirty="0"/>
              <a:t>일상 루틴</a:t>
            </a:r>
            <a:r>
              <a:rPr lang="en-US" altLang="ko-KR" sz="2400" dirty="0"/>
              <a:t>·</a:t>
            </a:r>
            <a:r>
              <a:rPr lang="ko-KR" altLang="en-US" sz="2400" dirty="0"/>
              <a:t>활동</a:t>
            </a:r>
            <a:r>
              <a:rPr lang="en-US" altLang="ko-KR" sz="2400" dirty="0"/>
              <a:t>) </a:t>
            </a:r>
            <a:r>
              <a:rPr lang="ko-KR" altLang="en-US" sz="2400" dirty="0"/>
              <a:t>선호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B5D48-B67E-9F7E-FBC3-CE232882BEBE}"/>
              </a:ext>
            </a:extLst>
          </p:cNvPr>
          <p:cNvSpPr txBox="1"/>
          <p:nvPr/>
        </p:nvSpPr>
        <p:spPr>
          <a:xfrm>
            <a:off x="177671" y="2793191"/>
            <a:ext cx="10448288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스트레스 회복을 위해 매일 </a:t>
            </a:r>
            <a:r>
              <a:rPr lang="en-US" altLang="ko-KR" sz="2400" dirty="0"/>
              <a:t>30</a:t>
            </a:r>
            <a:r>
              <a:rPr lang="ko-KR" altLang="en-US" sz="2400" dirty="0"/>
              <a:t>분 산책하는 루틴을 만들어볼까요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기분이 나아지는 활동 목록을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하루에 하나씩 실천해보세요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회복 계획을 구체적으로 세워봐요</a:t>
            </a:r>
            <a:r>
              <a:rPr lang="en-US" altLang="ko-KR" sz="2400" dirty="0"/>
              <a:t>: </a:t>
            </a:r>
            <a:r>
              <a:rPr lang="ko-KR" altLang="en-US" sz="2400" dirty="0"/>
              <a:t>첫째 주에는 </a:t>
            </a:r>
            <a:r>
              <a:rPr lang="en-US" altLang="ko-KR" sz="2400" dirty="0"/>
              <a:t>___, </a:t>
            </a:r>
            <a:r>
              <a:rPr lang="ko-KR" altLang="en-US" sz="2400" dirty="0"/>
              <a:t>둘째 주에는 </a:t>
            </a:r>
            <a:r>
              <a:rPr lang="en-US" altLang="ko-KR" sz="2400" dirty="0"/>
              <a:t>___"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FAB59-3DC5-7F31-C1BC-62A850A1475C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Behavioral Activation</a:t>
            </a:r>
            <a:r>
              <a:rPr lang="ko-KR" altLang="en-US" sz="2000" dirty="0"/>
              <a:t>은 우울증 회복을 위해 즐거운 활동 증가와 일일 활동 계획을 핵심으로 한다</a:t>
            </a:r>
            <a:r>
              <a:rPr lang="en-US" altLang="ko-KR" sz="2000" dirty="0"/>
              <a:t>. </a:t>
            </a:r>
            <a:r>
              <a:rPr lang="ko-KR" altLang="en-US" sz="2000" dirty="0"/>
              <a:t>스트레스 관리 훈련은 운동</a:t>
            </a:r>
            <a:r>
              <a:rPr lang="en-US" altLang="ko-KR" sz="2000" dirty="0"/>
              <a:t>, </a:t>
            </a:r>
            <a:r>
              <a:rPr lang="ko-KR" altLang="en-US" sz="2000" dirty="0"/>
              <a:t>이완 기법</a:t>
            </a:r>
            <a:r>
              <a:rPr lang="en-US" altLang="ko-KR" sz="2000" dirty="0"/>
              <a:t>, </a:t>
            </a:r>
            <a:r>
              <a:rPr lang="ko-KR" altLang="en-US" sz="2000" dirty="0"/>
              <a:t>시간 관리 등 구체적 대처 기술을 가르친다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35494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6007F-7F1C-B7CB-F8B6-6502A4FA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F725C-39DE-8FBA-D622-D2A2247C2F72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3D1FC-45A0-158F-665C-CE0C553C1E43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행동형 </a:t>
            </a:r>
            <a:r>
              <a:rPr lang="en-US" altLang="ko-KR" sz="2800" dirty="0"/>
              <a:t>× </a:t>
            </a:r>
            <a:r>
              <a:rPr lang="ko-KR" altLang="en-US" sz="2800" dirty="0"/>
              <a:t>행동</a:t>
            </a:r>
            <a:r>
              <a:rPr lang="en-US" altLang="ko-KR" sz="2800" dirty="0"/>
              <a:t>·</a:t>
            </a:r>
            <a:r>
              <a:rPr lang="ko-KR" altLang="en-US" sz="2800" dirty="0"/>
              <a:t>습관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CE15C-9800-49ED-31E8-E1B16B3F91C6}"/>
              </a:ext>
            </a:extLst>
          </p:cNvPr>
          <p:cNvSpPr txBox="1"/>
          <p:nvPr/>
        </p:nvSpPr>
        <p:spPr>
          <a:xfrm>
            <a:off x="177671" y="1879413"/>
            <a:ext cx="8178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목표</a:t>
            </a:r>
            <a:r>
              <a:rPr lang="en-US" altLang="ko-KR" sz="2400" dirty="0"/>
              <a:t>·</a:t>
            </a:r>
            <a:r>
              <a:rPr lang="ko-KR" altLang="en-US" sz="2400" dirty="0"/>
              <a:t>행동 계획 명확 수립</a:t>
            </a:r>
            <a:r>
              <a:rPr lang="en-US" altLang="ko-KR" sz="2400" dirty="0"/>
              <a:t>, </a:t>
            </a:r>
            <a:r>
              <a:rPr lang="ko-KR" altLang="en-US" sz="2400" dirty="0"/>
              <a:t>행동 점검형 피드백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30590-42CB-68B1-BBB2-58E1E2F0A785}"/>
              </a:ext>
            </a:extLst>
          </p:cNvPr>
          <p:cNvSpPr txBox="1"/>
          <p:nvPr/>
        </p:nvSpPr>
        <p:spPr>
          <a:xfrm>
            <a:off x="177671" y="2793191"/>
            <a:ext cx="10511350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이번 주 목표를 구체적으로 정해봐요</a:t>
            </a:r>
            <a:r>
              <a:rPr lang="en-US" altLang="ko-KR" sz="2400" dirty="0"/>
              <a:t>: </a:t>
            </a:r>
            <a:r>
              <a:rPr lang="ko-KR" altLang="en-US" sz="2400" dirty="0"/>
              <a:t>무엇을</a:t>
            </a:r>
            <a:r>
              <a:rPr lang="en-US" altLang="ko-KR" sz="2400" dirty="0"/>
              <a:t>, </a:t>
            </a:r>
            <a:r>
              <a:rPr lang="ko-KR" altLang="en-US" sz="2400" dirty="0"/>
              <a:t>언제</a:t>
            </a:r>
            <a:r>
              <a:rPr lang="en-US" altLang="ko-KR" sz="2400" dirty="0"/>
              <a:t>, </a:t>
            </a:r>
            <a:r>
              <a:rPr lang="ko-KR" altLang="en-US" sz="2400" dirty="0"/>
              <a:t>어떻게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행동 계획을 단계별로 나눠봐요</a:t>
            </a:r>
            <a:r>
              <a:rPr lang="en-US" altLang="ko-KR" sz="2400" dirty="0"/>
              <a:t>: 1</a:t>
            </a:r>
            <a:r>
              <a:rPr lang="ko-KR" altLang="en-US" sz="2400" dirty="0"/>
              <a:t>단계는 </a:t>
            </a:r>
            <a:r>
              <a:rPr lang="en-US" altLang="ko-KR" sz="2400" dirty="0"/>
              <a:t>___, 2</a:t>
            </a:r>
            <a:r>
              <a:rPr lang="ko-KR" altLang="en-US" sz="2400" dirty="0"/>
              <a:t>단계는 </a:t>
            </a:r>
            <a:r>
              <a:rPr lang="en-US" altLang="ko-KR" sz="2400" dirty="0"/>
              <a:t>___"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목표 달성을 위해 체크리스트를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하나씩 확인하면서 진행해요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A8F11-7C7C-F63D-DC80-8F4C58082E89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Behavioral Activation</a:t>
            </a:r>
            <a:r>
              <a:rPr lang="ko-KR" altLang="en-US" sz="2000" dirty="0"/>
              <a:t>의 활동 모니터링과 목표 설정은 우울증 치료의 핵심 요소이다</a:t>
            </a:r>
            <a:r>
              <a:rPr lang="en-US" altLang="ko-KR" sz="2000" dirty="0"/>
              <a:t>. SMART </a:t>
            </a:r>
            <a:r>
              <a:rPr lang="ko-KR" altLang="en-US" sz="2000" dirty="0"/>
              <a:t>목표 설정</a:t>
            </a:r>
            <a:r>
              <a:rPr lang="en-US" altLang="ko-KR" sz="2000" dirty="0"/>
              <a:t>(Specific, Measurable, Achievable, Relevant, Time-bound)</a:t>
            </a:r>
            <a:r>
              <a:rPr lang="ko-KR" altLang="en-US" sz="2000" dirty="0"/>
              <a:t>은 행동 변화의 효과를 극대화한다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51351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8918-1CC9-CF2D-17C4-475568B7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22F9A6-2B0D-3EF2-5401-49EDEB7336BE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94EE8-1651-C847-D177-4644848979C8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시스템 적용 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4FF79-F908-DAFF-9D36-B8B10E3E6182}"/>
              </a:ext>
            </a:extLst>
          </p:cNvPr>
          <p:cNvSpPr txBox="1"/>
          <p:nvPr/>
        </p:nvSpPr>
        <p:spPr>
          <a:xfrm>
            <a:off x="177672" y="1879413"/>
            <a:ext cx="5655570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진단 알고리즘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선호 주제</a:t>
            </a:r>
            <a:r>
              <a:rPr lang="en-US" altLang="ko-KR" sz="2400" dirty="0"/>
              <a:t>, </a:t>
            </a:r>
            <a:r>
              <a:rPr lang="ko-KR" altLang="en-US" sz="2400" dirty="0"/>
              <a:t>초기 성향 파악 질문으로 </a:t>
            </a:r>
            <a:r>
              <a:rPr lang="en-US" altLang="ko-KR" sz="2400" dirty="0"/>
              <a:t>16</a:t>
            </a:r>
            <a:r>
              <a:rPr lang="ko-KR" altLang="en-US" sz="2400" dirty="0"/>
              <a:t>유형 식별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D9647-7718-4008-B983-9A72F95B126A}"/>
              </a:ext>
            </a:extLst>
          </p:cNvPr>
          <p:cNvSpPr txBox="1"/>
          <p:nvPr/>
        </p:nvSpPr>
        <p:spPr>
          <a:xfrm>
            <a:off x="6358760" y="1898495"/>
            <a:ext cx="5655570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감정 강도 조절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피로도 관리로 인지 부하 조절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대화 세션 길이</a:t>
            </a:r>
            <a:r>
              <a:rPr lang="en-US" altLang="ko-KR" sz="2400" dirty="0"/>
              <a:t>·</a:t>
            </a:r>
            <a:r>
              <a:rPr lang="ko-KR" altLang="en-US" sz="2400" dirty="0"/>
              <a:t>강도 자동 조절</a:t>
            </a:r>
          </a:p>
        </p:txBody>
      </p:sp>
    </p:spTree>
    <p:extLst>
      <p:ext uri="{BB962C8B-B14F-4D97-AF65-F5344CB8AC3E}">
        <p14:creationId xmlns:p14="http://schemas.microsoft.com/office/powerpoint/2010/main" val="1348993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8F75-9004-4643-53CA-7DE7F807F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9D624-FC4A-C484-5056-2F48307276F8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AF76E-4C29-5292-9465-35E1503C9E7D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시스템 적용 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AD57E-1195-2CE4-E2F7-0FEB5256EB8E}"/>
              </a:ext>
            </a:extLst>
          </p:cNvPr>
          <p:cNvSpPr txBox="1"/>
          <p:nvPr/>
        </p:nvSpPr>
        <p:spPr>
          <a:xfrm>
            <a:off x="177672" y="1879413"/>
            <a:ext cx="6301956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다중 감각 통합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유명 연예인 음성 합성으로 친숙성 증대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시각적 큐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이모지</a:t>
            </a:r>
            <a:r>
              <a:rPr lang="en-US" altLang="ko-KR" sz="2400" dirty="0"/>
              <a:t>·</a:t>
            </a:r>
            <a:r>
              <a:rPr lang="ko-KR" altLang="en-US" sz="2400" dirty="0"/>
              <a:t>아바타</a:t>
            </a:r>
            <a:r>
              <a:rPr lang="en-US" altLang="ko-KR" sz="2400" dirty="0"/>
              <a:t>) </a:t>
            </a:r>
            <a:r>
              <a:rPr lang="ko-KR" altLang="en-US" sz="2400" dirty="0"/>
              <a:t>비언어적 소통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간격 반복으로 장기기억 형성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093A3-8DBB-A308-61D8-0E25EA61B1CF}"/>
              </a:ext>
            </a:extLst>
          </p:cNvPr>
          <p:cNvSpPr txBox="1"/>
          <p:nvPr/>
        </p:nvSpPr>
        <p:spPr>
          <a:xfrm>
            <a:off x="6536430" y="1879413"/>
            <a:ext cx="5655570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장기 기억 강화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정서적 맥락과 개인 경험 연결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능동적 회상 촉진 질문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보호자 연동 진전 리포트</a:t>
            </a:r>
          </a:p>
        </p:txBody>
      </p:sp>
    </p:spTree>
    <p:extLst>
      <p:ext uri="{BB962C8B-B14F-4D97-AF65-F5344CB8AC3E}">
        <p14:creationId xmlns:p14="http://schemas.microsoft.com/office/powerpoint/2010/main" val="399499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1926</Words>
  <Application>Microsoft Office PowerPoint</Application>
  <PresentationFormat>와이드스크린</PresentationFormat>
  <Paragraphs>226</Paragraphs>
  <Slides>25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재은 이</dc:creator>
  <cp:lastModifiedBy>유창모</cp:lastModifiedBy>
  <cp:revision>5</cp:revision>
  <dcterms:created xsi:type="dcterms:W3CDTF">2025-10-10T07:05:32Z</dcterms:created>
  <dcterms:modified xsi:type="dcterms:W3CDTF">2025-10-28T03:05:40Z</dcterms:modified>
</cp:coreProperties>
</file>