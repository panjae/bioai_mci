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3" r:id="rId2"/>
    <p:sldId id="337" r:id="rId3"/>
    <p:sldId id="314" r:id="rId4"/>
    <p:sldId id="322" r:id="rId5"/>
    <p:sldId id="306" r:id="rId6"/>
    <p:sldId id="325" r:id="rId7"/>
    <p:sldId id="326" r:id="rId8"/>
    <p:sldId id="327" r:id="rId9"/>
    <p:sldId id="328" r:id="rId10"/>
    <p:sldId id="311" r:id="rId11"/>
    <p:sldId id="329" r:id="rId12"/>
    <p:sldId id="332" r:id="rId13"/>
    <p:sldId id="333" r:id="rId14"/>
    <p:sldId id="317" r:id="rId15"/>
    <p:sldId id="335" r:id="rId16"/>
    <p:sldId id="336" r:id="rId17"/>
    <p:sldId id="338" r:id="rId18"/>
    <p:sldId id="30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EEE"/>
    <a:srgbClr val="1A1F2E"/>
    <a:srgbClr val="BEBDBE"/>
    <a:srgbClr val="1C1F2D"/>
    <a:srgbClr val="6F788B"/>
    <a:srgbClr val="25293B"/>
    <a:srgbClr val="383E5A"/>
    <a:srgbClr val="545050"/>
    <a:srgbClr val="2C5F8D"/>
    <a:srgbClr val="CD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53" autoAdjust="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B36C6-DFDD-4F20-9BB4-903E4320056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79E18-5355-4072-89FA-E95933F338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522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65FB7-9D23-40F6-8A7F-7A7265F680A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6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65FB7-9D23-40F6-8A7F-7A7265F680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12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B7716-5CC4-4286-AE30-B076C8C99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A00220-09E2-4F26-920A-5F3817AAA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D1B961-C68E-4623-B7A4-CDBB0F59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EBF30D-E9AA-45AE-B870-8BBFE4E5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C94A0-55B7-4749-806E-DEC5C6D37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1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35151-E976-43F0-8313-BDE78E2E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6C88A-6983-47E3-9FC6-F04A4B2D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D203F-9D9E-4F39-910E-B4786930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AD9DB-A7FF-4FDF-86C1-253A3C42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47C8B7-3DBE-47CD-99C9-A93280A1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10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8FF6A-34CA-4811-9D8F-7D3BA707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7128B-0CB7-4761-A90A-5FE1840E3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FF450E-6E52-47AE-A855-D1A170D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4603A-F213-489C-96DB-C36DF3E3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70552-0C6C-4F52-9E5B-B4009D8A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91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DD69B-3E5B-46EF-863A-069CF3BC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8D9450-EDF0-45D0-B6F1-7B3B8B52E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EC585-CE51-4E4E-B0B8-F883AE13A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2A6337-2F1C-487B-BC77-E9AFB843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D81DCD-9086-402D-BC5A-B9FAD498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A5BD7-4DCA-4B72-BECC-D6FE5D0B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2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4C1D4-802D-4CA9-BDDE-EB406C5D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5DCFC1-C700-4E00-B927-086ACDA17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8AB47-9072-49EE-8A4A-D93011709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70604A-516D-4850-8967-69BCA1626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5FE051-0D15-4675-9847-2CEE75B0D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9B4368-4CDF-4A4C-BA5F-186BE03B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D2F1E3-E0D4-4945-8822-B92A2F8F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C5DFD7-97D0-4B3A-9076-3482EA5D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44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5C586-64DD-44BC-8DB8-44DB71BC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0DA504-699F-4BA1-AFBF-94FE71C4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30E258-AC88-408C-9786-1CA26E1B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8D8A58-8641-4C2A-9908-46B82C9F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3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879EBE-8639-477D-A8A9-47D86401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0998A9-1F0D-4588-9923-136A83D8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2488F-00DA-4373-A783-2B3D95D1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5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849BB-0935-4DFC-B954-EA5846AF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34190-BFC9-4C74-BA6A-F8523974D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F661AA-A478-478D-8056-9F9B38379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6AE6E2-C0A8-4FCD-B24E-99D981DF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406FD4-2536-40EF-A09F-C3EDAAD7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3DA286-3C30-4236-8DB4-8571A1D9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67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73464-E74A-4807-9E17-2FB55249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39E495-5D10-4561-A565-BB896A17D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39AACF-0E32-4193-BC46-93FF9981C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FB218-40AF-4A9E-9F7E-2BD15C23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BA1BDD-41BC-4021-AAE5-9C044D65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2073C8-8259-425D-ADA4-73C8BD88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0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2D451-E27B-4E53-9C89-5353545C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835DD5-00A8-4F49-876B-38CDB0BCB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FEFC31-2166-4DF1-867D-EF635D17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DA0BA-4DC8-42E4-9B8A-0AD7CC1F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5F1C43-916D-45B9-BEF3-EEF2D799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88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F45D13-2C70-4D67-B3CC-C9C9E2C3C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37EB27-6229-43DD-94F3-AC7F629B5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09C0F-423E-42F8-B11F-2FF5C7BC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1E68BF-77EF-49CE-AA6B-6A5F84A1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CC2B5-1A9F-4932-826C-E124864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30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BD8536-91AE-436B-9AD4-98F39361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A43E0D-1180-45EC-AA0E-095F8E514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4EBB6-C190-4D20-82A7-B51D404BD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A1547-EEDD-4C0D-8FFD-C415D611356F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F8B544-32E7-4771-86DB-26B9A4F62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866C96-9797-4963-B590-270FCDD7D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E05C8-6E63-41F0-8E45-7B53C62C2A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00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감정, 생각, 행동 변화에 중요한 호르몬 3가지 알아볼래요?">
            <a:extLst>
              <a:ext uri="{FF2B5EF4-FFF2-40B4-BE49-F238E27FC236}">
                <a16:creationId xmlns:a16="http://schemas.microsoft.com/office/drawing/2014/main" id="{2812CA8A-9097-E80B-E80B-94DE7C525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546589"/>
            <a:ext cx="10325100" cy="580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22931F-BE93-55EB-E80D-271F05BEA50E}"/>
              </a:ext>
            </a:extLst>
          </p:cNvPr>
          <p:cNvSpPr txBox="1"/>
          <p:nvPr/>
        </p:nvSpPr>
        <p:spPr>
          <a:xfrm>
            <a:off x="1698205" y="2087420"/>
            <a:ext cx="14520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아드레날린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7A272-9979-0127-A5AD-09BBDC2FB09E}"/>
              </a:ext>
            </a:extLst>
          </p:cNvPr>
          <p:cNvSpPr txBox="1"/>
          <p:nvPr/>
        </p:nvSpPr>
        <p:spPr>
          <a:xfrm>
            <a:off x="10316627" y="54853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코티솔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1386F-7379-3B5C-377C-51AA2EA40146}"/>
              </a:ext>
            </a:extLst>
          </p:cNvPr>
          <p:cNvSpPr txBox="1"/>
          <p:nvPr/>
        </p:nvSpPr>
        <p:spPr>
          <a:xfrm>
            <a:off x="1845781" y="491063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세로토닌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7EA65-25FC-2E58-E3B4-A52E147F5382}"/>
              </a:ext>
            </a:extLst>
          </p:cNvPr>
          <p:cNvSpPr txBox="1"/>
          <p:nvPr/>
        </p:nvSpPr>
        <p:spPr>
          <a:xfrm>
            <a:off x="9927430" y="1536399"/>
            <a:ext cx="569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도파민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346BC-E301-F1AD-89D9-7FB32DCFA11C}"/>
              </a:ext>
            </a:extLst>
          </p:cNvPr>
          <p:cNvSpPr txBox="1"/>
          <p:nvPr/>
        </p:nvSpPr>
        <p:spPr>
          <a:xfrm>
            <a:off x="3962490" y="2570369"/>
            <a:ext cx="4216219" cy="1015663"/>
          </a:xfrm>
          <a:prstGeom prst="rect">
            <a:avLst/>
          </a:prstGeom>
          <a:solidFill>
            <a:srgbClr val="51873C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강동호르몬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5366C-F7B1-F9D1-AA0D-F9CB812BE251}"/>
              </a:ext>
            </a:extLst>
          </p:cNvPr>
          <p:cNvSpPr txBox="1"/>
          <p:nvPr/>
        </p:nvSpPr>
        <p:spPr>
          <a:xfrm>
            <a:off x="3822700" y="3627596"/>
            <a:ext cx="4559300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호르몬처럼 연구실 안에서 서로 에너지를 주고받으며</a:t>
            </a:r>
            <a:endParaRPr lang="en-US" altLang="ko-KR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활발히 움직이는 신호전달 팀</a:t>
            </a:r>
          </a:p>
        </p:txBody>
      </p:sp>
    </p:spTree>
    <p:extLst>
      <p:ext uri="{BB962C8B-B14F-4D97-AF65-F5344CB8AC3E}">
        <p14:creationId xmlns:p14="http://schemas.microsoft.com/office/powerpoint/2010/main" val="380272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F4E242-31DF-4BD6-84B9-4D7EBC54D486}"/>
              </a:ext>
            </a:extLst>
          </p:cNvPr>
          <p:cNvCxnSpPr>
            <a:cxnSpLocks/>
          </p:cNvCxnSpPr>
          <p:nvPr/>
        </p:nvCxnSpPr>
        <p:spPr>
          <a:xfrm>
            <a:off x="1662177" y="3166817"/>
            <a:ext cx="90474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F5D6C8-610A-4AA3-9170-2CE92244A718}"/>
              </a:ext>
            </a:extLst>
          </p:cNvPr>
          <p:cNvSpPr txBox="1"/>
          <p:nvPr/>
        </p:nvSpPr>
        <p:spPr>
          <a:xfrm>
            <a:off x="1411346" y="2500696"/>
            <a:ext cx="9549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피드백 반영 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LT (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사랑대화기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재구성 및 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활용 시뮬레이션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D00F436-2788-4C61-856C-FB55D4FC7423}"/>
              </a:ext>
            </a:extLst>
          </p:cNvPr>
          <p:cNvCxnSpPr>
            <a:cxnSpLocks/>
          </p:cNvCxnSpPr>
          <p:nvPr/>
        </p:nvCxnSpPr>
        <p:spPr>
          <a:xfrm>
            <a:off x="1662177" y="4464277"/>
            <a:ext cx="90474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7309AE-A697-4835-9FC5-0E25BCF0F303}"/>
              </a:ext>
            </a:extLst>
          </p:cNvPr>
          <p:cNvSpPr txBox="1"/>
          <p:nvPr/>
        </p:nvSpPr>
        <p:spPr>
          <a:xfrm>
            <a:off x="1411346" y="3798156"/>
            <a:ext cx="9549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구현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182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8AC6A-845B-0E36-8000-1C30252BF2A1}"/>
              </a:ext>
            </a:extLst>
          </p:cNvPr>
          <p:cNvSpPr txBox="1"/>
          <p:nvPr/>
        </p:nvSpPr>
        <p:spPr>
          <a:xfrm>
            <a:off x="595800" y="628648"/>
            <a:ext cx="3701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의 역할과 메커니즘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FED4915-13F5-81D7-6840-1BC636E5CE15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345799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7D8245-8CEE-7FA0-4D49-160346D499B6}"/>
              </a:ext>
            </a:extLst>
          </p:cNvPr>
          <p:cNvSpPr txBox="1"/>
          <p:nvPr/>
        </p:nvSpPr>
        <p:spPr>
          <a:xfrm>
            <a:off x="646600" y="1246608"/>
            <a:ext cx="9535368" cy="787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감정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관계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동기부여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심리적 안정 등을 위한 정서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자기이해 중심의 대화형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모듈</a:t>
            </a:r>
            <a:endParaRPr lang="en-US" altLang="ko-KR" sz="1600" b="1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지속적인 감정 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따뜻함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자극으로 </a:t>
            </a:r>
            <a:r>
              <a:rPr lang="ko-KR" altLang="en-US" sz="1600" b="1" dirty="0" err="1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신경가소성을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활성화하여 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환자의 인지기능 저하 치료 메커니즘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22CBE3E-9F8E-E7B3-E63A-6BDD991DE517}"/>
              </a:ext>
            </a:extLst>
          </p:cNvPr>
          <p:cNvSpPr/>
          <p:nvPr/>
        </p:nvSpPr>
        <p:spPr>
          <a:xfrm>
            <a:off x="595800" y="2262337"/>
            <a:ext cx="11074400" cy="4145280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3F595-31C5-D534-6A89-E2000F74822D}"/>
              </a:ext>
            </a:extLst>
          </p:cNvPr>
          <p:cNvSpPr txBox="1"/>
          <p:nvPr/>
        </p:nvSpPr>
        <p:spPr>
          <a:xfrm>
            <a:off x="837971" y="2362599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요소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E2F0BD9-E162-78F1-FBF2-0251CD109AF4}"/>
              </a:ext>
            </a:extLst>
          </p:cNvPr>
          <p:cNvCxnSpPr>
            <a:cxnSpLocks/>
          </p:cNvCxnSpPr>
          <p:nvPr/>
        </p:nvCxnSpPr>
        <p:spPr>
          <a:xfrm>
            <a:off x="837971" y="2788297"/>
            <a:ext cx="52783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DECF719-312C-8FAA-A800-454C79CDFC87}"/>
              </a:ext>
            </a:extLst>
          </p:cNvPr>
          <p:cNvSpPr/>
          <p:nvPr/>
        </p:nvSpPr>
        <p:spPr>
          <a:xfrm>
            <a:off x="837971" y="2954818"/>
            <a:ext cx="5163436" cy="881408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904A07-0EAA-A4FE-82D0-597E2D511E3B}"/>
              </a:ext>
            </a:extLst>
          </p:cNvPr>
          <p:cNvSpPr txBox="1"/>
          <p:nvPr/>
        </p:nvSpPr>
        <p:spPr>
          <a:xfrm>
            <a:off x="1395789" y="3007364"/>
            <a:ext cx="4961767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개인맞춤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(HF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기반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sz="5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성향 ∙ 주제 선호 ∙ 정서 반응 프로파일링을 통한 맞춤형 대화 제공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7DE4725-E802-1DB9-F4AD-D6E71F69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5" t="43898" r="90637" b="45632"/>
          <a:stretch/>
        </p:blipFill>
        <p:spPr>
          <a:xfrm>
            <a:off x="900080" y="3091597"/>
            <a:ext cx="506219" cy="543716"/>
          </a:xfrm>
          <a:prstGeom prst="rect">
            <a:avLst/>
          </a:prstGeom>
          <a:ln w="28575">
            <a:noFill/>
          </a:ln>
        </p:spPr>
      </p:pic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7F47AED-BF4D-C241-4E0D-70B7E5FF5443}"/>
              </a:ext>
            </a:extLst>
          </p:cNvPr>
          <p:cNvSpPr/>
          <p:nvPr/>
        </p:nvSpPr>
        <p:spPr>
          <a:xfrm>
            <a:off x="842150" y="4027626"/>
            <a:ext cx="5163436" cy="881408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FE8758B-4295-4C03-1321-D8BE3A34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9" t="63486" r="90493" b="26044"/>
          <a:stretch/>
        </p:blipFill>
        <p:spPr>
          <a:xfrm>
            <a:off x="921100" y="4192120"/>
            <a:ext cx="506219" cy="543716"/>
          </a:xfrm>
          <a:prstGeom prst="rect">
            <a:avLst/>
          </a:prstGeom>
          <a:ln w="28575"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0922732-4525-D9D5-E68C-2CCA092E92FB}"/>
              </a:ext>
            </a:extLst>
          </p:cNvPr>
          <p:cNvSpPr txBox="1"/>
          <p:nvPr/>
        </p:nvSpPr>
        <p:spPr>
          <a:xfrm>
            <a:off x="1399968" y="4080172"/>
            <a:ext cx="4961767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 반응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sz="5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공감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지지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수용을 통한 감정 레이블링과 안정감 제공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E90A930-9D6D-B41E-AFD7-A46377FE950A}"/>
              </a:ext>
            </a:extLst>
          </p:cNvPr>
          <p:cNvSpPr/>
          <p:nvPr/>
        </p:nvSpPr>
        <p:spPr>
          <a:xfrm>
            <a:off x="837971" y="5103073"/>
            <a:ext cx="5163436" cy="881408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81F26E-D81C-A26B-6D6A-E85FE1ECD5AB}"/>
              </a:ext>
            </a:extLst>
          </p:cNvPr>
          <p:cNvSpPr txBox="1"/>
          <p:nvPr/>
        </p:nvSpPr>
        <p:spPr>
          <a:xfrm>
            <a:off x="1395789" y="5155619"/>
            <a:ext cx="4961767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자극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sz="5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회상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의미 부여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유연한 질문으로 </a:t>
            </a:r>
            <a:r>
              <a:rPr lang="ko-KR" altLang="en-US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집행∙주의∙기억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기능 자극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41D6D69-F68E-D06E-1E5E-D405BB103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7" t="82023" r="90745" b="7507"/>
          <a:stretch/>
        </p:blipFill>
        <p:spPr>
          <a:xfrm>
            <a:off x="889570" y="5233249"/>
            <a:ext cx="506219" cy="543716"/>
          </a:xfrm>
          <a:prstGeom prst="rect">
            <a:avLst/>
          </a:prstGeom>
          <a:ln w="28575"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B82D127-5373-A625-76E2-A0E162ED6584}"/>
              </a:ext>
            </a:extLst>
          </p:cNvPr>
          <p:cNvSpPr txBox="1"/>
          <p:nvPr/>
        </p:nvSpPr>
        <p:spPr>
          <a:xfrm>
            <a:off x="6444586" y="2362599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기대 메커니즘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5E98E36-E7EB-3893-A5F6-ADA32CCA8F11}"/>
              </a:ext>
            </a:extLst>
          </p:cNvPr>
          <p:cNvCxnSpPr>
            <a:cxnSpLocks/>
          </p:cNvCxnSpPr>
          <p:nvPr/>
        </p:nvCxnSpPr>
        <p:spPr>
          <a:xfrm flipV="1">
            <a:off x="6444586" y="2772351"/>
            <a:ext cx="4491744" cy="159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54F6639-08F3-8D53-F6C4-891927B022CD}"/>
              </a:ext>
            </a:extLst>
          </p:cNvPr>
          <p:cNvSpPr/>
          <p:nvPr/>
        </p:nvSpPr>
        <p:spPr>
          <a:xfrm>
            <a:off x="6612029" y="2954818"/>
            <a:ext cx="4105664" cy="51422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50DC30-2A3E-7081-4A33-BBA77965CDE3}"/>
              </a:ext>
            </a:extLst>
          </p:cNvPr>
          <p:cNvSpPr txBox="1"/>
          <p:nvPr/>
        </p:nvSpPr>
        <p:spPr>
          <a:xfrm>
            <a:off x="6883666" y="2968445"/>
            <a:ext cx="3834027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디지털 치료적 동맹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(DTA)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형성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1F79153-33AE-4BAF-8013-7E05D510EAFB}"/>
              </a:ext>
            </a:extLst>
          </p:cNvPr>
          <p:cNvSpPr/>
          <p:nvPr/>
        </p:nvSpPr>
        <p:spPr>
          <a:xfrm>
            <a:off x="6762308" y="3033281"/>
            <a:ext cx="373421" cy="373804"/>
          </a:xfrm>
          <a:prstGeom prst="ellipse">
            <a:avLst/>
          </a:prstGeom>
          <a:solidFill>
            <a:srgbClr val="E2F4FF"/>
          </a:solidFill>
          <a:ln>
            <a:solidFill>
              <a:srgbClr val="E2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2F606C-5F73-F449-B2B6-1722109822A1}"/>
              </a:ext>
            </a:extLst>
          </p:cNvPr>
          <p:cNvSpPr txBox="1"/>
          <p:nvPr/>
        </p:nvSpPr>
        <p:spPr>
          <a:xfrm>
            <a:off x="6807187" y="2989641"/>
            <a:ext cx="279822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b="1" i="0" dirty="0">
                <a:solidFill>
                  <a:srgbClr val="2C5F8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en-US" altLang="ko-KR" sz="1200" b="1" i="0" dirty="0">
              <a:solidFill>
                <a:srgbClr val="2C5F8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6CE918A-F3F8-29A0-65AC-E6BCB2EE0905}"/>
              </a:ext>
            </a:extLst>
          </p:cNvPr>
          <p:cNvSpPr/>
          <p:nvPr/>
        </p:nvSpPr>
        <p:spPr>
          <a:xfrm>
            <a:off x="6612029" y="4130152"/>
            <a:ext cx="4105664" cy="51422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5CC230-D7DF-D6AF-E046-385DEAF6813F}"/>
              </a:ext>
            </a:extLst>
          </p:cNvPr>
          <p:cNvSpPr txBox="1"/>
          <p:nvPr/>
        </p:nvSpPr>
        <p:spPr>
          <a:xfrm>
            <a:off x="6883666" y="4143779"/>
            <a:ext cx="3834027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정서 조절 개선 및 사회적 </a:t>
            </a:r>
            <a:r>
              <a:rPr lang="ko-KR" altLang="en-US" sz="16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연결감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증가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0EFEF73-5E50-C32A-2701-6F36803386AC}"/>
              </a:ext>
            </a:extLst>
          </p:cNvPr>
          <p:cNvSpPr/>
          <p:nvPr/>
        </p:nvSpPr>
        <p:spPr>
          <a:xfrm>
            <a:off x="6762308" y="4208615"/>
            <a:ext cx="373421" cy="373804"/>
          </a:xfrm>
          <a:prstGeom prst="ellipse">
            <a:avLst/>
          </a:prstGeom>
          <a:solidFill>
            <a:srgbClr val="E2F4FF"/>
          </a:solidFill>
          <a:ln>
            <a:solidFill>
              <a:srgbClr val="E2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1AEA56-0C15-ABB1-EE71-64C10B819066}"/>
              </a:ext>
            </a:extLst>
          </p:cNvPr>
          <p:cNvSpPr txBox="1"/>
          <p:nvPr/>
        </p:nvSpPr>
        <p:spPr>
          <a:xfrm>
            <a:off x="6807187" y="4164975"/>
            <a:ext cx="279822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en-US" altLang="ko-KR" sz="1200" b="1" i="0" dirty="0">
              <a:solidFill>
                <a:srgbClr val="2C5F8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D23CCA0-26B7-B308-F351-CED30B5502A6}"/>
              </a:ext>
            </a:extLst>
          </p:cNvPr>
          <p:cNvSpPr/>
          <p:nvPr/>
        </p:nvSpPr>
        <p:spPr>
          <a:xfrm>
            <a:off x="6612029" y="5283887"/>
            <a:ext cx="4105664" cy="51422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404F566F-38BB-4ECB-6082-688DBB2F4FAB}"/>
              </a:ext>
            </a:extLst>
          </p:cNvPr>
          <p:cNvSpPr/>
          <p:nvPr/>
        </p:nvSpPr>
        <p:spPr>
          <a:xfrm>
            <a:off x="6762308" y="5362350"/>
            <a:ext cx="373421" cy="373804"/>
          </a:xfrm>
          <a:prstGeom prst="ellipse">
            <a:avLst/>
          </a:prstGeom>
          <a:solidFill>
            <a:srgbClr val="E2F4FF"/>
          </a:solidFill>
          <a:ln>
            <a:solidFill>
              <a:srgbClr val="E2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9B8CE4-C13B-8F2C-AC02-ADD3DA6F4B07}"/>
              </a:ext>
            </a:extLst>
          </p:cNvPr>
          <p:cNvSpPr txBox="1"/>
          <p:nvPr/>
        </p:nvSpPr>
        <p:spPr>
          <a:xfrm>
            <a:off x="6807187" y="5318710"/>
            <a:ext cx="279822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en-US" altLang="ko-KR" sz="1200" b="1" i="0" dirty="0">
              <a:solidFill>
                <a:srgbClr val="2C5F8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B5DF9D-20F3-5B9E-82C7-8FEB93527EE0}"/>
              </a:ext>
            </a:extLst>
          </p:cNvPr>
          <p:cNvSpPr txBox="1"/>
          <p:nvPr/>
        </p:nvSpPr>
        <p:spPr>
          <a:xfrm>
            <a:off x="6883666" y="5317815"/>
            <a:ext cx="3834027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인지 기능 개선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6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</a:t>
            </a:r>
            <a:r>
              <a:rPr lang="ko-KR" altLang="en-US" sz="1600" b="1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∙기억∙집행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F0B894A-2B4C-EC28-1519-3839B7CF6C87}"/>
              </a:ext>
            </a:extLst>
          </p:cNvPr>
          <p:cNvCxnSpPr/>
          <p:nvPr/>
        </p:nvCxnSpPr>
        <p:spPr>
          <a:xfrm>
            <a:off x="8640170" y="3853745"/>
            <a:ext cx="0" cy="2137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41D2DCA-EDDB-A0A2-3A68-42B419A7E02D}"/>
              </a:ext>
            </a:extLst>
          </p:cNvPr>
          <p:cNvCxnSpPr/>
          <p:nvPr/>
        </p:nvCxnSpPr>
        <p:spPr>
          <a:xfrm>
            <a:off x="8640170" y="5004774"/>
            <a:ext cx="0" cy="2137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9117C0A-DA1E-46E4-BC2A-E4F0C94779D1}"/>
              </a:ext>
            </a:extLst>
          </p:cNvPr>
          <p:cNvSpPr txBox="1"/>
          <p:nvPr/>
        </p:nvSpPr>
        <p:spPr>
          <a:xfrm>
            <a:off x="6780844" y="3450799"/>
            <a:ext cx="49617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사람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치료자 관계 “나를 이해해주는 디지털 파트너” 유대감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신뢰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공동 </a:t>
            </a:r>
            <a:r>
              <a:rPr lang="ko-KR" altLang="en-US" sz="11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목표감</a:t>
            </a:r>
            <a:endParaRPr lang="en-US" altLang="ko-KR" sz="1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7FD501-33DA-4F4F-8605-47A533890C98}"/>
              </a:ext>
            </a:extLst>
          </p:cNvPr>
          <p:cNvSpPr txBox="1"/>
          <p:nvPr/>
        </p:nvSpPr>
        <p:spPr>
          <a:xfrm>
            <a:off x="6780844" y="4618589"/>
            <a:ext cx="51634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고령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/MCI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대상 디지털 에이전트 연구 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</a:t>
            </a:r>
            <a:r>
              <a:rPr lang="ko-KR" altLang="en-US" sz="11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챗봇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"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외로움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·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우울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불안 감소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정보 공유 증가</a:t>
            </a:r>
            <a:endParaRPr lang="en-US" altLang="ko-KR" sz="1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55C392-8638-4D7F-88F3-55E130C2625B}"/>
              </a:ext>
            </a:extLst>
          </p:cNvPr>
          <p:cNvSpPr txBox="1"/>
          <p:nvPr/>
        </p:nvSpPr>
        <p:spPr>
          <a:xfrm>
            <a:off x="6780844" y="5770140"/>
            <a:ext cx="51634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MCI/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치매 임상에서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인지훈련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기반 자극이 집행기능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주의</a:t>
            </a:r>
            <a:r>
              <a:rPr lang="en-US" altLang="ko-KR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기억에 긍정 영향</a:t>
            </a:r>
            <a:endParaRPr lang="en-US" altLang="ko-KR" sz="1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722E8E-674E-4488-90A6-F06F078ADFF6}"/>
              </a:ext>
            </a:extLst>
          </p:cNvPr>
          <p:cNvSpPr txBox="1"/>
          <p:nvPr/>
        </p:nvSpPr>
        <p:spPr>
          <a:xfrm>
            <a:off x="5023022" y="6407617"/>
            <a:ext cx="71237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ko-KR" sz="100" b="1" i="0" dirty="0">
              <a:solidFill>
                <a:schemeClr val="bg2">
                  <a:lumMod val="7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en-US" altLang="ko-KR" sz="700" b="1" i="0" dirty="0">
                <a:solidFill>
                  <a:schemeClr val="bg2">
                    <a:lumMod val="7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Hailey T.  et al. The Therapeutic Alliance in Digital Mental Health Interventions for Serious Mental Illnesses: Narrative Review. 2020</a:t>
            </a:r>
            <a:r>
              <a:rPr lang="en-US" altLang="ko-KR" sz="7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JMIR</a:t>
            </a:r>
            <a:r>
              <a:rPr lang="ko-KR" altLang="en-US" sz="7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1" dirty="0" err="1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Ment</a:t>
            </a:r>
            <a:r>
              <a:rPr lang="ko-KR" altLang="en-US" sz="7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Health</a:t>
            </a:r>
          </a:p>
          <a:p>
            <a:pPr algn="l"/>
            <a:r>
              <a:rPr lang="en-US" altLang="ko-KR" sz="700" b="1" i="0" dirty="0">
                <a:solidFill>
                  <a:schemeClr val="bg2">
                    <a:lumMod val="7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Hattie W. Older adults' experience with virtual conversational agents for health data collection. 2023. Front. Digit. Health</a:t>
            </a:r>
          </a:p>
          <a:p>
            <a:pPr algn="l"/>
            <a:r>
              <a:rPr lang="en-US" altLang="ko-KR" sz="700" b="1" i="0" dirty="0" err="1">
                <a:solidFill>
                  <a:schemeClr val="bg2">
                    <a:lumMod val="7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Divyani</a:t>
            </a:r>
            <a:r>
              <a:rPr lang="en-US" altLang="ko-KR" sz="700" b="1" i="0" dirty="0">
                <a:solidFill>
                  <a:schemeClr val="bg2">
                    <a:lumMod val="7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G.  et al. Latest Trends in Outcome Measures in Dementia and Mild Cognitive Impairment Trials</a:t>
            </a:r>
            <a:r>
              <a:rPr lang="en-US" altLang="ko-KR" sz="700" b="1" dirty="0">
                <a:solidFill>
                  <a:schemeClr val="bg2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2022. Brain Sci.</a:t>
            </a:r>
            <a:endParaRPr lang="en-US" altLang="ko-KR" sz="700" b="1" i="0" dirty="0">
              <a:solidFill>
                <a:schemeClr val="bg2">
                  <a:lumMod val="7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3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8AC6A-845B-0E36-8000-1C30252BF2A1}"/>
              </a:ext>
            </a:extLst>
          </p:cNvPr>
          <p:cNvSpPr txBox="1"/>
          <p:nvPr/>
        </p:nvSpPr>
        <p:spPr>
          <a:xfrm>
            <a:off x="595800" y="628648"/>
            <a:ext cx="6079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평가 프레임워크 </a:t>
            </a:r>
            <a:r>
              <a:rPr lang="ko-KR" altLang="en-US" sz="2800" b="1" i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개요 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– 4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레이어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FED4915-13F5-81D7-6840-1BC636E5CE15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52682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7D8245-8CEE-7FA0-4D49-160346D499B6}"/>
              </a:ext>
            </a:extLst>
          </p:cNvPr>
          <p:cNvSpPr txBox="1"/>
          <p:nvPr/>
        </p:nvSpPr>
        <p:spPr>
          <a:xfrm>
            <a:off x="646600" y="1246608"/>
            <a:ext cx="5256360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LT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효과 평가를 위한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 레이어 구조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22CBE3E-9F8E-E7B3-E63A-6BDD991DE517}"/>
              </a:ext>
            </a:extLst>
          </p:cNvPr>
          <p:cNvSpPr/>
          <p:nvPr/>
        </p:nvSpPr>
        <p:spPr>
          <a:xfrm>
            <a:off x="1051034" y="1727850"/>
            <a:ext cx="10298698" cy="4831450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7B4679E-F3A1-9E12-F226-BA123EA48852}"/>
              </a:ext>
            </a:extLst>
          </p:cNvPr>
          <p:cNvSpPr/>
          <p:nvPr/>
        </p:nvSpPr>
        <p:spPr>
          <a:xfrm>
            <a:off x="1493520" y="2161456"/>
            <a:ext cx="4372901" cy="1894292"/>
          </a:xfrm>
          <a:prstGeom prst="roundRect">
            <a:avLst>
              <a:gd name="adj" fmla="val 7564"/>
            </a:avLst>
          </a:prstGeom>
          <a:solidFill>
            <a:srgbClr val="AAB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564D2EC-39B1-708C-28B8-600D6FE39A24}"/>
              </a:ext>
            </a:extLst>
          </p:cNvPr>
          <p:cNvSpPr/>
          <p:nvPr/>
        </p:nvSpPr>
        <p:spPr>
          <a:xfrm>
            <a:off x="1493520" y="1915352"/>
            <a:ext cx="1324901" cy="768795"/>
          </a:xfrm>
          <a:prstGeom prst="roundRect">
            <a:avLst>
              <a:gd name="adj" fmla="val 756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F7B9ADE-A342-E310-1F0D-3B90901660AD}"/>
              </a:ext>
            </a:extLst>
          </p:cNvPr>
          <p:cNvSpPr/>
          <p:nvPr/>
        </p:nvSpPr>
        <p:spPr>
          <a:xfrm>
            <a:off x="1493520" y="2209204"/>
            <a:ext cx="4372901" cy="1846544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FB4DC-A6E8-38A3-90B2-70267B66269E}"/>
              </a:ext>
            </a:extLst>
          </p:cNvPr>
          <p:cNvSpPr txBox="1"/>
          <p:nvPr/>
        </p:nvSpPr>
        <p:spPr>
          <a:xfrm>
            <a:off x="1578901" y="2226055"/>
            <a:ext cx="4372901" cy="169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Therapeutic Alliance &amp;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신뢰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endParaRPr lang="en-US" altLang="ko-KR" sz="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DTA(Digital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Therapeutic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Alliance)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척도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신뢰도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시스템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데이터 보호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안전성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공정성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수용성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사용성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SUS, Acceptability, E-scale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7DEBD-FB05-47A3-43DB-F34938D1EFA9}"/>
              </a:ext>
            </a:extLst>
          </p:cNvPr>
          <p:cNvSpPr txBox="1"/>
          <p:nvPr/>
        </p:nvSpPr>
        <p:spPr>
          <a:xfrm>
            <a:off x="1578901" y="1932204"/>
            <a:ext cx="1158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레이어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A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FF382C8-018B-ECD7-A176-57EDE266872F}"/>
              </a:ext>
            </a:extLst>
          </p:cNvPr>
          <p:cNvSpPr/>
          <p:nvPr/>
        </p:nvSpPr>
        <p:spPr>
          <a:xfrm>
            <a:off x="6560781" y="2161455"/>
            <a:ext cx="4372901" cy="1894292"/>
          </a:xfrm>
          <a:prstGeom prst="roundRect">
            <a:avLst>
              <a:gd name="adj" fmla="val 7564"/>
            </a:avLst>
          </a:prstGeom>
          <a:solidFill>
            <a:srgbClr val="AAB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A15EC43-4378-694A-B0B1-342947D6F13D}"/>
              </a:ext>
            </a:extLst>
          </p:cNvPr>
          <p:cNvSpPr/>
          <p:nvPr/>
        </p:nvSpPr>
        <p:spPr>
          <a:xfrm>
            <a:off x="6560781" y="1915351"/>
            <a:ext cx="1324901" cy="768795"/>
          </a:xfrm>
          <a:prstGeom prst="roundRect">
            <a:avLst>
              <a:gd name="adj" fmla="val 756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A338041-43B0-D3D3-66E9-223E70E7DD7C}"/>
              </a:ext>
            </a:extLst>
          </p:cNvPr>
          <p:cNvSpPr/>
          <p:nvPr/>
        </p:nvSpPr>
        <p:spPr>
          <a:xfrm>
            <a:off x="6560781" y="2209203"/>
            <a:ext cx="4372901" cy="1846544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2F2A20-70D9-741D-E825-EB0881C2A7A4}"/>
              </a:ext>
            </a:extLst>
          </p:cNvPr>
          <p:cNvSpPr txBox="1"/>
          <p:nvPr/>
        </p:nvSpPr>
        <p:spPr>
          <a:xfrm>
            <a:off x="6646162" y="1932203"/>
            <a:ext cx="1158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레이어 </a:t>
            </a:r>
            <a:r>
              <a:rPr lang="en-US" altLang="ko-KR" sz="1200" b="1" dirty="0">
                <a:solidFill>
                  <a:srgbClr val="E7E6E6">
                    <a:lumMod val="25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721964B-B892-539D-3178-A427AB0563E4}"/>
              </a:ext>
            </a:extLst>
          </p:cNvPr>
          <p:cNvSpPr/>
          <p:nvPr/>
        </p:nvSpPr>
        <p:spPr>
          <a:xfrm>
            <a:off x="1493520" y="4496166"/>
            <a:ext cx="4372901" cy="1894292"/>
          </a:xfrm>
          <a:prstGeom prst="roundRect">
            <a:avLst>
              <a:gd name="adj" fmla="val 7564"/>
            </a:avLst>
          </a:prstGeom>
          <a:solidFill>
            <a:srgbClr val="AAB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B5BD731-043E-AB84-C767-B1EC56C67B2A}"/>
              </a:ext>
            </a:extLst>
          </p:cNvPr>
          <p:cNvSpPr/>
          <p:nvPr/>
        </p:nvSpPr>
        <p:spPr>
          <a:xfrm>
            <a:off x="1493520" y="4250062"/>
            <a:ext cx="1324901" cy="768795"/>
          </a:xfrm>
          <a:prstGeom prst="roundRect">
            <a:avLst>
              <a:gd name="adj" fmla="val 756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6F50C40-F70A-6E21-7E2E-585B065401DF}"/>
              </a:ext>
            </a:extLst>
          </p:cNvPr>
          <p:cNvSpPr/>
          <p:nvPr/>
        </p:nvSpPr>
        <p:spPr>
          <a:xfrm>
            <a:off x="1493520" y="4543914"/>
            <a:ext cx="4372901" cy="1846544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149CFF-82FD-444D-2643-58E0AD56F7AD}"/>
              </a:ext>
            </a:extLst>
          </p:cNvPr>
          <p:cNvSpPr txBox="1"/>
          <p:nvPr/>
        </p:nvSpPr>
        <p:spPr>
          <a:xfrm>
            <a:off x="1578901" y="4266914"/>
            <a:ext cx="1158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레이어 </a:t>
            </a:r>
            <a:r>
              <a:rPr lang="en-US" altLang="ko-KR" sz="1200" b="1" dirty="0">
                <a:solidFill>
                  <a:srgbClr val="E7E6E6">
                    <a:lumMod val="25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endParaRPr lang="ko-KR" altLang="en-US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BF4A3B3-A45C-3681-7D16-63D5A4BE4E91}"/>
              </a:ext>
            </a:extLst>
          </p:cNvPr>
          <p:cNvSpPr/>
          <p:nvPr/>
        </p:nvSpPr>
        <p:spPr>
          <a:xfrm>
            <a:off x="6540668" y="4496166"/>
            <a:ext cx="4372901" cy="1894292"/>
          </a:xfrm>
          <a:prstGeom prst="roundRect">
            <a:avLst>
              <a:gd name="adj" fmla="val 7564"/>
            </a:avLst>
          </a:prstGeom>
          <a:solidFill>
            <a:srgbClr val="AAB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ED2B7D9-8781-B8E5-05CA-2CF2DC523E1E}"/>
              </a:ext>
            </a:extLst>
          </p:cNvPr>
          <p:cNvSpPr/>
          <p:nvPr/>
        </p:nvSpPr>
        <p:spPr>
          <a:xfrm>
            <a:off x="6540668" y="4250062"/>
            <a:ext cx="1324901" cy="768795"/>
          </a:xfrm>
          <a:prstGeom prst="roundRect">
            <a:avLst>
              <a:gd name="adj" fmla="val 756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27439B4-8ADC-039F-78CE-F9EC8327DE39}"/>
              </a:ext>
            </a:extLst>
          </p:cNvPr>
          <p:cNvSpPr/>
          <p:nvPr/>
        </p:nvSpPr>
        <p:spPr>
          <a:xfrm>
            <a:off x="6540668" y="4543914"/>
            <a:ext cx="4372901" cy="1846544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36884-1930-1201-EFF7-845D5179CE24}"/>
              </a:ext>
            </a:extLst>
          </p:cNvPr>
          <p:cNvSpPr txBox="1"/>
          <p:nvPr/>
        </p:nvSpPr>
        <p:spPr>
          <a:xfrm>
            <a:off x="6626049" y="4266914"/>
            <a:ext cx="1158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레이어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D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65DDA8-B533-14A4-2C76-FD317B7451E7}"/>
              </a:ext>
            </a:extLst>
          </p:cNvPr>
          <p:cNvSpPr txBox="1"/>
          <p:nvPr/>
        </p:nvSpPr>
        <p:spPr>
          <a:xfrm>
            <a:off x="1578900" y="4562095"/>
            <a:ext cx="4372901" cy="169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6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인지∙기능</a:t>
            </a:r>
            <a:r>
              <a:rPr lang="ko-KR" altLang="en-US" sz="16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아웃컴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endParaRPr lang="en-US" altLang="ko-KR" sz="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 지표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MoCA</a:t>
            </a: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차 지표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MMSE, ADAS-Cog, CDR-SB</a:t>
            </a: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 평가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ADL, IADL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DD68D4-4A1F-1B3E-D8C6-9E0CA7A35A07}"/>
              </a:ext>
            </a:extLst>
          </p:cNvPr>
          <p:cNvSpPr txBox="1"/>
          <p:nvPr/>
        </p:nvSpPr>
        <p:spPr>
          <a:xfrm>
            <a:off x="6642351" y="2226054"/>
            <a:ext cx="4372901" cy="16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6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정서∙심리</a:t>
            </a:r>
            <a:r>
              <a:rPr lang="ko-KR" altLang="en-US" sz="16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상태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endParaRPr lang="en-US" altLang="ko-KR" sz="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우울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GDS, PHQ-9                                        </a:t>
            </a: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불안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:GAD-7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외로움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UCLA Loneliness Scale</a:t>
            </a: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삶의 질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QoL-AD, QUALIDEM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C95D99-30A5-CF95-3841-A37FFA44CDFB}"/>
              </a:ext>
            </a:extLst>
          </p:cNvPr>
          <p:cNvSpPr txBox="1"/>
          <p:nvPr/>
        </p:nvSpPr>
        <p:spPr>
          <a:xfrm>
            <a:off x="6640994" y="4563688"/>
            <a:ext cx="4372901" cy="16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 행태 </a:t>
            </a: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패턴</a:t>
            </a:r>
            <a:endParaRPr lang="en-US" altLang="ko-KR" sz="16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endParaRPr lang="en-US" altLang="ko-KR" sz="1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빈도 및 지속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세션수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시간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유지율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내용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회상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자기노출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발화 비율</a:t>
            </a:r>
            <a:endParaRPr lang="en-US" altLang="ko-KR" sz="12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200" b="1" i="0" dirty="0">
                <a:solidFill>
                  <a:srgbClr val="3B82F6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•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품질 지표</a:t>
            </a:r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상호성</a:t>
            </a:r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목표정렬</a:t>
            </a:r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안전어휘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683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AD317-5A70-822E-9521-D1D4D4672AFF}"/>
              </a:ext>
            </a:extLst>
          </p:cNvPr>
          <p:cNvSpPr txBox="1"/>
          <p:nvPr/>
        </p:nvSpPr>
        <p:spPr>
          <a:xfrm>
            <a:off x="595800" y="628648"/>
            <a:ext cx="7095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레이어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 - Therapeutic Alliance &amp;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신뢰</a:t>
            </a:r>
          </a:p>
          <a:p>
            <a:pPr algn="l"/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586847-1178-51C7-3C41-C0CA152E60B4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64366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3A2B00-4DF9-BAF8-8A10-AEFDEA7C74B7}"/>
              </a:ext>
            </a:extLst>
          </p:cNvPr>
          <p:cNvSpPr txBox="1"/>
          <p:nvPr/>
        </p:nvSpPr>
        <p:spPr>
          <a:xfrm>
            <a:off x="646600" y="1246608"/>
            <a:ext cx="10509080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환자에게 얼마나 신뢰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유대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안전감을 </a:t>
            </a:r>
            <a:r>
              <a:rPr lang="ko-KR" altLang="en-US" sz="1600" b="1" dirty="0" err="1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주는지”를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정량화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4B749D-EC58-7578-F68A-A7A0F17668E9}"/>
              </a:ext>
            </a:extLst>
          </p:cNvPr>
          <p:cNvSpPr/>
          <p:nvPr/>
        </p:nvSpPr>
        <p:spPr>
          <a:xfrm>
            <a:off x="1036320" y="1759440"/>
            <a:ext cx="9753600" cy="4884974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39A75-07E2-B9B7-491F-D3E5364D0A18}"/>
              </a:ext>
            </a:extLst>
          </p:cNvPr>
          <p:cNvSpPr txBox="1"/>
          <p:nvPr/>
        </p:nvSpPr>
        <p:spPr>
          <a:xfrm>
            <a:off x="2023189" y="1795662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구성요소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5C5FC58-7BEB-C20E-9B77-D1EF316722F4}"/>
              </a:ext>
            </a:extLst>
          </p:cNvPr>
          <p:cNvSpPr/>
          <p:nvPr/>
        </p:nvSpPr>
        <p:spPr>
          <a:xfrm>
            <a:off x="2024929" y="2174246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EC7EF6-3BC8-6F2E-F424-21B30BAB20E5}"/>
              </a:ext>
            </a:extLst>
          </p:cNvPr>
          <p:cNvSpPr txBox="1"/>
          <p:nvPr/>
        </p:nvSpPr>
        <p:spPr>
          <a:xfrm>
            <a:off x="2023189" y="2255871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Bond(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유대감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와의 정서적 연결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03A5111-6B1A-266F-CF14-E30417943CE6}"/>
              </a:ext>
            </a:extLst>
          </p:cNvPr>
          <p:cNvSpPr/>
          <p:nvPr/>
        </p:nvSpPr>
        <p:spPr>
          <a:xfrm>
            <a:off x="4583022" y="2174246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BECD56-EE9A-DD4B-CCE1-9AAC4EBF50F4}"/>
              </a:ext>
            </a:extLst>
          </p:cNvPr>
          <p:cNvSpPr txBox="1"/>
          <p:nvPr/>
        </p:nvSpPr>
        <p:spPr>
          <a:xfrm>
            <a:off x="4583022" y="2255871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Goal (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 일치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치료 목표의 공유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1C8FD7D-5ECD-2729-7616-B09F064F2F03}"/>
              </a:ext>
            </a:extLst>
          </p:cNvPr>
          <p:cNvSpPr/>
          <p:nvPr/>
        </p:nvSpPr>
        <p:spPr>
          <a:xfrm>
            <a:off x="7129168" y="2174246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3041D0-1FA9-6309-A2F9-CE8F1013C42C}"/>
              </a:ext>
            </a:extLst>
          </p:cNvPr>
          <p:cNvSpPr txBox="1"/>
          <p:nvPr/>
        </p:nvSpPr>
        <p:spPr>
          <a:xfrm>
            <a:off x="7125361" y="2255871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Task (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 적합성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활동의 적절성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E6DAF-F685-B495-B016-5370CDB1ECDF}"/>
              </a:ext>
            </a:extLst>
          </p:cNvPr>
          <p:cNvSpPr txBox="1"/>
          <p:nvPr/>
        </p:nvSpPr>
        <p:spPr>
          <a:xfrm>
            <a:off x="2023189" y="2996075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측정 도구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31209F2-D9A1-ACC5-D5D9-4A4525FC7B62}"/>
              </a:ext>
            </a:extLst>
          </p:cNvPr>
          <p:cNvSpPr/>
          <p:nvPr/>
        </p:nvSpPr>
        <p:spPr>
          <a:xfrm>
            <a:off x="2024928" y="3374659"/>
            <a:ext cx="2376143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BDFB1-C799-45E9-C886-EC6973A76950}"/>
              </a:ext>
            </a:extLst>
          </p:cNvPr>
          <p:cNvSpPr txBox="1"/>
          <p:nvPr/>
        </p:nvSpPr>
        <p:spPr>
          <a:xfrm>
            <a:off x="2023189" y="3569847"/>
            <a:ext cx="228333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DTA/WAI 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변형 척도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9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*Working Alliance Inventory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C27ECE-8A54-FF8E-3CFA-BD264DC0C3E9}"/>
              </a:ext>
            </a:extLst>
          </p:cNvPr>
          <p:cNvSpPr/>
          <p:nvPr/>
        </p:nvSpPr>
        <p:spPr>
          <a:xfrm>
            <a:off x="4583023" y="3374657"/>
            <a:ext cx="2376141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B47047-6265-7FAF-115B-88D9A9C060D4}"/>
              </a:ext>
            </a:extLst>
          </p:cNvPr>
          <p:cNvSpPr txBox="1"/>
          <p:nvPr/>
        </p:nvSpPr>
        <p:spPr>
          <a:xfrm>
            <a:off x="4594583" y="3442490"/>
            <a:ext cx="2334102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신뢰도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시스템∙데이터보호∙안전∙공정성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)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87F4FDC-B393-A0E0-A452-527BEA177655}"/>
              </a:ext>
            </a:extLst>
          </p:cNvPr>
          <p:cNvSpPr/>
          <p:nvPr/>
        </p:nvSpPr>
        <p:spPr>
          <a:xfrm>
            <a:off x="7141117" y="3361876"/>
            <a:ext cx="2364194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2A49ED-47FF-4D41-B659-65E87978B5BA}"/>
              </a:ext>
            </a:extLst>
          </p:cNvPr>
          <p:cNvSpPr txBox="1"/>
          <p:nvPr/>
        </p:nvSpPr>
        <p:spPr>
          <a:xfrm>
            <a:off x="7214687" y="3443503"/>
            <a:ext cx="219401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수용성</a:t>
            </a:r>
            <a:r>
              <a:rPr lang="en-US" altLang="ko-KR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사용성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(SUS, Acceptability E-scale)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58A7D-95A3-1C35-D734-C4B5FB734E43}"/>
              </a:ext>
            </a:extLst>
          </p:cNvPr>
          <p:cNvSpPr txBox="1"/>
          <p:nvPr/>
        </p:nvSpPr>
        <p:spPr>
          <a:xfrm>
            <a:off x="2023189" y="4220272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예시 문항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B28AAE6-6D8E-8A2E-65D3-6ACD0526F309}"/>
              </a:ext>
            </a:extLst>
          </p:cNvPr>
          <p:cNvSpPr/>
          <p:nvPr/>
        </p:nvSpPr>
        <p:spPr>
          <a:xfrm>
            <a:off x="2024929" y="4609299"/>
            <a:ext cx="2376142" cy="59200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5AB3033-E88F-B4FF-F4CE-3B482BE66D76}"/>
              </a:ext>
            </a:extLst>
          </p:cNvPr>
          <p:cNvSpPr/>
          <p:nvPr/>
        </p:nvSpPr>
        <p:spPr>
          <a:xfrm>
            <a:off x="4583022" y="4609299"/>
            <a:ext cx="2376142" cy="59200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87A4E8B-8778-A5A1-E791-576BAAF4E68E}"/>
              </a:ext>
            </a:extLst>
          </p:cNvPr>
          <p:cNvSpPr/>
          <p:nvPr/>
        </p:nvSpPr>
        <p:spPr>
          <a:xfrm>
            <a:off x="7129167" y="4609299"/>
            <a:ext cx="2452195" cy="59200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947116-E310-D2AA-9D09-2D77B272966A}"/>
              </a:ext>
            </a:extLst>
          </p:cNvPr>
          <p:cNvSpPr txBox="1"/>
          <p:nvPr/>
        </p:nvSpPr>
        <p:spPr>
          <a:xfrm>
            <a:off x="2071330" y="4653760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“LT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나를 이해한다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B7BA28-56EF-5E77-9C38-A6635ACE57D6}"/>
              </a:ext>
            </a:extLst>
          </p:cNvPr>
          <p:cNvSpPr txBox="1"/>
          <p:nvPr/>
        </p:nvSpPr>
        <p:spPr>
          <a:xfrm>
            <a:off x="4629424" y="4653760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정보가 안전하게 다뤄진다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D54184-8DFA-ADB2-C027-184FF3F6633E}"/>
              </a:ext>
            </a:extLst>
          </p:cNvPr>
          <p:cNvSpPr txBox="1"/>
          <p:nvPr/>
        </p:nvSpPr>
        <p:spPr>
          <a:xfrm>
            <a:off x="2023189" y="5377322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정리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DFB301D-2DE1-707D-E13B-1EECB10D60E7}"/>
              </a:ext>
            </a:extLst>
          </p:cNvPr>
          <p:cNvSpPr/>
          <p:nvPr/>
        </p:nvSpPr>
        <p:spPr>
          <a:xfrm>
            <a:off x="2026323" y="5751036"/>
            <a:ext cx="7478987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06C279-0DED-4149-8948-2C3C591E982B}"/>
              </a:ext>
            </a:extLst>
          </p:cNvPr>
          <p:cNvSpPr txBox="1"/>
          <p:nvPr/>
        </p:nvSpPr>
        <p:spPr>
          <a:xfrm>
            <a:off x="7290199" y="95416"/>
            <a:ext cx="4832579" cy="54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</a:t>
            </a:r>
            <a:r>
              <a:rPr lang="ko-KR" altLang="en-US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디지털 정신건강 개입용 </a:t>
            </a:r>
            <a:r>
              <a:rPr lang="en-US" altLang="ko-KR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DTA </a:t>
            </a:r>
            <a:r>
              <a:rPr lang="ko-KR" altLang="en-US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개념과 척도들이 개발 되고 있으며</a:t>
            </a:r>
            <a:r>
              <a:rPr lang="en-US" altLang="ko-KR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전통적인 </a:t>
            </a:r>
            <a:r>
              <a:rPr lang="en-US" altLang="ko-KR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WAI(Working Alliance Inventory)</a:t>
            </a:r>
            <a:r>
              <a:rPr lang="ko-KR" altLang="en-US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Bond / Task / Goal </a:t>
            </a:r>
            <a:r>
              <a:rPr lang="ko-KR" altLang="en-US" sz="105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구조 변형</a:t>
            </a:r>
            <a:endParaRPr lang="en-US" altLang="ko-KR" sz="1050" b="1" dirty="0">
              <a:solidFill>
                <a:srgbClr val="0020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05F389-9BF7-485B-930F-20C8D40B4329}"/>
              </a:ext>
            </a:extLst>
          </p:cNvPr>
          <p:cNvSpPr txBox="1"/>
          <p:nvPr/>
        </p:nvSpPr>
        <p:spPr>
          <a:xfrm>
            <a:off x="4428743" y="4109573"/>
            <a:ext cx="2665782" cy="3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6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*A systematic review of consumers’ and healthcare professionals’ trust in digital healthcare. 2025. </a:t>
            </a:r>
            <a:r>
              <a:rPr lang="en-US" altLang="ko-KR" sz="600" b="1" dirty="0" err="1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npj</a:t>
            </a:r>
            <a:r>
              <a:rPr lang="en-US" altLang="ko-KR" sz="6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Digital Medicine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2AF808-92AA-41A1-9042-B46E9CAD8C91}"/>
              </a:ext>
            </a:extLst>
          </p:cNvPr>
          <p:cNvSpPr txBox="1"/>
          <p:nvPr/>
        </p:nvSpPr>
        <p:spPr>
          <a:xfrm>
            <a:off x="2071330" y="4916240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“LT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목표가 일치한다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6491EB-08E7-4BD7-BAA8-B6363F35DA9E}"/>
              </a:ext>
            </a:extLst>
          </p:cNvPr>
          <p:cNvSpPr txBox="1"/>
          <p:nvPr/>
        </p:nvSpPr>
        <p:spPr>
          <a:xfrm>
            <a:off x="4652625" y="4900301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조언을 따를 만하다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BBBB3-A327-4876-9A9A-AE4EABBC0684}"/>
              </a:ext>
            </a:extLst>
          </p:cNvPr>
          <p:cNvSpPr txBox="1"/>
          <p:nvPr/>
        </p:nvSpPr>
        <p:spPr>
          <a:xfrm>
            <a:off x="7164315" y="4627333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복잡하지 않다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08549E-57EB-408F-95E6-EBC81F2B482A}"/>
              </a:ext>
            </a:extLst>
          </p:cNvPr>
          <p:cNvSpPr txBox="1"/>
          <p:nvPr/>
        </p:nvSpPr>
        <p:spPr>
          <a:xfrm>
            <a:off x="7164315" y="4889813"/>
            <a:ext cx="2283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다시 사용하고 싶다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51D0B-4C3D-428C-9DEB-FEF48F269043}"/>
              </a:ext>
            </a:extLst>
          </p:cNvPr>
          <p:cNvSpPr txBox="1"/>
          <p:nvPr/>
        </p:nvSpPr>
        <p:spPr>
          <a:xfrm>
            <a:off x="2383012" y="5891337"/>
            <a:ext cx="6682719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“디지털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Therapeutic Alliance +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신뢰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600" b="1" i="0" dirty="0" err="1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수용성”을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주요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LT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전용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차 지표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870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AD317-5A70-822E-9521-D1D4D4672AFF}"/>
              </a:ext>
            </a:extLst>
          </p:cNvPr>
          <p:cNvSpPr txBox="1"/>
          <p:nvPr/>
        </p:nvSpPr>
        <p:spPr>
          <a:xfrm>
            <a:off x="595800" y="628648"/>
            <a:ext cx="7095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레이어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 - </a:t>
            </a:r>
            <a:r>
              <a:rPr lang="ko-KR" altLang="en-US" sz="2800" b="1" dirty="0" err="1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정서∙심리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지표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586847-1178-51C7-3C41-C0CA152E60B4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39923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3A2B00-4DF9-BAF8-8A10-AEFDEA7C74B7}"/>
              </a:ext>
            </a:extLst>
          </p:cNvPr>
          <p:cNvSpPr txBox="1"/>
          <p:nvPr/>
        </p:nvSpPr>
        <p:spPr>
          <a:xfrm>
            <a:off x="646599" y="1246608"/>
            <a:ext cx="6396751" cy="787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LT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의 핵심이 “사랑대화기 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=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감정 자극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 i="0" dirty="0" err="1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안정”</a:t>
            </a:r>
            <a:r>
              <a:rPr lang="ko-KR" altLang="en-US" sz="1600" b="1" dirty="0" err="1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정서 지표는 필수</a:t>
            </a:r>
            <a:endParaRPr lang="en-US" altLang="ko-KR" sz="1600" b="1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우울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불안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외로움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삶의 질 측정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4B749D-EC58-7578-F68A-A7A0F17668E9}"/>
              </a:ext>
            </a:extLst>
          </p:cNvPr>
          <p:cNvSpPr/>
          <p:nvPr/>
        </p:nvSpPr>
        <p:spPr>
          <a:xfrm>
            <a:off x="1033069" y="2129805"/>
            <a:ext cx="10546080" cy="4443220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39A75-07E2-B9B7-491F-D3E5364D0A18}"/>
              </a:ext>
            </a:extLst>
          </p:cNvPr>
          <p:cNvSpPr txBox="1"/>
          <p:nvPr/>
        </p:nvSpPr>
        <p:spPr>
          <a:xfrm>
            <a:off x="1203937" y="2502207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측정 영역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5C5FC58-7BEB-C20E-9B77-D1EF316722F4}"/>
              </a:ext>
            </a:extLst>
          </p:cNvPr>
          <p:cNvSpPr/>
          <p:nvPr/>
        </p:nvSpPr>
        <p:spPr>
          <a:xfrm>
            <a:off x="1205677" y="2880791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EC7EF6-3BC8-6F2E-F424-21B30BAB20E5}"/>
              </a:ext>
            </a:extLst>
          </p:cNvPr>
          <p:cNvSpPr txBox="1"/>
          <p:nvPr/>
        </p:nvSpPr>
        <p:spPr>
          <a:xfrm>
            <a:off x="1203937" y="2962416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우울 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(Depression)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GDS, PHQ-9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03A5111-6B1A-266F-CF14-E30417943CE6}"/>
              </a:ext>
            </a:extLst>
          </p:cNvPr>
          <p:cNvSpPr/>
          <p:nvPr/>
        </p:nvSpPr>
        <p:spPr>
          <a:xfrm>
            <a:off x="3763770" y="2880791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BECD56-EE9A-DD4B-CCE1-9AAC4EBF50F4}"/>
              </a:ext>
            </a:extLst>
          </p:cNvPr>
          <p:cNvSpPr txBox="1"/>
          <p:nvPr/>
        </p:nvSpPr>
        <p:spPr>
          <a:xfrm>
            <a:off x="3763770" y="2962416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불안 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(Anxiety)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GAD-7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1C8FD7D-5ECD-2729-7616-B09F064F2F03}"/>
              </a:ext>
            </a:extLst>
          </p:cNvPr>
          <p:cNvSpPr/>
          <p:nvPr/>
        </p:nvSpPr>
        <p:spPr>
          <a:xfrm>
            <a:off x="6309916" y="2880791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3041D0-1FA9-6309-A2F9-CE8F1013C42C}"/>
              </a:ext>
            </a:extLst>
          </p:cNvPr>
          <p:cNvSpPr txBox="1"/>
          <p:nvPr/>
        </p:nvSpPr>
        <p:spPr>
          <a:xfrm>
            <a:off x="6306109" y="2962416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외로움 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(Loneliness)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UCLA Loneliness Scale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E6DAF-F685-B495-B016-5370CDB1ECDF}"/>
              </a:ext>
            </a:extLst>
          </p:cNvPr>
          <p:cNvSpPr txBox="1"/>
          <p:nvPr/>
        </p:nvSpPr>
        <p:spPr>
          <a:xfrm>
            <a:off x="1203937" y="3838385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기대 변화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31209F2-D9A1-ACC5-D5D9-4A4525FC7B62}"/>
              </a:ext>
            </a:extLst>
          </p:cNvPr>
          <p:cNvSpPr/>
          <p:nvPr/>
        </p:nvSpPr>
        <p:spPr>
          <a:xfrm>
            <a:off x="1205676" y="4216969"/>
            <a:ext cx="2376143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BDFB1-C799-45E9-C886-EC6973A76950}"/>
              </a:ext>
            </a:extLst>
          </p:cNvPr>
          <p:cNvSpPr txBox="1"/>
          <p:nvPr/>
        </p:nvSpPr>
        <p:spPr>
          <a:xfrm>
            <a:off x="1234417" y="4412157"/>
            <a:ext cx="2283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우울 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∙ 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불안 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 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외로움 감소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C27ECE-8A54-FF8E-3CFA-BD264DC0C3E9}"/>
              </a:ext>
            </a:extLst>
          </p:cNvPr>
          <p:cNvSpPr/>
          <p:nvPr/>
        </p:nvSpPr>
        <p:spPr>
          <a:xfrm>
            <a:off x="3763771" y="4216967"/>
            <a:ext cx="2376141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87F4FDC-B393-A0E0-A452-527BEA177655}"/>
              </a:ext>
            </a:extLst>
          </p:cNvPr>
          <p:cNvSpPr/>
          <p:nvPr/>
        </p:nvSpPr>
        <p:spPr>
          <a:xfrm>
            <a:off x="6321865" y="4204186"/>
            <a:ext cx="2364194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D54184-8DFA-ADB2-C027-184FF3F6633E}"/>
              </a:ext>
            </a:extLst>
          </p:cNvPr>
          <p:cNvSpPr txBox="1"/>
          <p:nvPr/>
        </p:nvSpPr>
        <p:spPr>
          <a:xfrm>
            <a:off x="1189294" y="5191095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정리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DFB301D-2DE1-707D-E13B-1EECB10D60E7}"/>
              </a:ext>
            </a:extLst>
          </p:cNvPr>
          <p:cNvSpPr/>
          <p:nvPr/>
        </p:nvSpPr>
        <p:spPr>
          <a:xfrm>
            <a:off x="1192428" y="5564809"/>
            <a:ext cx="7478987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2BD62B-16E4-098E-FEB3-C7A5B8C2C688}"/>
              </a:ext>
            </a:extLst>
          </p:cNvPr>
          <p:cNvSpPr/>
          <p:nvPr/>
        </p:nvSpPr>
        <p:spPr>
          <a:xfrm>
            <a:off x="8859869" y="2880791"/>
            <a:ext cx="2376142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3F96E-F6A6-419F-F39B-732A2BE3DD2B}"/>
              </a:ext>
            </a:extLst>
          </p:cNvPr>
          <p:cNvSpPr txBox="1"/>
          <p:nvPr/>
        </p:nvSpPr>
        <p:spPr>
          <a:xfrm>
            <a:off x="8856062" y="2962416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삶의 질 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(Quality of Life)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QoL-AD, QUALIDEM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C028B4-C587-AE53-2B62-B62EB4404884}"/>
              </a:ext>
            </a:extLst>
          </p:cNvPr>
          <p:cNvSpPr txBox="1"/>
          <p:nvPr/>
        </p:nvSpPr>
        <p:spPr>
          <a:xfrm>
            <a:off x="3792511" y="4399374"/>
            <a:ext cx="2283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정서적 안정 증가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64FEF8-45C3-9B50-482D-FDE8A4ED252C}"/>
              </a:ext>
            </a:extLst>
          </p:cNvPr>
          <p:cNvSpPr/>
          <p:nvPr/>
        </p:nvSpPr>
        <p:spPr>
          <a:xfrm>
            <a:off x="6321460" y="4199543"/>
            <a:ext cx="2376143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068FB-DFD2-2AD8-BD8B-D8BC3F972ED2}"/>
              </a:ext>
            </a:extLst>
          </p:cNvPr>
          <p:cNvSpPr txBox="1"/>
          <p:nvPr/>
        </p:nvSpPr>
        <p:spPr>
          <a:xfrm>
            <a:off x="6350201" y="4394731"/>
            <a:ext cx="2283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사회적 </a:t>
            </a:r>
            <a:r>
              <a:rPr lang="ko-KR" altLang="en-US" sz="14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연결감</a:t>
            </a:r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증가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7DBE09D-4FF5-4C1C-A119-CF53C213E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152" y="165586"/>
            <a:ext cx="4306299" cy="135988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FAAE67D-B0E9-48FE-B32F-07DAC7CE75F6}"/>
              </a:ext>
            </a:extLst>
          </p:cNvPr>
          <p:cNvSpPr txBox="1"/>
          <p:nvPr/>
        </p:nvSpPr>
        <p:spPr>
          <a:xfrm>
            <a:off x="1462433" y="5685352"/>
            <a:ext cx="6682719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 감정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사회적 측면에서 실제로 의미 있는 변화를 만들었는지” 평가지표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276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AD317-5A70-822E-9521-D1D4D4672AFF}"/>
              </a:ext>
            </a:extLst>
          </p:cNvPr>
          <p:cNvSpPr txBox="1"/>
          <p:nvPr/>
        </p:nvSpPr>
        <p:spPr>
          <a:xfrm>
            <a:off x="601978" y="424761"/>
            <a:ext cx="7095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레이어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 –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기능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586847-1178-51C7-3C41-C0CA152E60B4}"/>
              </a:ext>
            </a:extLst>
          </p:cNvPr>
          <p:cNvCxnSpPr>
            <a:cxnSpLocks/>
          </p:cNvCxnSpPr>
          <p:nvPr/>
        </p:nvCxnSpPr>
        <p:spPr>
          <a:xfrm>
            <a:off x="640890" y="947981"/>
            <a:ext cx="52682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3A2B00-4DF9-BAF8-8A10-AEFDEA7C74B7}"/>
              </a:ext>
            </a:extLst>
          </p:cNvPr>
          <p:cNvSpPr txBox="1"/>
          <p:nvPr/>
        </p:nvSpPr>
        <p:spPr>
          <a:xfrm>
            <a:off x="652778" y="1042721"/>
            <a:ext cx="5256360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600" b="1" dirty="0" err="1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DTx</a:t>
            </a:r>
            <a:r>
              <a:rPr lang="en-US" altLang="ko-KR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 검증을 위한 표준 인지</a:t>
            </a:r>
            <a:r>
              <a:rPr lang="ko-KR" altLang="en-US" sz="1600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 평가 지표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EF4C57-3F12-9F12-22B4-130A8CBA5495}"/>
              </a:ext>
            </a:extLst>
          </p:cNvPr>
          <p:cNvSpPr/>
          <p:nvPr/>
        </p:nvSpPr>
        <p:spPr>
          <a:xfrm>
            <a:off x="564978" y="1406610"/>
            <a:ext cx="11074400" cy="5241078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C8F6B-87E9-0837-3378-E1F02BDC3149}"/>
              </a:ext>
            </a:extLst>
          </p:cNvPr>
          <p:cNvSpPr txBox="1"/>
          <p:nvPr/>
        </p:nvSpPr>
        <p:spPr>
          <a:xfrm>
            <a:off x="844149" y="1629011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인지 기능 평가 지표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1B0EDC-75AB-A36C-4926-3E54EE2024D4}"/>
              </a:ext>
            </a:extLst>
          </p:cNvPr>
          <p:cNvSpPr txBox="1"/>
          <p:nvPr/>
        </p:nvSpPr>
        <p:spPr>
          <a:xfrm>
            <a:off x="6771714" y="1629011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설계 및 기준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92340C1-2636-4C23-7906-2186030269B2}"/>
              </a:ext>
            </a:extLst>
          </p:cNvPr>
          <p:cNvCxnSpPr>
            <a:cxnSpLocks/>
          </p:cNvCxnSpPr>
          <p:nvPr/>
        </p:nvCxnSpPr>
        <p:spPr>
          <a:xfrm flipV="1">
            <a:off x="6771714" y="2038763"/>
            <a:ext cx="4491744" cy="159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ADC80FA-1757-6AF7-24D5-6CC9FD6C34A3}"/>
              </a:ext>
            </a:extLst>
          </p:cNvPr>
          <p:cNvSpPr/>
          <p:nvPr/>
        </p:nvSpPr>
        <p:spPr>
          <a:xfrm>
            <a:off x="845888" y="2210875"/>
            <a:ext cx="5276609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6BB99F-D7B7-EF38-2DB6-73C1812ADCF8}"/>
              </a:ext>
            </a:extLst>
          </p:cNvPr>
          <p:cNvCxnSpPr>
            <a:cxnSpLocks/>
          </p:cNvCxnSpPr>
          <p:nvPr/>
        </p:nvCxnSpPr>
        <p:spPr>
          <a:xfrm>
            <a:off x="844149" y="2054709"/>
            <a:ext cx="52783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987E805-ED5C-9E29-CD12-7561C6A2927D}"/>
              </a:ext>
            </a:extLst>
          </p:cNvPr>
          <p:cNvSpPr txBox="1"/>
          <p:nvPr/>
        </p:nvSpPr>
        <p:spPr>
          <a:xfrm>
            <a:off x="844149" y="2387719"/>
            <a:ext cx="525802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 지표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MoCA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Montreal Cognitive Assessment –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집행기능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변화에 민감한 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표준 평가 도구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419DDF7-E451-977E-0B90-BFC4A52ADDC8}"/>
              </a:ext>
            </a:extLst>
          </p:cNvPr>
          <p:cNvSpPr/>
          <p:nvPr/>
        </p:nvSpPr>
        <p:spPr>
          <a:xfrm>
            <a:off x="844150" y="3310963"/>
            <a:ext cx="5278348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060AED-4B65-F9A7-5A21-D26CF9AC30D5}"/>
              </a:ext>
            </a:extLst>
          </p:cNvPr>
          <p:cNvSpPr txBox="1"/>
          <p:nvPr/>
        </p:nvSpPr>
        <p:spPr>
          <a:xfrm>
            <a:off x="844149" y="3487807"/>
            <a:ext cx="525802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 지표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MMSE,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ADAS-Cog,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CDR-SB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등 보조 인지 평가 척도로 다각적 변화 측정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BB3F926-3633-F515-9177-C5C1A822D671}"/>
              </a:ext>
            </a:extLst>
          </p:cNvPr>
          <p:cNvSpPr/>
          <p:nvPr/>
        </p:nvSpPr>
        <p:spPr>
          <a:xfrm>
            <a:off x="844149" y="4409510"/>
            <a:ext cx="5263936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D44DF9-9D7C-E902-8A48-F272EFDC864F}"/>
              </a:ext>
            </a:extLst>
          </p:cNvPr>
          <p:cNvSpPr txBox="1"/>
          <p:nvPr/>
        </p:nvSpPr>
        <p:spPr>
          <a:xfrm>
            <a:off x="829737" y="4586354"/>
            <a:ext cx="525802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기능적 평가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DL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/IADL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로 일상생활 수행 능력 평가 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  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실제 생활에 미치는 영향 확인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EA33CD9-CC8A-0D46-7A91-84DB5B9590CD}"/>
              </a:ext>
            </a:extLst>
          </p:cNvPr>
          <p:cNvSpPr/>
          <p:nvPr/>
        </p:nvSpPr>
        <p:spPr>
          <a:xfrm>
            <a:off x="6846245" y="2205574"/>
            <a:ext cx="4491744" cy="3077939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33710F52-2E2E-26F7-789C-E91BBCB8E4BA}"/>
              </a:ext>
            </a:extLst>
          </p:cNvPr>
          <p:cNvSpPr/>
          <p:nvPr/>
        </p:nvSpPr>
        <p:spPr>
          <a:xfrm>
            <a:off x="7076007" y="3487807"/>
            <a:ext cx="3991014" cy="921704"/>
          </a:xfrm>
          <a:prstGeom prst="roundRect">
            <a:avLst>
              <a:gd name="adj" fmla="val 756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CB980E7-1272-FD9A-09D6-368598FCA28A}"/>
              </a:ext>
            </a:extLst>
          </p:cNvPr>
          <p:cNvSpPr/>
          <p:nvPr/>
        </p:nvSpPr>
        <p:spPr>
          <a:xfrm>
            <a:off x="7114919" y="3487807"/>
            <a:ext cx="3955500" cy="921703"/>
          </a:xfrm>
          <a:prstGeom prst="roundRect">
            <a:avLst>
              <a:gd name="adj" fmla="val 7564"/>
            </a:avLst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DE70C5-8273-2189-4756-D7A29181BF33}"/>
              </a:ext>
            </a:extLst>
          </p:cNvPr>
          <p:cNvSpPr txBox="1"/>
          <p:nvPr/>
        </p:nvSpPr>
        <p:spPr>
          <a:xfrm>
            <a:off x="6846245" y="2255631"/>
            <a:ext cx="4417213" cy="289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평가 시점</a:t>
            </a:r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Baseline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개입 전 초기 평가</a:t>
            </a:r>
            <a:endParaRPr lang="en-US" altLang="ko-KR" sz="105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Post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8-12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 개입 후 평가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Follow-up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4-12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 후 추적 평가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50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R</a:t>
            </a:r>
            <a:r>
              <a:rPr lang="en-US" altLang="ko-KR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esponder </a:t>
            </a:r>
            <a:r>
              <a:rPr lang="ko-KR" altLang="en-US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정의 예시</a:t>
            </a:r>
            <a:r>
              <a:rPr lang="en-US" altLang="ko-KR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 algn="ctr">
              <a:lnSpc>
                <a:spcPct val="150000"/>
              </a:lnSpc>
            </a:pP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MoCA ≥ 2</a:t>
            </a:r>
            <a:r>
              <a:rPr lang="ko-KR" altLang="en-US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점 상승 </a:t>
            </a:r>
            <a:r>
              <a:rPr lang="en-US" altLang="ko-KR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CDR-SB 0.5</a:t>
            </a:r>
            <a:r>
              <a:rPr lang="ko-KR" altLang="en-US" sz="105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점 이상 감소</a:t>
            </a:r>
            <a:endParaRPr lang="en-US" altLang="ko-KR" sz="105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en-US" altLang="ko-KR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임상적으로 의미 있는 변화</a:t>
            </a:r>
            <a:r>
              <a:rPr lang="en-US" altLang="ko-KR" sz="105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(Clinically Meaningful Change)</a:t>
            </a:r>
          </a:p>
          <a:p>
            <a:pPr algn="ctr">
              <a:lnSpc>
                <a:spcPct val="150000"/>
              </a:lnSpc>
            </a:pP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 방향</a:t>
            </a:r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DTA 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정서 개선이 인지 지표 변화를 매개하는지 경로 분석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8A8D0-6070-491E-85B0-6771FD3A67D8}"/>
              </a:ext>
            </a:extLst>
          </p:cNvPr>
          <p:cNvSpPr txBox="1"/>
          <p:nvPr/>
        </p:nvSpPr>
        <p:spPr>
          <a:xfrm>
            <a:off x="801454" y="5404899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1E541C-554F-4B67-839E-EA4891DD521A}"/>
              </a:ext>
            </a:extLst>
          </p:cNvPr>
          <p:cNvSpPr/>
          <p:nvPr/>
        </p:nvSpPr>
        <p:spPr>
          <a:xfrm>
            <a:off x="829737" y="5718629"/>
            <a:ext cx="7478987" cy="69416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24D0A4-91FF-4197-80C9-3164E0BAB20F}"/>
              </a:ext>
            </a:extLst>
          </p:cNvPr>
          <p:cNvSpPr txBox="1"/>
          <p:nvPr/>
        </p:nvSpPr>
        <p:spPr>
          <a:xfrm>
            <a:off x="1019475" y="5856552"/>
            <a:ext cx="6682719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“정말로 인지가 좋아졌다고 말할 수 있는가</a:t>
            </a: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?”</a:t>
            </a:r>
            <a:r>
              <a:rPr lang="ko-KR" altLang="en-US" sz="16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대한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평가지표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26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AD317-5A70-822E-9521-D1D4D4672AFF}"/>
              </a:ext>
            </a:extLst>
          </p:cNvPr>
          <p:cNvSpPr txBox="1"/>
          <p:nvPr/>
        </p:nvSpPr>
        <p:spPr>
          <a:xfrm>
            <a:off x="595800" y="628648"/>
            <a:ext cx="5429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레이어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 –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 </a:t>
            </a:r>
            <a:r>
              <a:rPr lang="ko-KR" altLang="en-US" sz="2800" b="1" dirty="0" err="1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행태</a:t>
            </a:r>
            <a:r>
              <a:rPr lang="ko-KR" altLang="en-US" sz="2800" b="1" dirty="0" err="1">
                <a:solidFill>
                  <a:srgbClr val="1E40A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2800" b="1" dirty="0" err="1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패턴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586847-1178-51C7-3C41-C0CA152E60B4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478056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3A2B00-4DF9-BAF8-8A10-AEFDEA7C74B7}"/>
              </a:ext>
            </a:extLst>
          </p:cNvPr>
          <p:cNvSpPr txBox="1"/>
          <p:nvPr/>
        </p:nvSpPr>
        <p:spPr>
          <a:xfrm>
            <a:off x="646600" y="1246608"/>
            <a:ext cx="6087832" cy="41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LT 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같은 대화 </a:t>
            </a:r>
            <a:r>
              <a:rPr lang="en-US" altLang="ko-KR" sz="1600" b="1" i="0" dirty="0" err="1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DTx</a:t>
            </a:r>
            <a:r>
              <a:rPr lang="ko-KR" altLang="en-US" sz="16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에서는 사용 행태 데이터도 중요한 보조 지표</a:t>
            </a:r>
            <a:endParaRPr lang="en-US" altLang="ko-KR" sz="1600" b="0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C4B749D-EC58-7578-F68A-A7A0F17668E9}"/>
              </a:ext>
            </a:extLst>
          </p:cNvPr>
          <p:cNvSpPr/>
          <p:nvPr/>
        </p:nvSpPr>
        <p:spPr>
          <a:xfrm>
            <a:off x="595800" y="1747751"/>
            <a:ext cx="10682357" cy="4884974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39A75-07E2-B9B7-491F-D3E5364D0A18}"/>
              </a:ext>
            </a:extLst>
          </p:cNvPr>
          <p:cNvSpPr txBox="1"/>
          <p:nvPr/>
        </p:nvSpPr>
        <p:spPr>
          <a:xfrm>
            <a:off x="912103" y="1795662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빈도 지속성 지표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5C5FC58-7BEB-C20E-9B77-D1EF316722F4}"/>
              </a:ext>
            </a:extLst>
          </p:cNvPr>
          <p:cNvSpPr/>
          <p:nvPr/>
        </p:nvSpPr>
        <p:spPr>
          <a:xfrm>
            <a:off x="913843" y="219109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EC7EF6-3BC8-6F2E-F424-21B30BAB20E5}"/>
              </a:ext>
            </a:extLst>
          </p:cNvPr>
          <p:cNvSpPr txBox="1"/>
          <p:nvPr/>
        </p:nvSpPr>
        <p:spPr>
          <a:xfrm>
            <a:off x="912103" y="2268755"/>
            <a:ext cx="2283337" cy="505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주당 세션 수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사용 빈도 추적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03A5111-6B1A-266F-CF14-E30417943CE6}"/>
              </a:ext>
            </a:extLst>
          </p:cNvPr>
          <p:cNvSpPr/>
          <p:nvPr/>
        </p:nvSpPr>
        <p:spPr>
          <a:xfrm>
            <a:off x="3471936" y="219109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BECD56-EE9A-DD4B-CCE1-9AAC4EBF50F4}"/>
              </a:ext>
            </a:extLst>
          </p:cNvPr>
          <p:cNvSpPr txBox="1"/>
          <p:nvPr/>
        </p:nvSpPr>
        <p:spPr>
          <a:xfrm>
            <a:off x="3471936" y="2268755"/>
            <a:ext cx="2283337" cy="505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 세션 길이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참여 시간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1C8FD7D-5ECD-2729-7616-B09F064F2F03}"/>
              </a:ext>
            </a:extLst>
          </p:cNvPr>
          <p:cNvSpPr/>
          <p:nvPr/>
        </p:nvSpPr>
        <p:spPr>
          <a:xfrm>
            <a:off x="6018082" y="219109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3041D0-1FA9-6309-A2F9-CE8F1013C42C}"/>
              </a:ext>
            </a:extLst>
          </p:cNvPr>
          <p:cNvSpPr txBox="1"/>
          <p:nvPr/>
        </p:nvSpPr>
        <p:spPr>
          <a:xfrm>
            <a:off x="6014275" y="2268755"/>
            <a:ext cx="2283337" cy="505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7/30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유지율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지속 사용 패턴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AE6DAF-F685-B495-B016-5370CDB1ECDF}"/>
              </a:ext>
            </a:extLst>
          </p:cNvPr>
          <p:cNvSpPr txBox="1"/>
          <p:nvPr/>
        </p:nvSpPr>
        <p:spPr>
          <a:xfrm>
            <a:off x="912103" y="2996075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내용 지표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406A80D-AB5C-D860-9D51-55DF53F7C67F}"/>
              </a:ext>
            </a:extLst>
          </p:cNvPr>
          <p:cNvSpPr/>
          <p:nvPr/>
        </p:nvSpPr>
        <p:spPr>
          <a:xfrm>
            <a:off x="8568035" y="219109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7F528-DFA3-1B69-B315-AE83E3F1C8DE}"/>
              </a:ext>
            </a:extLst>
          </p:cNvPr>
          <p:cNvSpPr txBox="1"/>
          <p:nvPr/>
        </p:nvSpPr>
        <p:spPr>
          <a:xfrm>
            <a:off x="8564228" y="2268755"/>
            <a:ext cx="2283337" cy="505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중도탈락률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이탈 모니터링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B4E1FE-E3C4-989A-4044-86E555BE7814}"/>
              </a:ext>
            </a:extLst>
          </p:cNvPr>
          <p:cNvSpPr/>
          <p:nvPr/>
        </p:nvSpPr>
        <p:spPr>
          <a:xfrm>
            <a:off x="913843" y="341315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CECE3-A5E7-01CC-79E0-05EECD469DA7}"/>
              </a:ext>
            </a:extLst>
          </p:cNvPr>
          <p:cNvSpPr txBox="1"/>
          <p:nvPr/>
        </p:nvSpPr>
        <p:spPr>
          <a:xfrm>
            <a:off x="912103" y="3490815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회상 발화 비율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과거 기억 공유 빈도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A539A68-198D-2F52-B2F6-EC1766DA3E02}"/>
              </a:ext>
            </a:extLst>
          </p:cNvPr>
          <p:cNvSpPr/>
          <p:nvPr/>
        </p:nvSpPr>
        <p:spPr>
          <a:xfrm>
            <a:off x="3471936" y="341315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0C3E6-B640-4C06-E59B-88642035DC36}"/>
              </a:ext>
            </a:extLst>
          </p:cNvPr>
          <p:cNvSpPr txBox="1"/>
          <p:nvPr/>
        </p:nvSpPr>
        <p:spPr>
          <a:xfrm>
            <a:off x="3471936" y="3490815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자기노출 수준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경험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공유 정도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A4330C7-8F5D-C496-A957-792BD25A2FF0}"/>
              </a:ext>
            </a:extLst>
          </p:cNvPr>
          <p:cNvSpPr/>
          <p:nvPr/>
        </p:nvSpPr>
        <p:spPr>
          <a:xfrm>
            <a:off x="6018082" y="341315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E7DBC-7DA7-1F10-95BB-A18D2399700F}"/>
              </a:ext>
            </a:extLst>
          </p:cNvPr>
          <p:cNvSpPr txBox="1"/>
          <p:nvPr/>
        </p:nvSpPr>
        <p:spPr>
          <a:xfrm>
            <a:off x="6014275" y="3490815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레이블링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rgbClr val="E7E6E6">
                    <a:lumMod val="25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 표현 빈도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87BD8CD-56F7-28BF-8F5B-FD53717C83BF}"/>
              </a:ext>
            </a:extLst>
          </p:cNvPr>
          <p:cNvSpPr/>
          <p:nvPr/>
        </p:nvSpPr>
        <p:spPr>
          <a:xfrm>
            <a:off x="8568035" y="3413152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13225-0A75-EF06-9919-E11244AF54C7}"/>
              </a:ext>
            </a:extLst>
          </p:cNvPr>
          <p:cNvSpPr txBox="1"/>
          <p:nvPr/>
        </p:nvSpPr>
        <p:spPr>
          <a:xfrm>
            <a:off x="8564228" y="3490815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긍정 정서 비율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긍정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부정 균형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B9E7B4-8824-FE65-EBB8-5ABCCDFAFFB4}"/>
              </a:ext>
            </a:extLst>
          </p:cNvPr>
          <p:cNvSpPr txBox="1"/>
          <p:nvPr/>
        </p:nvSpPr>
        <p:spPr>
          <a:xfrm>
            <a:off x="911784" y="4219914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품질 지표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4C469A6-D0B4-C042-094A-BE7A8C2DDEB9}"/>
              </a:ext>
            </a:extLst>
          </p:cNvPr>
          <p:cNvSpPr/>
          <p:nvPr/>
        </p:nvSpPr>
        <p:spPr>
          <a:xfrm>
            <a:off x="913524" y="4615344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618ECE-019F-AEC8-D90B-B72CAFC94098}"/>
              </a:ext>
            </a:extLst>
          </p:cNvPr>
          <p:cNvSpPr txBox="1"/>
          <p:nvPr/>
        </p:nvSpPr>
        <p:spPr>
          <a:xfrm>
            <a:off x="911784" y="4693007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상호성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쌍방향 소통 정도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664762E-CF57-CD12-F9A1-E4E404D95285}"/>
              </a:ext>
            </a:extLst>
          </p:cNvPr>
          <p:cNvSpPr/>
          <p:nvPr/>
        </p:nvSpPr>
        <p:spPr>
          <a:xfrm>
            <a:off x="3471617" y="4615344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74E526-489C-E65A-1065-91F20A842D5F}"/>
              </a:ext>
            </a:extLst>
          </p:cNvPr>
          <p:cNvSpPr txBox="1"/>
          <p:nvPr/>
        </p:nvSpPr>
        <p:spPr>
          <a:xfrm>
            <a:off x="3471617" y="4693007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목표 정렬도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치료 목표와 연계성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711B1B9-EB69-D1B1-2336-F0AEC5C36991}"/>
              </a:ext>
            </a:extLst>
          </p:cNvPr>
          <p:cNvSpPr/>
          <p:nvPr/>
        </p:nvSpPr>
        <p:spPr>
          <a:xfrm>
            <a:off x="6017763" y="4615344"/>
            <a:ext cx="2376142" cy="66047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52195A-C3F9-6E09-B4A1-1CB76BA41FA4}"/>
              </a:ext>
            </a:extLst>
          </p:cNvPr>
          <p:cNvSpPr txBox="1"/>
          <p:nvPr/>
        </p:nvSpPr>
        <p:spPr>
          <a:xfrm>
            <a:off x="6013956" y="4693007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안전어휘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비율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적절한 언어 사용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02F93F-E18A-F1AB-3A18-5DCA3410CD2A}"/>
              </a:ext>
            </a:extLst>
          </p:cNvPr>
          <p:cNvSpPr txBox="1"/>
          <p:nvPr/>
        </p:nvSpPr>
        <p:spPr>
          <a:xfrm>
            <a:off x="911784" y="5423330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분석 방향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F674F0E-4772-D162-B87D-D9B9D315CC05}"/>
              </a:ext>
            </a:extLst>
          </p:cNvPr>
          <p:cNvSpPr/>
          <p:nvPr/>
        </p:nvSpPr>
        <p:spPr>
          <a:xfrm>
            <a:off x="911784" y="5822108"/>
            <a:ext cx="7482121" cy="671786"/>
          </a:xfrm>
          <a:prstGeom prst="roundRect">
            <a:avLst>
              <a:gd name="adj" fmla="val 756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D1D77C7-EC31-8C1B-EEC7-FF8BD0029F7C}"/>
              </a:ext>
            </a:extLst>
          </p:cNvPr>
          <p:cNvSpPr/>
          <p:nvPr/>
        </p:nvSpPr>
        <p:spPr>
          <a:xfrm>
            <a:off x="950696" y="5822108"/>
            <a:ext cx="8244104" cy="671785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D40AE4-F849-25C1-5305-31493F2F648D}"/>
              </a:ext>
            </a:extLst>
          </p:cNvPr>
          <p:cNvSpPr txBox="1"/>
          <p:nvPr/>
        </p:nvSpPr>
        <p:spPr>
          <a:xfrm>
            <a:off x="911784" y="5992070"/>
            <a:ext cx="8130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Engagement </a:t>
            </a:r>
            <a:r>
              <a:rPr lang="ko-KR" altLang="en-US" sz="14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정서 개선과 인지 기능 향상을 </a:t>
            </a:r>
            <a:r>
              <a:rPr lang="ko-KR" altLang="en-US" sz="14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매개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하는지 탐색하여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LT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ko-KR" altLang="en-US" sz="1400" b="1" dirty="0">
                <a:solidFill>
                  <a:srgbClr val="2C5F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치료적 메커니즘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입증</a:t>
            </a: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719A60-F62D-4D6E-8105-CDB3CB9772F0}"/>
              </a:ext>
            </a:extLst>
          </p:cNvPr>
          <p:cNvSpPr txBox="1"/>
          <p:nvPr/>
        </p:nvSpPr>
        <p:spPr>
          <a:xfrm>
            <a:off x="5415280" y="6636518"/>
            <a:ext cx="71237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600" b="1" i="0" dirty="0">
                <a:solidFill>
                  <a:schemeClr val="bg2">
                    <a:lumMod val="7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Kevin C., et al. Patient Engagement with Conversational Agents in Health Applications 2016–2022: A Systematic Review and Meta-Analysis. 2024. Journal of Medical Systems.</a:t>
            </a:r>
            <a:endParaRPr lang="en-US" altLang="ko-KR" sz="1100" b="1" i="0" dirty="0">
              <a:solidFill>
                <a:schemeClr val="bg2">
                  <a:lumMod val="7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76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BAD317-5A70-822E-9521-D1D4D4672AFF}"/>
              </a:ext>
            </a:extLst>
          </p:cNvPr>
          <p:cNvSpPr txBox="1"/>
          <p:nvPr/>
        </p:nvSpPr>
        <p:spPr>
          <a:xfrm>
            <a:off x="645227" y="1111681"/>
            <a:ext cx="7095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사전검증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(Preclinical)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전략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B586847-1178-51C7-3C41-C0CA152E60B4}"/>
              </a:ext>
            </a:extLst>
          </p:cNvPr>
          <p:cNvCxnSpPr>
            <a:cxnSpLocks/>
          </p:cNvCxnSpPr>
          <p:nvPr/>
        </p:nvCxnSpPr>
        <p:spPr>
          <a:xfrm>
            <a:off x="684139" y="1634901"/>
            <a:ext cx="43132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EF4C57-3F12-9F12-22B4-130A8CBA5495}"/>
              </a:ext>
            </a:extLst>
          </p:cNvPr>
          <p:cNvSpPr/>
          <p:nvPr/>
        </p:nvSpPr>
        <p:spPr>
          <a:xfrm>
            <a:off x="558800" y="1981200"/>
            <a:ext cx="11074400" cy="4248152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C8F6B-87E9-0837-3378-E1F02BDC3149}"/>
              </a:ext>
            </a:extLst>
          </p:cNvPr>
          <p:cNvSpPr txBox="1"/>
          <p:nvPr/>
        </p:nvSpPr>
        <p:spPr>
          <a:xfrm>
            <a:off x="837971" y="2203601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사전검증 방법론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1B0EDC-75AB-A36C-4926-3E54EE2024D4}"/>
              </a:ext>
            </a:extLst>
          </p:cNvPr>
          <p:cNvSpPr txBox="1"/>
          <p:nvPr/>
        </p:nvSpPr>
        <p:spPr>
          <a:xfrm>
            <a:off x="5832435" y="2198081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기준 예시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92340C1-2636-4C23-7906-2186030269B2}"/>
              </a:ext>
            </a:extLst>
          </p:cNvPr>
          <p:cNvCxnSpPr>
            <a:cxnSpLocks/>
          </p:cNvCxnSpPr>
          <p:nvPr/>
        </p:nvCxnSpPr>
        <p:spPr>
          <a:xfrm>
            <a:off x="5832435" y="2623779"/>
            <a:ext cx="5485805" cy="55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ADC80FA-1757-6AF7-24D5-6CC9FD6C34A3}"/>
              </a:ext>
            </a:extLst>
          </p:cNvPr>
          <p:cNvSpPr/>
          <p:nvPr/>
        </p:nvSpPr>
        <p:spPr>
          <a:xfrm>
            <a:off x="852173" y="2785465"/>
            <a:ext cx="4682723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76BB99F-D7B7-EF38-2DB6-73C1812ADCF8}"/>
              </a:ext>
            </a:extLst>
          </p:cNvPr>
          <p:cNvCxnSpPr>
            <a:cxnSpLocks/>
          </p:cNvCxnSpPr>
          <p:nvPr/>
        </p:nvCxnSpPr>
        <p:spPr>
          <a:xfrm>
            <a:off x="837971" y="2629299"/>
            <a:ext cx="4696828" cy="9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987E805-ED5C-9E29-CD12-7561C6A2927D}"/>
              </a:ext>
            </a:extLst>
          </p:cNvPr>
          <p:cNvSpPr txBox="1"/>
          <p:nvPr/>
        </p:nvSpPr>
        <p:spPr>
          <a:xfrm>
            <a:off x="849388" y="2962309"/>
            <a:ext cx="466623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가상 페르소나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문헌 기반 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스크립트 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3~5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종 제작 후 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대화 시뮬레이션 수행 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419DDF7-E451-977E-0B90-BFC4A52ADDC8}"/>
              </a:ext>
            </a:extLst>
          </p:cNvPr>
          <p:cNvSpPr/>
          <p:nvPr/>
        </p:nvSpPr>
        <p:spPr>
          <a:xfrm>
            <a:off x="850533" y="3885553"/>
            <a:ext cx="4684266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060AED-4B65-F9A7-5A21-D26CF9AC30D5}"/>
              </a:ext>
            </a:extLst>
          </p:cNvPr>
          <p:cNvSpPr txBox="1"/>
          <p:nvPr/>
        </p:nvSpPr>
        <p:spPr>
          <a:xfrm>
            <a:off x="849388" y="4062397"/>
            <a:ext cx="466623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전문가 블라인드 평정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임상가가 대화 로그를 블라인드 평가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DTA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공감성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불안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완화 척도로 품질 평정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BB3F926-3633-F515-9177-C5C1A822D671}"/>
              </a:ext>
            </a:extLst>
          </p:cNvPr>
          <p:cNvSpPr/>
          <p:nvPr/>
        </p:nvSpPr>
        <p:spPr>
          <a:xfrm>
            <a:off x="849722" y="4984100"/>
            <a:ext cx="4671475" cy="874003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D44DF9-9D7C-E902-8A48-F272EFDC864F}"/>
              </a:ext>
            </a:extLst>
          </p:cNvPr>
          <p:cNvSpPr txBox="1"/>
          <p:nvPr/>
        </p:nvSpPr>
        <p:spPr>
          <a:xfrm>
            <a:off x="834976" y="5160944"/>
            <a:ext cx="466623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소규모 파일럿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건강 고령자 및 주관적 인지저하군 대상 </a:t>
            </a:r>
            <a:r>
              <a:rPr lang="en-US" altLang="ko-KR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2~4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 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사용성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수용도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05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정서</a:t>
            </a:r>
            <a:r>
              <a:rPr lang="ko-KR" altLang="en-US" sz="105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변화 확인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EA33CD9-CC8A-0D46-7A91-84DB5B9590CD}"/>
              </a:ext>
            </a:extLst>
          </p:cNvPr>
          <p:cNvSpPr/>
          <p:nvPr/>
        </p:nvSpPr>
        <p:spPr>
          <a:xfrm>
            <a:off x="5832435" y="2780164"/>
            <a:ext cx="5485805" cy="3077939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F8C47B0-BCBC-2872-9D0D-C0FA6A1EC730}"/>
              </a:ext>
            </a:extLst>
          </p:cNvPr>
          <p:cNvSpPr/>
          <p:nvPr/>
        </p:nvSpPr>
        <p:spPr>
          <a:xfrm>
            <a:off x="5968772" y="3112880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D4D1D42-A6D9-7607-BB3B-5C4439A124B4}"/>
              </a:ext>
            </a:extLst>
          </p:cNvPr>
          <p:cNvSpPr/>
          <p:nvPr/>
        </p:nvSpPr>
        <p:spPr>
          <a:xfrm>
            <a:off x="5965920" y="3820557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64278FF-820D-A26C-3129-55C6E86C2324}"/>
              </a:ext>
            </a:extLst>
          </p:cNvPr>
          <p:cNvSpPr/>
          <p:nvPr/>
        </p:nvSpPr>
        <p:spPr>
          <a:xfrm>
            <a:off x="5965920" y="4538394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9F1B474-A21D-9BB9-6758-D3B2C178F5C8}"/>
              </a:ext>
            </a:extLst>
          </p:cNvPr>
          <p:cNvSpPr/>
          <p:nvPr/>
        </p:nvSpPr>
        <p:spPr>
          <a:xfrm>
            <a:off x="5965920" y="5246071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DE70C5-8273-2189-4756-D7A29181BF33}"/>
              </a:ext>
            </a:extLst>
          </p:cNvPr>
          <p:cNvSpPr txBox="1"/>
          <p:nvPr/>
        </p:nvSpPr>
        <p:spPr>
          <a:xfrm>
            <a:off x="5948452" y="3056169"/>
            <a:ext cx="5221643" cy="24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✓   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DTA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점수 상승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전문가 평정 또는 사용자 평가에서 치료적 동맹 지표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유의미한 개선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✓   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SUS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≥ 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68: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시스템 사용성 적도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(System Usability Scale) 68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점 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이상으로 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양호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’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수준 달성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✓   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외로움 감소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UCLA Loneliness Scale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에서 작은 효과크기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(d ≥ 0.2)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이상의 감소 경향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✓ 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2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무해</a:t>
            </a:r>
            <a:r>
              <a:rPr lang="ko-KR" altLang="en-US" sz="12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확보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안전성 모니터링에서 이상반응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(AE)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없음</a:t>
            </a:r>
            <a:r>
              <a:rPr lang="en-US" altLang="ko-KR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윤리적 위험 요인 부재</a:t>
            </a:r>
            <a:endParaRPr lang="en-US" altLang="ko-KR" sz="120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904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601DEE-8060-F1AE-D5A4-9FABB9F80FAB}"/>
              </a:ext>
            </a:extLst>
          </p:cNvPr>
          <p:cNvSpPr txBox="1"/>
          <p:nvPr/>
        </p:nvSpPr>
        <p:spPr>
          <a:xfrm>
            <a:off x="595800" y="628648"/>
            <a:ext cx="5429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표준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페르소나 생성의 근거 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6EC9E37-21F1-B766-66B7-87F885F75761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478056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DBC7AE-AB0D-9268-7DCF-74C6516BB1CC}"/>
              </a:ext>
            </a:extLst>
          </p:cNvPr>
          <p:cNvSpPr txBox="1"/>
          <p:nvPr/>
        </p:nvSpPr>
        <p:spPr>
          <a:xfrm>
            <a:off x="646600" y="1246608"/>
            <a:ext cx="1129140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논문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가이드라인에서 반복적으로 등장하는 </a:t>
            </a:r>
            <a:r>
              <a:rPr lang="en-US" altLang="ko-KR" sz="14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주관적 </a:t>
            </a:r>
            <a:r>
              <a:rPr lang="ko-KR" altLang="en-US" sz="1400" b="1" i="0" dirty="0" err="1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호소∙행동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패턴</a:t>
            </a:r>
            <a:r>
              <a:rPr lang="en-US" altLang="ko-KR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인지적 </a:t>
            </a:r>
            <a:r>
              <a:rPr lang="ko-KR" altLang="en-US" sz="1400" b="1" i="0" dirty="0" err="1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프로필∙정서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상태</a:t>
            </a:r>
            <a:r>
              <a:rPr lang="en-US" altLang="ko-KR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r>
              <a:rPr lang="ko-KR" altLang="en-US" sz="1400" b="1" i="0" dirty="0">
                <a:solidFill>
                  <a:srgbClr val="00206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를 온전한 페르소나 구조로 추출</a:t>
            </a:r>
            <a:endParaRPr lang="en-US" altLang="ko-KR" sz="1400" b="1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B71AC0-B572-BA89-8DD7-65198601E2D8}"/>
              </a:ext>
            </a:extLst>
          </p:cNvPr>
          <p:cNvSpPr/>
          <p:nvPr/>
        </p:nvSpPr>
        <p:spPr>
          <a:xfrm>
            <a:off x="582678" y="1981200"/>
            <a:ext cx="11026644" cy="4248152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E3E41-4F04-715C-76F8-3A1CE840FCC2}"/>
              </a:ext>
            </a:extLst>
          </p:cNvPr>
          <p:cNvSpPr txBox="1"/>
          <p:nvPr/>
        </p:nvSpPr>
        <p:spPr>
          <a:xfrm>
            <a:off x="1355135" y="2216046"/>
            <a:ext cx="3701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근거 문헌 유형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2394B1-C9D1-5B71-0692-9B6C9FF98DFA}"/>
              </a:ext>
            </a:extLst>
          </p:cNvPr>
          <p:cNvCxnSpPr>
            <a:cxnSpLocks/>
          </p:cNvCxnSpPr>
          <p:nvPr/>
        </p:nvCxnSpPr>
        <p:spPr>
          <a:xfrm>
            <a:off x="1355135" y="2641744"/>
            <a:ext cx="52793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3EC4949-B165-E08E-F26D-A3414F950789}"/>
              </a:ext>
            </a:extLst>
          </p:cNvPr>
          <p:cNvSpPr/>
          <p:nvPr/>
        </p:nvSpPr>
        <p:spPr>
          <a:xfrm>
            <a:off x="1355136" y="2798129"/>
            <a:ext cx="5279344" cy="3077939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DAB866D-445C-ED1A-B641-67DB7FD1DFF2}"/>
              </a:ext>
            </a:extLst>
          </p:cNvPr>
          <p:cNvSpPr/>
          <p:nvPr/>
        </p:nvSpPr>
        <p:spPr>
          <a:xfrm>
            <a:off x="1501632" y="3010667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ED55BEB-6522-18CC-7B7A-FA7E56262468}"/>
              </a:ext>
            </a:extLst>
          </p:cNvPr>
          <p:cNvSpPr/>
          <p:nvPr/>
        </p:nvSpPr>
        <p:spPr>
          <a:xfrm>
            <a:off x="1498780" y="3383064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E5FD9C6-2DC0-9397-54A7-1C4460AD5503}"/>
              </a:ext>
            </a:extLst>
          </p:cNvPr>
          <p:cNvSpPr/>
          <p:nvPr/>
        </p:nvSpPr>
        <p:spPr>
          <a:xfrm>
            <a:off x="1498780" y="3745301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EB97983-BEFD-95FE-C61B-01546BB7A30F}"/>
              </a:ext>
            </a:extLst>
          </p:cNvPr>
          <p:cNvSpPr/>
          <p:nvPr/>
        </p:nvSpPr>
        <p:spPr>
          <a:xfrm>
            <a:off x="1498780" y="4105276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658E42F-886E-123D-02AC-376DA5830CEE}"/>
              </a:ext>
            </a:extLst>
          </p:cNvPr>
          <p:cNvSpPr/>
          <p:nvPr/>
        </p:nvSpPr>
        <p:spPr>
          <a:xfrm>
            <a:off x="1495928" y="4477673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B0C3D65-2EAB-2153-4091-6F8E9B1F27F1}"/>
              </a:ext>
            </a:extLst>
          </p:cNvPr>
          <p:cNvSpPr/>
          <p:nvPr/>
        </p:nvSpPr>
        <p:spPr>
          <a:xfrm>
            <a:off x="1495928" y="4839910"/>
            <a:ext cx="252000" cy="252000"/>
          </a:xfrm>
          <a:prstGeom prst="ellipse">
            <a:avLst/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F8622C-0239-814F-3390-D48DA632EE2E}"/>
              </a:ext>
            </a:extLst>
          </p:cNvPr>
          <p:cNvSpPr txBox="1"/>
          <p:nvPr/>
        </p:nvSpPr>
        <p:spPr>
          <a:xfrm>
            <a:off x="1488621" y="2883201"/>
            <a:ext cx="5054420" cy="274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   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Subjective Cognitive Decline(SCD)- MCI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 단계 환자 인터뷰 연구</a:t>
            </a:r>
          </a:p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   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환자 상담 장면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신경과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임상심리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질적 연구</a:t>
            </a:r>
          </a:p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   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환자의 정서</a:t>
            </a:r>
            <a:r>
              <a:rPr lang="en-US" altLang="ko-KR" sz="12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패턴 분석 연구</a:t>
            </a:r>
          </a:p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4   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알츠하이머 협회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(AA)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NIA-AA MCI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진단 기준</a:t>
            </a:r>
          </a:p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5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고령자 대상 디지털 대화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∙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치료 에이전트 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RCT/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메타분석</a:t>
            </a:r>
          </a:p>
          <a:p>
            <a:pPr>
              <a:lnSpc>
                <a:spcPct val="200000"/>
              </a:lnSpc>
            </a:pPr>
            <a:r>
              <a:rPr lang="en-US" altLang="ko-KR" sz="1200" b="1" i="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en-US" altLang="ko-KR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MOCA/AD8/CDR-SB </a:t>
            </a:r>
            <a:r>
              <a:rPr lang="ko-KR" altLang="en-US" sz="1200" b="1" i="0" dirty="0">
                <a:solidFill>
                  <a:schemeClr val="bg2">
                    <a:lumMod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등 임상에서 실제로 관찰되는 프로파일</a:t>
            </a:r>
            <a:endParaRPr lang="en-US" altLang="ko-KR" sz="12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endParaRPr lang="en-US" altLang="ko-KR" sz="300" b="1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ko-KR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→</a:t>
            </a:r>
            <a:r>
              <a:rPr lang="en-US" altLang="ko-KR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자료들을 교차해 </a:t>
            </a:r>
            <a:r>
              <a:rPr lang="en-US" altLang="ko-KR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대표적 </a:t>
            </a:r>
            <a:r>
              <a:rPr lang="en-US" altLang="ko-KR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1200" b="1" dirty="0">
                <a:solidFill>
                  <a:srgbClr val="0020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유형으로 정리</a:t>
            </a:r>
            <a:endParaRPr lang="ko-KR" altLang="en-US" sz="1200" b="1" i="0" dirty="0">
              <a:solidFill>
                <a:srgbClr val="00206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C79BBAC-AF8F-36A4-9C83-7EFDF8FC80C5}"/>
              </a:ext>
            </a:extLst>
          </p:cNvPr>
          <p:cNvSpPr/>
          <p:nvPr/>
        </p:nvSpPr>
        <p:spPr>
          <a:xfrm>
            <a:off x="8379676" y="2873195"/>
            <a:ext cx="2310364" cy="57546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B5E983-5189-2FFA-08E7-C7CC60FA1BDB}"/>
              </a:ext>
            </a:extLst>
          </p:cNvPr>
          <p:cNvSpPr txBox="1"/>
          <p:nvPr/>
        </p:nvSpPr>
        <p:spPr>
          <a:xfrm>
            <a:off x="8376342" y="3021113"/>
            <a:ext cx="2310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기억회상 어려움형</a:t>
            </a:r>
            <a:endParaRPr lang="en-US" altLang="ko-KR" sz="105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91D26F2-EBCC-0408-F29A-E2D25376BC8B}"/>
              </a:ext>
            </a:extLst>
          </p:cNvPr>
          <p:cNvSpPr/>
          <p:nvPr/>
        </p:nvSpPr>
        <p:spPr>
          <a:xfrm>
            <a:off x="8379676" y="3610536"/>
            <a:ext cx="2310364" cy="57546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44B534-79FA-4E79-0EAA-64CAD26CEDDC}"/>
              </a:ext>
            </a:extLst>
          </p:cNvPr>
          <p:cNvSpPr txBox="1"/>
          <p:nvPr/>
        </p:nvSpPr>
        <p:spPr>
          <a:xfrm>
            <a:off x="8376342" y="3758454"/>
            <a:ext cx="2310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주의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집행 </a:t>
            </a:r>
            <a:r>
              <a:rPr lang="ko-KR" altLang="en-US" sz="1400" b="1" dirty="0" err="1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낮음형</a:t>
            </a:r>
            <a:endParaRPr lang="ko-KR" altLang="en-US" sz="1400" b="1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F62FFBC-2925-91A6-1E59-5946B7517946}"/>
              </a:ext>
            </a:extLst>
          </p:cNvPr>
          <p:cNvSpPr/>
          <p:nvPr/>
        </p:nvSpPr>
        <p:spPr>
          <a:xfrm>
            <a:off x="8379676" y="4347986"/>
            <a:ext cx="2310364" cy="57546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3F9643-AA6B-6A9D-6C2D-50AC70C209BD}"/>
              </a:ext>
            </a:extLst>
          </p:cNvPr>
          <p:cNvSpPr txBox="1"/>
          <p:nvPr/>
        </p:nvSpPr>
        <p:spPr>
          <a:xfrm>
            <a:off x="8376342" y="4495904"/>
            <a:ext cx="2310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 민감</a:t>
            </a:r>
            <a:r>
              <a:rPr lang="en-US" altLang="ko-KR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불안형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6584B13-889F-C207-5024-0C4579A1F986}"/>
              </a:ext>
            </a:extLst>
          </p:cNvPr>
          <p:cNvSpPr/>
          <p:nvPr/>
        </p:nvSpPr>
        <p:spPr>
          <a:xfrm>
            <a:off x="8379676" y="5089755"/>
            <a:ext cx="2310364" cy="575460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477163-0D35-4293-CF5A-6B5985F1B056}"/>
              </a:ext>
            </a:extLst>
          </p:cNvPr>
          <p:cNvSpPr txBox="1"/>
          <p:nvPr/>
        </p:nvSpPr>
        <p:spPr>
          <a:xfrm>
            <a:off x="8376342" y="5237673"/>
            <a:ext cx="23103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사회적 위축형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11D431-8D21-65D8-2443-49AF95DC0CD7}"/>
              </a:ext>
            </a:extLst>
          </p:cNvPr>
          <p:cNvSpPr txBox="1"/>
          <p:nvPr/>
        </p:nvSpPr>
        <p:spPr>
          <a:xfrm>
            <a:off x="8733338" y="2221519"/>
            <a:ext cx="1795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페르소나 유형</a:t>
            </a:r>
            <a:endParaRPr lang="ko-KR" altLang="en-US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D9C3017-084F-4DCF-4548-70E109C6F10E}"/>
              </a:ext>
            </a:extLst>
          </p:cNvPr>
          <p:cNvCxnSpPr>
            <a:cxnSpLocks/>
          </p:cNvCxnSpPr>
          <p:nvPr/>
        </p:nvCxnSpPr>
        <p:spPr>
          <a:xfrm>
            <a:off x="8733337" y="2647217"/>
            <a:ext cx="152230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9AF2A837-4FDD-FA2F-2FFD-B3350704D8F1}"/>
              </a:ext>
            </a:extLst>
          </p:cNvPr>
          <p:cNvSpPr/>
          <p:nvPr/>
        </p:nvSpPr>
        <p:spPr>
          <a:xfrm>
            <a:off x="7004550" y="4097761"/>
            <a:ext cx="1001879" cy="307777"/>
          </a:xfrm>
          <a:prstGeom prst="rightArrow">
            <a:avLst>
              <a:gd name="adj1" fmla="val 50000"/>
              <a:gd name="adj2" fmla="val 87564"/>
            </a:avLst>
          </a:prstGeom>
          <a:solidFill>
            <a:srgbClr val="2C5F8D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7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7CEA37-1FAF-7E82-0A1B-7EADE40465E4}"/>
              </a:ext>
            </a:extLst>
          </p:cNvPr>
          <p:cNvSpPr/>
          <p:nvPr/>
        </p:nvSpPr>
        <p:spPr>
          <a:xfrm>
            <a:off x="634712" y="2042158"/>
            <a:ext cx="10961488" cy="3261360"/>
          </a:xfrm>
          <a:prstGeom prst="roundRect">
            <a:avLst>
              <a:gd name="adj" fmla="val 2375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01DEE-8060-F1AE-D5A4-9FABB9F80FAB}"/>
              </a:ext>
            </a:extLst>
          </p:cNvPr>
          <p:cNvSpPr txBox="1"/>
          <p:nvPr/>
        </p:nvSpPr>
        <p:spPr>
          <a:xfrm>
            <a:off x="595800" y="628648"/>
            <a:ext cx="5429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HF-LT</a:t>
            </a:r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학습용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 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페르소나 구조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6EC9E37-21F1-B766-66B7-87F885F75761}"/>
              </a:ext>
            </a:extLst>
          </p:cNvPr>
          <p:cNvCxnSpPr>
            <a:cxnSpLocks/>
          </p:cNvCxnSpPr>
          <p:nvPr/>
        </p:nvCxnSpPr>
        <p:spPr>
          <a:xfrm>
            <a:off x="634712" y="1151868"/>
            <a:ext cx="508536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0060FD03-432F-08E6-9C3B-68817C40B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762487"/>
              </p:ext>
            </p:extLst>
          </p:nvPr>
        </p:nvGraphicFramePr>
        <p:xfrm>
          <a:off x="763532" y="2197059"/>
          <a:ext cx="10702120" cy="294555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7684">
                  <a:extLst>
                    <a:ext uri="{9D8B030D-6E8A-4147-A177-3AD203B41FA5}">
                      <a16:colId xmlns:a16="http://schemas.microsoft.com/office/drawing/2014/main" val="3706552066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1422772029"/>
                    </a:ext>
                  </a:extLst>
                </a:gridCol>
                <a:gridCol w="2065028">
                  <a:extLst>
                    <a:ext uri="{9D8B030D-6E8A-4147-A177-3AD203B41FA5}">
                      <a16:colId xmlns:a16="http://schemas.microsoft.com/office/drawing/2014/main" val="3870207060"/>
                    </a:ext>
                  </a:extLst>
                </a:gridCol>
                <a:gridCol w="2140424">
                  <a:extLst>
                    <a:ext uri="{9D8B030D-6E8A-4147-A177-3AD203B41FA5}">
                      <a16:colId xmlns:a16="http://schemas.microsoft.com/office/drawing/2014/main" val="4087177831"/>
                    </a:ext>
                  </a:extLst>
                </a:gridCol>
                <a:gridCol w="2140424">
                  <a:extLst>
                    <a:ext uri="{9D8B030D-6E8A-4147-A177-3AD203B41FA5}">
                      <a16:colId xmlns:a16="http://schemas.microsoft.com/office/drawing/2014/main" val="4051923306"/>
                    </a:ext>
                  </a:extLst>
                </a:gridCol>
              </a:tblGrid>
              <a:tr h="53217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페르소나 유형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핵심 인지 문제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정서</a:t>
                      </a:r>
                      <a:r>
                        <a:rPr lang="en-US" altLang="ko-KR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대화 특징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LT </a:t>
                      </a:r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주요 문헌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65481"/>
                  </a:ext>
                </a:extLst>
              </a:tr>
              <a:tr h="60334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기억회상 어려움형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인코딩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회상 저하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당황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무력감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회상 자극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안정감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Amnestic MCI 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49976"/>
                  </a:ext>
                </a:extLst>
              </a:tr>
              <a:tr h="60334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주의</a:t>
                      </a:r>
                      <a:r>
                        <a:rPr lang="en-US" altLang="ko-KR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집행 </a:t>
                      </a:r>
                      <a:r>
                        <a:rPr lang="ko-KR" altLang="en-US" sz="1400" b="1" u="none" strike="noStrike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낮음형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주의 분산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순서화 저하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짜증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주의 짧음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짧은 구조화된 대화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Dysexecutive MCI 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187939"/>
                  </a:ext>
                </a:extLst>
              </a:tr>
              <a:tr h="60334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정서 민감</a:t>
                      </a:r>
                      <a:r>
                        <a:rPr lang="en-US" altLang="ko-KR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불안형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경계선 </a:t>
                      </a:r>
                      <a:r>
                        <a:rPr 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SCD/MCI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걱정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불안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자기비판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정서 </a:t>
                      </a:r>
                      <a:r>
                        <a:rPr lang="ko-KR" altLang="en-US" sz="1400" u="none" strike="noStrike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라벨링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수용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Affective MCI 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997851"/>
                  </a:ext>
                </a:extLst>
              </a:tr>
              <a:tr h="60334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사회적 위축형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사회적 자극 부족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말수 적음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대화 회피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선택형 문장</a:t>
                      </a:r>
                      <a:r>
                        <a:rPr lang="en-US" altLang="ko-KR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서서히 확장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Social withdrawal </a:t>
                      </a:r>
                      <a:r>
                        <a:rPr lang="ko-KR" altLang="en-US" sz="14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4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18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37320C-657A-EF0C-3098-0E1629F160B8}"/>
              </a:ext>
            </a:extLst>
          </p:cNvPr>
          <p:cNvSpPr txBox="1"/>
          <p:nvPr/>
        </p:nvSpPr>
        <p:spPr>
          <a:xfrm>
            <a:off x="402760" y="171448"/>
            <a:ext cx="4423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시뮬레이션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(1~24</a:t>
            </a:r>
            <a:r>
              <a:rPr lang="ko-KR" altLang="en-US" sz="2800" b="1" i="0" dirty="0" err="1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FF7AC26-54EF-C152-75A1-58E1B2F52F88}"/>
              </a:ext>
            </a:extLst>
          </p:cNvPr>
          <p:cNvCxnSpPr>
            <a:cxnSpLocks/>
          </p:cNvCxnSpPr>
          <p:nvPr/>
        </p:nvCxnSpPr>
        <p:spPr>
          <a:xfrm>
            <a:off x="441672" y="694668"/>
            <a:ext cx="42827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07683B-9A77-D3D1-F6C6-827CB4D222D0}"/>
              </a:ext>
            </a:extLst>
          </p:cNvPr>
          <p:cNvSpPr/>
          <p:nvPr/>
        </p:nvSpPr>
        <p:spPr>
          <a:xfrm>
            <a:off x="10077669" y="256589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2F8D2A5-AD2C-23CE-D278-C2BD2E83ECA4}"/>
              </a:ext>
            </a:extLst>
          </p:cNvPr>
          <p:cNvSpPr/>
          <p:nvPr/>
        </p:nvSpPr>
        <p:spPr>
          <a:xfrm>
            <a:off x="8299163" y="695195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4FB57D-7174-82F1-C251-BD478940BECE}"/>
              </a:ext>
            </a:extLst>
          </p:cNvPr>
          <p:cNvSpPr txBox="1"/>
          <p:nvPr/>
        </p:nvSpPr>
        <p:spPr>
          <a:xfrm>
            <a:off x="10419893" y="280271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탐구대화형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C661E6-0B1D-9D35-A099-A872203D0A09}"/>
              </a:ext>
            </a:extLst>
          </p:cNvPr>
          <p:cNvSpPr txBox="1"/>
          <p:nvPr/>
        </p:nvSpPr>
        <p:spPr>
          <a:xfrm>
            <a:off x="8641388" y="718603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회상안내형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2857908-803B-1D7E-3CD0-E8D97CA39852}"/>
              </a:ext>
            </a:extLst>
          </p:cNvPr>
          <p:cNvSpPr/>
          <p:nvPr/>
        </p:nvSpPr>
        <p:spPr>
          <a:xfrm>
            <a:off x="6530971" y="702629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E8792CB-DF3B-9884-3269-59123F24990D}"/>
              </a:ext>
            </a:extLst>
          </p:cNvPr>
          <p:cNvSpPr/>
          <p:nvPr/>
        </p:nvSpPr>
        <p:spPr>
          <a:xfrm>
            <a:off x="10077669" y="695195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55A82F-5486-F515-7DC2-F8506172F169}"/>
              </a:ext>
            </a:extLst>
          </p:cNvPr>
          <p:cNvSpPr txBox="1"/>
          <p:nvPr/>
        </p:nvSpPr>
        <p:spPr>
          <a:xfrm>
            <a:off x="6873195" y="726311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활력충전형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2BA698-4732-7EC7-E373-CFD6F704295D}"/>
              </a:ext>
            </a:extLst>
          </p:cNvPr>
          <p:cNvSpPr txBox="1"/>
          <p:nvPr/>
        </p:nvSpPr>
        <p:spPr>
          <a:xfrm>
            <a:off x="10419894" y="718603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효율지향형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4DF3FF6-BE1A-DD32-BF3E-3382BB766631}"/>
              </a:ext>
            </a:extLst>
          </p:cNvPr>
          <p:cNvSpPr/>
          <p:nvPr/>
        </p:nvSpPr>
        <p:spPr>
          <a:xfrm>
            <a:off x="8303675" y="261578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6A7463-1205-5B57-EEE0-E111D7C70E87}"/>
              </a:ext>
            </a:extLst>
          </p:cNvPr>
          <p:cNvSpPr txBox="1"/>
          <p:nvPr/>
        </p:nvSpPr>
        <p:spPr>
          <a:xfrm>
            <a:off x="8645900" y="284986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해결중심형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16FE4A7-58D7-978B-E13A-5DDD556A0825}"/>
              </a:ext>
            </a:extLst>
          </p:cNvPr>
          <p:cNvSpPr/>
          <p:nvPr/>
        </p:nvSpPr>
        <p:spPr>
          <a:xfrm>
            <a:off x="6535483" y="261578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CDE7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C8918F-51D2-2A6F-076A-C331F43C6295}"/>
              </a:ext>
            </a:extLst>
          </p:cNvPr>
          <p:cNvSpPr txBox="1"/>
          <p:nvPr/>
        </p:nvSpPr>
        <p:spPr>
          <a:xfrm>
            <a:off x="6877708" y="284986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endParaRPr lang="en-US" altLang="ko-KR" sz="1400" b="1" i="0" dirty="0"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6" name="Picture 6" descr="🤖 로봇 얼굴 이모티콘 이미지 다운로드: HD, 애니메이션 이미지 및 벡터 그래픽의 큰 그림 | Emojiall">
            <a:extLst>
              <a:ext uri="{FF2B5EF4-FFF2-40B4-BE49-F238E27FC236}">
                <a16:creationId xmlns:a16="http://schemas.microsoft.com/office/drawing/2014/main" id="{E4B99D5C-A983-A7D9-60E0-98469B64C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72" y="871166"/>
            <a:ext cx="364160" cy="28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1316A97-C07A-886E-7800-FC55792AB695}"/>
              </a:ext>
            </a:extLst>
          </p:cNvPr>
          <p:cNvSpPr txBox="1"/>
          <p:nvPr/>
        </p:nvSpPr>
        <p:spPr>
          <a:xfrm>
            <a:off x="742554" y="902368"/>
            <a:ext cx="25626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(</a:t>
            </a:r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정상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</a:t>
            </a:r>
            <a:r>
              <a:rPr lang="ko-KR" altLang="en-US" sz="1200" b="1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B9E90F-4BDC-CC22-8DDE-D62FD6C06690}"/>
              </a:ext>
            </a:extLst>
          </p:cNvPr>
          <p:cNvSpPr txBox="1"/>
          <p:nvPr/>
        </p:nvSpPr>
        <p:spPr>
          <a:xfrm>
            <a:off x="2516701" y="906537"/>
            <a:ext cx="13276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(65</a:t>
            </a:r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MCI)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9" name="Picture 4" descr="사람 그림자 이모티콘 👤">
            <a:extLst>
              <a:ext uri="{FF2B5EF4-FFF2-40B4-BE49-F238E27FC236}">
                <a16:creationId xmlns:a16="http://schemas.microsoft.com/office/drawing/2014/main" id="{05593181-8425-5103-ABC9-F10FDA177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739" y="905056"/>
            <a:ext cx="299537" cy="23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E43FD57-60D4-FCFA-E2DF-1D3DDE4BCA5A}"/>
              </a:ext>
            </a:extLst>
          </p:cNvPr>
          <p:cNvSpPr/>
          <p:nvPr/>
        </p:nvSpPr>
        <p:spPr>
          <a:xfrm>
            <a:off x="733482" y="1331266"/>
            <a:ext cx="3468409" cy="5355286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BC1CE21B-678C-F38C-38F4-FDFFEF60B3AC}"/>
              </a:ext>
            </a:extLst>
          </p:cNvPr>
          <p:cNvSpPr/>
          <p:nvPr/>
        </p:nvSpPr>
        <p:spPr>
          <a:xfrm>
            <a:off x="825074" y="1394057"/>
            <a:ext cx="3290597" cy="171040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784F7343-595D-774C-717A-EDCAA32C757D}"/>
              </a:ext>
            </a:extLst>
          </p:cNvPr>
          <p:cNvSpPr/>
          <p:nvPr/>
        </p:nvSpPr>
        <p:spPr>
          <a:xfrm>
            <a:off x="825074" y="3152016"/>
            <a:ext cx="3290597" cy="170805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E7483B5C-691A-769B-88BC-4C40D1DBEDAD}"/>
              </a:ext>
            </a:extLst>
          </p:cNvPr>
          <p:cNvSpPr/>
          <p:nvPr/>
        </p:nvSpPr>
        <p:spPr>
          <a:xfrm>
            <a:off x="825074" y="4914336"/>
            <a:ext cx="3290597" cy="1705421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DF3B04B9-BFB7-CD7F-8974-7FC3FBCDB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30" y="4967325"/>
            <a:ext cx="216000" cy="216000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1995B9DB-1780-268F-E688-97E82A3D6B75}"/>
              </a:ext>
            </a:extLst>
          </p:cNvPr>
          <p:cNvSpPr txBox="1"/>
          <p:nvPr/>
        </p:nvSpPr>
        <p:spPr>
          <a:xfrm>
            <a:off x="1166348" y="4939436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9856576-2A5C-E290-7ABD-85F763CA5549}"/>
              </a:ext>
            </a:extLst>
          </p:cNvPr>
          <p:cNvSpPr txBox="1"/>
          <p:nvPr/>
        </p:nvSpPr>
        <p:spPr>
          <a:xfrm>
            <a:off x="893627" y="5135718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어제 누가 왔어요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딸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반가우셨겠어요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뭐 하셨어요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기억이 잘 </a:t>
            </a:r>
            <a:r>
              <a:rPr lang="ko-KR" altLang="en-US" sz="1050" b="0" i="0" dirty="0" err="1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안나는데</a:t>
            </a: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이야기 </a:t>
            </a:r>
            <a:r>
              <a:rPr lang="ko-KR" altLang="en-US" sz="1050" b="0" i="0" dirty="0" err="1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나눈거같아요</a:t>
            </a:r>
            <a:r>
              <a:rPr lang="en-US" altLang="ko-KR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710810-DF35-7396-A77A-BA456834CAF4}"/>
              </a:ext>
            </a:extLst>
          </p:cNvPr>
          <p:cNvSpPr/>
          <p:nvPr/>
        </p:nvSpPr>
        <p:spPr>
          <a:xfrm>
            <a:off x="890144" y="6159293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DA0D4-3C4D-A0FF-403B-3FAE7DB2B5E6}"/>
              </a:ext>
            </a:extLst>
          </p:cNvPr>
          <p:cNvSpPr txBox="1"/>
          <p:nvPr/>
        </p:nvSpPr>
        <p:spPr>
          <a:xfrm>
            <a:off x="893628" y="6190112"/>
            <a:ext cx="2975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기억 탐색 시작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가족 관련 긍정 주제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사회적 연결주제가 정서적 안정감 제공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(Siegel,2012)</a:t>
            </a: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8630D3-FB4C-A358-E0B8-D51204604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30" y="1432789"/>
            <a:ext cx="216000" cy="21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4157E9-48C2-AF74-F8BB-7FB47E601BEE}"/>
              </a:ext>
            </a:extLst>
          </p:cNvPr>
          <p:cNvSpPr txBox="1"/>
          <p:nvPr/>
        </p:nvSpPr>
        <p:spPr>
          <a:xfrm>
            <a:off x="1166348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F5307-8420-031C-27B3-73E4D41F3837}"/>
              </a:ext>
            </a:extLst>
          </p:cNvPr>
          <p:cNvSpPr txBox="1"/>
          <p:nvPr/>
        </p:nvSpPr>
        <p:spPr>
          <a:xfrm>
            <a:off x="893627" y="1601182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기분 </a:t>
            </a:r>
            <a:r>
              <a:rPr lang="ko-KR" altLang="en-US" sz="105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좋으세요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네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다행이에요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날씨 좋죠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ko-KR" altLang="en-US" sz="1050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그런거같아요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48E84A-CC53-24E3-E4C0-5EECFBF965E2}"/>
              </a:ext>
            </a:extLst>
          </p:cNvPr>
          <p:cNvSpPr/>
          <p:nvPr/>
        </p:nvSpPr>
        <p:spPr>
          <a:xfrm>
            <a:off x="890144" y="262475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007AF-BA5A-7E3A-9803-0F76E3C3D55E}"/>
              </a:ext>
            </a:extLst>
          </p:cNvPr>
          <p:cNvSpPr txBox="1"/>
          <p:nvPr/>
        </p:nvSpPr>
        <p:spPr>
          <a:xfrm>
            <a:off x="893627" y="265557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단답형 응답으로 시작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안전한 주제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날씨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1000" b="1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라포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형성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신뢰 형성 단계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비위협적 질문으로 불안감 최소화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Bordin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1979)</a:t>
            </a:r>
            <a:endParaRPr lang="ko-KR" alt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B3CFF4A-951C-4A05-2058-8D3C7A5AF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30" y="3176034"/>
            <a:ext cx="216000" cy="21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0B3224E-CB95-57F3-8004-9E217FA7ED68}"/>
              </a:ext>
            </a:extLst>
          </p:cNvPr>
          <p:cNvSpPr txBox="1"/>
          <p:nvPr/>
        </p:nvSpPr>
        <p:spPr>
          <a:xfrm>
            <a:off x="1166348" y="3148145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17159-E5E8-70D0-5B82-385D58E41999}"/>
              </a:ext>
            </a:extLst>
          </p:cNvPr>
          <p:cNvSpPr txBox="1"/>
          <p:nvPr/>
        </p:nvSpPr>
        <p:spPr>
          <a:xfrm>
            <a:off x="893627" y="3344427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잘 주무셨어요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네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아침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드셨어요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밥 먹었어요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2CFA3E8-8C00-7FE1-F19F-C37E3B558273}"/>
              </a:ext>
            </a:extLst>
          </p:cNvPr>
          <p:cNvSpPr/>
          <p:nvPr/>
        </p:nvSpPr>
        <p:spPr>
          <a:xfrm>
            <a:off x="890144" y="4368002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DF884-C04A-8F92-7CC7-7CA98442BD24}"/>
              </a:ext>
            </a:extLst>
          </p:cNvPr>
          <p:cNvSpPr txBox="1"/>
          <p:nvPr/>
        </p:nvSpPr>
        <p:spPr>
          <a:xfrm>
            <a:off x="893627" y="4398821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일상적 질문 지속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 길이가 조금 늘어남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 기반 확립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예측 가능한 대화 패턴이 불안 감소에 기여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1006983-0FB3-E70F-00BE-E68A6099EE35}"/>
              </a:ext>
            </a:extLst>
          </p:cNvPr>
          <p:cNvSpPr/>
          <p:nvPr/>
        </p:nvSpPr>
        <p:spPr>
          <a:xfrm>
            <a:off x="4333129" y="1331266"/>
            <a:ext cx="3468409" cy="5355286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8F60C18-7458-559B-A8B1-E9313328BE0B}"/>
              </a:ext>
            </a:extLst>
          </p:cNvPr>
          <p:cNvSpPr/>
          <p:nvPr/>
        </p:nvSpPr>
        <p:spPr>
          <a:xfrm>
            <a:off x="4424721" y="1394057"/>
            <a:ext cx="3290597" cy="171040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8E63295-346E-7AC8-1ADC-8774A84629A2}"/>
              </a:ext>
            </a:extLst>
          </p:cNvPr>
          <p:cNvSpPr/>
          <p:nvPr/>
        </p:nvSpPr>
        <p:spPr>
          <a:xfrm>
            <a:off x="4424721" y="3152016"/>
            <a:ext cx="3290597" cy="170805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C09A62F-CBEE-12A7-B7CB-ACD72E49F7F0}"/>
              </a:ext>
            </a:extLst>
          </p:cNvPr>
          <p:cNvSpPr/>
          <p:nvPr/>
        </p:nvSpPr>
        <p:spPr>
          <a:xfrm>
            <a:off x="4424721" y="4914336"/>
            <a:ext cx="3290597" cy="1705421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34F113D-28D2-D1BC-0B39-7526E932E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77" y="4967325"/>
            <a:ext cx="216000" cy="2160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CAC9A45-E394-D5F2-2494-BB2FCFC5150C}"/>
              </a:ext>
            </a:extLst>
          </p:cNvPr>
          <p:cNvSpPr txBox="1"/>
          <p:nvPr/>
        </p:nvSpPr>
        <p:spPr>
          <a:xfrm>
            <a:off x="4765995" y="4939436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2C93F1-AE9E-43EC-8749-E5F50A8929AA}"/>
              </a:ext>
            </a:extLst>
          </p:cNvPr>
          <p:cNvSpPr txBox="1"/>
          <p:nvPr/>
        </p:nvSpPr>
        <p:spPr>
          <a:xfrm>
            <a:off x="4493274" y="5135718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어렸을 때 어디 살았어요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시골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시골 어디 사셨어요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전라도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54D3515-3660-357E-A532-64F97525066A}"/>
              </a:ext>
            </a:extLst>
          </p:cNvPr>
          <p:cNvSpPr/>
          <p:nvPr/>
        </p:nvSpPr>
        <p:spPr>
          <a:xfrm>
            <a:off x="4489791" y="6159293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28E9DD-CF44-537F-3594-EA656D24F835}"/>
              </a:ext>
            </a:extLst>
          </p:cNvPr>
          <p:cNvSpPr txBox="1"/>
          <p:nvPr/>
        </p:nvSpPr>
        <p:spPr>
          <a:xfrm>
            <a:off x="4493274" y="6190112"/>
            <a:ext cx="3353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어린 시절 기억 활성화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성공적 회상으로 자신감 상승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장기 절차 </a:t>
            </a:r>
            <a:r>
              <a:rPr lang="ko-KR" altLang="en-US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ko-KR" altLang="en-US" sz="80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∙</a:t>
            </a:r>
            <a:r>
              <a:rPr lang="ko-KR" altLang="en-US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자전적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기억이 보존됨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 Schacter,2007)</a:t>
            </a:r>
            <a:endParaRPr lang="ko-KR" altLang="en-US" sz="120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6FECF60-DF74-1E7C-05E8-90CA2C0B1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77" y="1432789"/>
            <a:ext cx="216000" cy="216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AA55CC9-1173-B9C8-3CD9-F0A39E949350}"/>
              </a:ext>
            </a:extLst>
          </p:cNvPr>
          <p:cNvSpPr txBox="1"/>
          <p:nvPr/>
        </p:nvSpPr>
        <p:spPr>
          <a:xfrm>
            <a:off x="4765995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2013A3-276D-39CB-2CA4-999217216C8B}"/>
              </a:ext>
            </a:extLst>
          </p:cNvPr>
          <p:cNvSpPr txBox="1"/>
          <p:nvPr/>
        </p:nvSpPr>
        <p:spPr>
          <a:xfrm>
            <a:off x="4493274" y="1601182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오늘 산책하셨어요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</a:t>
            </a:r>
            <a:r>
              <a:rPr lang="ko-KR" altLang="en-US" sz="1050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안했어요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그럼 집에서 뭐 했어요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en-US" altLang="ko-KR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TV </a:t>
            </a: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봤어요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3236A05-D95F-CF4F-D8B8-66149ED3A60B}"/>
              </a:ext>
            </a:extLst>
          </p:cNvPr>
          <p:cNvSpPr/>
          <p:nvPr/>
        </p:nvSpPr>
        <p:spPr>
          <a:xfrm>
            <a:off x="4489791" y="262475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D1BA76-30C5-527B-E2E4-33F398D6C6C9}"/>
              </a:ext>
            </a:extLst>
          </p:cNvPr>
          <p:cNvSpPr txBox="1"/>
          <p:nvPr/>
        </p:nvSpPr>
        <p:spPr>
          <a:xfrm>
            <a:off x="4493274" y="265557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일상 활동 파악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부정 응답에도 수용적 태도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비판단적 수용이 신뢰도 상승에 기여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(Rogers, 1959)</a:t>
            </a:r>
            <a:endParaRPr lang="ko-KR" altLang="en-US" sz="1200" dirty="0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A9C48F86-C008-0C95-FEEE-7E135CE66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77" y="3176034"/>
            <a:ext cx="216000" cy="2160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42DBEB0-09D8-4360-3046-5B15DA168447}"/>
              </a:ext>
            </a:extLst>
          </p:cNvPr>
          <p:cNvSpPr txBox="1"/>
          <p:nvPr/>
        </p:nvSpPr>
        <p:spPr>
          <a:xfrm>
            <a:off x="4765995" y="3148145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4CA0F5-6BAE-3BB8-CEC2-9E7A5A1F1C5F}"/>
              </a:ext>
            </a:extLst>
          </p:cNvPr>
          <p:cNvSpPr txBox="1"/>
          <p:nvPr/>
        </p:nvSpPr>
        <p:spPr>
          <a:xfrm>
            <a:off x="4493274" y="3344427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가장 소중한 분은 누구세요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손녀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손녀 이름이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뭐에요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</a:t>
            </a: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은이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2239DF8-0F31-BE1E-E3F3-29BD1F820A3C}"/>
              </a:ext>
            </a:extLst>
          </p:cNvPr>
          <p:cNvSpPr/>
          <p:nvPr/>
        </p:nvSpPr>
        <p:spPr>
          <a:xfrm>
            <a:off x="4489791" y="4368002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A69283-E444-CE60-85AE-97DC00641F7E}"/>
              </a:ext>
            </a:extLst>
          </p:cNvPr>
          <p:cNvSpPr txBox="1"/>
          <p:nvPr/>
        </p:nvSpPr>
        <p:spPr>
          <a:xfrm>
            <a:off x="4493274" y="4398821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장기 기억으로 전환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정서적 중요 인물 탐색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감정적으로 중요한 기억은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MCI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에서 보존됨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(Phelps, 2004)</a:t>
            </a:r>
            <a:endParaRPr lang="ko-KR" altLang="en-US" sz="12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60797A1-9F15-6F97-BDB9-2A361E256DEC}"/>
              </a:ext>
            </a:extLst>
          </p:cNvPr>
          <p:cNvSpPr/>
          <p:nvPr/>
        </p:nvSpPr>
        <p:spPr>
          <a:xfrm>
            <a:off x="7935934" y="1331266"/>
            <a:ext cx="3468409" cy="3583070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F88D893-0BBC-8864-3049-A34AD516F78E}"/>
              </a:ext>
            </a:extLst>
          </p:cNvPr>
          <p:cNvSpPr/>
          <p:nvPr/>
        </p:nvSpPr>
        <p:spPr>
          <a:xfrm>
            <a:off x="8027526" y="1394057"/>
            <a:ext cx="3290597" cy="171040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CE898521-9C6A-688D-5C69-20B54874FDE6}"/>
              </a:ext>
            </a:extLst>
          </p:cNvPr>
          <p:cNvSpPr/>
          <p:nvPr/>
        </p:nvSpPr>
        <p:spPr>
          <a:xfrm>
            <a:off x="8027526" y="3152016"/>
            <a:ext cx="3290597" cy="170805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9A3314C9-A8D9-9D0D-7D20-1B2C2C761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982" y="1432789"/>
            <a:ext cx="216000" cy="2160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7A52274-CF89-6AC1-7C4B-DDAED984A654}"/>
              </a:ext>
            </a:extLst>
          </p:cNvPr>
          <p:cNvSpPr txBox="1"/>
          <p:nvPr/>
        </p:nvSpPr>
        <p:spPr>
          <a:xfrm>
            <a:off x="8368800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3C99FF-F226-3E65-FB6E-194D4DDDFA8C}"/>
              </a:ext>
            </a:extLst>
          </p:cNvPr>
          <p:cNvSpPr txBox="1"/>
          <p:nvPr/>
        </p:nvSpPr>
        <p:spPr>
          <a:xfrm>
            <a:off x="8096079" y="1601182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엄마 이름이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뭐에요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김순옥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엄마 생각나세요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네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258F028-F9A4-2BA4-3407-A9DA9B775705}"/>
              </a:ext>
            </a:extLst>
          </p:cNvPr>
          <p:cNvSpPr/>
          <p:nvPr/>
        </p:nvSpPr>
        <p:spPr>
          <a:xfrm>
            <a:off x="8092596" y="262475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E3E419-EE0F-6F01-6D46-F3E414D16C6C}"/>
              </a:ext>
            </a:extLst>
          </p:cNvPr>
          <p:cNvSpPr txBox="1"/>
          <p:nvPr/>
        </p:nvSpPr>
        <p:spPr>
          <a:xfrm>
            <a:off x="8096079" y="265557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부모 기억 탐색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정서적 연결 강화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애착 대상 기억이 정서적 안정에 기여 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Browlby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1969)</a:t>
            </a:r>
            <a:endParaRPr lang="ko-KR" altLang="en-US" sz="1200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B4338F2B-94E2-914C-593C-4AE4B27F7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982" y="3176034"/>
            <a:ext cx="216000" cy="2160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8CF1AA9-236F-99BD-716D-CA52EAACDE9A}"/>
              </a:ext>
            </a:extLst>
          </p:cNvPr>
          <p:cNvSpPr txBox="1"/>
          <p:nvPr/>
        </p:nvSpPr>
        <p:spPr>
          <a:xfrm>
            <a:off x="8368800" y="3148145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8E024C-8207-B522-6088-2122FDEACA5A}"/>
              </a:ext>
            </a:extLst>
          </p:cNvPr>
          <p:cNvSpPr txBox="1"/>
          <p:nvPr/>
        </p:nvSpPr>
        <p:spPr>
          <a:xfrm>
            <a:off x="8096079" y="3344427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형제는 몇 명이에요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세 명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누가 제일 친했어요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언니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D164BE9D-0D68-6CCC-0AC9-2776D45A91BE}"/>
              </a:ext>
            </a:extLst>
          </p:cNvPr>
          <p:cNvSpPr/>
          <p:nvPr/>
        </p:nvSpPr>
        <p:spPr>
          <a:xfrm>
            <a:off x="8092596" y="4368002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C53368-3249-7841-CA44-BB41C75D9E5F}"/>
              </a:ext>
            </a:extLst>
          </p:cNvPr>
          <p:cNvSpPr txBox="1"/>
          <p:nvPr/>
        </p:nvSpPr>
        <p:spPr>
          <a:xfrm>
            <a:off x="8096079" y="4398821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1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안정적 신뢰 기반 확립 </a:t>
            </a:r>
            <a:endParaRPr lang="en-US" altLang="ko-KR" sz="1000" b="1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8</a:t>
            </a:r>
            <a:r>
              <a:rPr lang="ko-KR" altLang="en-US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회차에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기본 치료적 동맹 형성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(Lambert, 2004)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5510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37320C-657A-EF0C-3098-0E1629F160B8}"/>
              </a:ext>
            </a:extLst>
          </p:cNvPr>
          <p:cNvSpPr txBox="1"/>
          <p:nvPr/>
        </p:nvSpPr>
        <p:spPr>
          <a:xfrm>
            <a:off x="402760" y="171448"/>
            <a:ext cx="4423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시뮬레이션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(1~24</a:t>
            </a:r>
            <a:r>
              <a:rPr lang="ko-KR" altLang="en-US" sz="2800" b="1" i="0" dirty="0" err="1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FF7AC26-54EF-C152-75A1-58E1B2F52F88}"/>
              </a:ext>
            </a:extLst>
          </p:cNvPr>
          <p:cNvCxnSpPr>
            <a:cxnSpLocks/>
          </p:cNvCxnSpPr>
          <p:nvPr/>
        </p:nvCxnSpPr>
        <p:spPr>
          <a:xfrm>
            <a:off x="441672" y="694668"/>
            <a:ext cx="42827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07683B-9A77-D3D1-F6C6-827CB4D222D0}"/>
              </a:ext>
            </a:extLst>
          </p:cNvPr>
          <p:cNvSpPr/>
          <p:nvPr/>
        </p:nvSpPr>
        <p:spPr>
          <a:xfrm>
            <a:off x="10077669" y="256589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2F8D2A5-AD2C-23CE-D278-C2BD2E83ECA4}"/>
              </a:ext>
            </a:extLst>
          </p:cNvPr>
          <p:cNvSpPr/>
          <p:nvPr/>
        </p:nvSpPr>
        <p:spPr>
          <a:xfrm>
            <a:off x="8299163" y="695195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4FB57D-7174-82F1-C251-BD478940BECE}"/>
              </a:ext>
            </a:extLst>
          </p:cNvPr>
          <p:cNvSpPr txBox="1"/>
          <p:nvPr/>
        </p:nvSpPr>
        <p:spPr>
          <a:xfrm>
            <a:off x="10419893" y="280271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탐구대화형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C661E6-0B1D-9D35-A099-A872203D0A09}"/>
              </a:ext>
            </a:extLst>
          </p:cNvPr>
          <p:cNvSpPr txBox="1"/>
          <p:nvPr/>
        </p:nvSpPr>
        <p:spPr>
          <a:xfrm>
            <a:off x="8641388" y="718603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회상안내형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2857908-803B-1D7E-3CD0-E8D97CA39852}"/>
              </a:ext>
            </a:extLst>
          </p:cNvPr>
          <p:cNvSpPr/>
          <p:nvPr/>
        </p:nvSpPr>
        <p:spPr>
          <a:xfrm>
            <a:off x="6530971" y="702629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E8792CB-DF3B-9884-3269-59123F24990D}"/>
              </a:ext>
            </a:extLst>
          </p:cNvPr>
          <p:cNvSpPr/>
          <p:nvPr/>
        </p:nvSpPr>
        <p:spPr>
          <a:xfrm>
            <a:off x="10077669" y="695195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55A82F-5486-F515-7DC2-F8506172F169}"/>
              </a:ext>
            </a:extLst>
          </p:cNvPr>
          <p:cNvSpPr txBox="1"/>
          <p:nvPr/>
        </p:nvSpPr>
        <p:spPr>
          <a:xfrm>
            <a:off x="6873195" y="726311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활력충전형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2BA698-4732-7EC7-E373-CFD6F704295D}"/>
              </a:ext>
            </a:extLst>
          </p:cNvPr>
          <p:cNvSpPr txBox="1"/>
          <p:nvPr/>
        </p:nvSpPr>
        <p:spPr>
          <a:xfrm>
            <a:off x="10419894" y="718603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효율지향형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4DF3FF6-BE1A-DD32-BF3E-3382BB766631}"/>
              </a:ext>
            </a:extLst>
          </p:cNvPr>
          <p:cNvSpPr/>
          <p:nvPr/>
        </p:nvSpPr>
        <p:spPr>
          <a:xfrm>
            <a:off x="8303675" y="261578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F3F9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6A7463-1205-5B57-EEE0-E111D7C70E87}"/>
              </a:ext>
            </a:extLst>
          </p:cNvPr>
          <p:cNvSpPr txBox="1"/>
          <p:nvPr/>
        </p:nvSpPr>
        <p:spPr>
          <a:xfrm>
            <a:off x="8645900" y="284986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해결중심형</a:t>
            </a:r>
            <a:endParaRPr lang="en-US" altLang="ko-KR" sz="1400" b="1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16FE4A7-58D7-978B-E13A-5DDD556A0825}"/>
              </a:ext>
            </a:extLst>
          </p:cNvPr>
          <p:cNvSpPr/>
          <p:nvPr/>
        </p:nvSpPr>
        <p:spPr>
          <a:xfrm>
            <a:off x="6535483" y="261578"/>
            <a:ext cx="1671108" cy="323751"/>
          </a:xfrm>
          <a:prstGeom prst="roundRect">
            <a:avLst>
              <a:gd name="adj" fmla="val 7564"/>
            </a:avLst>
          </a:prstGeom>
          <a:solidFill>
            <a:srgbClr val="CDE7FF"/>
          </a:solidFill>
          <a:ln>
            <a:solidFill>
              <a:srgbClr val="2C5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C8918F-51D2-2A6F-076A-C331F43C6295}"/>
              </a:ext>
            </a:extLst>
          </p:cNvPr>
          <p:cNvSpPr txBox="1"/>
          <p:nvPr/>
        </p:nvSpPr>
        <p:spPr>
          <a:xfrm>
            <a:off x="6877708" y="284986"/>
            <a:ext cx="106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endParaRPr lang="en-US" altLang="ko-KR" sz="1400" b="1" i="0" dirty="0"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6" name="Picture 6" descr="🤖 로봇 얼굴 이모티콘 이미지 다운로드: HD, 애니메이션 이미지 및 벡터 그래픽의 큰 그림 | Emojiall">
            <a:extLst>
              <a:ext uri="{FF2B5EF4-FFF2-40B4-BE49-F238E27FC236}">
                <a16:creationId xmlns:a16="http://schemas.microsoft.com/office/drawing/2014/main" id="{E4B99D5C-A983-A7D9-60E0-98469B64C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72" y="871166"/>
            <a:ext cx="364160" cy="28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1316A97-C07A-886E-7800-FC55792AB695}"/>
              </a:ext>
            </a:extLst>
          </p:cNvPr>
          <p:cNvSpPr txBox="1"/>
          <p:nvPr/>
        </p:nvSpPr>
        <p:spPr>
          <a:xfrm>
            <a:off x="742554" y="902368"/>
            <a:ext cx="25626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(</a:t>
            </a:r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정상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</a:t>
            </a:r>
            <a:r>
              <a:rPr lang="ko-KR" altLang="en-US" sz="1200" b="1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EB9E90F-4BDC-CC22-8DDE-D62FD6C06690}"/>
              </a:ext>
            </a:extLst>
          </p:cNvPr>
          <p:cNvSpPr txBox="1"/>
          <p:nvPr/>
        </p:nvSpPr>
        <p:spPr>
          <a:xfrm>
            <a:off x="2516701" y="906537"/>
            <a:ext cx="13276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(65</a:t>
            </a:r>
            <a:r>
              <a:rPr lang="ko-KR" altLang="en-US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</a:t>
            </a:r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MCI)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9" name="Picture 4" descr="사람 그림자 이모티콘 👤">
            <a:extLst>
              <a:ext uri="{FF2B5EF4-FFF2-40B4-BE49-F238E27FC236}">
                <a16:creationId xmlns:a16="http://schemas.microsoft.com/office/drawing/2014/main" id="{05593181-8425-5103-ABC9-F10FDA177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739" y="905056"/>
            <a:ext cx="299537" cy="23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E43FD57-60D4-FCFA-E2DF-1D3DDE4BCA5A}"/>
              </a:ext>
            </a:extLst>
          </p:cNvPr>
          <p:cNvSpPr/>
          <p:nvPr/>
        </p:nvSpPr>
        <p:spPr>
          <a:xfrm>
            <a:off x="643503" y="1331266"/>
            <a:ext cx="3468409" cy="5355286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BC1CE21B-678C-F38C-38F4-FDFFEF60B3AC}"/>
              </a:ext>
            </a:extLst>
          </p:cNvPr>
          <p:cNvSpPr/>
          <p:nvPr/>
        </p:nvSpPr>
        <p:spPr>
          <a:xfrm>
            <a:off x="735095" y="1394057"/>
            <a:ext cx="3290597" cy="171040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784F7343-595D-774C-717A-EDCAA32C757D}"/>
              </a:ext>
            </a:extLst>
          </p:cNvPr>
          <p:cNvSpPr/>
          <p:nvPr/>
        </p:nvSpPr>
        <p:spPr>
          <a:xfrm>
            <a:off x="735095" y="3152016"/>
            <a:ext cx="3290597" cy="1708052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E7483B5C-691A-769B-88BC-4C40D1DBEDAD}"/>
              </a:ext>
            </a:extLst>
          </p:cNvPr>
          <p:cNvSpPr/>
          <p:nvPr/>
        </p:nvSpPr>
        <p:spPr>
          <a:xfrm>
            <a:off x="735095" y="4914336"/>
            <a:ext cx="3290597" cy="1705421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73" name="그림 172">
            <a:extLst>
              <a:ext uri="{FF2B5EF4-FFF2-40B4-BE49-F238E27FC236}">
                <a16:creationId xmlns:a16="http://schemas.microsoft.com/office/drawing/2014/main" id="{DF3B04B9-BFB7-CD7F-8974-7FC3FBCDB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1" y="4967325"/>
            <a:ext cx="216000" cy="216000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1995B9DB-1780-268F-E688-97E82A3D6B75}"/>
              </a:ext>
            </a:extLst>
          </p:cNvPr>
          <p:cNvSpPr txBox="1"/>
          <p:nvPr/>
        </p:nvSpPr>
        <p:spPr>
          <a:xfrm>
            <a:off x="1076369" y="4939436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9856576-2A5C-E290-7ABD-85F763CA5549}"/>
              </a:ext>
            </a:extLst>
          </p:cNvPr>
          <p:cNvSpPr txBox="1"/>
          <p:nvPr/>
        </p:nvSpPr>
        <p:spPr>
          <a:xfrm>
            <a:off x="803648" y="5135718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엄마가 </a:t>
            </a:r>
            <a:r>
              <a:rPr lang="ko-KR" altLang="en-US" sz="105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해주신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음식 중에 뭐가 제일 맛있었어요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된장찌개 맛있었어요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지금도 생각나세요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 자주 생각나요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710810-DF35-7396-A77A-BA456834CAF4}"/>
              </a:ext>
            </a:extLst>
          </p:cNvPr>
          <p:cNvSpPr/>
          <p:nvPr/>
        </p:nvSpPr>
        <p:spPr>
          <a:xfrm>
            <a:off x="800165" y="6159293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DA0D4-3C4D-A0FF-403B-3FAE7DB2B5E6}"/>
              </a:ext>
            </a:extLst>
          </p:cNvPr>
          <p:cNvSpPr txBox="1"/>
          <p:nvPr/>
        </p:nvSpPr>
        <p:spPr>
          <a:xfrm>
            <a:off x="803649" y="6190112"/>
            <a:ext cx="2975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감각 기억 활성화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정서적 연결 심화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감각 기억이 정서 기억을 활성화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(Proust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8630D3-FB4C-A358-E0B8-D51204604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1" y="1432789"/>
            <a:ext cx="216000" cy="21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4157E9-48C2-AF74-F8BB-7FB47E601BEE}"/>
              </a:ext>
            </a:extLst>
          </p:cNvPr>
          <p:cNvSpPr txBox="1"/>
          <p:nvPr/>
        </p:nvSpPr>
        <p:spPr>
          <a:xfrm>
            <a:off x="1076369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6F5307-8420-031C-27B3-73E4D41F3837}"/>
              </a:ext>
            </a:extLst>
          </p:cNvPr>
          <p:cNvSpPr txBox="1"/>
          <p:nvPr/>
        </p:nvSpPr>
        <p:spPr>
          <a:xfrm>
            <a:off x="803648" y="1601182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손녀 지은이가 뭐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할 때 가장 기뻐요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노래 부를 때요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어떤 노래 좋아해요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동요 부르는 거요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A48E84A-CC53-24E3-E4C0-5EECFBF965E2}"/>
              </a:ext>
            </a:extLst>
          </p:cNvPr>
          <p:cNvSpPr/>
          <p:nvPr/>
        </p:nvSpPr>
        <p:spPr>
          <a:xfrm>
            <a:off x="800165" y="262475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007AF-BA5A-7E3A-9803-0F76E3C3D55E}"/>
              </a:ext>
            </a:extLst>
          </p:cNvPr>
          <p:cNvSpPr txBox="1"/>
          <p:nvPr/>
        </p:nvSpPr>
        <p:spPr>
          <a:xfrm>
            <a:off x="803648" y="265557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2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답변 길이 증가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표현 시작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신뢰 형성 후 자기개발 증가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en-US" altLang="ko-KR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Jourard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1971)</a:t>
            </a:r>
            <a:endParaRPr lang="ko-KR" alt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B3CFF4A-951C-4A05-2058-8D3C7A5AF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51" y="3176034"/>
            <a:ext cx="216000" cy="21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0B3224E-CB95-57F3-8004-9E217FA7ED68}"/>
              </a:ext>
            </a:extLst>
          </p:cNvPr>
          <p:cNvSpPr txBox="1"/>
          <p:nvPr/>
        </p:nvSpPr>
        <p:spPr>
          <a:xfrm>
            <a:off x="1076369" y="3148145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817159-E5E8-70D0-5B82-385D58E41999}"/>
              </a:ext>
            </a:extLst>
          </p:cNvPr>
          <p:cNvSpPr txBox="1"/>
          <p:nvPr/>
        </p:nvSpPr>
        <p:spPr>
          <a:xfrm>
            <a:off x="803648" y="3344427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어렸을 때 </a:t>
            </a:r>
            <a:r>
              <a:rPr lang="ko-KR" altLang="en-US" sz="105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친구랑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뭐 하고 놀았어요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개울에서 놀았어요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재미있었어요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정말 재밌었어요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2CFA3E8-8C00-7FE1-F19F-C37E3B558273}"/>
              </a:ext>
            </a:extLst>
          </p:cNvPr>
          <p:cNvSpPr/>
          <p:nvPr/>
        </p:nvSpPr>
        <p:spPr>
          <a:xfrm>
            <a:off x="800165" y="4368002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DF884-C04A-8F92-7CC7-7CA98442BD24}"/>
              </a:ext>
            </a:extLst>
          </p:cNvPr>
          <p:cNvSpPr txBox="1"/>
          <p:nvPr/>
        </p:nvSpPr>
        <p:spPr>
          <a:xfrm>
            <a:off x="803648" y="4398821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긍정적 과거 회상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강도 증가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회상 치료의 긍정적 효과 시작점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(Woods, 2012)</a:t>
            </a:r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1006983-0FB3-E70F-00BE-E68A6099EE35}"/>
              </a:ext>
            </a:extLst>
          </p:cNvPr>
          <p:cNvSpPr/>
          <p:nvPr/>
        </p:nvSpPr>
        <p:spPr>
          <a:xfrm>
            <a:off x="4243150" y="1321106"/>
            <a:ext cx="3468409" cy="5355286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8F60C18-7458-559B-A8B1-E9313328BE0B}"/>
              </a:ext>
            </a:extLst>
          </p:cNvPr>
          <p:cNvSpPr/>
          <p:nvPr/>
        </p:nvSpPr>
        <p:spPr>
          <a:xfrm>
            <a:off x="4334742" y="1394057"/>
            <a:ext cx="3290597" cy="171040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C09A62F-CBEE-12A7-B7CB-ACD72E49F7F0}"/>
              </a:ext>
            </a:extLst>
          </p:cNvPr>
          <p:cNvSpPr/>
          <p:nvPr/>
        </p:nvSpPr>
        <p:spPr>
          <a:xfrm>
            <a:off x="4334742" y="4275280"/>
            <a:ext cx="3290597" cy="234447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34F113D-28D2-D1BC-0B39-7526E932E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198" y="4347565"/>
            <a:ext cx="216000" cy="2160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CAC9A45-E394-D5F2-2494-BB2FCFC5150C}"/>
              </a:ext>
            </a:extLst>
          </p:cNvPr>
          <p:cNvSpPr txBox="1"/>
          <p:nvPr/>
        </p:nvSpPr>
        <p:spPr>
          <a:xfrm>
            <a:off x="4676016" y="4319676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2C93F1-AE9E-43EC-8749-E5F50A8929AA}"/>
              </a:ext>
            </a:extLst>
          </p:cNvPr>
          <p:cNvSpPr txBox="1"/>
          <p:nvPr/>
        </p:nvSpPr>
        <p:spPr>
          <a:xfrm>
            <a:off x="4403295" y="4536323"/>
            <a:ext cx="3386164" cy="1518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손녀와 함께한 시간 중 가장 행복했던 순간을 이야기           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해주시겠어요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손녀가 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살 때였어요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처음으로 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할머니 사랑해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라고 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말했을 때요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그때 정말 눈물이 났어요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지금도 그 순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간이 생생해요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정말 소중한 순간이네요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..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54D3515-3660-357E-A532-64F97525066A}"/>
              </a:ext>
            </a:extLst>
          </p:cNvPr>
          <p:cNvSpPr/>
          <p:nvPr/>
        </p:nvSpPr>
        <p:spPr>
          <a:xfrm>
            <a:off x="4399812" y="6098333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28E9DD-CF44-537F-3594-EA656D24F835}"/>
              </a:ext>
            </a:extLst>
          </p:cNvPr>
          <p:cNvSpPr txBox="1"/>
          <p:nvPr/>
        </p:nvSpPr>
        <p:spPr>
          <a:xfrm>
            <a:off x="4403295" y="6129152"/>
            <a:ext cx="3353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Phase 3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서술형 응답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자발적 감정 표현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의미 있는 서사 구성이 정체성 강화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(McAdams,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2001)</a:t>
            </a:r>
            <a:endParaRPr lang="ko-KR" altLang="en-US" sz="120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6FECF60-DF74-1E7C-05E8-90CA2C0B1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198" y="1432789"/>
            <a:ext cx="216000" cy="216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AA55CC9-1173-B9C8-3CD9-F0A39E949350}"/>
              </a:ext>
            </a:extLst>
          </p:cNvPr>
          <p:cNvSpPr txBox="1"/>
          <p:nvPr/>
        </p:nvSpPr>
        <p:spPr>
          <a:xfrm>
            <a:off x="4676016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2013A3-276D-39CB-2CA4-999217216C8B}"/>
              </a:ext>
            </a:extLst>
          </p:cNvPr>
          <p:cNvSpPr txBox="1"/>
          <p:nvPr/>
        </p:nvSpPr>
        <p:spPr>
          <a:xfrm>
            <a:off x="4403295" y="1601182"/>
            <a:ext cx="3386164" cy="103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손녀가 태어났을 때 기분이 </a:t>
            </a:r>
            <a:r>
              <a:rPr lang="ko-KR" altLang="en-US" sz="105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어땠어요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    너무 </a:t>
            </a:r>
            <a:r>
              <a:rPr lang="ko-KR" altLang="en-US" sz="1050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기뻤어요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   처음 안아봤을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때는요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b="0" i="0" dirty="0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     세상에서 제일 </a:t>
            </a:r>
            <a:r>
              <a:rPr lang="ko-KR" altLang="en-US" sz="1050" b="0" i="0" dirty="0" err="1">
                <a:solidFill>
                  <a:srgbClr val="0070C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예뻤어요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3236A05-D95F-CF4F-D8B8-66149ED3A60B}"/>
              </a:ext>
            </a:extLst>
          </p:cNvPr>
          <p:cNvSpPr/>
          <p:nvPr/>
        </p:nvSpPr>
        <p:spPr>
          <a:xfrm>
            <a:off x="4399812" y="262475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D1BA76-30C5-527B-E2E4-33F398D6C6C9}"/>
              </a:ext>
            </a:extLst>
          </p:cNvPr>
          <p:cNvSpPr txBox="1"/>
          <p:nvPr/>
        </p:nvSpPr>
        <p:spPr>
          <a:xfrm>
            <a:off x="4403295" y="265557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전환점 도달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 감정 표현 시작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12</a:t>
            </a:r>
            <a:r>
              <a:rPr lang="ko-KR" altLang="en-US" sz="800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전후 치료적 전환점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(Stiles, 1999)</a:t>
            </a:r>
            <a:endParaRPr lang="ko-KR" altLang="en-US" sz="12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60797A1-9F15-6F97-BDB9-2A361E256DEC}"/>
              </a:ext>
            </a:extLst>
          </p:cNvPr>
          <p:cNvSpPr/>
          <p:nvPr/>
        </p:nvSpPr>
        <p:spPr>
          <a:xfrm>
            <a:off x="7845955" y="1332794"/>
            <a:ext cx="3546309" cy="2173922"/>
          </a:xfrm>
          <a:prstGeom prst="roundRect">
            <a:avLst>
              <a:gd name="adj" fmla="val 4813"/>
            </a:avLst>
          </a:prstGeom>
          <a:solidFill>
            <a:srgbClr val="EE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F88D893-0BBC-8864-3049-A34AD516F78E}"/>
              </a:ext>
            </a:extLst>
          </p:cNvPr>
          <p:cNvSpPr/>
          <p:nvPr/>
        </p:nvSpPr>
        <p:spPr>
          <a:xfrm>
            <a:off x="7937547" y="1394057"/>
            <a:ext cx="3376817" cy="2031087"/>
          </a:xfrm>
          <a:prstGeom prst="roundRect">
            <a:avLst>
              <a:gd name="adj" fmla="val 75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9A3314C9-A8D9-9D0D-7D20-1B2C2C761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003" y="1432789"/>
            <a:ext cx="216000" cy="2160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7A52274-CF89-6AC1-7C4B-DDAED984A654}"/>
              </a:ext>
            </a:extLst>
          </p:cNvPr>
          <p:cNvSpPr txBox="1"/>
          <p:nvPr/>
        </p:nvSpPr>
        <p:spPr>
          <a:xfrm>
            <a:off x="8278821" y="1404900"/>
            <a:ext cx="7321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200" b="1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24</a:t>
            </a:r>
            <a:r>
              <a:rPr lang="ko-KR" altLang="en-US" sz="1200" b="1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en-US" altLang="ko-KR" sz="12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3C99FF-F226-3E65-FB6E-194D4DDDFA8C}"/>
              </a:ext>
            </a:extLst>
          </p:cNvPr>
          <p:cNvSpPr txBox="1"/>
          <p:nvPr/>
        </p:nvSpPr>
        <p:spPr>
          <a:xfrm>
            <a:off x="8006100" y="1601182"/>
            <a:ext cx="3386164" cy="1275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      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ko-KR" altLang="en-US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평생을 돌아보면서 어떤 생각이 드세요</a:t>
            </a: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미연   힘든 일도 많았지만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가족이 있어서 행복했어요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특히 손녀를 보면서 제 인생이 의미 있었다는 생각이 </a:t>
            </a:r>
            <a:endParaRPr lang="en-US" altLang="ko-KR" sz="1050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들어요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앞으로도 손녀의 성장으로 지켜보고 싶어요</a:t>
            </a:r>
            <a:r>
              <a:rPr lang="en-US" altLang="ko-KR" sz="105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      </a:t>
            </a:r>
            <a:r>
              <a:rPr lang="ko-KR" altLang="en-US" sz="1050" b="0" i="0" dirty="0" err="1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미연님의</a:t>
            </a:r>
            <a:r>
              <a:rPr lang="ko-KR" altLang="en-US" sz="1050" b="0" i="0" dirty="0">
                <a:solidFill>
                  <a:srgbClr val="334155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인생이 정말 의미 있고 아름다워요</a:t>
            </a:r>
            <a:r>
              <a:rPr lang="en-US" altLang="ko-KR" sz="105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en-US" altLang="ko-KR" sz="105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B258F028-F9A4-2BA4-3407-A9DA9B775705}"/>
              </a:ext>
            </a:extLst>
          </p:cNvPr>
          <p:cNvSpPr/>
          <p:nvPr/>
        </p:nvSpPr>
        <p:spPr>
          <a:xfrm>
            <a:off x="8002617" y="2939717"/>
            <a:ext cx="3123782" cy="419823"/>
          </a:xfrm>
          <a:prstGeom prst="roundRect">
            <a:avLst>
              <a:gd name="adj" fmla="val 2747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sz="1600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E3E419-EE0F-6F01-6D46-F3E414D16C6C}"/>
              </a:ext>
            </a:extLst>
          </p:cNvPr>
          <p:cNvSpPr txBox="1"/>
          <p:nvPr/>
        </p:nvSpPr>
        <p:spPr>
          <a:xfrm>
            <a:off x="8006100" y="2970536"/>
            <a:ext cx="322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24</a:t>
            </a:r>
            <a:r>
              <a:rPr lang="ko-KR" altLang="en-US" sz="1000" b="1" dirty="0" err="1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완료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인생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통합 달성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안정적 </a:t>
            </a:r>
            <a:r>
              <a:rPr lang="en-US" altLang="ko-KR" sz="1000" b="1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plateau.</a:t>
            </a:r>
          </a:p>
          <a:p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이론적 근거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Erikson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ego integrity </a:t>
            </a:r>
            <a:r>
              <a:rPr lang="ko-KR" altLang="en-US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달성 </a:t>
            </a:r>
            <a:r>
              <a:rPr lang="en-US" altLang="ko-KR" sz="800" dirty="0">
                <a:solidFill>
                  <a:srgbClr val="33415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(Erikson, 1963)</a:t>
            </a:r>
            <a:endParaRPr lang="ko-KR" altLang="en-US" sz="12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12E04AC-3037-2F2E-FFF0-CECFBDB1BEC6}"/>
              </a:ext>
            </a:extLst>
          </p:cNvPr>
          <p:cNvSpPr/>
          <p:nvPr/>
        </p:nvSpPr>
        <p:spPr>
          <a:xfrm>
            <a:off x="5912310" y="327954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E23828-F1AC-AE1D-F9EB-39E3B1497CC0}"/>
              </a:ext>
            </a:extLst>
          </p:cNvPr>
          <p:cNvSpPr/>
          <p:nvPr/>
        </p:nvSpPr>
        <p:spPr>
          <a:xfrm>
            <a:off x="5915992" y="359627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F9DBBF9-DFCD-68AF-B9C8-4CB3360054DF}"/>
              </a:ext>
            </a:extLst>
          </p:cNvPr>
          <p:cNvSpPr/>
          <p:nvPr/>
        </p:nvSpPr>
        <p:spPr>
          <a:xfrm>
            <a:off x="5912310" y="390252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693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2C9731-7BA9-ABF2-97D6-1960CB3F62E7}"/>
              </a:ext>
            </a:extLst>
          </p:cNvPr>
          <p:cNvSpPr/>
          <p:nvPr/>
        </p:nvSpPr>
        <p:spPr>
          <a:xfrm>
            <a:off x="247349" y="1742283"/>
            <a:ext cx="11697301" cy="4231798"/>
          </a:xfrm>
          <a:prstGeom prst="roundRect">
            <a:avLst>
              <a:gd name="adj" fmla="val 2375"/>
            </a:avLst>
          </a:prstGeom>
          <a:solidFill>
            <a:srgbClr val="1C1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3072D-FDE6-78FD-757B-FBDC2F9F61A1}"/>
              </a:ext>
            </a:extLst>
          </p:cNvPr>
          <p:cNvSpPr txBox="1"/>
          <p:nvPr/>
        </p:nvSpPr>
        <p:spPr>
          <a:xfrm>
            <a:off x="595800" y="628648"/>
            <a:ext cx="3153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대화 후 지표 변화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186692F-8623-9918-0FA5-7EF8C699FCA8}"/>
              </a:ext>
            </a:extLst>
          </p:cNvPr>
          <p:cNvCxnSpPr>
            <a:cxnSpLocks/>
          </p:cNvCxnSpPr>
          <p:nvPr/>
        </p:nvCxnSpPr>
        <p:spPr>
          <a:xfrm>
            <a:off x="634712" y="1050268"/>
            <a:ext cx="27892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F6E743B-4BA9-C981-FC45-E7FEA42F1754}"/>
              </a:ext>
            </a:extLst>
          </p:cNvPr>
          <p:cNvSpPr/>
          <p:nvPr/>
        </p:nvSpPr>
        <p:spPr>
          <a:xfrm>
            <a:off x="388592" y="1495164"/>
            <a:ext cx="2376142" cy="660475"/>
          </a:xfrm>
          <a:prstGeom prst="roundRect">
            <a:avLst>
              <a:gd name="adj" fmla="val 7564"/>
            </a:avLst>
          </a:prstGeom>
          <a:solidFill>
            <a:srgbClr val="383E5A"/>
          </a:solidFill>
          <a:ln>
            <a:solidFill>
              <a:srgbClr val="383E5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chemeClr val="bg2">
                  <a:lumMod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chemeClr val="bg2">
                  <a:lumMod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ECD7C-A0D8-A4CD-9334-4C17F2C4875C}"/>
              </a:ext>
            </a:extLst>
          </p:cNvPr>
          <p:cNvSpPr txBox="1"/>
          <p:nvPr/>
        </p:nvSpPr>
        <p:spPr>
          <a:xfrm>
            <a:off x="386852" y="1572827"/>
            <a:ext cx="2283337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endParaRPr lang="en-US" altLang="ko-KR" sz="14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sz="4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공감 </a:t>
            </a:r>
            <a:r>
              <a:rPr lang="en-US" altLang="ko-KR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위로 </a:t>
            </a:r>
            <a:r>
              <a:rPr lang="en-US" altLang="ko-KR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수용</a:t>
            </a:r>
            <a:endParaRPr lang="en-US" altLang="ko-KR" sz="1050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752458-3BCC-4453-F42C-480BC36D9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25" y="2881586"/>
            <a:ext cx="4485928" cy="14885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4D24D2-18C8-2AFA-CFD6-5BA3C80C0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75" y="2128520"/>
            <a:ext cx="6700253" cy="298704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C5C214D-E7AC-FA21-B8F7-BEE7EA54ACA1}"/>
              </a:ext>
            </a:extLst>
          </p:cNvPr>
          <p:cNvSpPr/>
          <p:nvPr/>
        </p:nvSpPr>
        <p:spPr>
          <a:xfrm>
            <a:off x="644823" y="4856567"/>
            <a:ext cx="4399133" cy="671786"/>
          </a:xfrm>
          <a:prstGeom prst="roundRect">
            <a:avLst>
              <a:gd name="adj" fmla="val 7564"/>
            </a:avLst>
          </a:prstGeom>
          <a:solidFill>
            <a:srgbClr val="FFC000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232C8F-A784-9B7D-91A7-1D3D4591522B}"/>
              </a:ext>
            </a:extLst>
          </p:cNvPr>
          <p:cNvSpPr/>
          <p:nvPr/>
        </p:nvSpPr>
        <p:spPr>
          <a:xfrm>
            <a:off x="683735" y="4856567"/>
            <a:ext cx="4355626" cy="671785"/>
          </a:xfrm>
          <a:prstGeom prst="roundRect">
            <a:avLst>
              <a:gd name="adj" fmla="val 7564"/>
            </a:avLst>
          </a:prstGeom>
          <a:solidFill>
            <a:srgbClr val="25293B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EF11A1-2343-E097-2CEF-9C87DDE7345C}"/>
              </a:ext>
            </a:extLst>
          </p:cNvPr>
          <p:cNvSpPr txBox="1"/>
          <p:nvPr/>
        </p:nvSpPr>
        <p:spPr>
          <a:xfrm>
            <a:off x="806519" y="4927001"/>
            <a:ext cx="4037555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 전략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감정 반영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수용적 태도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따뜻한 어조</a:t>
            </a:r>
            <a:endParaRPr lang="en-US" altLang="ko-KR" sz="4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2054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2C9731-7BA9-ABF2-97D6-1960CB3F62E7}"/>
              </a:ext>
            </a:extLst>
          </p:cNvPr>
          <p:cNvSpPr/>
          <p:nvPr/>
        </p:nvSpPr>
        <p:spPr>
          <a:xfrm>
            <a:off x="535965" y="575480"/>
            <a:ext cx="11066756" cy="6182189"/>
          </a:xfrm>
          <a:prstGeom prst="roundRect">
            <a:avLst>
              <a:gd name="adj" fmla="val 2375"/>
            </a:avLst>
          </a:prstGeom>
          <a:solidFill>
            <a:srgbClr val="1C1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3072D-FDE6-78FD-757B-FBDC2F9F61A1}"/>
              </a:ext>
            </a:extLst>
          </p:cNvPr>
          <p:cNvSpPr txBox="1"/>
          <p:nvPr/>
        </p:nvSpPr>
        <p:spPr>
          <a:xfrm>
            <a:off x="595800" y="100328"/>
            <a:ext cx="3153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0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 지표 변화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186692F-8623-9918-0FA5-7EF8C699FCA8}"/>
              </a:ext>
            </a:extLst>
          </p:cNvPr>
          <p:cNvCxnSpPr>
            <a:cxnSpLocks/>
          </p:cNvCxnSpPr>
          <p:nvPr/>
        </p:nvCxnSpPr>
        <p:spPr>
          <a:xfrm>
            <a:off x="595800" y="500438"/>
            <a:ext cx="1781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C5C214D-E7AC-FA21-B8F7-BEE7EA54ACA1}"/>
              </a:ext>
            </a:extLst>
          </p:cNvPr>
          <p:cNvSpPr/>
          <p:nvPr/>
        </p:nvSpPr>
        <p:spPr>
          <a:xfrm>
            <a:off x="741055" y="3102114"/>
            <a:ext cx="5071552" cy="499153"/>
          </a:xfrm>
          <a:prstGeom prst="roundRect">
            <a:avLst>
              <a:gd name="adj" fmla="val 7564"/>
            </a:avLst>
          </a:prstGeom>
          <a:solidFill>
            <a:srgbClr val="FFC000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232C8F-A784-9B7D-91A7-1D3D4591522B}"/>
              </a:ext>
            </a:extLst>
          </p:cNvPr>
          <p:cNvSpPr/>
          <p:nvPr/>
        </p:nvSpPr>
        <p:spPr>
          <a:xfrm>
            <a:off x="779966" y="3102114"/>
            <a:ext cx="5021395" cy="499153"/>
          </a:xfrm>
          <a:prstGeom prst="roundRect">
            <a:avLst>
              <a:gd name="adj" fmla="val 7564"/>
            </a:avLst>
          </a:prstGeom>
          <a:solidFill>
            <a:srgbClr val="25293B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EF11A1-2343-E097-2CEF-9C87DDE7345C}"/>
              </a:ext>
            </a:extLst>
          </p:cNvPr>
          <p:cNvSpPr txBox="1"/>
          <p:nvPr/>
        </p:nvSpPr>
        <p:spPr>
          <a:xfrm>
            <a:off x="953551" y="3131908"/>
            <a:ext cx="465470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📚 측정 도구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DTA 5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문항 척도 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(WAI 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수정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신뢰도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수용도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사용성</a:t>
            </a:r>
            <a:endParaRPr lang="en-US" altLang="ko-KR" sz="3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F41CB3-82A1-D082-B8CD-434CD55BD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13" y="622863"/>
            <a:ext cx="5050148" cy="24801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DCB8D9-AEC7-3706-F549-53ED6379C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627601"/>
            <a:ext cx="5050149" cy="24745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3965F3-38E7-6C40-7FA6-453FE6E81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40" y="3669247"/>
            <a:ext cx="4998121" cy="2411271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9B3AEC6-88A5-359A-D61C-2987285407E4}"/>
              </a:ext>
            </a:extLst>
          </p:cNvPr>
          <p:cNvSpPr/>
          <p:nvPr/>
        </p:nvSpPr>
        <p:spPr>
          <a:xfrm>
            <a:off x="741055" y="6108915"/>
            <a:ext cx="5071552" cy="499153"/>
          </a:xfrm>
          <a:prstGeom prst="roundRect">
            <a:avLst>
              <a:gd name="adj" fmla="val 7564"/>
            </a:avLst>
          </a:prstGeom>
          <a:solidFill>
            <a:srgbClr val="FFC000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34A6E3-F396-51CF-38DC-8A8B1C5C084F}"/>
              </a:ext>
            </a:extLst>
          </p:cNvPr>
          <p:cNvSpPr/>
          <p:nvPr/>
        </p:nvSpPr>
        <p:spPr>
          <a:xfrm>
            <a:off x="779966" y="6108915"/>
            <a:ext cx="5021395" cy="499153"/>
          </a:xfrm>
          <a:prstGeom prst="roundRect">
            <a:avLst>
              <a:gd name="adj" fmla="val 7564"/>
            </a:avLst>
          </a:prstGeom>
          <a:solidFill>
            <a:srgbClr val="25293B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6E780-74B6-714D-56FE-F5C911C2B154}"/>
              </a:ext>
            </a:extLst>
          </p:cNvPr>
          <p:cNvSpPr txBox="1"/>
          <p:nvPr/>
        </p:nvSpPr>
        <p:spPr>
          <a:xfrm>
            <a:off x="953551" y="6138709"/>
            <a:ext cx="465470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📚 측정 도구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MoCA (7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영역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MCID: 2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 이상 변화</a:t>
            </a:r>
            <a:endParaRPr lang="en-US" altLang="ko-KR" sz="3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DAEB47D-DBB9-E5EE-A1E1-C3602DF03844}"/>
              </a:ext>
            </a:extLst>
          </p:cNvPr>
          <p:cNvSpPr/>
          <p:nvPr/>
        </p:nvSpPr>
        <p:spPr>
          <a:xfrm>
            <a:off x="6339840" y="3102114"/>
            <a:ext cx="5071552" cy="499153"/>
          </a:xfrm>
          <a:prstGeom prst="roundRect">
            <a:avLst>
              <a:gd name="adj" fmla="val 7564"/>
            </a:avLst>
          </a:prstGeom>
          <a:solidFill>
            <a:srgbClr val="FFC000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5BD8223-C5A1-479A-4E72-CD43E7CB992F}"/>
              </a:ext>
            </a:extLst>
          </p:cNvPr>
          <p:cNvSpPr/>
          <p:nvPr/>
        </p:nvSpPr>
        <p:spPr>
          <a:xfrm>
            <a:off x="6378751" y="3102114"/>
            <a:ext cx="5021395" cy="499153"/>
          </a:xfrm>
          <a:prstGeom prst="roundRect">
            <a:avLst>
              <a:gd name="adj" fmla="val 7564"/>
            </a:avLst>
          </a:prstGeom>
          <a:solidFill>
            <a:srgbClr val="25293B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C7199B-277D-9A2E-B6A7-A6BADD1D7799}"/>
              </a:ext>
            </a:extLst>
          </p:cNvPr>
          <p:cNvSpPr txBox="1"/>
          <p:nvPr/>
        </p:nvSpPr>
        <p:spPr>
          <a:xfrm>
            <a:off x="6552336" y="3131908"/>
            <a:ext cx="465470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📚 측정 도구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GDS-5 (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우울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UCLA-3 (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외로움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), QoL-AD (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삶의 질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en-US" altLang="ko-KR" sz="3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387D045C-B599-D498-6BD5-CDE37F07E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51" y="3645531"/>
            <a:ext cx="4904868" cy="2409206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2A982EA-6944-D903-7E0C-47B1ECED86D7}"/>
              </a:ext>
            </a:extLst>
          </p:cNvPr>
          <p:cNvSpPr/>
          <p:nvPr/>
        </p:nvSpPr>
        <p:spPr>
          <a:xfrm>
            <a:off x="6339840" y="6108915"/>
            <a:ext cx="5071552" cy="499153"/>
          </a:xfrm>
          <a:prstGeom prst="roundRect">
            <a:avLst>
              <a:gd name="adj" fmla="val 7564"/>
            </a:avLst>
          </a:prstGeom>
          <a:solidFill>
            <a:srgbClr val="FFC000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25B21E2-81A2-9099-9F63-682B42CD711B}"/>
              </a:ext>
            </a:extLst>
          </p:cNvPr>
          <p:cNvSpPr/>
          <p:nvPr/>
        </p:nvSpPr>
        <p:spPr>
          <a:xfrm>
            <a:off x="6378751" y="6108915"/>
            <a:ext cx="5021395" cy="499153"/>
          </a:xfrm>
          <a:prstGeom prst="roundRect">
            <a:avLst>
              <a:gd name="adj" fmla="val 7564"/>
            </a:avLst>
          </a:prstGeom>
          <a:solidFill>
            <a:srgbClr val="25293B"/>
          </a:solidFill>
          <a:ln>
            <a:solidFill>
              <a:srgbClr val="383E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1C1F2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1C1F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67CB09-5252-28FE-6EA6-B172A8858433}"/>
              </a:ext>
            </a:extLst>
          </p:cNvPr>
          <p:cNvSpPr txBox="1"/>
          <p:nvPr/>
        </p:nvSpPr>
        <p:spPr>
          <a:xfrm>
            <a:off x="6552336" y="6138709"/>
            <a:ext cx="465470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📚 측정 도구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완료율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세션 시간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감정 발화 비율</a:t>
            </a:r>
            <a:r>
              <a:rPr lang="en-US" altLang="ko-KR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중도 </a:t>
            </a:r>
            <a:r>
              <a:rPr lang="ko-KR" altLang="en-US" sz="120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탈락률</a:t>
            </a:r>
            <a:endParaRPr lang="en-US" altLang="ko-KR" sz="300" b="1" i="0" dirty="0">
              <a:solidFill>
                <a:schemeClr val="bg1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8247E-FFB9-4DA6-D594-E8CF8E89B100}"/>
              </a:ext>
            </a:extLst>
          </p:cNvPr>
          <p:cNvSpPr txBox="1"/>
          <p:nvPr/>
        </p:nvSpPr>
        <p:spPr>
          <a:xfrm>
            <a:off x="1222027" y="5861337"/>
            <a:ext cx="590145" cy="215444"/>
          </a:xfrm>
          <a:prstGeom prst="rect">
            <a:avLst/>
          </a:prstGeom>
          <a:solidFill>
            <a:srgbClr val="1C1F2D"/>
          </a:solidFill>
        </p:spPr>
        <p:txBody>
          <a:bodyPr wrap="square" rtlCol="0">
            <a:spAutoFit/>
          </a:bodyPr>
          <a:lstStyle/>
          <a:p>
            <a:r>
              <a:rPr lang="ko-KR" altLang="en-US" sz="750" b="1" dirty="0" err="1">
                <a:solidFill>
                  <a:srgbClr val="6F78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깊은공감</a:t>
            </a:r>
            <a:endParaRPr lang="ko-KR" altLang="en-US" sz="750" b="1" dirty="0">
              <a:solidFill>
                <a:srgbClr val="6F788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6B262-7607-6B2E-B240-C90866DF7715}"/>
              </a:ext>
            </a:extLst>
          </p:cNvPr>
          <p:cNvSpPr txBox="1"/>
          <p:nvPr/>
        </p:nvSpPr>
        <p:spPr>
          <a:xfrm>
            <a:off x="5075695" y="5865795"/>
            <a:ext cx="590145" cy="215444"/>
          </a:xfrm>
          <a:prstGeom prst="rect">
            <a:avLst/>
          </a:prstGeom>
          <a:solidFill>
            <a:srgbClr val="1C1F2D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750" b="1" dirty="0">
                <a:solidFill>
                  <a:srgbClr val="6F788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효율지향</a:t>
            </a:r>
          </a:p>
        </p:txBody>
      </p:sp>
    </p:spTree>
    <p:extLst>
      <p:ext uri="{BB962C8B-B14F-4D97-AF65-F5344CB8AC3E}">
        <p14:creationId xmlns:p14="http://schemas.microsoft.com/office/powerpoint/2010/main" val="179639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2C9731-7BA9-ABF2-97D6-1960CB3F62E7}"/>
              </a:ext>
            </a:extLst>
          </p:cNvPr>
          <p:cNvSpPr/>
          <p:nvPr/>
        </p:nvSpPr>
        <p:spPr>
          <a:xfrm>
            <a:off x="535965" y="575480"/>
            <a:ext cx="11066756" cy="6182189"/>
          </a:xfrm>
          <a:prstGeom prst="roundRect">
            <a:avLst>
              <a:gd name="adj" fmla="val 2375"/>
            </a:avLst>
          </a:prstGeom>
          <a:solidFill>
            <a:srgbClr val="1C1F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dirty="0">
              <a:solidFill>
                <a:srgbClr val="334155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endParaRPr lang="en-US" altLang="ko-KR" b="0" i="0" dirty="0">
              <a:solidFill>
                <a:srgbClr val="334155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3072D-FDE6-78FD-757B-FBDC2F9F61A1}"/>
              </a:ext>
            </a:extLst>
          </p:cNvPr>
          <p:cNvSpPr txBox="1"/>
          <p:nvPr/>
        </p:nvSpPr>
        <p:spPr>
          <a:xfrm>
            <a:off x="595800" y="100328"/>
            <a:ext cx="3153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0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 지표 변화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186692F-8623-9918-0FA5-7EF8C699FCA8}"/>
              </a:ext>
            </a:extLst>
          </p:cNvPr>
          <p:cNvCxnSpPr>
            <a:cxnSpLocks/>
          </p:cNvCxnSpPr>
          <p:nvPr/>
        </p:nvCxnSpPr>
        <p:spPr>
          <a:xfrm>
            <a:off x="595800" y="500438"/>
            <a:ext cx="1781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2BC5E2D-F0BC-9ADA-68EC-19CE3A7A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7" y="705331"/>
            <a:ext cx="10830168" cy="28170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F62EDE4-10EA-395E-FFCB-D4A8D8746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047" y="3522358"/>
            <a:ext cx="4654706" cy="322957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A35A365-8FA6-8DAB-F2CD-0AD20EC6C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45" y="3533892"/>
            <a:ext cx="5237460" cy="316201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D25C01-A423-0275-120F-F13CCE202425}"/>
              </a:ext>
            </a:extLst>
          </p:cNvPr>
          <p:cNvSpPr/>
          <p:nvPr/>
        </p:nvSpPr>
        <p:spPr>
          <a:xfrm>
            <a:off x="1511300" y="4470183"/>
            <a:ext cx="552893" cy="215444"/>
          </a:xfrm>
          <a:prstGeom prst="rect">
            <a:avLst/>
          </a:prstGeom>
          <a:solidFill>
            <a:srgbClr val="1A1F2E"/>
          </a:solidFill>
          <a:ln>
            <a:solidFill>
              <a:srgbClr val="1A1F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F2FC4-C415-DA7C-1192-39851B4F8CBB}"/>
              </a:ext>
            </a:extLst>
          </p:cNvPr>
          <p:cNvSpPr txBox="1"/>
          <p:nvPr/>
        </p:nvSpPr>
        <p:spPr>
          <a:xfrm>
            <a:off x="1425520" y="4480816"/>
            <a:ext cx="73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solidFill>
                  <a:srgbClr val="FAFE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깊은공감형</a:t>
            </a:r>
            <a:endParaRPr lang="ko-KR" altLang="en-US" sz="900" b="1" dirty="0">
              <a:solidFill>
                <a:srgbClr val="FAFEE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77CACB6-5D89-8C64-8A6F-DF29AFBD5E7E}"/>
              </a:ext>
            </a:extLst>
          </p:cNvPr>
          <p:cNvSpPr/>
          <p:nvPr/>
        </p:nvSpPr>
        <p:spPr>
          <a:xfrm>
            <a:off x="1511300" y="6319283"/>
            <a:ext cx="552893" cy="215444"/>
          </a:xfrm>
          <a:prstGeom prst="rect">
            <a:avLst/>
          </a:prstGeom>
          <a:solidFill>
            <a:srgbClr val="1A1F2E"/>
          </a:solidFill>
          <a:ln>
            <a:solidFill>
              <a:srgbClr val="1A1F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0F6A2-5097-4F14-D7B6-1CBFAED8497B}"/>
              </a:ext>
            </a:extLst>
          </p:cNvPr>
          <p:cNvSpPr txBox="1"/>
          <p:nvPr/>
        </p:nvSpPr>
        <p:spPr>
          <a:xfrm>
            <a:off x="1425520" y="6329916"/>
            <a:ext cx="73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solidFill>
                  <a:srgbClr val="FAFEE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효율지향형</a:t>
            </a:r>
          </a:p>
        </p:txBody>
      </p:sp>
    </p:spTree>
    <p:extLst>
      <p:ext uri="{BB962C8B-B14F-4D97-AF65-F5344CB8AC3E}">
        <p14:creationId xmlns:p14="http://schemas.microsoft.com/office/powerpoint/2010/main" val="1497999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A5822-0407-4CD2-A975-1A1C98BBD717}"/>
              </a:ext>
            </a:extLst>
          </p:cNvPr>
          <p:cNvSpPr txBox="1"/>
          <p:nvPr/>
        </p:nvSpPr>
        <p:spPr>
          <a:xfrm>
            <a:off x="1602876" y="3217389"/>
            <a:ext cx="9549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2800" b="1" i="0" dirty="0">
                <a:solidFill>
                  <a:srgbClr val="1E40A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en-US" altLang="ko-KR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</a:t>
            </a:r>
            <a:r>
              <a:rPr lang="ko-KR" altLang="en-US" sz="2800" b="1" dirty="0">
                <a:solidFill>
                  <a:srgbClr val="1E40A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구현</a:t>
            </a:r>
            <a:endParaRPr lang="ko-KR" altLang="en-US" sz="2800" b="1" i="0" dirty="0">
              <a:solidFill>
                <a:srgbClr val="1E40AF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736E65-60A2-4030-8794-9ECA300B61D6}"/>
              </a:ext>
            </a:extLst>
          </p:cNvPr>
          <p:cNvCxnSpPr>
            <a:cxnSpLocks/>
          </p:cNvCxnSpPr>
          <p:nvPr/>
        </p:nvCxnSpPr>
        <p:spPr>
          <a:xfrm>
            <a:off x="5198086" y="3865063"/>
            <a:ext cx="24486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236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감정, 생각, 행동 변화에 중요한 호르몬 3가지 알아볼래요?">
            <a:extLst>
              <a:ext uri="{FF2B5EF4-FFF2-40B4-BE49-F238E27FC236}">
                <a16:creationId xmlns:a16="http://schemas.microsoft.com/office/drawing/2014/main" id="{2812CA8A-9097-E80B-E80B-94DE7C525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546589"/>
            <a:ext cx="10325100" cy="580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22931F-BE93-55EB-E80D-271F05BEA50E}"/>
              </a:ext>
            </a:extLst>
          </p:cNvPr>
          <p:cNvSpPr txBox="1"/>
          <p:nvPr/>
        </p:nvSpPr>
        <p:spPr>
          <a:xfrm>
            <a:off x="1698205" y="2087420"/>
            <a:ext cx="14520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아드레날린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7A272-9979-0127-A5AD-09BBDC2FB09E}"/>
              </a:ext>
            </a:extLst>
          </p:cNvPr>
          <p:cNvSpPr txBox="1"/>
          <p:nvPr/>
        </p:nvSpPr>
        <p:spPr>
          <a:xfrm>
            <a:off x="10316627" y="54853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코티솔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1386F-7379-3B5C-377C-51AA2EA40146}"/>
              </a:ext>
            </a:extLst>
          </p:cNvPr>
          <p:cNvSpPr txBox="1"/>
          <p:nvPr/>
        </p:nvSpPr>
        <p:spPr>
          <a:xfrm>
            <a:off x="1845781" y="4910630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세로토닌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7EA65-25FC-2E58-E3B4-A52E147F5382}"/>
              </a:ext>
            </a:extLst>
          </p:cNvPr>
          <p:cNvSpPr txBox="1"/>
          <p:nvPr/>
        </p:nvSpPr>
        <p:spPr>
          <a:xfrm>
            <a:off x="9927430" y="1536399"/>
            <a:ext cx="569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도파민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346BC-E301-F1AD-89D9-7FB32DCFA11C}"/>
              </a:ext>
            </a:extLst>
          </p:cNvPr>
          <p:cNvSpPr txBox="1"/>
          <p:nvPr/>
        </p:nvSpPr>
        <p:spPr>
          <a:xfrm>
            <a:off x="3859899" y="2570369"/>
            <a:ext cx="4421403" cy="1015663"/>
          </a:xfrm>
          <a:prstGeom prst="rect">
            <a:avLst/>
          </a:prstGeom>
          <a:solidFill>
            <a:srgbClr val="51873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Thank you</a:t>
            </a:r>
            <a:endParaRPr lang="ko-KR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5366C-F7B1-F9D1-AA0D-F9CB812BE251}"/>
              </a:ext>
            </a:extLst>
          </p:cNvPr>
          <p:cNvSpPr txBox="1"/>
          <p:nvPr/>
        </p:nvSpPr>
        <p:spPr>
          <a:xfrm>
            <a:off x="3822700" y="3627596"/>
            <a:ext cx="4559300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호르몬처럼 연구실 안에서 서로 에너지를 주고받으며</a:t>
            </a:r>
            <a:endParaRPr lang="en-US" altLang="ko-KR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활발히 움직이는 신호전달 팀</a:t>
            </a:r>
          </a:p>
        </p:txBody>
      </p:sp>
    </p:spTree>
    <p:extLst>
      <p:ext uri="{BB962C8B-B14F-4D97-AF65-F5344CB8AC3E}">
        <p14:creationId xmlns:p14="http://schemas.microsoft.com/office/powerpoint/2010/main" val="398865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2128</Words>
  <Application>Microsoft Office PowerPoint</Application>
  <PresentationFormat>와이드스크린</PresentationFormat>
  <Paragraphs>885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KR</vt:lpstr>
      <vt:lpstr>나눔스퀘어 네오 Bold</vt:lpstr>
      <vt:lpstr>나눔스퀘어 네오 Heavy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신성우</dc:creator>
  <cp:lastModifiedBy>신성우</cp:lastModifiedBy>
  <cp:revision>21</cp:revision>
  <dcterms:created xsi:type="dcterms:W3CDTF">2025-12-04T05:04:09Z</dcterms:created>
  <dcterms:modified xsi:type="dcterms:W3CDTF">2025-12-16T02:54:47Z</dcterms:modified>
</cp:coreProperties>
</file>