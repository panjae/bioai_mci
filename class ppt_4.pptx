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1" r:id="rId2"/>
    <p:sldId id="277" r:id="rId3"/>
    <p:sldId id="278" r:id="rId4"/>
    <p:sldId id="279" r:id="rId5"/>
    <p:sldId id="280" r:id="rId6"/>
    <p:sldId id="287" r:id="rId7"/>
    <p:sldId id="281" r:id="rId8"/>
    <p:sldId id="282" r:id="rId9"/>
    <p:sldId id="285" r:id="rId10"/>
    <p:sldId id="283" r:id="rId11"/>
    <p:sldId id="286" r:id="rId12"/>
    <p:sldId id="284" r:id="rId13"/>
    <p:sldId id="262" r:id="rId14"/>
    <p:sldId id="263" r:id="rId15"/>
    <p:sldId id="265" r:id="rId16"/>
    <p:sldId id="266" r:id="rId17"/>
    <p:sldId id="267" r:id="rId18"/>
    <p:sldId id="268" r:id="rId19"/>
    <p:sldId id="269" r:id="rId20"/>
    <p:sldId id="271" r:id="rId21"/>
    <p:sldId id="256" r:id="rId22"/>
    <p:sldId id="258" r:id="rId23"/>
    <p:sldId id="260" r:id="rId24"/>
    <p:sldId id="288" r:id="rId25"/>
    <p:sldId id="273" r:id="rId26"/>
    <p:sldId id="274" r:id="rId27"/>
    <p:sldId id="275" r:id="rId28"/>
    <p:sldId id="276" r:id="rId29"/>
    <p:sldId id="289" r:id="rId30"/>
    <p:sldId id="257" r:id="rId31"/>
    <p:sldId id="270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E3468-C31F-4290-B7BB-F665E7E9D882}" v="82" dt="2025-11-11T02:13:23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85802" autoAdjust="0"/>
  </p:normalViewPr>
  <p:slideViewPr>
    <p:cSldViewPr snapToGrid="0">
      <p:cViewPr varScale="1">
        <p:scale>
          <a:sx n="75" d="100"/>
          <a:sy n="75" d="100"/>
        </p:scale>
        <p:origin x="5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은 이" userId="ee07f9e56af2fcf4" providerId="LiveId" clId="{9DAA7C10-E5B0-4CC9-AB0E-CBB8E227BAB7}"/>
    <pc:docChg chg="undo redo custSel addSld delSld modSld sldOrd">
      <pc:chgData name="재은 이" userId="ee07f9e56af2fcf4" providerId="LiveId" clId="{9DAA7C10-E5B0-4CC9-AB0E-CBB8E227BAB7}" dt="2025-11-11T02:19:56.979" v="8212" actId="20577"/>
      <pc:docMkLst>
        <pc:docMk/>
      </pc:docMkLst>
      <pc:sldChg chg="add modNotesTx">
        <pc:chgData name="재은 이" userId="ee07f9e56af2fcf4" providerId="LiveId" clId="{9DAA7C10-E5B0-4CC9-AB0E-CBB8E227BAB7}" dt="2025-11-10T18:06:34.778" v="7274" actId="20577"/>
        <pc:sldMkLst>
          <pc:docMk/>
          <pc:sldMk cId="0" sldId="256"/>
        </pc:sldMkLst>
      </pc:sldChg>
      <pc:sldChg chg="ord">
        <pc:chgData name="재은 이" userId="ee07f9e56af2fcf4" providerId="LiveId" clId="{9DAA7C10-E5B0-4CC9-AB0E-CBB8E227BAB7}" dt="2025-11-10T17:28:08.290" v="6342"/>
        <pc:sldMkLst>
          <pc:docMk/>
          <pc:sldMk cId="3448439342" sldId="257"/>
        </pc:sldMkLst>
      </pc:sldChg>
      <pc:sldChg chg="add">
        <pc:chgData name="재은 이" userId="ee07f9e56af2fcf4" providerId="LiveId" clId="{9DAA7C10-E5B0-4CC9-AB0E-CBB8E227BAB7}" dt="2025-11-10T17:47:14.875" v="6344"/>
        <pc:sldMkLst>
          <pc:docMk/>
          <pc:sldMk cId="0" sldId="258"/>
        </pc:sldMkLst>
      </pc:sldChg>
      <pc:sldChg chg="add">
        <pc:chgData name="재은 이" userId="ee07f9e56af2fcf4" providerId="LiveId" clId="{9DAA7C10-E5B0-4CC9-AB0E-CBB8E227BAB7}" dt="2025-11-10T17:47:28.900" v="6347"/>
        <pc:sldMkLst>
          <pc:docMk/>
          <pc:sldMk cId="0" sldId="260"/>
        </pc:sldMkLst>
      </pc:sldChg>
      <pc:sldChg chg="modSp mod">
        <pc:chgData name="재은 이" userId="ee07f9e56af2fcf4" providerId="LiveId" clId="{9DAA7C10-E5B0-4CC9-AB0E-CBB8E227BAB7}" dt="2025-11-11T01:59:44.333" v="7369" actId="20577"/>
        <pc:sldMkLst>
          <pc:docMk/>
          <pc:sldMk cId="1970991342" sldId="261"/>
        </pc:sldMkLst>
        <pc:spChg chg="mod">
          <ac:chgData name="재은 이" userId="ee07f9e56af2fcf4" providerId="LiveId" clId="{9DAA7C10-E5B0-4CC9-AB0E-CBB8E227BAB7}" dt="2025-11-11T01:59:44.333" v="7369" actId="20577"/>
          <ac:spMkLst>
            <pc:docMk/>
            <pc:sldMk cId="1970991342" sldId="261"/>
            <ac:spMk id="4" creationId="{DA755CBF-B776-9E36-EAB4-D252E433801B}"/>
          </ac:spMkLst>
        </pc:spChg>
      </pc:sldChg>
      <pc:sldChg chg="modNotesTx">
        <pc:chgData name="재은 이" userId="ee07f9e56af2fcf4" providerId="LiveId" clId="{9DAA7C10-E5B0-4CC9-AB0E-CBB8E227BAB7}" dt="2025-11-10T16:56:01.307" v="5673" actId="20577"/>
        <pc:sldMkLst>
          <pc:docMk/>
          <pc:sldMk cId="1987029757" sldId="262"/>
        </pc:sldMkLst>
      </pc:sldChg>
      <pc:sldChg chg="modNotesTx">
        <pc:chgData name="재은 이" userId="ee07f9e56af2fcf4" providerId="LiveId" clId="{9DAA7C10-E5B0-4CC9-AB0E-CBB8E227BAB7}" dt="2025-11-10T17:54:34.266" v="6468" actId="20577"/>
        <pc:sldMkLst>
          <pc:docMk/>
          <pc:sldMk cId="1655698131" sldId="263"/>
        </pc:sldMkLst>
      </pc:sldChg>
      <pc:sldChg chg="modSp mod modNotesTx">
        <pc:chgData name="재은 이" userId="ee07f9e56af2fcf4" providerId="LiveId" clId="{9DAA7C10-E5B0-4CC9-AB0E-CBB8E227BAB7}" dt="2025-11-10T17:56:07.224" v="6524" actId="1076"/>
        <pc:sldMkLst>
          <pc:docMk/>
          <pc:sldMk cId="3935074416" sldId="265"/>
        </pc:sldMkLst>
        <pc:spChg chg="mod">
          <ac:chgData name="재은 이" userId="ee07f9e56af2fcf4" providerId="LiveId" clId="{9DAA7C10-E5B0-4CC9-AB0E-CBB8E227BAB7}" dt="2025-11-10T17:56:07.224" v="6524" actId="1076"/>
          <ac:spMkLst>
            <pc:docMk/>
            <pc:sldMk cId="3935074416" sldId="265"/>
            <ac:spMk id="4" creationId="{A6C3A822-E066-FE3F-BE98-B4F4E08728C2}"/>
          </ac:spMkLst>
        </pc:spChg>
      </pc:sldChg>
      <pc:sldChg chg="modNotesTx">
        <pc:chgData name="재은 이" userId="ee07f9e56af2fcf4" providerId="LiveId" clId="{9DAA7C10-E5B0-4CC9-AB0E-CBB8E227BAB7}" dt="2025-11-10T17:59:34.355" v="6606" actId="20577"/>
        <pc:sldMkLst>
          <pc:docMk/>
          <pc:sldMk cId="1030273672" sldId="266"/>
        </pc:sldMkLst>
      </pc:sldChg>
      <pc:sldChg chg="modNotesTx">
        <pc:chgData name="재은 이" userId="ee07f9e56af2fcf4" providerId="LiveId" clId="{9DAA7C10-E5B0-4CC9-AB0E-CBB8E227BAB7}" dt="2025-11-10T18:09:36.113" v="7320" actId="20577"/>
        <pc:sldMkLst>
          <pc:docMk/>
          <pc:sldMk cId="330831866" sldId="267"/>
        </pc:sldMkLst>
      </pc:sldChg>
      <pc:sldChg chg="modNotesTx">
        <pc:chgData name="재은 이" userId="ee07f9e56af2fcf4" providerId="LiveId" clId="{9DAA7C10-E5B0-4CC9-AB0E-CBB8E227BAB7}" dt="2025-11-10T18:01:55.049" v="6929" actId="20577"/>
        <pc:sldMkLst>
          <pc:docMk/>
          <pc:sldMk cId="1417209678" sldId="268"/>
        </pc:sldMkLst>
      </pc:sldChg>
      <pc:sldChg chg="modNotesTx">
        <pc:chgData name="재은 이" userId="ee07f9e56af2fcf4" providerId="LiveId" clId="{9DAA7C10-E5B0-4CC9-AB0E-CBB8E227BAB7}" dt="2025-11-10T18:03:21.780" v="6986" actId="20577"/>
        <pc:sldMkLst>
          <pc:docMk/>
          <pc:sldMk cId="4239237108" sldId="269"/>
        </pc:sldMkLst>
      </pc:sldChg>
      <pc:sldChg chg="ord">
        <pc:chgData name="재은 이" userId="ee07f9e56af2fcf4" providerId="LiveId" clId="{9DAA7C10-E5B0-4CC9-AB0E-CBB8E227BAB7}" dt="2025-11-10T17:05:07.947" v="5763"/>
        <pc:sldMkLst>
          <pc:docMk/>
          <pc:sldMk cId="3981545493" sldId="270"/>
        </pc:sldMkLst>
      </pc:sldChg>
      <pc:sldChg chg="addSp modSp mod modNotesTx">
        <pc:chgData name="재은 이" userId="ee07f9e56af2fcf4" providerId="LiveId" clId="{9DAA7C10-E5B0-4CC9-AB0E-CBB8E227BAB7}" dt="2025-11-10T18:04:35.193" v="7053" actId="20577"/>
        <pc:sldMkLst>
          <pc:docMk/>
          <pc:sldMk cId="1256834006" sldId="271"/>
        </pc:sldMkLst>
        <pc:graphicFrameChg chg="add mod modGraphic">
          <ac:chgData name="재은 이" userId="ee07f9e56af2fcf4" providerId="LiveId" clId="{9DAA7C10-E5B0-4CC9-AB0E-CBB8E227BAB7}" dt="2025-11-10T17:20:22.838" v="5952" actId="20577"/>
          <ac:graphicFrameMkLst>
            <pc:docMk/>
            <pc:sldMk cId="1256834006" sldId="271"/>
            <ac:graphicFrameMk id="2" creationId="{68FC43F2-DDB0-C4B4-EFBA-F7E7A2E2360C}"/>
          </ac:graphicFrameMkLst>
        </pc:graphicFrameChg>
        <pc:graphicFrameChg chg="add mod modGraphic">
          <ac:chgData name="재은 이" userId="ee07f9e56af2fcf4" providerId="LiveId" clId="{9DAA7C10-E5B0-4CC9-AB0E-CBB8E227BAB7}" dt="2025-11-10T17:19:32.730" v="5798" actId="1076"/>
          <ac:graphicFrameMkLst>
            <pc:docMk/>
            <pc:sldMk cId="1256834006" sldId="271"/>
            <ac:graphicFrameMk id="3" creationId="{B245F8CA-7277-C401-090E-80D36E231F71}"/>
          </ac:graphicFrameMkLst>
        </pc:graphicFrameChg>
      </pc:sldChg>
      <pc:sldChg chg="del">
        <pc:chgData name="재은 이" userId="ee07f9e56af2fcf4" providerId="LiveId" clId="{9DAA7C10-E5B0-4CC9-AB0E-CBB8E227BAB7}" dt="2025-11-10T17:47:48.310" v="6351" actId="47"/>
        <pc:sldMkLst>
          <pc:docMk/>
          <pc:sldMk cId="1723675705" sldId="272"/>
        </pc:sldMkLst>
      </pc:sldChg>
      <pc:sldChg chg="add">
        <pc:chgData name="재은 이" userId="ee07f9e56af2fcf4" providerId="LiveId" clId="{9DAA7C10-E5B0-4CC9-AB0E-CBB8E227BAB7}" dt="2025-11-10T17:47:45.767" v="6350"/>
        <pc:sldMkLst>
          <pc:docMk/>
          <pc:sldMk cId="3395612976" sldId="273"/>
        </pc:sldMkLst>
      </pc:sldChg>
      <pc:sldChg chg="add">
        <pc:chgData name="재은 이" userId="ee07f9e56af2fcf4" providerId="LiveId" clId="{9DAA7C10-E5B0-4CC9-AB0E-CBB8E227BAB7}" dt="2025-11-10T17:47:45.767" v="6350"/>
        <pc:sldMkLst>
          <pc:docMk/>
          <pc:sldMk cId="2513365702" sldId="274"/>
        </pc:sldMkLst>
      </pc:sldChg>
      <pc:sldChg chg="add">
        <pc:chgData name="재은 이" userId="ee07f9e56af2fcf4" providerId="LiveId" clId="{9DAA7C10-E5B0-4CC9-AB0E-CBB8E227BAB7}" dt="2025-11-10T17:47:45.767" v="6350"/>
        <pc:sldMkLst>
          <pc:docMk/>
          <pc:sldMk cId="1583216781" sldId="275"/>
        </pc:sldMkLst>
      </pc:sldChg>
      <pc:sldChg chg="add">
        <pc:chgData name="재은 이" userId="ee07f9e56af2fcf4" providerId="LiveId" clId="{9DAA7C10-E5B0-4CC9-AB0E-CBB8E227BAB7}" dt="2025-11-10T17:47:45.767" v="6350"/>
        <pc:sldMkLst>
          <pc:docMk/>
          <pc:sldMk cId="3858141941" sldId="276"/>
        </pc:sldMkLst>
      </pc:sldChg>
      <pc:sldChg chg="modSp mod modNotesTx">
        <pc:chgData name="재은 이" userId="ee07f9e56af2fcf4" providerId="LiveId" clId="{9DAA7C10-E5B0-4CC9-AB0E-CBB8E227BAB7}" dt="2025-11-10T15:33:56.148" v="1581" actId="1076"/>
        <pc:sldMkLst>
          <pc:docMk/>
          <pc:sldMk cId="714189472" sldId="277"/>
        </pc:sldMkLst>
        <pc:graphicFrameChg chg="mod modGraphic">
          <ac:chgData name="재은 이" userId="ee07f9e56af2fcf4" providerId="LiveId" clId="{9DAA7C10-E5B0-4CC9-AB0E-CBB8E227BAB7}" dt="2025-11-10T15:33:56.148" v="1581" actId="1076"/>
          <ac:graphicFrameMkLst>
            <pc:docMk/>
            <pc:sldMk cId="714189472" sldId="277"/>
            <ac:graphicFrameMk id="5" creationId="{BF72F23F-96E5-330D-C85D-3E5F9F8C188D}"/>
          </ac:graphicFrameMkLst>
        </pc:graphicFrameChg>
      </pc:sldChg>
      <pc:sldChg chg="modSp mod modNotesTx">
        <pc:chgData name="재은 이" userId="ee07f9e56af2fcf4" providerId="LiveId" clId="{9DAA7C10-E5B0-4CC9-AB0E-CBB8E227BAB7}" dt="2025-11-11T02:08:00.464" v="7802" actId="20577"/>
        <pc:sldMkLst>
          <pc:docMk/>
          <pc:sldMk cId="2509337308" sldId="278"/>
        </pc:sldMkLst>
        <pc:spChg chg="mod">
          <ac:chgData name="재은 이" userId="ee07f9e56af2fcf4" providerId="LiveId" clId="{9DAA7C10-E5B0-4CC9-AB0E-CBB8E227BAB7}" dt="2025-11-11T02:03:08.405" v="7680" actId="20577"/>
          <ac:spMkLst>
            <pc:docMk/>
            <pc:sldMk cId="2509337308" sldId="278"/>
            <ac:spMk id="3" creationId="{E4F720C6-A508-CD8E-558F-38C2B461A949}"/>
          </ac:spMkLst>
        </pc:spChg>
      </pc:sldChg>
      <pc:sldChg chg="modSp mod modNotesTx">
        <pc:chgData name="재은 이" userId="ee07f9e56af2fcf4" providerId="LiveId" clId="{9DAA7C10-E5B0-4CC9-AB0E-CBB8E227BAB7}" dt="2025-11-11T02:03:46.452" v="7684" actId="20577"/>
        <pc:sldMkLst>
          <pc:docMk/>
          <pc:sldMk cId="2237780177" sldId="279"/>
        </pc:sldMkLst>
        <pc:spChg chg="mod">
          <ac:chgData name="재은 이" userId="ee07f9e56af2fcf4" providerId="LiveId" clId="{9DAA7C10-E5B0-4CC9-AB0E-CBB8E227BAB7}" dt="2025-11-11T02:03:42.126" v="7682" actId="20577"/>
          <ac:spMkLst>
            <pc:docMk/>
            <pc:sldMk cId="2237780177" sldId="279"/>
            <ac:spMk id="3" creationId="{E4F720C6-A508-CD8E-558F-38C2B461A949}"/>
          </ac:spMkLst>
        </pc:spChg>
      </pc:sldChg>
      <pc:sldChg chg="modNotesTx">
        <pc:chgData name="재은 이" userId="ee07f9e56af2fcf4" providerId="LiveId" clId="{9DAA7C10-E5B0-4CC9-AB0E-CBB8E227BAB7}" dt="2025-11-10T15:42:22.513" v="2243" actId="20577"/>
        <pc:sldMkLst>
          <pc:docMk/>
          <pc:sldMk cId="2797301985" sldId="280"/>
        </pc:sldMkLst>
      </pc:sldChg>
      <pc:sldChg chg="modNotesTx">
        <pc:chgData name="재은 이" userId="ee07f9e56af2fcf4" providerId="LiveId" clId="{9DAA7C10-E5B0-4CC9-AB0E-CBB8E227BAB7}" dt="2025-11-10T17:52:37.749" v="6448" actId="20577"/>
        <pc:sldMkLst>
          <pc:docMk/>
          <pc:sldMk cId="3431079622" sldId="281"/>
        </pc:sldMkLst>
      </pc:sldChg>
      <pc:sldChg chg="addSp delSp modSp mod modNotesTx">
        <pc:chgData name="재은 이" userId="ee07f9e56af2fcf4" providerId="LiveId" clId="{9DAA7C10-E5B0-4CC9-AB0E-CBB8E227BAB7}" dt="2025-11-10T15:55:25.484" v="3708" actId="20577"/>
        <pc:sldMkLst>
          <pc:docMk/>
          <pc:sldMk cId="1938124134" sldId="282"/>
        </pc:sldMkLst>
        <pc:spChg chg="mod">
          <ac:chgData name="재은 이" userId="ee07f9e56af2fcf4" providerId="LiveId" clId="{9DAA7C10-E5B0-4CC9-AB0E-CBB8E227BAB7}" dt="2025-11-10T15:54:02.750" v="3370" actId="1076"/>
          <ac:spMkLst>
            <pc:docMk/>
            <pc:sldMk cId="1938124134" sldId="282"/>
            <ac:spMk id="4" creationId="{8C437BCB-0B7B-17B7-C575-73E12D8A6418}"/>
          </ac:spMkLst>
        </pc:spChg>
        <pc:graphicFrameChg chg="mod modGraphic">
          <ac:chgData name="재은 이" userId="ee07f9e56af2fcf4" providerId="LiveId" clId="{9DAA7C10-E5B0-4CC9-AB0E-CBB8E227BAB7}" dt="2025-11-10T15:53:55.824" v="3369" actId="1076"/>
          <ac:graphicFrameMkLst>
            <pc:docMk/>
            <pc:sldMk cId="1938124134" sldId="282"/>
            <ac:graphicFrameMk id="5" creationId="{E786578C-E407-F172-4B85-5D1076447D01}"/>
          </ac:graphicFrameMkLst>
        </pc:graphicFrameChg>
        <pc:picChg chg="add del mod modCrop">
          <ac:chgData name="재은 이" userId="ee07f9e56af2fcf4" providerId="LiveId" clId="{9DAA7C10-E5B0-4CC9-AB0E-CBB8E227BAB7}" dt="2025-11-10T15:46:56.568" v="2394" actId="478"/>
          <ac:picMkLst>
            <pc:docMk/>
            <pc:sldMk cId="1938124134" sldId="282"/>
            <ac:picMk id="3" creationId="{340E9304-A370-1935-1DE3-CAF8808D8FCB}"/>
          </ac:picMkLst>
        </pc:picChg>
        <pc:picChg chg="add del mod">
          <ac:chgData name="재은 이" userId="ee07f9e56af2fcf4" providerId="LiveId" clId="{9DAA7C10-E5B0-4CC9-AB0E-CBB8E227BAB7}" dt="2025-11-10T15:45:38.154" v="2383" actId="478"/>
          <ac:picMkLst>
            <pc:docMk/>
            <pc:sldMk cId="1938124134" sldId="282"/>
            <ac:picMk id="7" creationId="{4623CC84-B3F9-1468-60F5-93AB7E6B3531}"/>
          </ac:picMkLst>
        </pc:picChg>
        <pc:picChg chg="add del mod modCrop">
          <ac:chgData name="재은 이" userId="ee07f9e56af2fcf4" providerId="LiveId" clId="{9DAA7C10-E5B0-4CC9-AB0E-CBB8E227BAB7}" dt="2025-11-10T15:47:08.078" v="2396" actId="478"/>
          <ac:picMkLst>
            <pc:docMk/>
            <pc:sldMk cId="1938124134" sldId="282"/>
            <ac:picMk id="9" creationId="{D080828B-9462-1C13-C018-A9879B8F298C}"/>
          </ac:picMkLst>
        </pc:picChg>
      </pc:sldChg>
      <pc:sldChg chg="modSp mod modNotesTx">
        <pc:chgData name="재은 이" userId="ee07f9e56af2fcf4" providerId="LiveId" clId="{9DAA7C10-E5B0-4CC9-AB0E-CBB8E227BAB7}" dt="2025-11-10T16:12:48.310" v="4410" actId="20577"/>
        <pc:sldMkLst>
          <pc:docMk/>
          <pc:sldMk cId="2392984636" sldId="283"/>
        </pc:sldMkLst>
        <pc:spChg chg="mod">
          <ac:chgData name="재은 이" userId="ee07f9e56af2fcf4" providerId="LiveId" clId="{9DAA7C10-E5B0-4CC9-AB0E-CBB8E227BAB7}" dt="2025-11-10T15:56:51.811" v="3711" actId="1076"/>
          <ac:spMkLst>
            <pc:docMk/>
            <pc:sldMk cId="2392984636" sldId="283"/>
            <ac:spMk id="2" creationId="{FBA481CD-020A-9DBB-BFA3-7DEB346EFBE6}"/>
          </ac:spMkLst>
        </pc:spChg>
        <pc:spChg chg="mod">
          <ac:chgData name="재은 이" userId="ee07f9e56af2fcf4" providerId="LiveId" clId="{9DAA7C10-E5B0-4CC9-AB0E-CBB8E227BAB7}" dt="2025-11-10T15:56:54.588" v="3712" actId="1076"/>
          <ac:spMkLst>
            <pc:docMk/>
            <pc:sldMk cId="2392984636" sldId="283"/>
            <ac:spMk id="6" creationId="{4F79F8DE-6B00-77E5-A9EE-D9CC5AD1D3DC}"/>
          </ac:spMkLst>
        </pc:spChg>
      </pc:sldChg>
      <pc:sldChg chg="modNotesTx">
        <pc:chgData name="재은 이" userId="ee07f9e56af2fcf4" providerId="LiveId" clId="{9DAA7C10-E5B0-4CC9-AB0E-CBB8E227BAB7}" dt="2025-11-11T02:09:35.103" v="7831" actId="5793"/>
        <pc:sldMkLst>
          <pc:docMk/>
          <pc:sldMk cId="106511733" sldId="284"/>
        </pc:sldMkLst>
      </pc:sldChg>
      <pc:sldChg chg="modNotesTx">
        <pc:chgData name="재은 이" userId="ee07f9e56af2fcf4" providerId="LiveId" clId="{9DAA7C10-E5B0-4CC9-AB0E-CBB8E227BAB7}" dt="2025-11-10T16:10:25.013" v="4051" actId="20577"/>
        <pc:sldMkLst>
          <pc:docMk/>
          <pc:sldMk cId="3721639089" sldId="285"/>
        </pc:sldMkLst>
      </pc:sldChg>
      <pc:sldChg chg="addSp modSp mod modNotesTx">
        <pc:chgData name="재은 이" userId="ee07f9e56af2fcf4" providerId="LiveId" clId="{9DAA7C10-E5B0-4CC9-AB0E-CBB8E227BAB7}" dt="2025-11-11T02:19:56.979" v="8212" actId="20577"/>
        <pc:sldMkLst>
          <pc:docMk/>
          <pc:sldMk cId="1228990453" sldId="286"/>
        </pc:sldMkLst>
        <pc:spChg chg="mod">
          <ac:chgData name="재은 이" userId="ee07f9e56af2fcf4" providerId="LiveId" clId="{9DAA7C10-E5B0-4CC9-AB0E-CBB8E227BAB7}" dt="2025-11-11T02:14:48.700" v="7899" actId="1076"/>
          <ac:spMkLst>
            <pc:docMk/>
            <pc:sldMk cId="1228990453" sldId="286"/>
            <ac:spMk id="5" creationId="{ABBDBF72-B841-1155-1B08-2CC537A7F504}"/>
          </ac:spMkLst>
        </pc:spChg>
        <pc:spChg chg="mod">
          <ac:chgData name="재은 이" userId="ee07f9e56af2fcf4" providerId="LiveId" clId="{9DAA7C10-E5B0-4CC9-AB0E-CBB8E227BAB7}" dt="2025-11-11T02:12:24.125" v="7843" actId="1076"/>
          <ac:spMkLst>
            <pc:docMk/>
            <pc:sldMk cId="1228990453" sldId="286"/>
            <ac:spMk id="11" creationId="{5DFA2616-6A09-D45F-4819-9FDF8BA2A060}"/>
          </ac:spMkLst>
        </pc:spChg>
        <pc:spChg chg="mod">
          <ac:chgData name="재은 이" userId="ee07f9e56af2fcf4" providerId="LiveId" clId="{9DAA7C10-E5B0-4CC9-AB0E-CBB8E227BAB7}" dt="2025-11-11T02:12:24.125" v="7843" actId="1076"/>
          <ac:spMkLst>
            <pc:docMk/>
            <pc:sldMk cId="1228990453" sldId="286"/>
            <ac:spMk id="12" creationId="{3458A645-52AE-9295-7B33-ADB5AE595FF3}"/>
          </ac:spMkLst>
        </pc:spChg>
        <pc:graphicFrameChg chg="add mod modGraphic">
          <ac:chgData name="재은 이" userId="ee07f9e56af2fcf4" providerId="LiveId" clId="{9DAA7C10-E5B0-4CC9-AB0E-CBB8E227BAB7}" dt="2025-11-11T02:17:52.587" v="7953" actId="207"/>
          <ac:graphicFrameMkLst>
            <pc:docMk/>
            <pc:sldMk cId="1228990453" sldId="286"/>
            <ac:graphicFrameMk id="2" creationId="{4B49DBAE-4489-6B9D-3F7C-2ACBE7424FEF}"/>
          </ac:graphicFrameMkLst>
        </pc:graphicFrameChg>
        <pc:graphicFrameChg chg="add mod modGraphic">
          <ac:chgData name="재은 이" userId="ee07f9e56af2fcf4" providerId="LiveId" clId="{9DAA7C10-E5B0-4CC9-AB0E-CBB8E227BAB7}" dt="2025-11-11T02:17:59.226" v="7954" actId="207"/>
          <ac:graphicFrameMkLst>
            <pc:docMk/>
            <pc:sldMk cId="1228990453" sldId="286"/>
            <ac:graphicFrameMk id="6" creationId="{5CFDFA6A-4C4C-3C79-62FF-2818EAA6A5A0}"/>
          </ac:graphicFrameMkLst>
        </pc:graphicFrameChg>
        <pc:picChg chg="add mod">
          <ac:chgData name="재은 이" userId="ee07f9e56af2fcf4" providerId="LiveId" clId="{9DAA7C10-E5B0-4CC9-AB0E-CBB8E227BAB7}" dt="2025-11-11T02:12:24.125" v="7843" actId="1076"/>
          <ac:picMkLst>
            <pc:docMk/>
            <pc:sldMk cId="1228990453" sldId="286"/>
            <ac:picMk id="3" creationId="{3D63E820-637E-4722-F556-BF1FD800ABDB}"/>
          </ac:picMkLst>
        </pc:picChg>
        <pc:picChg chg="mod">
          <ac:chgData name="재은 이" userId="ee07f9e56af2fcf4" providerId="LiveId" clId="{9DAA7C10-E5B0-4CC9-AB0E-CBB8E227BAB7}" dt="2025-11-11T02:14:48.700" v="7899" actId="1076"/>
          <ac:picMkLst>
            <pc:docMk/>
            <pc:sldMk cId="1228990453" sldId="286"/>
            <ac:picMk id="7" creationId="{094AC093-8FB4-BA93-3084-08068FECE2A2}"/>
          </ac:picMkLst>
        </pc:picChg>
      </pc:sldChg>
      <pc:sldChg chg="addSp delSp modSp new mod ord modNotesTx">
        <pc:chgData name="재은 이" userId="ee07f9e56af2fcf4" providerId="LiveId" clId="{9DAA7C10-E5B0-4CC9-AB0E-CBB8E227BAB7}" dt="2025-11-10T16:09:50.022" v="3999" actId="20577"/>
        <pc:sldMkLst>
          <pc:docMk/>
          <pc:sldMk cId="2615615307" sldId="287"/>
        </pc:sldMkLst>
        <pc:picChg chg="add del mod">
          <ac:chgData name="재은 이" userId="ee07f9e56af2fcf4" providerId="LiveId" clId="{9DAA7C10-E5B0-4CC9-AB0E-CBB8E227BAB7}" dt="2025-11-10T15:47:36.397" v="2399" actId="478"/>
          <ac:picMkLst>
            <pc:docMk/>
            <pc:sldMk cId="2615615307" sldId="287"/>
            <ac:picMk id="2" creationId="{37363FA9-6355-87AA-57C8-F837C4500808}"/>
          </ac:picMkLst>
        </pc:picChg>
        <pc:picChg chg="add del mod">
          <ac:chgData name="재은 이" userId="ee07f9e56af2fcf4" providerId="LiveId" clId="{9DAA7C10-E5B0-4CC9-AB0E-CBB8E227BAB7}" dt="2025-11-10T15:47:37.629" v="2400" actId="478"/>
          <ac:picMkLst>
            <pc:docMk/>
            <pc:sldMk cId="2615615307" sldId="287"/>
            <ac:picMk id="3" creationId="{7D122336-3E48-011E-5051-96A28C33EC4A}"/>
          </ac:picMkLst>
        </pc:picChg>
        <pc:picChg chg="add mod modCrop">
          <ac:chgData name="재은 이" userId="ee07f9e56af2fcf4" providerId="LiveId" clId="{9DAA7C10-E5B0-4CC9-AB0E-CBB8E227BAB7}" dt="2025-11-10T15:48:18.246" v="2404" actId="1076"/>
          <ac:picMkLst>
            <pc:docMk/>
            <pc:sldMk cId="2615615307" sldId="287"/>
            <ac:picMk id="5" creationId="{05CD6ACB-733E-5166-2CE6-0BD23D54890D}"/>
          </ac:picMkLst>
        </pc:picChg>
        <pc:picChg chg="add mod modCrop">
          <ac:chgData name="재은 이" userId="ee07f9e56af2fcf4" providerId="LiveId" clId="{9DAA7C10-E5B0-4CC9-AB0E-CBB8E227BAB7}" dt="2025-11-10T15:50:14.471" v="2533" actId="1076"/>
          <ac:picMkLst>
            <pc:docMk/>
            <pc:sldMk cId="2615615307" sldId="287"/>
            <ac:picMk id="7" creationId="{11C2F0E3-B7B7-B92E-1F47-CF3483B02569}"/>
          </ac:picMkLst>
        </pc:picChg>
        <pc:picChg chg="add mod modCrop">
          <ac:chgData name="재은 이" userId="ee07f9e56af2fcf4" providerId="LiveId" clId="{9DAA7C10-E5B0-4CC9-AB0E-CBB8E227BAB7}" dt="2025-11-10T15:49:58.740" v="2530" actId="1076"/>
          <ac:picMkLst>
            <pc:docMk/>
            <pc:sldMk cId="2615615307" sldId="287"/>
            <ac:picMk id="9" creationId="{582AB6F9-78DB-E8A4-5DDB-D000A0087C1B}"/>
          </ac:picMkLst>
        </pc:picChg>
      </pc:sldChg>
      <pc:sldChg chg="add del">
        <pc:chgData name="재은 이" userId="ee07f9e56af2fcf4" providerId="LiveId" clId="{9DAA7C10-E5B0-4CC9-AB0E-CBB8E227BAB7}" dt="2025-11-10T17:47:35.580" v="6348"/>
        <pc:sldMkLst>
          <pc:docMk/>
          <pc:sldMk cId="0" sldId="288"/>
        </pc:sldMkLst>
      </pc:sldChg>
      <pc:sldChg chg="delSp add setBg delDesignElem">
        <pc:chgData name="재은 이" userId="ee07f9e56af2fcf4" providerId="LiveId" clId="{9DAA7C10-E5B0-4CC9-AB0E-CBB8E227BAB7}" dt="2025-11-10T17:47:45.767" v="6350"/>
        <pc:sldMkLst>
          <pc:docMk/>
          <pc:sldMk cId="2831851366" sldId="289"/>
        </pc:sldMkLst>
        <pc:spChg chg="del">
          <ac:chgData name="재은 이" userId="ee07f9e56af2fcf4" providerId="LiveId" clId="{9DAA7C10-E5B0-4CC9-AB0E-CBB8E227BAB7}" dt="2025-11-10T17:47:45.767" v="6350"/>
          <ac:spMkLst>
            <pc:docMk/>
            <pc:sldMk cId="2831851366" sldId="289"/>
            <ac:spMk id="11" creationId="{01D0AF59-99C3-4251-AB9A-C966C6AD4400}"/>
          </ac:spMkLst>
        </pc:spChg>
        <pc:spChg chg="del">
          <ac:chgData name="재은 이" userId="ee07f9e56af2fcf4" providerId="LiveId" clId="{9DAA7C10-E5B0-4CC9-AB0E-CBB8E227BAB7}" dt="2025-11-10T17:47:45.767" v="6350"/>
          <ac:spMkLst>
            <pc:docMk/>
            <pc:sldMk cId="2831851366" sldId="289"/>
            <ac:spMk id="13" creationId="{1855405F-37A2-4869-9154-F8BE3BECE6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74549-BC5E-41CB-9CA1-1E76EC9142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20F9-ED48-4EB2-A5C2-6ED6ABD28B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15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저희 팀은 선호하는 대화 방식과 주제에 대한 질문의 수를 영역당 </a:t>
            </a:r>
            <a:r>
              <a:rPr lang="en-US" altLang="ko-KR" dirty="0"/>
              <a:t>6</a:t>
            </a:r>
            <a:r>
              <a:rPr lang="ko-KR" altLang="en-US" dirty="0"/>
              <a:t>문항에서 </a:t>
            </a:r>
            <a:r>
              <a:rPr lang="en-US" altLang="ko-KR" dirty="0"/>
              <a:t>4</a:t>
            </a:r>
            <a:r>
              <a:rPr lang="ko-KR" altLang="en-US" dirty="0"/>
              <a:t>문항으로 조정하고</a:t>
            </a:r>
            <a:r>
              <a:rPr lang="en-US" altLang="ko-KR" dirty="0"/>
              <a:t>, </a:t>
            </a:r>
            <a:r>
              <a:rPr lang="ko-KR" altLang="en-US" dirty="0"/>
              <a:t>신뢰도 검증을 위해 </a:t>
            </a:r>
            <a:r>
              <a:rPr lang="ko-KR" altLang="en-US" dirty="0" err="1"/>
              <a:t>중복일관성</a:t>
            </a:r>
            <a:r>
              <a:rPr lang="en-US" altLang="ko-KR" dirty="0"/>
              <a:t>, </a:t>
            </a:r>
            <a:r>
              <a:rPr lang="ko-KR" altLang="en-US" dirty="0" err="1"/>
              <a:t>역문항</a:t>
            </a:r>
            <a:r>
              <a:rPr lang="ko-KR" altLang="en-US" dirty="0"/>
              <a:t> 일관성</a:t>
            </a:r>
            <a:r>
              <a:rPr lang="en-US" altLang="ko-KR" dirty="0"/>
              <a:t>, </a:t>
            </a:r>
            <a:r>
              <a:rPr lang="ko-KR" altLang="en-US" dirty="0"/>
              <a:t>사회적 </a:t>
            </a:r>
            <a:r>
              <a:rPr lang="ko-KR" altLang="en-US" dirty="0" err="1"/>
              <a:t>바람직성의</a:t>
            </a:r>
            <a:r>
              <a:rPr lang="ko-KR" altLang="en-US" dirty="0"/>
              <a:t> 질문 </a:t>
            </a:r>
            <a:r>
              <a:rPr lang="en-US" altLang="ko-KR" dirty="0"/>
              <a:t>6</a:t>
            </a:r>
            <a:r>
              <a:rPr lang="ko-KR" altLang="en-US" dirty="0"/>
              <a:t>개를 각 섹션에 분산 삽입하였습니다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065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선호하는 대화 방식을 알아내기 위해서</a:t>
            </a:r>
            <a:r>
              <a:rPr lang="en-US" altLang="ko-KR" dirty="0"/>
              <a:t> </a:t>
            </a:r>
            <a:r>
              <a:rPr lang="ko-KR" altLang="en-US" dirty="0"/>
              <a:t>공감형</a:t>
            </a:r>
            <a:r>
              <a:rPr lang="en-US" altLang="ko-KR" dirty="0"/>
              <a:t>, </a:t>
            </a:r>
            <a:r>
              <a:rPr lang="ko-KR" altLang="en-US" dirty="0"/>
              <a:t>인지형</a:t>
            </a:r>
            <a:r>
              <a:rPr lang="en-US" altLang="ko-KR" dirty="0"/>
              <a:t>, </a:t>
            </a:r>
            <a:r>
              <a:rPr lang="ko-KR" altLang="en-US" dirty="0"/>
              <a:t>동기형</a:t>
            </a:r>
            <a:r>
              <a:rPr lang="en-US" altLang="ko-KR" dirty="0"/>
              <a:t>, </a:t>
            </a:r>
            <a:r>
              <a:rPr lang="ko-KR" altLang="en-US" dirty="0"/>
              <a:t>행동형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dirty="0" err="1"/>
              <a:t>심리축에</a:t>
            </a:r>
            <a:r>
              <a:rPr lang="ko-KR" altLang="en-US" dirty="0"/>
              <a:t> 따라 각각 이러한 </a:t>
            </a:r>
            <a:r>
              <a:rPr lang="en-US" altLang="ko-KR" dirty="0"/>
              <a:t>&lt;</a:t>
            </a:r>
            <a:r>
              <a:rPr lang="ko-KR" altLang="en-US" dirty="0"/>
              <a:t>심리 이론적 근거</a:t>
            </a:r>
            <a:r>
              <a:rPr lang="en-US" altLang="ko-KR" dirty="0"/>
              <a:t>&gt; </a:t>
            </a:r>
            <a:r>
              <a:rPr lang="ko-KR" altLang="en-US" dirty="0"/>
              <a:t>근거를 통해</a:t>
            </a:r>
            <a:r>
              <a:rPr lang="en-US" altLang="ko-KR" dirty="0"/>
              <a:t> </a:t>
            </a:r>
            <a:r>
              <a:rPr lang="ko-KR" altLang="en-US" dirty="0"/>
              <a:t>영역 당 긍정형 문항 </a:t>
            </a:r>
            <a:r>
              <a:rPr lang="en-US" altLang="ko-KR" dirty="0"/>
              <a:t>3</a:t>
            </a:r>
            <a:r>
              <a:rPr lang="ko-KR" altLang="en-US" dirty="0"/>
              <a:t>가지와 신뢰도 파악을 위한 </a:t>
            </a:r>
            <a:r>
              <a:rPr lang="ko-KR" altLang="en-US" dirty="0" err="1"/>
              <a:t>역문항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개로 총 </a:t>
            </a:r>
            <a:r>
              <a:rPr lang="en-US" altLang="ko-KR" dirty="0"/>
              <a:t>4</a:t>
            </a:r>
            <a:r>
              <a:rPr lang="ko-KR" altLang="en-US" dirty="0"/>
              <a:t>문항씩 구성하였습니다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69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사용자가 대화 중 어떤 주제</a:t>
            </a:r>
            <a:r>
              <a:rPr lang="en-US" altLang="ko-KR" dirty="0"/>
              <a:t>, </a:t>
            </a:r>
            <a:r>
              <a:rPr lang="ko-KR" altLang="en-US" dirty="0"/>
              <a:t>내용에 정서적 반응을 보이는가를 평가하기 위해 개인의 정서조절</a:t>
            </a:r>
            <a:r>
              <a:rPr lang="en-US" altLang="ko-KR" dirty="0"/>
              <a:t>, </a:t>
            </a:r>
            <a:r>
              <a:rPr lang="ko-KR" altLang="en-US" dirty="0"/>
              <a:t>사회적 상호작용</a:t>
            </a:r>
            <a:r>
              <a:rPr lang="en-US" altLang="ko-KR" dirty="0"/>
              <a:t>, </a:t>
            </a:r>
            <a:r>
              <a:rPr lang="ko-KR" altLang="en-US" dirty="0"/>
              <a:t>회복탄력 </a:t>
            </a:r>
            <a:r>
              <a:rPr lang="en-US" altLang="ko-KR" dirty="0"/>
              <a:t>4</a:t>
            </a:r>
            <a:r>
              <a:rPr lang="ko-KR" altLang="en-US" dirty="0"/>
              <a:t>단계 심리 프로세스 구조에 기반하여 </a:t>
            </a:r>
            <a:r>
              <a:rPr lang="en-US" altLang="ko-KR" dirty="0"/>
              <a:t>4</a:t>
            </a:r>
            <a:r>
              <a:rPr lang="ko-KR" altLang="en-US" dirty="0"/>
              <a:t>가지 영역으로 구분하였고</a:t>
            </a:r>
            <a:r>
              <a:rPr lang="en-US" altLang="ko-KR" dirty="0"/>
              <a:t>, </a:t>
            </a:r>
            <a:r>
              <a:rPr lang="ko-KR" altLang="en-US" dirty="0"/>
              <a:t>대화 방식과 마찬가지로 각 영역 당 긍정형 </a:t>
            </a:r>
            <a:r>
              <a:rPr lang="en-US" altLang="ko-KR" dirty="0"/>
              <a:t>3</a:t>
            </a:r>
            <a:r>
              <a:rPr lang="ko-KR" altLang="en-US" dirty="0"/>
              <a:t>문항과 신뢰도 파악을 위한 역문항을 배치하였습니다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09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신뢰도 파악을 위한 질문은 다음과 같이 구성하였습니다</a:t>
            </a:r>
            <a:r>
              <a:rPr lang="en-US" altLang="ko-KR" dirty="0"/>
              <a:t>. </a:t>
            </a:r>
            <a:r>
              <a:rPr lang="ko-KR" altLang="en-US" dirty="0"/>
              <a:t>중복 일관성을 확인하기 위해서는 동문 문항의 반복이나 변형형을 사용하여 평균 상관성을 분석하였고</a:t>
            </a:r>
            <a:r>
              <a:rPr lang="en-US" altLang="ko-KR" dirty="0"/>
              <a:t>, </a:t>
            </a:r>
            <a:r>
              <a:rPr lang="ko-KR" altLang="en-US" dirty="0"/>
              <a:t>문항 간 역상관을 검증을 통해 긍정형과 부정형을 사용하여 </a:t>
            </a:r>
            <a:r>
              <a:rPr lang="ko-KR" altLang="en-US" dirty="0" err="1"/>
              <a:t>역문항</a:t>
            </a:r>
            <a:r>
              <a:rPr lang="ko-KR" altLang="en-US" dirty="0"/>
              <a:t> 일관성을 확인했습니다</a:t>
            </a:r>
            <a:r>
              <a:rPr lang="en-US" altLang="ko-KR" dirty="0"/>
              <a:t>. </a:t>
            </a:r>
            <a:r>
              <a:rPr lang="ko-KR" altLang="en-US" dirty="0"/>
              <a:t>마지막으로 모든 응답의 과도한 편향을 방지하기 위해 사회적 </a:t>
            </a:r>
            <a:r>
              <a:rPr lang="ko-KR" altLang="en-US" dirty="0" err="1"/>
              <a:t>바람직성을</a:t>
            </a:r>
            <a:r>
              <a:rPr lang="ko-KR" altLang="en-US" dirty="0"/>
              <a:t> 통해 </a:t>
            </a:r>
            <a:r>
              <a:rPr lang="ko-KR" altLang="en-US" dirty="0" err="1"/>
              <a:t>보정값을</a:t>
            </a:r>
            <a:r>
              <a:rPr lang="ko-KR" altLang="en-US" dirty="0"/>
              <a:t> 부여하는 방법을 사용했습니다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293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설문을 통한 결과 페이지는 가장 왼쪽에 보이는 사진과 같이 나오게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ko-KR" altLang="en-US" dirty="0"/>
              <a:t>설문 결과를 통해 대화 방식과 주제에 대한 주 성향과 보조 성향에 대한 결과가 나오고</a:t>
            </a:r>
            <a:r>
              <a:rPr lang="en-US" altLang="ko-KR" dirty="0"/>
              <a:t>, </a:t>
            </a:r>
            <a:r>
              <a:rPr lang="ko-KR" altLang="en-US" dirty="0"/>
              <a:t>추정 </a:t>
            </a:r>
            <a:r>
              <a:rPr lang="en-US" altLang="ko-KR" dirty="0"/>
              <a:t>MBTI,</a:t>
            </a:r>
            <a:r>
              <a:rPr lang="ko-KR" altLang="en-US" dirty="0"/>
              <a:t> 그리고 신뢰도에 대한 요약이 제공됩니다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이번에는 신뢰도와 타당도 검증에 대해 초점을 맞추어 진행하였기 때문에 직접적으로 설문자에게 결과 일치도에 대한 설문을 결과 페이지에서 진행하였는데</a:t>
            </a:r>
            <a:r>
              <a:rPr lang="en-US" altLang="ko-KR" dirty="0"/>
              <a:t>, </a:t>
            </a:r>
            <a:r>
              <a:rPr lang="ko-KR" altLang="en-US" dirty="0"/>
              <a:t>이는 추후에 </a:t>
            </a:r>
            <a:r>
              <a:rPr lang="en-US" altLang="ko-KR" dirty="0"/>
              <a:t>HF</a:t>
            </a:r>
            <a:r>
              <a:rPr lang="ko-KR" altLang="en-US" dirty="0"/>
              <a:t>결과에 대한 신뢰도와 타당도가 명확해지면 삭제 할 예정입니다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657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총 </a:t>
            </a:r>
            <a:r>
              <a:rPr lang="en-US" altLang="ko-KR" dirty="0"/>
              <a:t>40</a:t>
            </a:r>
            <a:r>
              <a:rPr lang="ko-KR" altLang="en-US" dirty="0"/>
              <a:t>개의 표본을 사용하였습니다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594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40</a:t>
            </a:r>
            <a:r>
              <a:rPr lang="ko-KR" altLang="en-US" dirty="0"/>
              <a:t>개의 표본을 이용하여 신뢰도에 대한 각 항목을 계산해 본 결과 </a:t>
            </a:r>
            <a:r>
              <a:rPr lang="en-US" altLang="ko-KR" dirty="0"/>
              <a:t>80</a:t>
            </a:r>
            <a:r>
              <a:rPr lang="ko-KR" altLang="en-US" dirty="0"/>
              <a:t>점 이상으로 신뢰성 있는 수치가 나왔지만</a:t>
            </a:r>
            <a:r>
              <a:rPr lang="en-US" altLang="ko-KR" dirty="0"/>
              <a:t>, MBTI</a:t>
            </a:r>
            <a:r>
              <a:rPr lang="ko-KR" altLang="en-US" dirty="0"/>
              <a:t>에 대한 정확도는 떨어져 개선이 필요하다고 생각됩니다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093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타당도는 신뢰도와 다른 것으로 측정하고자 하는 것이 실제로 유효한 지에 대한 검증입니다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286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이에 저희는 수집된 </a:t>
            </a:r>
            <a:r>
              <a:rPr lang="ko-KR" altLang="en-US" dirty="0" err="1"/>
              <a:t>표본들에서</a:t>
            </a:r>
            <a:r>
              <a:rPr lang="ko-KR" altLang="en-US" dirty="0"/>
              <a:t> 신뢰도 점수를 뽑은 후 각 그룹별 평균과 전체 평균을 구한 후에 </a:t>
            </a:r>
            <a:r>
              <a:rPr lang="en-US" altLang="ko-KR" dirty="0"/>
              <a:t>ANOVA</a:t>
            </a:r>
            <a:r>
              <a:rPr lang="ko-KR" altLang="en-US" dirty="0"/>
              <a:t> 도구를 사용하여 </a:t>
            </a:r>
            <a:r>
              <a:rPr lang="en-US" altLang="ko-KR" dirty="0"/>
              <a:t>p </a:t>
            </a:r>
            <a:r>
              <a:rPr lang="ko-KR" altLang="en-US" dirty="0"/>
              <a:t>및 </a:t>
            </a:r>
            <a:r>
              <a:rPr lang="en-US" altLang="ko-KR" dirty="0"/>
              <a:t>r</a:t>
            </a:r>
            <a:r>
              <a:rPr lang="ko-KR" altLang="en-US" dirty="0"/>
              <a:t>값을 계산해보았습니다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76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사용한 계산식은 다음과 같으며</a:t>
            </a:r>
            <a:r>
              <a:rPr lang="en-US" altLang="ko-KR" dirty="0"/>
              <a:t>, P</a:t>
            </a:r>
            <a:r>
              <a:rPr lang="ko-KR" altLang="en-US" dirty="0"/>
              <a:t>값과 </a:t>
            </a:r>
            <a:r>
              <a:rPr lang="en-US" altLang="ko-KR" dirty="0"/>
              <a:t>r</a:t>
            </a:r>
            <a:r>
              <a:rPr lang="ko-KR" altLang="en-US" dirty="0"/>
              <a:t>값은 표와 같은 기준을 가지고 해석되며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altLang="ko-KR" dirty="0"/>
              <a:t>0.05</a:t>
            </a:r>
            <a:r>
              <a:rPr lang="ko-KR" altLang="en-US" dirty="0"/>
              <a:t>이하</a:t>
            </a:r>
            <a:r>
              <a:rPr lang="en-US" altLang="ko-KR" dirty="0"/>
              <a:t>, 0.5~0.69</a:t>
            </a:r>
            <a:r>
              <a:rPr lang="ko-KR" altLang="en-US" dirty="0"/>
              <a:t>의 값을 가질 때 통계적으로 유의하다고 해석됩니다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667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</a:t>
            </a:r>
            <a:r>
              <a:rPr lang="ko-KR" altLang="en-US" dirty="0"/>
              <a:t>값은 결과적으로 이번 저희 </a:t>
            </a:r>
            <a:r>
              <a:rPr lang="en-US" altLang="ko-KR" dirty="0"/>
              <a:t>HF</a:t>
            </a:r>
            <a:r>
              <a:rPr lang="ko-KR" altLang="en-US" dirty="0"/>
              <a:t>는 종합 신뢰도는 높지만 약한 상관관계와 유의하지 않은 통계를 가지기 때문에 신뢰도만으로는 타당도를 예측하기가 어렵다고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앞으로 타당도를 높이는 방법을 고안해봐야 할 거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415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신뢰도 평가 부분에서 추정 </a:t>
            </a:r>
            <a:r>
              <a:rPr lang="en-US" altLang="ko-KR" dirty="0"/>
              <a:t>MBTI</a:t>
            </a:r>
            <a:r>
              <a:rPr lang="ko-KR" altLang="en-US" dirty="0"/>
              <a:t>와 실제 </a:t>
            </a:r>
            <a:r>
              <a:rPr lang="en-US" altLang="ko-KR" dirty="0"/>
              <a:t>MBTI</a:t>
            </a:r>
            <a:r>
              <a:rPr lang="ko-KR" altLang="en-US" dirty="0"/>
              <a:t>의 일치율이 낮은 편이었는데</a:t>
            </a:r>
            <a:r>
              <a:rPr lang="en-US" altLang="ko-KR" dirty="0"/>
              <a:t>, </a:t>
            </a:r>
            <a:r>
              <a:rPr lang="ko-KR" altLang="en-US" dirty="0"/>
              <a:t>이를 보완하고 타당도 또한 일부 보완하기 위해 빅</a:t>
            </a:r>
            <a:r>
              <a:rPr lang="en-US" altLang="ko-KR" dirty="0"/>
              <a:t>5</a:t>
            </a:r>
            <a:r>
              <a:rPr lang="ko-KR" altLang="en-US" dirty="0"/>
              <a:t>라는 설문을 활용하는 방법에 대해 생각해보았습니다</a:t>
            </a:r>
            <a:r>
              <a:rPr lang="en-US" altLang="ko-KR" dirty="0"/>
              <a:t>. </a:t>
            </a:r>
            <a:r>
              <a:rPr lang="ko-KR" altLang="en-US" dirty="0"/>
              <a:t>빅</a:t>
            </a:r>
            <a:r>
              <a:rPr lang="en-US" altLang="ko-KR" dirty="0"/>
              <a:t>5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실증적</a:t>
            </a:r>
            <a:r>
              <a:rPr lang="en-US" altLang="ko-KR" dirty="0"/>
              <a:t>, </a:t>
            </a:r>
            <a:r>
              <a:rPr lang="ko-KR" altLang="en-US" dirty="0"/>
              <a:t>통계적</a:t>
            </a:r>
            <a:r>
              <a:rPr lang="en-US" altLang="ko-KR" dirty="0"/>
              <a:t>, </a:t>
            </a:r>
            <a:r>
              <a:rPr lang="ko-KR" altLang="en-US" dirty="0"/>
              <a:t>과학적 연구를 기반으로 전문 분야에서 활용되는 심리학적 성격이론입니다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210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검사의 분류기준입니다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en-US" altLang="ko-KR" dirty="0"/>
              <a:t>MBTI</a:t>
            </a:r>
            <a:r>
              <a:rPr lang="ko-KR" altLang="en-US" dirty="0"/>
              <a:t>는 사람의 심리적 “기본 선호 </a:t>
            </a:r>
            <a:r>
              <a:rPr lang="ko-KR" altLang="en-US" dirty="0" err="1"/>
              <a:t>경향”을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 축으로 나눕니다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“나는 어느 쪽에 더 편안함을 느끼는가</a:t>
            </a:r>
            <a:r>
              <a:rPr lang="en-US" altLang="ko-KR" dirty="0"/>
              <a:t>?”</a:t>
            </a:r>
            <a:r>
              <a:rPr lang="ko-KR" altLang="en-US" dirty="0"/>
              <a:t>를 기준으로 분류하며 </a:t>
            </a:r>
            <a:r>
              <a:rPr lang="ko-KR" altLang="en-US" b="1" dirty="0"/>
              <a:t>입력</a:t>
            </a:r>
            <a:r>
              <a:rPr lang="en-US" altLang="ko-KR" b="1" dirty="0"/>
              <a:t>(S/N) → </a:t>
            </a:r>
            <a:r>
              <a:rPr lang="ko-KR" altLang="en-US" b="1" dirty="0"/>
              <a:t>처리</a:t>
            </a:r>
            <a:r>
              <a:rPr lang="en-US" altLang="ko-KR" b="1" dirty="0"/>
              <a:t>(T/F) → </a:t>
            </a:r>
            <a:r>
              <a:rPr lang="ko-KR" altLang="en-US" b="1" dirty="0"/>
              <a:t>출력</a:t>
            </a:r>
            <a:r>
              <a:rPr lang="en-US" altLang="ko-KR" b="1" dirty="0"/>
              <a:t>(J/P)</a:t>
            </a:r>
            <a:r>
              <a:rPr lang="en-US" altLang="ko-KR" dirty="0"/>
              <a:t>, </a:t>
            </a:r>
            <a:r>
              <a:rPr lang="ko-KR" altLang="en-US" dirty="0"/>
              <a:t>그리고 그 과정에서 </a:t>
            </a:r>
            <a:r>
              <a:rPr lang="ko-KR" altLang="en-US" b="1" dirty="0"/>
              <a:t>어디서 에너지를 얻는가</a:t>
            </a:r>
            <a:r>
              <a:rPr lang="en-US" altLang="ko-KR" b="1" dirty="0"/>
              <a:t>(E/I)</a:t>
            </a:r>
            <a:r>
              <a:rPr lang="ko-KR" altLang="en-US" b="1" dirty="0"/>
              <a:t>를 각 항목마다</a:t>
            </a:r>
            <a:r>
              <a:rPr lang="ko-KR" altLang="en-US" dirty="0"/>
              <a:t> </a:t>
            </a:r>
            <a:r>
              <a:rPr lang="ko-KR" altLang="en-US" b="1" dirty="0"/>
              <a:t>이분법적으로 나누기 때문에</a:t>
            </a:r>
            <a:r>
              <a:rPr lang="ko-KR" altLang="en-US" dirty="0"/>
              <a:t> </a:t>
            </a:r>
            <a:r>
              <a:rPr lang="ko-KR" altLang="en-US" b="1" dirty="0"/>
              <a:t>유형이 바뀌기 비교적 쉽습니다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dirty="0"/>
              <a:t>Big Five</a:t>
            </a:r>
            <a:r>
              <a:rPr lang="ko-KR" altLang="en-US" dirty="0"/>
              <a:t>는 </a:t>
            </a:r>
            <a:r>
              <a:rPr lang="en-US" altLang="ko-KR" dirty="0"/>
              <a:t>5</a:t>
            </a:r>
            <a:r>
              <a:rPr lang="ko-KR" altLang="en-US" dirty="0"/>
              <a:t>개의 독립된 성격 요인을 </a:t>
            </a:r>
            <a:r>
              <a:rPr lang="en-US" altLang="ko-KR" b="1" dirty="0"/>
              <a:t>0~100</a:t>
            </a:r>
            <a:r>
              <a:rPr lang="ko-KR" altLang="en-US" b="1" dirty="0"/>
              <a:t>점 스펙트럼</a:t>
            </a:r>
            <a:r>
              <a:rPr lang="ko-KR" altLang="en-US" dirty="0"/>
              <a:t>으로 측정합니다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“얼마나 그 특성이 </a:t>
            </a:r>
            <a:r>
              <a:rPr lang="ko-KR" altLang="en-US" dirty="0" err="1"/>
              <a:t>강한가</a:t>
            </a:r>
            <a:r>
              <a:rPr lang="en-US" altLang="ko-KR" dirty="0"/>
              <a:t>?”</a:t>
            </a:r>
            <a:r>
              <a:rPr lang="ko-KR" altLang="en-US" dirty="0"/>
              <a:t>를 측정하는 것이기 때문에 정밀하고</a:t>
            </a:r>
            <a:r>
              <a:rPr lang="en-US" altLang="ko-KR" dirty="0"/>
              <a:t>,</a:t>
            </a:r>
            <a:r>
              <a:rPr lang="ko-KR" altLang="en-US" b="1" dirty="0"/>
              <a:t> 비교 가능하며</a:t>
            </a:r>
            <a:r>
              <a:rPr lang="en-US" altLang="ko-KR" b="1" dirty="0"/>
              <a:t>, </a:t>
            </a:r>
            <a:r>
              <a:rPr lang="ko-KR" altLang="en-US" b="1" dirty="0"/>
              <a:t>과학적 타당도가 높습니다</a:t>
            </a:r>
            <a:r>
              <a:rPr lang="en-US" altLang="ko-KR" b="1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(</a:t>
            </a:r>
            <a:r>
              <a:rPr lang="ko-KR" altLang="en-US" b="1" dirty="0"/>
              <a:t>어떤 과학적 타당도가 있는지</a:t>
            </a:r>
            <a:r>
              <a:rPr lang="en-US" altLang="ko-KR" b="1" dirty="0"/>
              <a:t>, </a:t>
            </a:r>
            <a:r>
              <a:rPr lang="ko-KR" altLang="en-US" b="1" dirty="0"/>
              <a:t>빅</a:t>
            </a:r>
            <a:r>
              <a:rPr lang="en-US" altLang="ko-KR" b="1" dirty="0"/>
              <a:t>5</a:t>
            </a:r>
            <a:r>
              <a:rPr lang="ko-KR" altLang="en-US" b="1" dirty="0"/>
              <a:t>의 과학적 타당도를 사용하여 </a:t>
            </a:r>
            <a:r>
              <a:rPr lang="en-US" altLang="ko-KR" b="1" dirty="0"/>
              <a:t>HF </a:t>
            </a:r>
            <a:r>
              <a:rPr lang="ko-KR" altLang="en-US" b="1" dirty="0"/>
              <a:t>설문의 타당도를 검증할 수 있는지</a:t>
            </a:r>
            <a:r>
              <a:rPr lang="en-US" altLang="ko-KR" b="1" dirty="0"/>
              <a:t>, </a:t>
            </a:r>
            <a:r>
              <a:rPr lang="ko-KR" altLang="en-US" b="1" dirty="0"/>
              <a:t>빅</a:t>
            </a:r>
            <a:r>
              <a:rPr lang="en-US" altLang="ko-KR" b="1" dirty="0"/>
              <a:t>5</a:t>
            </a:r>
            <a:r>
              <a:rPr lang="ko-KR" altLang="en-US" b="1" dirty="0"/>
              <a:t>는 과학적으로 타당도가 높은 검사이므로 이를 이용해 분류에도 쓰이지만 결과에 대한 타당도 또한 빅</a:t>
            </a:r>
            <a:r>
              <a:rPr lang="en-US" altLang="ko-KR" b="1" dirty="0"/>
              <a:t>5</a:t>
            </a:r>
            <a:r>
              <a:rPr lang="ko-KR" altLang="en-US" b="1" dirty="0"/>
              <a:t>를 이용해 검증이 가능한 것인가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370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두 모델은 표와 같은 관점</a:t>
            </a:r>
            <a:r>
              <a:rPr lang="en-US" altLang="ko-KR" b="1" dirty="0"/>
              <a:t>, </a:t>
            </a:r>
            <a:r>
              <a:rPr lang="ko-KR" altLang="en-US" b="1" dirty="0"/>
              <a:t>결과 </a:t>
            </a:r>
            <a:r>
              <a:rPr lang="ko-KR" altLang="en-US" b="1" dirty="0" err="1"/>
              <a:t>도출법</a:t>
            </a:r>
            <a:r>
              <a:rPr lang="en-US" altLang="ko-KR" b="1" dirty="0"/>
              <a:t>, </a:t>
            </a:r>
            <a:r>
              <a:rPr lang="ko-KR" altLang="en-US" b="1" dirty="0"/>
              <a:t>강점을 가지고 있습니다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r>
              <a:rPr lang="en-US" altLang="ko-KR" b="1" dirty="0"/>
              <a:t>MBTI</a:t>
            </a:r>
            <a:r>
              <a:rPr lang="ko-KR" altLang="en-US" b="1" dirty="0"/>
              <a:t>는 </a:t>
            </a:r>
            <a:r>
              <a:rPr lang="ko-KR" altLang="en-US" dirty="0"/>
              <a:t>사용자 친숙성이 높고</a:t>
            </a:r>
            <a:r>
              <a:rPr lang="en-US" altLang="ko-KR" dirty="0"/>
              <a:t>, </a:t>
            </a:r>
            <a:r>
              <a:rPr lang="ko-KR" altLang="en-US" dirty="0"/>
              <a:t>이해 </a:t>
            </a:r>
            <a:r>
              <a:rPr lang="en-US" altLang="ko-KR" dirty="0"/>
              <a:t>&amp; </a:t>
            </a:r>
            <a:r>
              <a:rPr lang="ko-KR" altLang="en-US" dirty="0"/>
              <a:t>공감 </a:t>
            </a:r>
            <a:r>
              <a:rPr lang="en-US" altLang="ko-KR" dirty="0"/>
              <a:t>&amp; </a:t>
            </a:r>
            <a:r>
              <a:rPr lang="ko-KR" altLang="en-US" dirty="0"/>
              <a:t>자기서사 작성에 도움을 주며</a:t>
            </a:r>
            <a:r>
              <a:rPr lang="en-US" altLang="ko-KR" dirty="0"/>
              <a:t>, </a:t>
            </a:r>
            <a:r>
              <a:rPr lang="en-US" altLang="ko-KR" b="1" dirty="0"/>
              <a:t>Big Five</a:t>
            </a:r>
            <a:r>
              <a:rPr lang="ko-KR" altLang="en-US" b="1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r>
              <a:rPr lang="en-US" altLang="ko-KR" dirty="0"/>
              <a:t>·</a:t>
            </a:r>
            <a:r>
              <a:rPr lang="ko-KR" altLang="en-US" dirty="0"/>
              <a:t>통계 중심으로 객관적 성향을 분석 가능합니다</a:t>
            </a:r>
            <a:r>
              <a:rPr lang="en-US" altLang="ko-KR" dirty="0"/>
              <a:t>. </a:t>
            </a:r>
            <a:r>
              <a:rPr lang="ko-KR" altLang="en-US" b="1" dirty="0"/>
              <a:t>따라서 저희 팀은 </a:t>
            </a:r>
            <a:r>
              <a:rPr lang="en-US" altLang="ko-KR" b="1" dirty="0"/>
              <a:t>HF </a:t>
            </a:r>
            <a:r>
              <a:rPr lang="ko-KR" altLang="en-US" b="1" dirty="0"/>
              <a:t>결과 해석 시 두 모델을 함께 사용하여 대상자에 대한 이해도를 높이고 타당도나 신뢰도를 검증하여</a:t>
            </a:r>
            <a:r>
              <a:rPr lang="en-US" altLang="ko-KR" b="1" dirty="0"/>
              <a:t>, HF</a:t>
            </a:r>
            <a:r>
              <a:rPr lang="ko-KR" altLang="en-US" b="1" dirty="0"/>
              <a:t> 결과에 상응하는 </a:t>
            </a:r>
            <a:r>
              <a:rPr lang="en-US" altLang="ko-KR" b="1" dirty="0"/>
              <a:t>LT</a:t>
            </a:r>
            <a:r>
              <a:rPr lang="ko-KR" altLang="en-US" b="1" dirty="0"/>
              <a:t>를 선정하고자 합니다</a:t>
            </a:r>
            <a:r>
              <a:rPr lang="en-US" altLang="ko-KR" b="1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--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따라서 </a:t>
            </a:r>
            <a:r>
              <a:rPr lang="en-US" altLang="ko-KR" dirty="0"/>
              <a:t>HF </a:t>
            </a:r>
            <a:r>
              <a:rPr lang="ko-KR" altLang="en-US" dirty="0"/>
              <a:t>결과 해석 시</a:t>
            </a:r>
            <a:br>
              <a:rPr lang="ko-KR" altLang="en-US" dirty="0"/>
            </a:br>
            <a:r>
              <a:rPr lang="ko-KR" altLang="en-US" dirty="0"/>
              <a:t>→ </a:t>
            </a:r>
            <a:r>
              <a:rPr lang="en-US" altLang="ko-KR" b="1" dirty="0"/>
              <a:t>MBTI</a:t>
            </a:r>
            <a:r>
              <a:rPr lang="ko-KR" altLang="en-US" b="1" dirty="0"/>
              <a:t>는 스토리</a:t>
            </a:r>
            <a:r>
              <a:rPr lang="en-US" altLang="ko-KR" b="1" dirty="0"/>
              <a:t>/</a:t>
            </a:r>
            <a:r>
              <a:rPr lang="ko-KR" altLang="en-US" b="1" dirty="0"/>
              <a:t>설명</a:t>
            </a:r>
            <a:r>
              <a:rPr lang="en-US" altLang="ko-KR" b="1" dirty="0"/>
              <a:t>/</a:t>
            </a:r>
            <a:r>
              <a:rPr lang="ko-KR" altLang="en-US" b="1" dirty="0"/>
              <a:t>유형화에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en-US" altLang="ko-KR" b="1" dirty="0"/>
              <a:t>Big Five</a:t>
            </a:r>
            <a:r>
              <a:rPr lang="ko-KR" altLang="en-US" b="1" dirty="0"/>
              <a:t>는 근거 기반 성향 분석과 개선 방향 제시에</a:t>
            </a:r>
            <a:r>
              <a:rPr lang="ko-KR" altLang="en-US" dirty="0"/>
              <a:t> 활용하면 가장 균형이 좋습니다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1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835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모델을 사용하여 결과를 해석하기 위해 먼저</a:t>
            </a:r>
            <a:r>
              <a:rPr lang="en-US" altLang="ko-KR" dirty="0"/>
              <a:t> HF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b="1" dirty="0"/>
              <a:t>대화 방식</a:t>
            </a:r>
            <a:r>
              <a:rPr lang="en-US" altLang="ko-KR" b="1" dirty="0"/>
              <a:t>(How)</a:t>
            </a:r>
            <a:r>
              <a:rPr lang="ko-KR" altLang="en-US" dirty="0"/>
              <a:t> 및 </a:t>
            </a:r>
            <a:r>
              <a:rPr lang="en-US" altLang="ko-KR" dirty="0"/>
              <a:t>4</a:t>
            </a:r>
            <a:r>
              <a:rPr lang="ko-KR" altLang="en-US" dirty="0"/>
              <a:t>가지 대화 주제</a:t>
            </a:r>
            <a:r>
              <a:rPr lang="en-US" altLang="ko-KR" dirty="0"/>
              <a:t>(What)</a:t>
            </a:r>
            <a:r>
              <a:rPr lang="ko-KR" altLang="en-US" dirty="0"/>
              <a:t>를 친숙한 </a:t>
            </a:r>
            <a:r>
              <a:rPr lang="en-US" altLang="ko-KR" dirty="0"/>
              <a:t>MBTI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가지 축</a:t>
            </a:r>
            <a:r>
              <a:rPr lang="en-US" altLang="ko-KR" dirty="0"/>
              <a:t>(IE / SN / TF / JP)</a:t>
            </a:r>
            <a:r>
              <a:rPr lang="ko-KR" altLang="en-US" dirty="0"/>
              <a:t>과 </a:t>
            </a:r>
            <a:r>
              <a:rPr lang="en-US" altLang="ko-KR" dirty="0"/>
              <a:t>16</a:t>
            </a:r>
            <a:r>
              <a:rPr lang="ko-KR" altLang="en-US" dirty="0"/>
              <a:t>유형에 </a:t>
            </a:r>
            <a:r>
              <a:rPr lang="ko-KR" altLang="en-US" b="1" dirty="0"/>
              <a:t>논리적 근거 기반으로 연결</a:t>
            </a:r>
            <a:r>
              <a:rPr lang="ko-KR" altLang="en-US" dirty="0"/>
              <a:t>하는 것을 목적으로 </a:t>
            </a:r>
            <a:r>
              <a:rPr lang="en-US" altLang="ko-KR" dirty="0"/>
              <a:t>HF</a:t>
            </a:r>
            <a:r>
              <a:rPr lang="ko-KR" altLang="en-US" dirty="0"/>
              <a:t>의 </a:t>
            </a:r>
            <a:r>
              <a:rPr lang="en-US" altLang="ko-KR" dirty="0"/>
              <a:t>4*4 </a:t>
            </a:r>
            <a:r>
              <a:rPr lang="ko-KR" altLang="en-US" dirty="0"/>
              <a:t>매트릭스의 결과와 </a:t>
            </a:r>
            <a:r>
              <a:rPr lang="en-US" altLang="ko-KR" dirty="0"/>
              <a:t>MBTI</a:t>
            </a:r>
            <a:r>
              <a:rPr lang="ko-KR" altLang="en-US" dirty="0"/>
              <a:t>를 매핑해보았습니다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HF</a:t>
            </a:r>
            <a:r>
              <a:rPr lang="ko-KR" altLang="en-US" dirty="0"/>
              <a:t>의 “대화 </a:t>
            </a:r>
            <a:r>
              <a:rPr lang="ko-KR" altLang="en-US" dirty="0" err="1"/>
              <a:t>방식”은</a:t>
            </a:r>
            <a:r>
              <a:rPr lang="ko-KR" altLang="en-US" dirty="0"/>
              <a:t> </a:t>
            </a:r>
            <a:r>
              <a:rPr lang="en-US" altLang="ko-KR" dirty="0"/>
              <a:t>MBTI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가지 축 중 </a:t>
            </a:r>
            <a:r>
              <a:rPr lang="en-US" altLang="ko-KR" b="1" dirty="0"/>
              <a:t>T/F + N/S + J/P </a:t>
            </a:r>
            <a:r>
              <a:rPr lang="ko-KR" altLang="en-US" b="1" dirty="0"/>
              <a:t>축 성향과 강한 연결</a:t>
            </a:r>
            <a:r>
              <a:rPr lang="ko-KR" altLang="en-US" dirty="0"/>
              <a:t>을 가집니다</a:t>
            </a:r>
            <a:r>
              <a:rPr lang="en-US" altLang="ko-KR" dirty="0"/>
              <a:t>. </a:t>
            </a:r>
            <a:r>
              <a:rPr lang="ko-KR" altLang="en-US" dirty="0"/>
              <a:t>특히 “공감 </a:t>
            </a:r>
            <a:r>
              <a:rPr lang="en-US" altLang="ko-KR" dirty="0"/>
              <a:t>vs </a:t>
            </a:r>
            <a:r>
              <a:rPr lang="ko-KR" altLang="en-US" dirty="0"/>
              <a:t>인지”는 </a:t>
            </a:r>
            <a:r>
              <a:rPr lang="en-US" altLang="ko-KR" b="1" dirty="0"/>
              <a:t>F vs T</a:t>
            </a:r>
            <a:r>
              <a:rPr lang="ko-KR" altLang="en-US" dirty="0"/>
              <a:t>를</a:t>
            </a:r>
            <a:r>
              <a:rPr lang="en-US" altLang="ko-KR" dirty="0"/>
              <a:t>, “</a:t>
            </a:r>
            <a:r>
              <a:rPr lang="ko-KR" altLang="en-US" dirty="0"/>
              <a:t>사고 </a:t>
            </a:r>
            <a:r>
              <a:rPr lang="en-US" altLang="ko-KR" dirty="0"/>
              <a:t>vs </a:t>
            </a:r>
            <a:r>
              <a:rPr lang="ko-KR" altLang="en-US" dirty="0"/>
              <a:t>행동 </a:t>
            </a:r>
            <a:r>
              <a:rPr lang="ko-KR" altLang="en-US" dirty="0" err="1"/>
              <a:t>실행”은</a:t>
            </a:r>
            <a:r>
              <a:rPr lang="ko-KR" altLang="en-US" dirty="0"/>
              <a:t> </a:t>
            </a:r>
            <a:r>
              <a:rPr lang="en-US" altLang="ko-KR" b="1" dirty="0"/>
              <a:t>P vs J</a:t>
            </a:r>
            <a:r>
              <a:rPr lang="ko-KR" altLang="en-US" dirty="0"/>
              <a:t>에 가까운 개념으로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대화 주제는 </a:t>
            </a:r>
            <a:r>
              <a:rPr lang="en-US" altLang="ko-KR" dirty="0"/>
              <a:t>MBTI</a:t>
            </a:r>
            <a:r>
              <a:rPr lang="ko-KR" altLang="en-US" dirty="0"/>
              <a:t>의 정보를 인식</a:t>
            </a:r>
            <a:r>
              <a:rPr lang="en-US" altLang="ko-KR" dirty="0"/>
              <a:t>·</a:t>
            </a:r>
            <a:r>
              <a:rPr lang="ko-KR" altLang="en-US" dirty="0"/>
              <a:t>해석하는 방식</a:t>
            </a:r>
            <a:r>
              <a:rPr lang="en-US" altLang="ko-KR" dirty="0"/>
              <a:t>(S/N)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삶의 접근</a:t>
            </a:r>
            <a:r>
              <a:rPr lang="en-US" altLang="ko-KR" dirty="0"/>
              <a:t>(J/P)</a:t>
            </a:r>
            <a:r>
              <a:rPr lang="ko-KR" altLang="en-US" dirty="0"/>
              <a:t>과 일부 연동됩니다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표에서 </a:t>
            </a:r>
            <a:r>
              <a:rPr lang="en-US" altLang="ko-KR" dirty="0" err="1"/>
              <a:t>mbti</a:t>
            </a:r>
            <a:r>
              <a:rPr lang="ko-KR" altLang="en-US" dirty="0"/>
              <a:t> 관련 축 </a:t>
            </a:r>
            <a:r>
              <a:rPr lang="ko-KR" altLang="en-US" dirty="0" err="1"/>
              <a:t>보는법과</a:t>
            </a:r>
            <a:r>
              <a:rPr lang="ko-KR" altLang="en-US" dirty="0"/>
              <a:t> </a:t>
            </a:r>
            <a:r>
              <a:rPr lang="ko-KR" altLang="en-US" dirty="0" err="1"/>
              <a:t>설명법</a:t>
            </a:r>
            <a:r>
              <a:rPr lang="ko-KR" altLang="en-US" dirty="0"/>
              <a:t> 알아내기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534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HF</a:t>
            </a:r>
            <a:r>
              <a:rPr lang="ko-KR" altLang="en-US" dirty="0"/>
              <a:t>는 </a:t>
            </a:r>
            <a:r>
              <a:rPr lang="en-US" altLang="ko-KR" dirty="0"/>
              <a:t>MBTI</a:t>
            </a:r>
            <a:r>
              <a:rPr lang="ko-KR" altLang="en-US" dirty="0"/>
              <a:t>와 </a:t>
            </a:r>
            <a:r>
              <a:rPr lang="ko-KR" altLang="en-US" b="1" dirty="0"/>
              <a:t>수평적 대응이 아니라 기능</a:t>
            </a:r>
            <a:r>
              <a:rPr lang="en-US" altLang="ko-KR" b="1" dirty="0"/>
              <a:t>·</a:t>
            </a:r>
            <a:r>
              <a:rPr lang="ko-KR" altLang="en-US" b="1" dirty="0"/>
              <a:t>경향 대응이기 때문에</a:t>
            </a:r>
            <a:r>
              <a:rPr lang="en-US" altLang="ko-KR" dirty="0"/>
              <a:t> HF</a:t>
            </a:r>
            <a:r>
              <a:rPr lang="ko-KR" altLang="en-US" dirty="0"/>
              <a:t>가 </a:t>
            </a:r>
            <a:r>
              <a:rPr lang="en-US" altLang="ko-KR" dirty="0"/>
              <a:t>MBTI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대체는 될 수 없어 </a:t>
            </a:r>
            <a:r>
              <a:rPr lang="en-US" altLang="ko-KR" dirty="0"/>
              <a:t>16</a:t>
            </a:r>
            <a:r>
              <a:rPr lang="ko-KR" altLang="en-US" dirty="0"/>
              <a:t>가지의 </a:t>
            </a:r>
            <a:r>
              <a:rPr lang="en-US" altLang="ko-KR" dirty="0"/>
              <a:t>HF</a:t>
            </a:r>
            <a:r>
              <a:rPr lang="ko-KR" altLang="en-US" dirty="0"/>
              <a:t>의 결과를 </a:t>
            </a:r>
            <a:r>
              <a:rPr lang="en-US" altLang="ko-KR" dirty="0"/>
              <a:t>16</a:t>
            </a:r>
            <a:r>
              <a:rPr lang="ko-KR" altLang="en-US" dirty="0"/>
              <a:t>가지의 </a:t>
            </a:r>
            <a:r>
              <a:rPr lang="en-US" altLang="ko-KR" dirty="0"/>
              <a:t>MBTI </a:t>
            </a:r>
            <a:r>
              <a:rPr lang="ko-KR" altLang="en-US" dirty="0"/>
              <a:t>결과와 </a:t>
            </a:r>
            <a:r>
              <a:rPr lang="en-US" altLang="ko-KR" dirty="0"/>
              <a:t>1:1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완벽히 일치시키는 데에는 어려움이 존재합니다</a:t>
            </a:r>
            <a:r>
              <a:rPr lang="en-US" altLang="ko-KR" dirty="0"/>
              <a:t>. </a:t>
            </a:r>
            <a:r>
              <a:rPr lang="ko-KR" altLang="en-US" dirty="0"/>
              <a:t>따라서 저희는 </a:t>
            </a:r>
            <a:r>
              <a:rPr lang="en-US" altLang="ko-KR" dirty="0"/>
              <a:t>HF</a:t>
            </a:r>
            <a:r>
              <a:rPr lang="ko-KR" altLang="en-US" dirty="0"/>
              <a:t>의 </a:t>
            </a:r>
            <a:r>
              <a:rPr lang="en-US" altLang="ko-KR" dirty="0"/>
              <a:t>4*4 </a:t>
            </a:r>
            <a:r>
              <a:rPr lang="ko-KR" altLang="en-US" dirty="0"/>
              <a:t>조합에 따라 예시와 같이 </a:t>
            </a:r>
            <a:r>
              <a:rPr lang="en-US" altLang="ko-KR" dirty="0"/>
              <a:t>2~3 MBTI </a:t>
            </a:r>
            <a:r>
              <a:rPr lang="ko-KR" altLang="en-US" dirty="0"/>
              <a:t>후보군 제시 방식인 </a:t>
            </a:r>
            <a:r>
              <a:rPr lang="en-US" altLang="ko-KR" dirty="0"/>
              <a:t>MBTI </a:t>
            </a:r>
            <a:r>
              <a:rPr lang="ko-KR" altLang="en-US" dirty="0"/>
              <a:t>유사경향으로 </a:t>
            </a:r>
            <a:r>
              <a:rPr lang="en-US" altLang="ko-KR" dirty="0"/>
              <a:t>1</a:t>
            </a:r>
            <a:r>
              <a:rPr lang="ko-KR" altLang="en-US" dirty="0"/>
              <a:t>차적으로 구분하여 나타내었습니다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대화 주제와 </a:t>
            </a:r>
            <a:r>
              <a:rPr lang="ko-KR" altLang="en-US" dirty="0" err="1"/>
              <a:t>연결되는게</a:t>
            </a:r>
            <a:r>
              <a:rPr lang="ko-KR" altLang="en-US" dirty="0"/>
              <a:t> </a:t>
            </a:r>
            <a:r>
              <a:rPr lang="en-US" altLang="ko-KR" dirty="0"/>
              <a:t>j/p</a:t>
            </a:r>
            <a:r>
              <a:rPr lang="ko-KR" altLang="en-US" dirty="0"/>
              <a:t>인지</a:t>
            </a:r>
            <a:r>
              <a:rPr lang="en-US" altLang="ko-KR" dirty="0"/>
              <a:t> f/t</a:t>
            </a:r>
            <a:r>
              <a:rPr lang="ko-KR" altLang="en-US" dirty="0"/>
              <a:t>인지 </a:t>
            </a:r>
            <a:r>
              <a:rPr lang="en-US" altLang="ko-KR" dirty="0"/>
              <a:t>s/n</a:t>
            </a:r>
            <a:r>
              <a:rPr lang="ko-KR" altLang="en-US" dirty="0"/>
              <a:t>인지 수정</a:t>
            </a:r>
            <a:r>
              <a:rPr lang="en-US" altLang="ko-KR" dirty="0"/>
              <a:t>, </a:t>
            </a:r>
            <a:r>
              <a:rPr lang="ko-KR" altLang="en-US" dirty="0"/>
              <a:t>표에서 </a:t>
            </a:r>
            <a:r>
              <a:rPr lang="en-US" altLang="ko-KR" dirty="0" err="1"/>
              <a:t>mbti</a:t>
            </a:r>
            <a:r>
              <a:rPr lang="ko-KR" altLang="en-US" dirty="0"/>
              <a:t> 관련 축 </a:t>
            </a:r>
            <a:r>
              <a:rPr lang="ko-KR" altLang="en-US" dirty="0" err="1"/>
              <a:t>보는법과</a:t>
            </a:r>
            <a:r>
              <a:rPr lang="ko-KR" altLang="en-US" dirty="0"/>
              <a:t> </a:t>
            </a:r>
            <a:r>
              <a:rPr lang="ko-KR" altLang="en-US" dirty="0" err="1"/>
              <a:t>설명법</a:t>
            </a:r>
            <a:r>
              <a:rPr lang="ko-KR" altLang="en-US" dirty="0"/>
              <a:t> 알아내기</a:t>
            </a:r>
            <a:r>
              <a:rPr lang="en-US" altLang="ko-KR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즉</a:t>
            </a:r>
            <a:r>
              <a:rPr lang="en-US" altLang="ko-KR" dirty="0"/>
              <a:t>, HF</a:t>
            </a:r>
            <a:r>
              <a:rPr lang="ko-KR" altLang="en-US" dirty="0"/>
              <a:t>는 </a:t>
            </a:r>
            <a:r>
              <a:rPr lang="ko-KR" altLang="en-US" b="1" dirty="0"/>
              <a:t>“사람이 어떻게 사고</a:t>
            </a:r>
            <a:r>
              <a:rPr lang="en-US" altLang="ko-KR" b="1" dirty="0"/>
              <a:t>/</a:t>
            </a:r>
            <a:r>
              <a:rPr lang="ko-KR" altLang="en-US" b="1" dirty="0"/>
              <a:t>소통하는지</a:t>
            </a:r>
            <a:r>
              <a:rPr lang="en-US" altLang="ko-KR" b="1" dirty="0"/>
              <a:t>(How)”</a:t>
            </a:r>
            <a:r>
              <a:rPr lang="ko-KR" altLang="en-US" b="1" dirty="0"/>
              <a:t>의 대화 방식은 </a:t>
            </a:r>
            <a:r>
              <a:rPr lang="en-US" altLang="ko-KR" b="1" dirty="0"/>
              <a:t>MBTI</a:t>
            </a:r>
            <a:r>
              <a:rPr lang="ko-KR" altLang="en-US" b="1" dirty="0"/>
              <a:t>의 선호와 매우 유사하지만</a:t>
            </a:r>
            <a:r>
              <a:rPr lang="ko-KR" altLang="en-US" dirty="0"/>
              <a:t> </a:t>
            </a:r>
            <a:r>
              <a:rPr lang="ko-KR" altLang="en-US" b="1" dirty="0"/>
              <a:t>“무슨 주제를 다루는지</a:t>
            </a:r>
            <a:r>
              <a:rPr lang="en-US" altLang="ko-KR" b="1" dirty="0"/>
              <a:t>(What)”</a:t>
            </a:r>
            <a:r>
              <a:rPr lang="ko-KR" altLang="en-US" b="1" dirty="0"/>
              <a:t>의 대화 주제는 성향의 에너지 방향과 가치관 흐름과 연결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234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새로운 모델인 빅</a:t>
            </a:r>
            <a:r>
              <a:rPr lang="en-US" altLang="ko-KR" dirty="0"/>
              <a:t>5</a:t>
            </a:r>
            <a:r>
              <a:rPr lang="ko-KR" altLang="en-US" dirty="0"/>
              <a:t>에 </a:t>
            </a:r>
            <a:r>
              <a:rPr lang="en-US" altLang="ko-KR" dirty="0"/>
              <a:t>HF</a:t>
            </a:r>
            <a:r>
              <a:rPr lang="ko-KR" altLang="en-US" dirty="0"/>
              <a:t>의 결과를 매핑해보았습니다</a:t>
            </a:r>
            <a:r>
              <a:rPr lang="en-US" altLang="ko-KR" dirty="0"/>
              <a:t>. </a:t>
            </a:r>
            <a:r>
              <a:rPr lang="ko-KR" altLang="en-US" dirty="0"/>
              <a:t>각 대화의 방식과 주제에 대해 빅</a:t>
            </a:r>
            <a:r>
              <a:rPr lang="en-US" altLang="ko-KR" dirty="0"/>
              <a:t>5</a:t>
            </a:r>
            <a:r>
              <a:rPr lang="ko-KR" altLang="en-US" dirty="0"/>
              <a:t>의 요인은 표와 같이 </a:t>
            </a:r>
            <a:r>
              <a:rPr lang="ko-KR" altLang="en-US" dirty="0" err="1"/>
              <a:t>연결되어있습니다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공감형 ↔ </a:t>
            </a:r>
            <a:r>
              <a:rPr lang="ko-KR" altLang="en-US" b="1" dirty="0"/>
              <a:t>친화성</a:t>
            </a:r>
            <a:r>
              <a:rPr lang="en-US" altLang="ko-KR" b="1" dirty="0"/>
              <a:t>(A)</a:t>
            </a:r>
            <a:endParaRPr lang="ko-KR" altLang="en-US" dirty="0"/>
          </a:p>
          <a:p>
            <a:r>
              <a:rPr lang="ko-KR" altLang="en-US" dirty="0"/>
              <a:t>인지형 ↔ </a:t>
            </a:r>
            <a:r>
              <a:rPr lang="ko-KR" altLang="en-US" b="1" dirty="0"/>
              <a:t>개방성</a:t>
            </a:r>
            <a:r>
              <a:rPr lang="en-US" altLang="ko-KR" b="1" dirty="0"/>
              <a:t>(O) + </a:t>
            </a:r>
            <a:r>
              <a:rPr lang="ko-KR" altLang="en-US" b="1" dirty="0"/>
              <a:t>성실성</a:t>
            </a:r>
            <a:r>
              <a:rPr lang="en-US" altLang="ko-KR" b="1" dirty="0"/>
              <a:t>(C)</a:t>
            </a:r>
            <a:endParaRPr lang="ko-KR" altLang="en-US" dirty="0"/>
          </a:p>
          <a:p>
            <a:r>
              <a:rPr lang="ko-KR" altLang="en-US" dirty="0"/>
              <a:t>동기형 ↔ </a:t>
            </a:r>
            <a:r>
              <a:rPr lang="ko-KR" altLang="en-US" b="1" dirty="0"/>
              <a:t>개방성</a:t>
            </a:r>
            <a:r>
              <a:rPr lang="en-US" altLang="ko-KR" b="1" dirty="0"/>
              <a:t>(O)</a:t>
            </a:r>
            <a:endParaRPr lang="ko-KR" altLang="en-US" dirty="0"/>
          </a:p>
          <a:p>
            <a:r>
              <a:rPr lang="ko-KR" altLang="en-US" dirty="0"/>
              <a:t>행동형 ↔ </a:t>
            </a:r>
            <a:r>
              <a:rPr lang="ko-KR" altLang="en-US" b="1" dirty="0"/>
              <a:t>성실성</a:t>
            </a:r>
            <a:r>
              <a:rPr lang="en-US" altLang="ko-KR" b="1" dirty="0"/>
              <a:t>(C)</a:t>
            </a:r>
          </a:p>
          <a:p>
            <a:endParaRPr lang="en-US" altLang="ko-KR" b="1" dirty="0"/>
          </a:p>
          <a:p>
            <a:r>
              <a:rPr lang="ko-KR" altLang="en-US" dirty="0"/>
              <a:t>자기인식</a:t>
            </a:r>
            <a:r>
              <a:rPr lang="en-US" altLang="ko-KR" dirty="0"/>
              <a:t>·</a:t>
            </a:r>
            <a:r>
              <a:rPr lang="ko-KR" altLang="en-US" dirty="0"/>
              <a:t>정서조절 ↔ </a:t>
            </a:r>
            <a:r>
              <a:rPr lang="ko-KR" altLang="en-US" b="1" dirty="0"/>
              <a:t>정서 안정성</a:t>
            </a:r>
            <a:r>
              <a:rPr lang="en-US" altLang="ko-KR" b="1" dirty="0"/>
              <a:t>(N) + </a:t>
            </a:r>
            <a:r>
              <a:rPr lang="ko-KR" altLang="en-US" b="1" dirty="0"/>
              <a:t>개방성</a:t>
            </a:r>
            <a:r>
              <a:rPr lang="en-US" altLang="ko-KR" b="1" dirty="0"/>
              <a:t>(O)</a:t>
            </a:r>
            <a:endParaRPr lang="ko-KR" altLang="en-US" dirty="0"/>
          </a:p>
          <a:p>
            <a:r>
              <a:rPr lang="ko-KR" altLang="en-US" dirty="0"/>
              <a:t>관계</a:t>
            </a:r>
            <a:r>
              <a:rPr lang="en-US" altLang="ko-KR" dirty="0"/>
              <a:t>·</a:t>
            </a:r>
            <a:r>
              <a:rPr lang="ko-KR" altLang="en-US" dirty="0"/>
              <a:t>소통 ↔ </a:t>
            </a:r>
            <a:r>
              <a:rPr lang="ko-KR" altLang="en-US" b="1" dirty="0"/>
              <a:t>외향성</a:t>
            </a:r>
            <a:r>
              <a:rPr lang="en-US" altLang="ko-KR" b="1" dirty="0"/>
              <a:t>(E) + </a:t>
            </a:r>
            <a:r>
              <a:rPr lang="ko-KR" altLang="en-US" b="1" dirty="0"/>
              <a:t>친화성</a:t>
            </a:r>
            <a:r>
              <a:rPr lang="en-US" altLang="ko-KR" b="1" dirty="0"/>
              <a:t>(A)</a:t>
            </a:r>
            <a:endParaRPr lang="ko-KR" altLang="en-US" dirty="0"/>
          </a:p>
          <a:p>
            <a:r>
              <a:rPr lang="ko-KR" altLang="en-US" dirty="0"/>
              <a:t>회복</a:t>
            </a:r>
            <a:r>
              <a:rPr lang="en-US" altLang="ko-KR" dirty="0"/>
              <a:t>·</a:t>
            </a:r>
            <a:r>
              <a:rPr lang="ko-KR" altLang="en-US" dirty="0"/>
              <a:t>적응 ↔ </a:t>
            </a:r>
            <a:r>
              <a:rPr lang="ko-KR" altLang="en-US" b="1" dirty="0"/>
              <a:t>정서 안정성</a:t>
            </a:r>
            <a:r>
              <a:rPr lang="en-US" altLang="ko-KR" b="1" dirty="0"/>
              <a:t>(N)</a:t>
            </a:r>
            <a:endParaRPr lang="ko-KR" altLang="en-US" dirty="0"/>
          </a:p>
          <a:p>
            <a:r>
              <a:rPr lang="ko-KR" altLang="en-US" dirty="0"/>
              <a:t>행동</a:t>
            </a:r>
            <a:r>
              <a:rPr lang="en-US" altLang="ko-KR" dirty="0"/>
              <a:t>·</a:t>
            </a:r>
            <a:r>
              <a:rPr lang="ko-KR" altLang="en-US" dirty="0"/>
              <a:t>습관 ↔ </a:t>
            </a:r>
            <a:r>
              <a:rPr lang="ko-KR" altLang="en-US" b="1" dirty="0"/>
              <a:t>성실성</a:t>
            </a:r>
            <a:r>
              <a:rPr lang="en-US" altLang="ko-KR" b="1" dirty="0"/>
              <a:t>(C)</a:t>
            </a:r>
            <a:endParaRPr lang="ko-KR" altLang="en-US" dirty="0"/>
          </a:p>
          <a:p>
            <a:endParaRPr lang="ko-KR" altLang="en-US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관련요인과 이유 부분 화살표 </a:t>
            </a:r>
            <a:r>
              <a:rPr lang="ko-KR" altLang="en-US" dirty="0" err="1"/>
              <a:t>보는법</a:t>
            </a:r>
            <a:r>
              <a:rPr lang="ko-KR" altLang="en-US" dirty="0"/>
              <a:t> 알아내기</a:t>
            </a:r>
            <a:r>
              <a:rPr lang="en-US" altLang="ko-KR" dirty="0"/>
              <a:t>/</a:t>
            </a:r>
            <a:r>
              <a:rPr lang="ko-KR" altLang="en-US" dirty="0"/>
              <a:t>설명 대본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554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앞선 내용을 </a:t>
            </a:r>
            <a:r>
              <a:rPr lang="en-US" altLang="ko-KR" dirty="0"/>
              <a:t>Big Five 5</a:t>
            </a:r>
            <a:r>
              <a:rPr lang="ko-KR" altLang="en-US" dirty="0"/>
              <a:t>요인을 기준으로 </a:t>
            </a:r>
            <a:r>
              <a:rPr lang="en-US" altLang="ko-KR" dirty="0"/>
              <a:t>HF</a:t>
            </a:r>
            <a:r>
              <a:rPr lang="ko-KR" altLang="en-US" dirty="0"/>
              <a:t>의 밀접한 요소를 정리해보면 첫번째 표와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HF</a:t>
            </a:r>
            <a:r>
              <a:rPr lang="ko-KR" altLang="en-US" dirty="0"/>
              <a:t>는 </a:t>
            </a:r>
            <a:r>
              <a:rPr lang="en-US" altLang="ko-KR" b="1" dirty="0"/>
              <a:t>5</a:t>
            </a:r>
            <a:r>
              <a:rPr lang="ko-KR" altLang="en-US" b="1" dirty="0"/>
              <a:t>점 </a:t>
            </a:r>
            <a:r>
              <a:rPr lang="en-US" altLang="ko-KR" b="1" dirty="0"/>
              <a:t>Likert </a:t>
            </a:r>
            <a:r>
              <a:rPr lang="ko-KR" altLang="en-US" b="1" dirty="0"/>
              <a:t>척도</a:t>
            </a:r>
            <a:r>
              <a:rPr lang="en-US" altLang="ko-KR" b="1" dirty="0"/>
              <a:t>(5</a:t>
            </a:r>
            <a:r>
              <a:rPr lang="ko-KR" altLang="en-US" b="1" dirty="0"/>
              <a:t>단계 응답</a:t>
            </a:r>
            <a:r>
              <a:rPr lang="en-US" altLang="ko-KR" b="1" dirty="0"/>
              <a:t>)</a:t>
            </a:r>
            <a:r>
              <a:rPr lang="ko-KR" altLang="en-US" dirty="0"/>
              <a:t> 구조이고</a:t>
            </a:r>
            <a:r>
              <a:rPr lang="en-US" altLang="ko-KR" dirty="0"/>
              <a:t>, </a:t>
            </a:r>
            <a:r>
              <a:rPr lang="ko-KR" altLang="en-US" dirty="0"/>
              <a:t>각 질문 항목이 성향 강도를 반영하며</a:t>
            </a:r>
            <a:r>
              <a:rPr lang="en-US" altLang="ko-KR" dirty="0"/>
              <a:t>, </a:t>
            </a:r>
            <a:r>
              <a:rPr lang="ko-KR" altLang="en-US" dirty="0"/>
              <a:t>결과 부분에서 대화 방식과 주제 두 축에 대한 주성향과 보조성향을 나타내기 때문에 연속형 점수 변환이 가능하기 때문에 </a:t>
            </a:r>
            <a:r>
              <a:rPr lang="en-US" altLang="ko-KR" dirty="0"/>
              <a:t>Big</a:t>
            </a:r>
            <a:r>
              <a:rPr lang="ko-KR" altLang="en-US" dirty="0"/>
              <a:t> </a:t>
            </a:r>
            <a:r>
              <a:rPr lang="en-US" altLang="ko-KR" dirty="0"/>
              <a:t>Five</a:t>
            </a:r>
            <a:r>
              <a:rPr lang="ko-KR" altLang="en-US" dirty="0"/>
              <a:t>와 비슷한 개념을 사용하여 이해할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(1</a:t>
            </a:r>
            <a:r>
              <a:rPr lang="ko-KR" altLang="en-US" dirty="0"/>
              <a:t>차</a:t>
            </a:r>
            <a:r>
              <a:rPr lang="en-US" altLang="ko-KR" dirty="0"/>
              <a:t>/2</a:t>
            </a:r>
            <a:r>
              <a:rPr lang="ko-KR" altLang="en-US" dirty="0"/>
              <a:t>차 요인이 무엇이며</a:t>
            </a:r>
            <a:r>
              <a:rPr lang="en-US" altLang="ko-KR" dirty="0"/>
              <a:t>, </a:t>
            </a:r>
            <a:r>
              <a:rPr lang="ko-KR" altLang="en-US" dirty="0"/>
              <a:t>빅</a:t>
            </a:r>
            <a:r>
              <a:rPr lang="en-US" altLang="ko-KR" dirty="0"/>
              <a:t>5</a:t>
            </a:r>
            <a:r>
              <a:rPr lang="ko-KR" altLang="en-US" dirty="0"/>
              <a:t>에서 다차원적 설명이 어디에 쓰이는지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HF</a:t>
            </a:r>
            <a:r>
              <a:rPr lang="ko-KR" altLang="en-US" dirty="0"/>
              <a:t> 결과를 </a:t>
            </a:r>
            <a:r>
              <a:rPr lang="en-US" altLang="ko-KR" dirty="0"/>
              <a:t>1</a:t>
            </a:r>
            <a:r>
              <a:rPr lang="ko-KR" altLang="en-US" dirty="0"/>
              <a:t>차적 단계인 </a:t>
            </a:r>
            <a:r>
              <a:rPr lang="en-US" altLang="ko-KR" dirty="0"/>
              <a:t>MBTI</a:t>
            </a:r>
            <a:r>
              <a:rPr lang="ko-KR" altLang="en-US" dirty="0"/>
              <a:t>만으로 설명하는 것의 한계를 과학적 근거를 가진 </a:t>
            </a:r>
            <a:r>
              <a:rPr lang="en-US" altLang="ko-KR" dirty="0"/>
              <a:t>Big Five</a:t>
            </a:r>
            <a:r>
              <a:rPr lang="ko-KR" altLang="en-US" dirty="0"/>
              <a:t>로 보완하고자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(A</a:t>
            </a:r>
            <a:r>
              <a:rPr lang="ko-KR" altLang="en-US" dirty="0"/>
              <a:t>단계인 </a:t>
            </a:r>
            <a:r>
              <a:rPr lang="en-US" altLang="ko-KR" dirty="0"/>
              <a:t>MBTI</a:t>
            </a:r>
            <a:r>
              <a:rPr lang="ko-KR" altLang="en-US" dirty="0"/>
              <a:t>의 한계를 빅</a:t>
            </a:r>
            <a:r>
              <a:rPr lang="en-US" altLang="ko-KR" dirty="0"/>
              <a:t>5</a:t>
            </a:r>
            <a:r>
              <a:rPr lang="ko-KR" altLang="en-US" dirty="0"/>
              <a:t>가 보완하여 더 정량적이고 과학적으로 </a:t>
            </a:r>
            <a:r>
              <a:rPr lang="en-US" altLang="ko-KR" dirty="0"/>
              <a:t>HF</a:t>
            </a:r>
            <a:r>
              <a:rPr lang="ko-KR" altLang="en-US" dirty="0"/>
              <a:t>설문 결과를 해석할 수 </a:t>
            </a:r>
            <a:r>
              <a:rPr lang="ko-KR" altLang="en-US" dirty="0" err="1"/>
              <a:t>있는것인지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550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저희의 </a:t>
            </a:r>
            <a:r>
              <a:rPr lang="en-US" altLang="ko-KR" dirty="0"/>
              <a:t>38</a:t>
            </a:r>
            <a:r>
              <a:rPr lang="ko-KR" altLang="en-US" dirty="0"/>
              <a:t>가지 문항은 빅</a:t>
            </a:r>
            <a:r>
              <a:rPr lang="en-US" altLang="ko-KR" dirty="0"/>
              <a:t>5</a:t>
            </a:r>
            <a:r>
              <a:rPr lang="ko-KR" altLang="en-US" dirty="0"/>
              <a:t>요소 중 </a:t>
            </a:r>
            <a:r>
              <a:rPr lang="en-US" altLang="ko-KR" dirty="0"/>
              <a:t>E</a:t>
            </a:r>
            <a:r>
              <a:rPr lang="ko-KR" altLang="en-US" dirty="0"/>
              <a:t>와 </a:t>
            </a:r>
            <a:r>
              <a:rPr lang="en-US" altLang="ko-KR" dirty="0"/>
              <a:t>O</a:t>
            </a:r>
            <a:r>
              <a:rPr lang="ko-KR" altLang="en-US" dirty="0"/>
              <a:t>를 판별할 수 있는 관련 문항이 부족하다는 것을 알아내었고</a:t>
            </a:r>
            <a:r>
              <a:rPr lang="en-US" altLang="ko-KR" dirty="0"/>
              <a:t>, </a:t>
            </a:r>
            <a:r>
              <a:rPr lang="ko-KR" altLang="en-US" dirty="0"/>
              <a:t>아래의 표와 같이 빅</a:t>
            </a:r>
            <a:r>
              <a:rPr lang="en-US" altLang="ko-KR" dirty="0"/>
              <a:t>5 </a:t>
            </a:r>
            <a:r>
              <a:rPr lang="ko-KR" altLang="en-US" dirty="0"/>
              <a:t>요인의 반영률이 높은 질문으로 수정하여 </a:t>
            </a:r>
            <a:r>
              <a:rPr lang="en-US" altLang="ko-KR" dirty="0"/>
              <a:t>MBTI </a:t>
            </a:r>
            <a:r>
              <a:rPr lang="ko-KR" altLang="en-US" dirty="0"/>
              <a:t>일치율의 보완과 타당도 검증의 기초로 활용될 수 있다고 생각합니다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98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HF</a:t>
            </a:r>
            <a:r>
              <a:rPr lang="ko-KR" altLang="en-US" dirty="0"/>
              <a:t>의 </a:t>
            </a:r>
            <a:r>
              <a:rPr lang="en-US" altLang="ko-KR" dirty="0"/>
              <a:t>16</a:t>
            </a:r>
            <a:r>
              <a:rPr lang="ko-KR" altLang="en-US" dirty="0"/>
              <a:t>가지 유형에 관한 대화의 적용방식과 예시</a:t>
            </a:r>
            <a:r>
              <a:rPr lang="en-US" altLang="ko-KR" dirty="0"/>
              <a:t>, </a:t>
            </a:r>
            <a:r>
              <a:rPr lang="ko-KR" altLang="en-US" dirty="0"/>
              <a:t>어떻게 정서를 통해 인지를 활성화 시킬 수 있는지에 대한 근거입니다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9776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810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HF</a:t>
            </a:r>
            <a:r>
              <a:rPr lang="ko-KR" altLang="en-US" b="1" dirty="0"/>
              <a:t>의</a:t>
            </a:r>
            <a:r>
              <a:rPr lang="en-US" altLang="ko-KR" b="1" dirty="0"/>
              <a:t> 16</a:t>
            </a:r>
            <a:r>
              <a:rPr lang="ko-KR" altLang="en-US" b="1" dirty="0"/>
              <a:t>유형은 </a:t>
            </a:r>
            <a:r>
              <a:rPr lang="en-US" altLang="ko-KR" b="1" dirty="0"/>
              <a:t>MBTI</a:t>
            </a:r>
            <a:r>
              <a:rPr lang="ko-KR" altLang="en-US" b="1" dirty="0"/>
              <a:t>축 </a:t>
            </a:r>
            <a:r>
              <a:rPr lang="en-US" altLang="ko-KR" b="1" dirty="0"/>
              <a:t>T/F, S/N, J/P</a:t>
            </a:r>
            <a:r>
              <a:rPr lang="ko-KR" altLang="en-US" b="1" dirty="0"/>
              <a:t>와 높은 대응성을 보여 “대화 </a:t>
            </a:r>
            <a:r>
              <a:rPr lang="ko-KR" altLang="en-US" b="1" dirty="0" err="1"/>
              <a:t>선호”를</a:t>
            </a:r>
            <a:r>
              <a:rPr lang="ko-KR" altLang="en-US" b="1" dirty="0"/>
              <a:t> 설명하는 데 </a:t>
            </a:r>
            <a:r>
              <a:rPr lang="en-US" altLang="ko-KR" b="1" dirty="0"/>
              <a:t>MBTI</a:t>
            </a:r>
            <a:r>
              <a:rPr lang="ko-KR" altLang="en-US" b="1" dirty="0"/>
              <a:t>를 보조 지표로 쓸 수 있음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다만 </a:t>
            </a:r>
            <a:r>
              <a:rPr lang="en-US" altLang="ko-KR" dirty="0"/>
              <a:t>MBTI</a:t>
            </a:r>
            <a:r>
              <a:rPr lang="ko-KR" altLang="en-US" dirty="0"/>
              <a:t>는 </a:t>
            </a:r>
            <a:r>
              <a:rPr lang="ko-KR" altLang="en-US" b="1" dirty="0"/>
              <a:t>이분법적</a:t>
            </a:r>
            <a:r>
              <a:rPr lang="en-US" altLang="ko-KR" dirty="0"/>
              <a:t>, HF</a:t>
            </a:r>
            <a:r>
              <a:rPr lang="ko-KR" altLang="en-US" dirty="0"/>
              <a:t>는 </a:t>
            </a:r>
            <a:r>
              <a:rPr lang="en-US" altLang="ko-KR" b="1" dirty="0"/>
              <a:t>4×4 </a:t>
            </a:r>
            <a:r>
              <a:rPr lang="ko-KR" altLang="en-US" b="1" dirty="0"/>
              <a:t>조합형</a:t>
            </a:r>
            <a:r>
              <a:rPr lang="ko-KR" altLang="en-US" dirty="0"/>
              <a:t>이라 </a:t>
            </a:r>
            <a:r>
              <a:rPr lang="en-US" altLang="ko-KR" dirty="0"/>
              <a:t>1:1 </a:t>
            </a:r>
            <a:r>
              <a:rPr lang="ko-KR" altLang="en-US" dirty="0"/>
              <a:t>매칭보다는 “</a:t>
            </a:r>
            <a:r>
              <a:rPr lang="en-US" altLang="ko-KR" dirty="0"/>
              <a:t>2~3 MBTI </a:t>
            </a:r>
            <a:r>
              <a:rPr lang="ko-KR" altLang="en-US" dirty="0"/>
              <a:t>후보군 제시 </a:t>
            </a:r>
            <a:r>
              <a:rPr lang="ko-KR" altLang="en-US" dirty="0" err="1"/>
              <a:t>방식”이</a:t>
            </a:r>
            <a:r>
              <a:rPr lang="ko-KR" altLang="en-US" dirty="0"/>
              <a:t> 가장 타당하다고 생각하였습니다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520F9-ED48-4EB2-A5C2-6ED6ABD28BB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1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EB926-81FA-5148-E9B0-CD8CA7C53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18D19E-095C-587D-AA6C-1BA24E9BB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46976-B2C0-185E-86CD-83EDFBBD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1C604D-3E43-57A1-CE3D-9221C153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D98D9E-E63C-2778-199A-DC57B9A8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45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9D15F-0A0E-B693-3F79-AA87BBF8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26723-B3AF-2C0F-2856-1FFBF75E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47A37-5BB5-903A-A251-45CBFB27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BEC653-2AE4-B555-9D88-28589B70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75DED2-01A6-2333-D1EA-5353E66E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06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AE4EA-63E8-1C4A-66D0-C7BEF8887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836FA9-0FC1-56B1-F6D2-E47C4EA1D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0D22E9-18B1-D64C-B811-5C2E680A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252BDC-04FA-32E1-5716-1EAD3DB4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26D5B3-9A48-6A48-B052-8AA4DB7F5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7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240EE-2F41-9950-D1B0-070FEFCE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ED391F-2090-5F6A-53A7-4DDF8D462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A444C7-35D7-D675-1202-5F96D46FF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3FFE05-00C4-100C-0B3C-2F2C7297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D7B6A-B616-DE9F-104A-EE98FD2C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C33763-C55A-710D-866C-369D398D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32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5D881-F6F5-BBF2-67A7-16DDE5E25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3A7A83-9632-8343-B12F-633013C58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F56FB5-0535-8F49-D6A8-22448E663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2B7030-7EF6-C4D1-4502-97A9902F8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6C93A1-CD8C-1156-058B-38DF84880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287C37-5012-4F32-DEE8-490D6A50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815CAA-9580-0E1E-CF85-44C2AED7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2FC755-3CAF-9A61-F778-C9BDF2D5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8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40379-98B4-5D85-0F96-8B8A6B6B0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70A955-B1AC-9869-06C6-B28AD712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FD88E0-F463-0230-2568-030FDADC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0BEED5-0E8B-A38A-923D-69EB1680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769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E8925F-F129-F014-BB42-D2DF50BE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9AF0D7-360A-52AB-0806-1E151308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A7948E-CB88-5722-1B2D-5106619D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32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3A498-DBD7-0B06-7AD3-5705BF57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57DE43-D2F7-C560-24F5-F3A5B5F43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AED983-0126-56AD-C494-05A4D4294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40CC5F-0D4B-055C-0F7C-93BD021C0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70C88-52FB-5481-67B4-AFE52CD4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62F2AC-167C-1FCE-0AFF-E8B37D82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74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163AF-2F67-8E3B-AD65-9861D283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6840F5-CC91-0464-3638-461A88138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990405-A2CB-6B13-54B9-0E535CD1E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72D02F-0643-5C10-6333-D26E9437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FE2FB-916E-05ED-A3C4-3446B7BA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B5CC61-5A04-0256-C80E-AB153B62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75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2A5FE-E6F4-79F5-1E42-6D2DD436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BB326A-C8CB-0B62-7B50-30B5F2772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DBFC6D-690E-B3DA-7A3B-B36068C1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7AF7B-17B9-013C-59D2-4B4CA1C8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6DC2C-CFD8-0BD4-F682-2B510FC1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66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2ED78E-A40E-F850-6C07-81F5B3B8C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E8FBDE-820B-7BB5-DC87-A7EBD3393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11D94-E66A-12E3-0BF1-F42F2CE08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EF64C0-B661-F322-6C7A-01214FDB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A4110-D1C3-EE2F-823E-C52A9E41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80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D174E6-3671-5FA2-344F-09BDD61D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E7B93-239A-7105-F351-40C2E5FD3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0B324-9553-4C29-0989-0C8455303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6D8BD-3C73-4146-9CF0-2660B8EA532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0DC8E1-F9C4-E9E2-5DD2-B26E6C6C7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391AF7-A915-C80A-77AA-79914B795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007FC-7996-4C43-89AF-C36207E8D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2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frontiersin.org/articles/10.3389/fpsyg.2024.1425465/full" TargetMode="External"/><Relationship Id="rId18" Type="http://schemas.openxmlformats.org/officeDocument/2006/relationships/hyperlink" Target="https://jeatdisord.biomedcentral.com/articles/10.1186/s40337-025-01197-y?utm_source=chatgpt.com" TargetMode="External"/><Relationship Id="rId26" Type="http://schemas.openxmlformats.org/officeDocument/2006/relationships/hyperlink" Target="https://www.frontiersin.org/journals/behavioral-neuroscience/articles/10.3389/fnbeh.2023.1151918/full?utm_source=chatgpt.com" TargetMode="External"/><Relationship Id="rId39" Type="http://schemas.openxmlformats.org/officeDocument/2006/relationships/hyperlink" Target="https://pubmed.ncbi.nlm.nih.gov/37144242/" TargetMode="External"/><Relationship Id="rId21" Type="http://schemas.openxmlformats.org/officeDocument/2006/relationships/hyperlink" Target="https://pubmed.ncbi.nlm.nih.gov/38986547/" TargetMode="External"/><Relationship Id="rId34" Type="http://schemas.openxmlformats.org/officeDocument/2006/relationships/hyperlink" Target="https://pubmed.ncbi.nlm.nih.gov/38401510/?utm_source=chatgpt.com" TargetMode="External"/><Relationship Id="rId7" Type="http://schemas.openxmlformats.org/officeDocument/2006/relationships/hyperlink" Target="https://pubmed.ncbi.nlm.nih.gov/38558425/" TargetMode="External"/><Relationship Id="rId2" Type="http://schemas.openxmlformats.org/officeDocument/2006/relationships/hyperlink" Target="https://www.mdpi.com/2076-328X/15/3/342?utm_source=chatgpt.com" TargetMode="External"/><Relationship Id="rId16" Type="http://schemas.openxmlformats.org/officeDocument/2006/relationships/hyperlink" Target="https://link.springer.com/article/10.1007/s10488-024-01373-3?utm_source=chatgpt.com" TargetMode="External"/><Relationship Id="rId20" Type="http://schemas.openxmlformats.org/officeDocument/2006/relationships/hyperlink" Target="https://pubmed.ncbi.nlm.nih.gov/38986547/?utm_source=chatgpt.com" TargetMode="External"/><Relationship Id="rId29" Type="http://schemas.openxmlformats.org/officeDocument/2006/relationships/hyperlink" Target="https://bmcpublichealth.biomedcentral.com/articles/10.1186/s12889-023-15446-9" TargetMode="External"/><Relationship Id="rId41" Type="http://schemas.openxmlformats.org/officeDocument/2006/relationships/hyperlink" Target="https://www.ncbi.nlm.nih.gov/pmc/articles/PMC11920608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ubmed.ncbi.nlm.nih.gov/38558425/?utm_source=chatgpt.com" TargetMode="External"/><Relationship Id="rId11" Type="http://schemas.openxmlformats.org/officeDocument/2006/relationships/hyperlink" Target="https://pubmed.ncbi.nlm.nih.gov/38546155/" TargetMode="External"/><Relationship Id="rId24" Type="http://schemas.openxmlformats.org/officeDocument/2006/relationships/hyperlink" Target="https://www.frontiersin.org/journals/cardiovascular-medicine/articles/10.3389/fcvm.2024.1457039/full?utm_source=chatgpt.com" TargetMode="External"/><Relationship Id="rId32" Type="http://schemas.openxmlformats.org/officeDocument/2006/relationships/hyperlink" Target="https://www.sciencedirect.com/science/article/abs/pii/S0272735824000497?utm_source=chatgpt.com" TargetMode="External"/><Relationship Id="rId37" Type="http://schemas.openxmlformats.org/officeDocument/2006/relationships/hyperlink" Target="https://bpspsychub.onlinelibrary.wiley.com/doi/10.1111/bjhp.12664" TargetMode="External"/><Relationship Id="rId40" Type="http://schemas.openxmlformats.org/officeDocument/2006/relationships/hyperlink" Target="https://pmc.ncbi.nlm.nih.gov/articles/PMC11920608/?utm_source=chatgpt.com" TargetMode="External"/><Relationship Id="rId5" Type="http://schemas.openxmlformats.org/officeDocument/2006/relationships/hyperlink" Target="https://www.nature.com/articles/s41598-025-91646-0" TargetMode="External"/><Relationship Id="rId15" Type="http://schemas.openxmlformats.org/officeDocument/2006/relationships/hyperlink" Target="https://bmcpsychology.biomedcentral.com/articles/10.1186/s40359-024-02198-3" TargetMode="External"/><Relationship Id="rId23" Type="http://schemas.openxmlformats.org/officeDocument/2006/relationships/hyperlink" Target="https://www.sciencedirect.com/science/article/pii/S0378512223000130" TargetMode="External"/><Relationship Id="rId28" Type="http://schemas.openxmlformats.org/officeDocument/2006/relationships/hyperlink" Target="https://bmcpublichealth.biomedcentral.com/articles/10.1186/s12889-023-15446-9?utm_source=chatgpt.com" TargetMode="External"/><Relationship Id="rId36" Type="http://schemas.openxmlformats.org/officeDocument/2006/relationships/hyperlink" Target="https://bpspsychub.onlinelibrary.wiley.com/doi/10.1111/bjhp.12664?utm_source=chatgpt.com" TargetMode="External"/><Relationship Id="rId10" Type="http://schemas.openxmlformats.org/officeDocument/2006/relationships/hyperlink" Target="https://pubmed.ncbi.nlm.nih.gov/38546155/?utm_source=chatgpt.com" TargetMode="External"/><Relationship Id="rId19" Type="http://schemas.openxmlformats.org/officeDocument/2006/relationships/hyperlink" Target="https://jeatdisord.biomedcentral.com/articles/10.1186/s40337-025-01197-y" TargetMode="External"/><Relationship Id="rId31" Type="http://schemas.openxmlformats.org/officeDocument/2006/relationships/hyperlink" Target="https://www.frontiersin.org/articles/10.3389/fpsyg.2025.1478525/full" TargetMode="External"/><Relationship Id="rId4" Type="http://schemas.openxmlformats.org/officeDocument/2006/relationships/hyperlink" Target="https://www.nature.com/articles/s41598-025-91646-0?utm_source=chatgpt.com" TargetMode="External"/><Relationship Id="rId9" Type="http://schemas.openxmlformats.org/officeDocument/2006/relationships/hyperlink" Target="https://pubmed.ncbi.nlm.nih.gov/40234629/" TargetMode="External"/><Relationship Id="rId14" Type="http://schemas.openxmlformats.org/officeDocument/2006/relationships/hyperlink" Target="https://bmcpsychology.biomedcentral.com/articles/10.1186/s40359-024-02198-3?utm_source=chatgpt.com" TargetMode="External"/><Relationship Id="rId22" Type="http://schemas.openxmlformats.org/officeDocument/2006/relationships/hyperlink" Target="https://www.sciencedirect.com/science/article/pii/S0378512223000130?utm_source=chatgpt.com" TargetMode="External"/><Relationship Id="rId27" Type="http://schemas.openxmlformats.org/officeDocument/2006/relationships/hyperlink" Target="https://www.frontiersin.org/articles/10.3389/fnbeh.2023.1151918/full" TargetMode="External"/><Relationship Id="rId30" Type="http://schemas.openxmlformats.org/officeDocument/2006/relationships/hyperlink" Target="https://www.frontiersin.org/journals/psychology/articles/10.3389/fpsyg.2025.1478525/full?utm_source=chatgpt.com" TargetMode="External"/><Relationship Id="rId35" Type="http://schemas.openxmlformats.org/officeDocument/2006/relationships/hyperlink" Target="https://pubmed.ncbi.nlm.nih.gov/38401510/" TargetMode="External"/><Relationship Id="rId8" Type="http://schemas.openxmlformats.org/officeDocument/2006/relationships/hyperlink" Target="https://pubmed.ncbi.nlm.nih.gov/40234629/?utm_source=chatgpt.com" TargetMode="External"/><Relationship Id="rId3" Type="http://schemas.openxmlformats.org/officeDocument/2006/relationships/hyperlink" Target="https://doi.org/10.3390/bs15030342" TargetMode="External"/><Relationship Id="rId12" Type="http://schemas.openxmlformats.org/officeDocument/2006/relationships/hyperlink" Target="https://www.frontiersin.org/journals/psychology/articles/10.3389/fpsyg.2024.1425465/full?utm_source=chatgpt.com" TargetMode="External"/><Relationship Id="rId17" Type="http://schemas.openxmlformats.org/officeDocument/2006/relationships/hyperlink" Target="https://link.springer.com/article/10.1007/s10488-024-01373-3" TargetMode="External"/><Relationship Id="rId25" Type="http://schemas.openxmlformats.org/officeDocument/2006/relationships/hyperlink" Target="https://www.frontiersin.org/articles/10.3389/fcvm.2024.1457039/full" TargetMode="External"/><Relationship Id="rId33" Type="http://schemas.openxmlformats.org/officeDocument/2006/relationships/hyperlink" Target="https://www.sciencedirect.com/science/article/abs/pii/S0272735824000497" TargetMode="External"/><Relationship Id="rId38" Type="http://schemas.openxmlformats.org/officeDocument/2006/relationships/hyperlink" Target="https://pubmed.ncbi.nlm.nih.gov/37144242/?utm_source=chatgpt.com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3678-F7F7-8578-71BB-1FE5201F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755CBF-B776-9E36-EAB4-D252E433801B}"/>
              </a:ext>
            </a:extLst>
          </p:cNvPr>
          <p:cNvSpPr txBox="1"/>
          <p:nvPr/>
        </p:nvSpPr>
        <p:spPr>
          <a:xfrm>
            <a:off x="1453322" y="1951672"/>
            <a:ext cx="88259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목차</a:t>
            </a:r>
            <a:endParaRPr lang="en-US" altLang="ko-KR" sz="3000" b="1" dirty="0"/>
          </a:p>
          <a:p>
            <a:endParaRPr lang="en-US" altLang="ko-KR" sz="3000" b="1" dirty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HF</a:t>
            </a:r>
            <a:r>
              <a:rPr lang="ko-KR" altLang="en-US" dirty="0"/>
              <a:t> 설문 문항 구조 및 설계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ko-KR" altLang="en-US" dirty="0"/>
              <a:t>표본을 통한 검사 결과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MBTI,</a:t>
            </a:r>
            <a:r>
              <a:rPr lang="ko-KR" altLang="en-US" dirty="0"/>
              <a:t> </a:t>
            </a:r>
            <a:r>
              <a:rPr lang="en-US" altLang="ko-KR" dirty="0"/>
              <a:t>Big</a:t>
            </a:r>
            <a:r>
              <a:rPr lang="ko-KR" altLang="en-US" dirty="0"/>
              <a:t> </a:t>
            </a:r>
            <a:r>
              <a:rPr lang="en-US" altLang="ko-KR" dirty="0"/>
              <a:t>Five</a:t>
            </a:r>
            <a:r>
              <a:rPr lang="ko-KR" altLang="en-US" dirty="0"/>
              <a:t>와 </a:t>
            </a:r>
            <a:r>
              <a:rPr lang="en-US" altLang="ko-KR" dirty="0"/>
              <a:t>HF</a:t>
            </a:r>
            <a:r>
              <a:rPr lang="ko-KR" altLang="en-US" dirty="0"/>
              <a:t> 결과 연관 시킨 방법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LT</a:t>
            </a:r>
            <a:r>
              <a:rPr lang="ko-KR" altLang="en-US" dirty="0"/>
              <a:t>와의 연계</a:t>
            </a:r>
            <a:r>
              <a:rPr lang="en-US" altLang="ko-KR" dirty="0"/>
              <a:t>: </a:t>
            </a:r>
            <a:r>
              <a:rPr lang="ko-KR" altLang="en-US" dirty="0"/>
              <a:t>각 유형마다의 대화 방법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099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3678-F7F7-8578-71BB-1FE5201F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755CBF-B776-9E36-EAB4-D252E433801B}"/>
              </a:ext>
            </a:extLst>
          </p:cNvPr>
          <p:cNvSpPr txBox="1"/>
          <p:nvPr/>
        </p:nvSpPr>
        <p:spPr>
          <a:xfrm>
            <a:off x="157922" y="217925"/>
            <a:ext cx="8825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HF</a:t>
            </a:r>
            <a:r>
              <a:rPr lang="ko-KR" altLang="en-US" dirty="0"/>
              <a:t> 설문 문항 구조 및 설계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F72F23F-96E5-330D-C85D-3E5F9F8C1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390661"/>
              </p:ext>
            </p:extLst>
          </p:nvPr>
        </p:nvGraphicFramePr>
        <p:xfrm>
          <a:off x="649706" y="864256"/>
          <a:ext cx="10892588" cy="548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958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300121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3001210">
                  <a:extLst>
                    <a:ext uri="{9D8B030D-6E8A-4147-A177-3AD203B41FA5}">
                      <a16:colId xmlns:a16="http://schemas.microsoft.com/office/drawing/2014/main" val="1727500616"/>
                    </a:ext>
                  </a:extLst>
                </a:gridCol>
                <a:gridCol w="3001210">
                  <a:extLst>
                    <a:ext uri="{9D8B030D-6E8A-4147-A177-3AD203B41FA5}">
                      <a16:colId xmlns:a16="http://schemas.microsoft.com/office/drawing/2014/main" val="2994389797"/>
                    </a:ext>
                  </a:extLst>
                </a:gridCol>
              </a:tblGrid>
              <a:tr h="5988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문항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1629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 </a:t>
                      </a:r>
                      <a:r>
                        <a:rPr lang="ko-KR" altLang="en-US" dirty="0"/>
                        <a:t>대화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개인의 대화 접근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성향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r>
                        <a:rPr lang="ko-KR" altLang="en-US" dirty="0"/>
                        <a:t>문항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 </a:t>
                      </a:r>
                      <a:r>
                        <a:rPr lang="ko-KR" altLang="en-US" dirty="0"/>
                        <a:t>각 영역 당 </a:t>
                      </a: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문항 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공감형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인지형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algn="ctr" latinLnBrk="1"/>
                      <a:r>
                        <a:rPr lang="ko-KR" altLang="en-US" dirty="0"/>
                        <a:t>동기형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행동형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1629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대화 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개인이 선호하는 대화 내용 주제 방향성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r>
                        <a:rPr lang="ko-KR" altLang="en-US" dirty="0"/>
                        <a:t>문항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 </a:t>
                      </a:r>
                      <a:r>
                        <a:rPr lang="ko-KR" altLang="en-US" dirty="0"/>
                        <a:t>각 영역 당 </a:t>
                      </a: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문항 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자기인식 정서조절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관계 소통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회복 적응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행동 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1629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3. </a:t>
                      </a:r>
                      <a:r>
                        <a:rPr lang="ko-KR" altLang="en-US" dirty="0"/>
                        <a:t>신뢰도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응답의 일관성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자기인식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수준 응답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신뢰도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문항 </a:t>
                      </a:r>
                      <a:r>
                        <a:rPr lang="en-US" altLang="ko-KR" dirty="0"/>
                        <a:t>– </a:t>
                      </a:r>
                      <a:r>
                        <a:rPr lang="ko-KR" altLang="en-US" dirty="0"/>
                        <a:t>각 섹션에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분산 삽입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중복 일관성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 err="1"/>
                        <a:t>역문항</a:t>
                      </a:r>
                      <a:r>
                        <a:rPr lang="ko-KR" altLang="en-US" dirty="0"/>
                        <a:t> 일관성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사회적 </a:t>
                      </a:r>
                      <a:r>
                        <a:rPr lang="ko-KR" altLang="en-US" dirty="0" err="1"/>
                        <a:t>바람직성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189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3678-F7F7-8578-71BB-1FE5201F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755CBF-B776-9E36-EAB4-D252E433801B}"/>
              </a:ext>
            </a:extLst>
          </p:cNvPr>
          <p:cNvSpPr txBox="1"/>
          <p:nvPr/>
        </p:nvSpPr>
        <p:spPr>
          <a:xfrm>
            <a:off x="157922" y="217925"/>
            <a:ext cx="8825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HF</a:t>
            </a:r>
            <a:r>
              <a:rPr lang="ko-KR" altLang="en-US" dirty="0"/>
              <a:t> 설문 문항 구조 및 설계</a:t>
            </a:r>
            <a:r>
              <a:rPr lang="en-US" altLang="ko-KR" dirty="0"/>
              <a:t> – </a:t>
            </a:r>
            <a:r>
              <a:rPr lang="ko-KR" altLang="en-US" dirty="0"/>
              <a:t>대화 방식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핵심목표 </a:t>
            </a:r>
            <a:r>
              <a:rPr lang="en-US" altLang="ko-KR" dirty="0"/>
              <a:t>: </a:t>
            </a:r>
            <a:r>
              <a:rPr lang="ko-KR" altLang="en-US" dirty="0"/>
              <a:t>사용자가 대화할 때 어떤 심리적 접근방식을 취하는가를 파악</a:t>
            </a:r>
            <a:endParaRPr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AD43B98-E862-BB44-EC47-207C11F07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333118"/>
              </p:ext>
            </p:extLst>
          </p:nvPr>
        </p:nvGraphicFramePr>
        <p:xfrm>
          <a:off x="649705" y="1498477"/>
          <a:ext cx="10892588" cy="3398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958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300121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6002420">
                  <a:extLst>
                    <a:ext uri="{9D8B030D-6E8A-4147-A177-3AD203B41FA5}">
                      <a16:colId xmlns:a16="http://schemas.microsoft.com/office/drawing/2014/main" val="1727500616"/>
                    </a:ext>
                  </a:extLst>
                </a:gridCol>
              </a:tblGrid>
              <a:tr h="345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심리 이론적 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개념적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공감형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Rogers</a:t>
                      </a:r>
                      <a:r>
                        <a:rPr lang="ko-KR" altLang="en-US" dirty="0"/>
                        <a:t>의 인간중심상담</a:t>
                      </a:r>
                      <a:r>
                        <a:rPr lang="en-US" altLang="ko-KR" dirty="0"/>
                        <a:t>(Carl Rogers, 1951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타인의 정서에 반응하고 감정적 교류를 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Beck</a:t>
                      </a:r>
                      <a:r>
                        <a:rPr lang="ko-KR" altLang="en-US" dirty="0"/>
                        <a:t>의 인지이론</a:t>
                      </a:r>
                      <a:r>
                        <a:rPr lang="en-US" altLang="ko-KR" dirty="0"/>
                        <a:t>(1976), Lazarus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BASIC-ID(‘C’ Component)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논리적 이해 중심의 대화 선호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동기형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Self-Determination Theory (Deci &amp; Ryan, 1985)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내적 동기 유발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의미 중심적 대화 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행동형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행동치료</a:t>
                      </a:r>
                      <a:r>
                        <a:rPr lang="en-US" altLang="ko-KR" dirty="0"/>
                        <a:t>(Behaviorism, Skinner, 1953)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구체적 행동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실행 중심의 대화 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4F720C6-A508-CD8E-558F-38C2B461A949}"/>
              </a:ext>
            </a:extLst>
          </p:cNvPr>
          <p:cNvSpPr txBox="1"/>
          <p:nvPr/>
        </p:nvSpPr>
        <p:spPr>
          <a:xfrm>
            <a:off x="157921" y="5101981"/>
            <a:ext cx="114937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대 심리 축에 따라 문항 구성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영역당 </a:t>
            </a:r>
            <a:r>
              <a:rPr lang="en-US" altLang="ko-KR" dirty="0"/>
              <a:t>4</a:t>
            </a:r>
            <a:r>
              <a:rPr lang="ko-KR" altLang="en-US" dirty="0"/>
              <a:t>문항 구성 </a:t>
            </a:r>
            <a:r>
              <a:rPr lang="en-US" altLang="ko-KR" dirty="0"/>
              <a:t>( </a:t>
            </a:r>
            <a:r>
              <a:rPr lang="ko-KR" altLang="en-US" dirty="0"/>
              <a:t>긍정형 </a:t>
            </a:r>
            <a:r>
              <a:rPr lang="en-US" altLang="ko-KR" dirty="0"/>
              <a:t>3</a:t>
            </a:r>
            <a:r>
              <a:rPr lang="ko-KR" altLang="en-US" dirty="0"/>
              <a:t>개 </a:t>
            </a:r>
            <a:r>
              <a:rPr lang="en-US" altLang="ko-KR" dirty="0"/>
              <a:t>+ </a:t>
            </a:r>
            <a:r>
              <a:rPr lang="ko-KR" altLang="en-US" dirty="0" err="1"/>
              <a:t>역문항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긍정형  </a:t>
            </a:r>
            <a:r>
              <a:rPr lang="en-US" altLang="ko-KR" dirty="0"/>
              <a:t>: </a:t>
            </a:r>
            <a:r>
              <a:rPr lang="ko-KR" altLang="en-US" dirty="0"/>
              <a:t>해당 질문의 답변에 따라 </a:t>
            </a:r>
            <a:r>
              <a:rPr lang="en-US" altLang="ko-KR" dirty="0"/>
              <a:t>1 ~ 5 </a:t>
            </a:r>
            <a:r>
              <a:rPr lang="ko-KR" altLang="en-US" dirty="0"/>
              <a:t>점 점수 부여 </a:t>
            </a:r>
            <a:r>
              <a:rPr lang="en-US" altLang="ko-KR" dirty="0"/>
              <a:t>– </a:t>
            </a:r>
            <a:r>
              <a:rPr lang="ko-KR" altLang="en-US" dirty="0"/>
              <a:t>성향 파악 정량화에 사용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역문항</a:t>
            </a:r>
            <a:r>
              <a:rPr lang="ko-KR" altLang="en-US" dirty="0"/>
              <a:t>  </a:t>
            </a:r>
            <a:r>
              <a:rPr lang="en-US" altLang="ko-KR" dirty="0"/>
              <a:t>: </a:t>
            </a:r>
            <a:r>
              <a:rPr lang="ko-KR" altLang="en-US" dirty="0"/>
              <a:t>답변의 신뢰도 파악을 위해 각 영역당 </a:t>
            </a:r>
            <a:r>
              <a:rPr lang="en-US" altLang="ko-KR" dirty="0"/>
              <a:t>1</a:t>
            </a:r>
            <a:r>
              <a:rPr lang="ko-KR" altLang="en-US" dirty="0"/>
              <a:t>개 배치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933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3678-F7F7-8578-71BB-1FE5201F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755CBF-B776-9E36-EAB4-D252E433801B}"/>
              </a:ext>
            </a:extLst>
          </p:cNvPr>
          <p:cNvSpPr txBox="1"/>
          <p:nvPr/>
        </p:nvSpPr>
        <p:spPr>
          <a:xfrm>
            <a:off x="157922" y="217925"/>
            <a:ext cx="8825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HF</a:t>
            </a:r>
            <a:r>
              <a:rPr lang="ko-KR" altLang="en-US" dirty="0"/>
              <a:t> 설문 문항 구조 및 설계</a:t>
            </a:r>
            <a:r>
              <a:rPr lang="en-US" altLang="ko-KR" dirty="0"/>
              <a:t> – </a:t>
            </a:r>
            <a:r>
              <a:rPr lang="ko-KR" altLang="en-US" dirty="0"/>
              <a:t>대화 주제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핵심목표 </a:t>
            </a:r>
            <a:r>
              <a:rPr lang="en-US" altLang="ko-KR" dirty="0"/>
              <a:t>: </a:t>
            </a:r>
            <a:r>
              <a:rPr lang="ko-KR" altLang="en-US" dirty="0"/>
              <a:t>사용자가 대화 중 어떤 주제</a:t>
            </a:r>
            <a:r>
              <a:rPr lang="en-US" altLang="ko-KR" dirty="0"/>
              <a:t>, </a:t>
            </a:r>
            <a:r>
              <a:rPr lang="ko-KR" altLang="en-US" dirty="0"/>
              <a:t>내용에 정서적 반응을 보이는가를 평가</a:t>
            </a:r>
            <a:endParaRPr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AD43B98-E862-BB44-EC47-207C11F07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475852"/>
              </p:ext>
            </p:extLst>
          </p:nvPr>
        </p:nvGraphicFramePr>
        <p:xfrm>
          <a:off x="649705" y="1498477"/>
          <a:ext cx="10892588" cy="3398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958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300121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6002420">
                  <a:extLst>
                    <a:ext uri="{9D8B030D-6E8A-4147-A177-3AD203B41FA5}">
                      <a16:colId xmlns:a16="http://schemas.microsoft.com/office/drawing/2014/main" val="1727500616"/>
                    </a:ext>
                  </a:extLst>
                </a:gridCol>
              </a:tblGrid>
              <a:tr h="345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심리 이론적 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개념적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자기인식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정서조절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Gross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dirty="0"/>
                        <a:t>Emotion Regulation Model(1998), Mindfulness CBT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자신의 감정을 인식하고 조절하는 능력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관계 소통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Sullivan</a:t>
                      </a:r>
                      <a:r>
                        <a:rPr lang="ko-KR" altLang="en-US" dirty="0"/>
                        <a:t>의 대인관계이론</a:t>
                      </a:r>
                      <a:r>
                        <a:rPr lang="en-US" altLang="ko-KR" dirty="0"/>
                        <a:t>, TA(Transactional Analysis)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타인과의 상호작용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감정 교류 중심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회복 적응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Bonanno</a:t>
                      </a:r>
                      <a:r>
                        <a:rPr lang="ko-KR" altLang="en-US" dirty="0"/>
                        <a:t>의 회복탄력성 이론</a:t>
                      </a:r>
                      <a:r>
                        <a:rPr lang="en-US" altLang="ko-KR" dirty="0"/>
                        <a:t>(2004)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스트레스 상황에서 심리적 회복력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  <a:tr h="706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행동 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Behavioral Activation Theory (</a:t>
                      </a:r>
                      <a:r>
                        <a:rPr lang="en-US" altLang="ko-KR" dirty="0" err="1"/>
                        <a:t>Lewinsohn</a:t>
                      </a:r>
                      <a:r>
                        <a:rPr lang="en-US" altLang="ko-KR" dirty="0"/>
                        <a:t>, 1974)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일상 루틴 활동 조절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69901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4F720C6-A508-CD8E-558F-38C2B461A949}"/>
              </a:ext>
            </a:extLst>
          </p:cNvPr>
          <p:cNvSpPr txBox="1"/>
          <p:nvPr/>
        </p:nvSpPr>
        <p:spPr>
          <a:xfrm>
            <a:off x="157921" y="5101981"/>
            <a:ext cx="114937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개인의 정서조절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사회적 상호작용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회복탄력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행동습관의 </a:t>
            </a:r>
            <a:r>
              <a:rPr lang="en-US" altLang="ko-KR" dirty="0">
                <a:sym typeface="Wingdings" panose="05000000000000000000" pitchFamily="2" charset="2"/>
              </a:rPr>
              <a:t>4</a:t>
            </a:r>
            <a:r>
              <a:rPr lang="ko-KR" altLang="en-US" dirty="0">
                <a:sym typeface="Wingdings" panose="05000000000000000000" pitchFamily="2" charset="2"/>
              </a:rPr>
              <a:t>단계 심리 프로세스 구조에 기반하여 설계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영역당 </a:t>
            </a:r>
            <a:r>
              <a:rPr lang="en-US" altLang="ko-KR" dirty="0"/>
              <a:t>5</a:t>
            </a:r>
            <a:r>
              <a:rPr lang="ko-KR" altLang="en-US" dirty="0"/>
              <a:t>문항 구성 </a:t>
            </a:r>
            <a:r>
              <a:rPr lang="en-US" altLang="ko-KR" dirty="0"/>
              <a:t>( </a:t>
            </a:r>
            <a:r>
              <a:rPr lang="ko-KR" altLang="en-US" dirty="0"/>
              <a:t>긍정형 </a:t>
            </a:r>
            <a:r>
              <a:rPr lang="en-US" altLang="ko-KR" dirty="0"/>
              <a:t>3</a:t>
            </a:r>
            <a:r>
              <a:rPr lang="ko-KR" altLang="en-US" dirty="0"/>
              <a:t>개 </a:t>
            </a:r>
            <a:r>
              <a:rPr lang="en-US" altLang="ko-KR" dirty="0"/>
              <a:t>+ </a:t>
            </a:r>
            <a:r>
              <a:rPr lang="ko-KR" altLang="en-US" dirty="0" err="1"/>
              <a:t>역문항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긍정형  </a:t>
            </a:r>
            <a:r>
              <a:rPr lang="en-US" altLang="ko-KR" dirty="0"/>
              <a:t>: </a:t>
            </a:r>
            <a:r>
              <a:rPr lang="ko-KR" altLang="en-US" dirty="0"/>
              <a:t>해당 질문의 답변에 따라 </a:t>
            </a:r>
            <a:r>
              <a:rPr lang="en-US" altLang="ko-KR" dirty="0"/>
              <a:t>1 ~ 5 </a:t>
            </a:r>
            <a:r>
              <a:rPr lang="ko-KR" altLang="en-US" dirty="0"/>
              <a:t>점 점수 부여 </a:t>
            </a:r>
            <a:r>
              <a:rPr lang="en-US" altLang="ko-KR" dirty="0"/>
              <a:t>– </a:t>
            </a:r>
            <a:r>
              <a:rPr lang="ko-KR" altLang="en-US" dirty="0"/>
              <a:t>성향 파악 정량화에 사용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역문항</a:t>
            </a:r>
            <a:r>
              <a:rPr lang="ko-KR" altLang="en-US" dirty="0"/>
              <a:t>  </a:t>
            </a:r>
            <a:r>
              <a:rPr lang="en-US" altLang="ko-KR" dirty="0"/>
              <a:t>: </a:t>
            </a:r>
            <a:r>
              <a:rPr lang="ko-KR" altLang="en-US" dirty="0"/>
              <a:t>답변의 신뢰도 파악을 위해 각 영역당 </a:t>
            </a:r>
            <a:r>
              <a:rPr lang="en-US" altLang="ko-KR" dirty="0"/>
              <a:t>1</a:t>
            </a:r>
            <a:r>
              <a:rPr lang="ko-KR" altLang="en-US" dirty="0"/>
              <a:t>개 배치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37780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3678-F7F7-8578-71BB-1FE5201F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755CBF-B776-9E36-EAB4-D252E433801B}"/>
              </a:ext>
            </a:extLst>
          </p:cNvPr>
          <p:cNvSpPr txBox="1"/>
          <p:nvPr/>
        </p:nvSpPr>
        <p:spPr>
          <a:xfrm>
            <a:off x="157922" y="217925"/>
            <a:ext cx="8825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HF</a:t>
            </a:r>
            <a:r>
              <a:rPr lang="ko-KR" altLang="en-US" dirty="0"/>
              <a:t> 설문 문항 구조 및 설계</a:t>
            </a:r>
            <a:r>
              <a:rPr lang="en-US" altLang="ko-KR" dirty="0"/>
              <a:t> – </a:t>
            </a:r>
            <a:r>
              <a:rPr lang="ko-KR" altLang="en-US" dirty="0"/>
              <a:t>신뢰도 검증 문항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핵심목표 </a:t>
            </a:r>
            <a:r>
              <a:rPr lang="en-US" altLang="ko-KR" dirty="0"/>
              <a:t>:</a:t>
            </a:r>
            <a:r>
              <a:rPr lang="ko-KR" altLang="en-US" dirty="0"/>
              <a:t> 응답의 신뢰성</a:t>
            </a:r>
            <a:r>
              <a:rPr lang="en-US" altLang="ko-KR" dirty="0"/>
              <a:t>, </a:t>
            </a:r>
            <a:r>
              <a:rPr lang="ko-KR" altLang="en-US" dirty="0"/>
              <a:t>일관성을 내재적으로 점검</a:t>
            </a:r>
            <a:endParaRPr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AD43B98-E862-BB44-EC47-207C11F07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468920"/>
              </p:ext>
            </p:extLst>
          </p:nvPr>
        </p:nvGraphicFramePr>
        <p:xfrm>
          <a:off x="649705" y="1498476"/>
          <a:ext cx="10892588" cy="3419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958">
                  <a:extLst>
                    <a:ext uri="{9D8B030D-6E8A-4147-A177-3AD203B41FA5}">
                      <a16:colId xmlns:a16="http://schemas.microsoft.com/office/drawing/2014/main" val="948832524"/>
                    </a:ext>
                  </a:extLst>
                </a:gridCol>
                <a:gridCol w="3001210">
                  <a:extLst>
                    <a:ext uri="{9D8B030D-6E8A-4147-A177-3AD203B41FA5}">
                      <a16:colId xmlns:a16="http://schemas.microsoft.com/office/drawing/2014/main" val="2592456319"/>
                    </a:ext>
                  </a:extLst>
                </a:gridCol>
                <a:gridCol w="6002420">
                  <a:extLst>
                    <a:ext uri="{9D8B030D-6E8A-4147-A177-3AD203B41FA5}">
                      <a16:colId xmlns:a16="http://schemas.microsoft.com/office/drawing/2014/main" val="1727500616"/>
                    </a:ext>
                  </a:extLst>
                </a:gridCol>
              </a:tblGrid>
              <a:tr h="464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측정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개념적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535075"/>
                  </a:ext>
                </a:extLst>
              </a:tr>
              <a:tr h="1161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중복 일관성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동일 문항의 반복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변형형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평균 상관성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Ex)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감정을 알아차린다</a:t>
                      </a:r>
                      <a:r>
                        <a:rPr lang="en-US" altLang="ko-KR" dirty="0"/>
                        <a:t>” vs “</a:t>
                      </a:r>
                      <a:r>
                        <a:rPr lang="ko-KR" altLang="en-US" dirty="0"/>
                        <a:t>감정을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조절한다</a:t>
                      </a:r>
                      <a:r>
                        <a:rPr lang="en-US" altLang="ko-KR" dirty="0"/>
                        <a:t>”</a:t>
                      </a:r>
                    </a:p>
                    <a:p>
                      <a:pPr algn="ctr" latinLnBrk="1"/>
                      <a:r>
                        <a:rPr lang="ko-KR" altLang="en-US" dirty="0"/>
                        <a:t>응답일치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2688"/>
                  </a:ext>
                </a:extLst>
              </a:tr>
              <a:tr h="896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역문항</a:t>
                      </a:r>
                      <a:r>
                        <a:rPr lang="ko-KR" altLang="en-US" dirty="0"/>
                        <a:t> 일관성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긍정형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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부정형</a:t>
                      </a: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sym typeface="Wingdings" panose="05000000000000000000" pitchFamily="2" charset="2"/>
                        </a:rPr>
                        <a:t>문항간 역상관 검증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Ex) “</a:t>
                      </a:r>
                      <a:r>
                        <a:rPr lang="ko-KR" altLang="en-US" dirty="0"/>
                        <a:t>나는 잘 듣는다</a:t>
                      </a:r>
                      <a:r>
                        <a:rPr lang="en-US" altLang="ko-KR" dirty="0"/>
                        <a:t>” vs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다른 사람 말을 잘 끊는다</a:t>
                      </a:r>
                      <a:r>
                        <a:rPr lang="en-US" altLang="ko-KR" dirty="0"/>
                        <a:t>”</a:t>
                      </a:r>
                    </a:p>
                    <a:p>
                      <a:pPr algn="ctr" latinLnBrk="1"/>
                      <a:r>
                        <a:rPr lang="ko-KR" altLang="en-US" dirty="0"/>
                        <a:t>역상관 확인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846113"/>
                  </a:ext>
                </a:extLst>
              </a:tr>
              <a:tr h="896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사회적 </a:t>
                      </a:r>
                      <a:r>
                        <a:rPr lang="ko-KR" altLang="en-US" dirty="0" err="1"/>
                        <a:t>바람직성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보정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모든 긍정형 응답의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과도한 편향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모든 문항에서 </a:t>
                      </a:r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매우 그렇다</a:t>
                      </a:r>
                      <a:r>
                        <a:rPr lang="en-US" altLang="ko-KR" dirty="0"/>
                        <a:t>” </a:t>
                      </a:r>
                      <a:r>
                        <a:rPr lang="ko-KR" altLang="en-US" dirty="0"/>
                        <a:t>또는 </a:t>
                      </a:r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매우 아니다</a:t>
                      </a:r>
                      <a:r>
                        <a:rPr lang="en-US" altLang="ko-KR" dirty="0"/>
                        <a:t>”</a:t>
                      </a:r>
                    </a:p>
                    <a:p>
                      <a:pPr algn="ctr" latinLnBrk="1"/>
                      <a:r>
                        <a:rPr lang="ko-KR" altLang="en-US" dirty="0"/>
                        <a:t>등의 응답률이 일정 수준 넘을 시 </a:t>
                      </a:r>
                      <a:r>
                        <a:rPr lang="ko-KR" altLang="en-US" dirty="0" err="1"/>
                        <a:t>보정값</a:t>
                      </a:r>
                      <a:r>
                        <a:rPr lang="ko-KR" altLang="en-US" dirty="0"/>
                        <a:t> 부여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08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30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CD6ACB-733E-5166-2CE6-0BD23D548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10" r="18910"/>
          <a:stretch>
            <a:fillRect/>
          </a:stretch>
        </p:blipFill>
        <p:spPr>
          <a:xfrm>
            <a:off x="0" y="0"/>
            <a:ext cx="3894666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C2F0E3-B7B7-B92E-1F47-CF3483B025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45" r="19976" b="44321"/>
          <a:stretch>
            <a:fillRect/>
          </a:stretch>
        </p:blipFill>
        <p:spPr>
          <a:xfrm>
            <a:off x="4036892" y="1181100"/>
            <a:ext cx="4406082" cy="4495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2AB6F9-78DB-E8A4-5DDB-D000A0087C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03" t="55185" r="49075"/>
          <a:stretch>
            <a:fillRect/>
          </a:stretch>
        </p:blipFill>
        <p:spPr>
          <a:xfrm>
            <a:off x="8585200" y="662561"/>
            <a:ext cx="3223623" cy="553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1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A682F25-8D2E-2BFD-AE02-C98258A97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545817"/>
              </p:ext>
            </p:extLst>
          </p:nvPr>
        </p:nvGraphicFramePr>
        <p:xfrm>
          <a:off x="603812" y="211232"/>
          <a:ext cx="10984376" cy="643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7695">
                  <a:extLst>
                    <a:ext uri="{9D8B030D-6E8A-4147-A177-3AD203B41FA5}">
                      <a16:colId xmlns:a16="http://schemas.microsoft.com/office/drawing/2014/main" val="837225828"/>
                    </a:ext>
                  </a:extLst>
                </a:gridCol>
                <a:gridCol w="607695">
                  <a:extLst>
                    <a:ext uri="{9D8B030D-6E8A-4147-A177-3AD203B41FA5}">
                      <a16:colId xmlns:a16="http://schemas.microsoft.com/office/drawing/2014/main" val="2230334938"/>
                    </a:ext>
                  </a:extLst>
                </a:gridCol>
                <a:gridCol w="894344">
                  <a:extLst>
                    <a:ext uri="{9D8B030D-6E8A-4147-A177-3AD203B41FA5}">
                      <a16:colId xmlns:a16="http://schemas.microsoft.com/office/drawing/2014/main" val="3970654787"/>
                    </a:ext>
                  </a:extLst>
                </a:gridCol>
                <a:gridCol w="1146594">
                  <a:extLst>
                    <a:ext uri="{9D8B030D-6E8A-4147-A177-3AD203B41FA5}">
                      <a16:colId xmlns:a16="http://schemas.microsoft.com/office/drawing/2014/main" val="1633695198"/>
                    </a:ext>
                  </a:extLst>
                </a:gridCol>
                <a:gridCol w="1146594">
                  <a:extLst>
                    <a:ext uri="{9D8B030D-6E8A-4147-A177-3AD203B41FA5}">
                      <a16:colId xmlns:a16="http://schemas.microsoft.com/office/drawing/2014/main" val="1715059472"/>
                    </a:ext>
                  </a:extLst>
                </a:gridCol>
                <a:gridCol w="676491">
                  <a:extLst>
                    <a:ext uri="{9D8B030D-6E8A-4147-A177-3AD203B41FA5}">
                      <a16:colId xmlns:a16="http://schemas.microsoft.com/office/drawing/2014/main" val="2351200365"/>
                    </a:ext>
                  </a:extLst>
                </a:gridCol>
                <a:gridCol w="676491">
                  <a:extLst>
                    <a:ext uri="{9D8B030D-6E8A-4147-A177-3AD203B41FA5}">
                      <a16:colId xmlns:a16="http://schemas.microsoft.com/office/drawing/2014/main" val="4280986283"/>
                    </a:ext>
                  </a:extLst>
                </a:gridCol>
                <a:gridCol w="710889">
                  <a:extLst>
                    <a:ext uri="{9D8B030D-6E8A-4147-A177-3AD203B41FA5}">
                      <a16:colId xmlns:a16="http://schemas.microsoft.com/office/drawing/2014/main" val="3148634659"/>
                    </a:ext>
                  </a:extLst>
                </a:gridCol>
                <a:gridCol w="894344">
                  <a:extLst>
                    <a:ext uri="{9D8B030D-6E8A-4147-A177-3AD203B41FA5}">
                      <a16:colId xmlns:a16="http://schemas.microsoft.com/office/drawing/2014/main" val="2296072577"/>
                    </a:ext>
                  </a:extLst>
                </a:gridCol>
                <a:gridCol w="1352981">
                  <a:extLst>
                    <a:ext uri="{9D8B030D-6E8A-4147-A177-3AD203B41FA5}">
                      <a16:colId xmlns:a16="http://schemas.microsoft.com/office/drawing/2014/main" val="3205630006"/>
                    </a:ext>
                  </a:extLst>
                </a:gridCol>
                <a:gridCol w="768219">
                  <a:extLst>
                    <a:ext uri="{9D8B030D-6E8A-4147-A177-3AD203B41FA5}">
                      <a16:colId xmlns:a16="http://schemas.microsoft.com/office/drawing/2014/main" val="315253426"/>
                    </a:ext>
                  </a:extLst>
                </a:gridCol>
                <a:gridCol w="1502039">
                  <a:extLst>
                    <a:ext uri="{9D8B030D-6E8A-4147-A177-3AD203B41FA5}">
                      <a16:colId xmlns:a16="http://schemas.microsoft.com/office/drawing/2014/main" val="153229217"/>
                    </a:ext>
                  </a:extLst>
                </a:gridCol>
              </a:tblGrid>
              <a:tr h="451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대화방식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보조 대화방식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대화주제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보조 대화주제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추정 </a:t>
                      </a:r>
                      <a:r>
                        <a:rPr lang="en-US" sz="500" u="none" strike="noStrike">
                          <a:effectLst/>
                        </a:rPr>
                        <a:t>MBTI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실제 </a:t>
                      </a:r>
                      <a:r>
                        <a:rPr lang="en-US" sz="500" u="none" strike="noStrike">
                          <a:effectLst/>
                        </a:rPr>
                        <a:t>MBTI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중복일관성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역문항 일관성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사회적 바람직성 보정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종합 신뢰도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설문 후 직접 진행한 타당도 설문의 점수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333708838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024494317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653124036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629448428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48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919008166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48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252524177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108053742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043310632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48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58928282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84131035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332638070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956185782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485350651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853543125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59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344447018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979001244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637645133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457421716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691802039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172356986"/>
                  </a:ext>
                </a:extLst>
              </a:tr>
              <a:tr h="118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07295727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617239917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837557093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066758021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351648041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167476211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459796629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333666766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54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277162894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29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607660741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63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210645925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5133244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081917769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274937134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414142345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INTP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2250856491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022524459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행동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습관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ISTJ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76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3762636612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ISFJ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-0.12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86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1038446787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39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인지형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회복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적응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ESFP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87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-0.28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85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81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4049122984"/>
                  </a:ext>
                </a:extLst>
              </a:tr>
              <a:tr h="1504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40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공감형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동기형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자기인식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정서조절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u="none" strike="noStrike">
                          <a:effectLst/>
                        </a:rPr>
                        <a:t>관계</a:t>
                      </a:r>
                      <a:r>
                        <a:rPr lang="en-US" altLang="ko-KR" sz="500" u="none" strike="noStrike">
                          <a:effectLst/>
                        </a:rPr>
                        <a:t>,</a:t>
                      </a:r>
                      <a:r>
                        <a:rPr lang="ko-KR" altLang="en-US" sz="500" u="none" strike="noStrike">
                          <a:effectLst/>
                        </a:rPr>
                        <a:t>소통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INFP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100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94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-0.3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>
                          <a:effectLst/>
                        </a:rPr>
                        <a:t>93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500" u="none" strike="noStrike" dirty="0">
                          <a:effectLst/>
                        </a:rPr>
                        <a:t>95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9" marR="3489" marT="3489" marB="0" anchor="ctr"/>
                </a:tc>
                <a:extLst>
                  <a:ext uri="{0D108BD9-81ED-4DB2-BD59-A6C34878D82A}">
                    <a16:rowId xmlns:a16="http://schemas.microsoft.com/office/drawing/2014/main" val="513271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079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25B3B-9A77-1B91-1F6F-953C3552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437BCB-0B7B-17B7-C575-73E12D8A6418}"/>
              </a:ext>
            </a:extLst>
          </p:cNvPr>
          <p:cNvSpPr txBox="1"/>
          <p:nvPr/>
        </p:nvSpPr>
        <p:spPr>
          <a:xfrm>
            <a:off x="254000" y="53103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표본을　바탕으로　한　신뢰도　평가</a:t>
            </a:r>
            <a:endParaRPr lang="en-US" altLang="ko-KR" sz="24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86578C-E407-F172-4B85-5D1076447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085826"/>
              </p:ext>
            </p:extLst>
          </p:nvPr>
        </p:nvGraphicFramePr>
        <p:xfrm>
          <a:off x="254000" y="1654325"/>
          <a:ext cx="11684000" cy="3549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837724808"/>
                    </a:ext>
                  </a:extLst>
                </a:gridCol>
                <a:gridCol w="2641184">
                  <a:extLst>
                    <a:ext uri="{9D8B030D-6E8A-4147-A177-3AD203B41FA5}">
                      <a16:colId xmlns:a16="http://schemas.microsoft.com/office/drawing/2014/main" val="3490814439"/>
                    </a:ext>
                  </a:extLst>
                </a:gridCol>
                <a:gridCol w="1711862">
                  <a:extLst>
                    <a:ext uri="{9D8B030D-6E8A-4147-A177-3AD203B41FA5}">
                      <a16:colId xmlns:a16="http://schemas.microsoft.com/office/drawing/2014/main" val="1544796053"/>
                    </a:ext>
                  </a:extLst>
                </a:gridCol>
                <a:gridCol w="4409954">
                  <a:extLst>
                    <a:ext uri="{9D8B030D-6E8A-4147-A177-3AD203B41FA5}">
                      <a16:colId xmlns:a16="http://schemas.microsoft.com/office/drawing/2014/main" val="1548132496"/>
                    </a:ext>
                  </a:extLst>
                </a:gridCol>
              </a:tblGrid>
              <a:tr h="460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계산　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984062"/>
                  </a:ext>
                </a:extLst>
              </a:tr>
              <a:tr h="6134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중복　일관성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４０개　값의　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８６．５５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같은　질문을　반복했을　때　일관성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266983"/>
                  </a:ext>
                </a:extLst>
              </a:tr>
              <a:tr h="6206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 err="1"/>
                        <a:t>역문항</a:t>
                      </a:r>
                      <a:r>
                        <a:rPr lang="ko-KR" altLang="en-US" spc="-100" baseline="0" dirty="0"/>
                        <a:t>　일관성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４０개　값의　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８１．７５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반대　방향　질문에　대한　일관성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877368"/>
                  </a:ext>
                </a:extLst>
              </a:tr>
              <a:tr h="6206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사회적　</a:t>
                      </a:r>
                      <a:r>
                        <a:rPr lang="ko-KR" altLang="en-US" spc="-100" baseline="0" dirty="0" err="1"/>
                        <a:t>바람직성</a:t>
                      </a:r>
                      <a:endParaRPr lang="ko-KR" altLang="en-US" spc="-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보정　값의　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－０．２３４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좋게　보이려는　경향에　대한　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066505"/>
                  </a:ext>
                </a:extLst>
              </a:tr>
              <a:tr h="6206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종합　신뢰도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４０개　값의　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８３．２２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최종　신뢰도　８０　이상으로　우수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84324"/>
                  </a:ext>
                </a:extLst>
              </a:tr>
              <a:tr h="6129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ＭＢＴＩ　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일치　수　／　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３７．５％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pc="-100" baseline="0" dirty="0"/>
                        <a:t>개선　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165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124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2237A-1F72-5034-C44D-16F8A700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06ED5-B615-1C73-3EA6-70D7692B4C35}"/>
              </a:ext>
            </a:extLst>
          </p:cNvPr>
          <p:cNvSpPr txBox="1"/>
          <p:nvPr/>
        </p:nvSpPr>
        <p:spPr>
          <a:xfrm>
            <a:off x="138896" y="266217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표본을　바탕으로　한　신뢰도　평가</a:t>
            </a:r>
            <a:endParaRPr lang="en-US" altLang="ko-KR" sz="2400" b="1" dirty="0"/>
          </a:p>
          <a:p>
            <a:r>
              <a:rPr lang="ko-KR" altLang="en-US" sz="2400" b="1" dirty="0"/>
              <a:t>：　타당도　검증</a:t>
            </a:r>
            <a:endParaRPr lang="en-US" altLang="ko-KR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01A23-7028-1446-096F-241D8A71DCA3}"/>
              </a:ext>
            </a:extLst>
          </p:cNvPr>
          <p:cNvSpPr txBox="1"/>
          <p:nvPr/>
        </p:nvSpPr>
        <p:spPr>
          <a:xfrm>
            <a:off x="554636" y="1825133"/>
            <a:ext cx="113025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타당도</a:t>
            </a:r>
            <a:r>
              <a:rPr lang="en-US" altLang="ko-KR" sz="2800" dirty="0"/>
              <a:t>(Validity)</a:t>
            </a:r>
            <a:r>
              <a:rPr lang="ko-KR" altLang="en-US" sz="2800" dirty="0"/>
              <a:t>란？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－　신뢰도 ≠ 타당도</a:t>
            </a:r>
          </a:p>
          <a:p>
            <a:r>
              <a:rPr lang="ko-KR" altLang="en-US" sz="2800" dirty="0"/>
              <a:t>－　신뢰도</a:t>
            </a:r>
            <a:r>
              <a:rPr lang="en-US" altLang="ko-KR" sz="2800" dirty="0"/>
              <a:t>: "</a:t>
            </a:r>
            <a:r>
              <a:rPr lang="ko-KR" altLang="en-US" sz="2800" dirty="0"/>
              <a:t>일관성 있나</a:t>
            </a:r>
            <a:r>
              <a:rPr lang="en-US" altLang="ko-KR" sz="2800" dirty="0"/>
              <a:t>?" (</a:t>
            </a:r>
            <a:r>
              <a:rPr lang="ko-KR" altLang="en-US" sz="2800" dirty="0"/>
              <a:t>반복했을 때 같은가</a:t>
            </a:r>
            <a:r>
              <a:rPr lang="en-US" altLang="ko-KR" sz="2800" dirty="0"/>
              <a:t>?)</a:t>
            </a:r>
          </a:p>
          <a:p>
            <a:r>
              <a:rPr lang="ko-KR" altLang="en-US" sz="2800" dirty="0"/>
              <a:t>－　타당도</a:t>
            </a:r>
            <a:r>
              <a:rPr lang="en-US" altLang="ko-KR" sz="2800" dirty="0"/>
              <a:t>: "</a:t>
            </a:r>
            <a:r>
              <a:rPr lang="ko-KR" altLang="en-US" sz="2800" dirty="0"/>
              <a:t>정말 맞는 것을 측정하나</a:t>
            </a:r>
            <a:r>
              <a:rPr lang="en-US" altLang="ko-KR" sz="2800" dirty="0"/>
              <a:t>?" (</a:t>
            </a:r>
            <a:r>
              <a:rPr lang="ko-KR" altLang="en-US" sz="2800" dirty="0"/>
              <a:t>실제로 유효한가</a:t>
            </a:r>
            <a:r>
              <a:rPr lang="en-US" altLang="ko-KR" sz="2800" dirty="0"/>
              <a:t>?)</a:t>
            </a:r>
          </a:p>
          <a:p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56C39-F4F5-5F9D-F0A4-F599E04AA6E3}"/>
              </a:ext>
            </a:extLst>
          </p:cNvPr>
          <p:cNvSpPr txBox="1"/>
          <p:nvPr/>
        </p:nvSpPr>
        <p:spPr>
          <a:xfrm>
            <a:off x="1581334" y="4502789"/>
            <a:ext cx="902933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（예시）</a:t>
            </a:r>
            <a:endParaRPr lang="en-US" altLang="ko-KR" sz="2000" dirty="0"/>
          </a:p>
          <a:p>
            <a:r>
              <a:rPr lang="ko-KR" altLang="en-US" sz="2000" dirty="0"/>
              <a:t>－　신뢰도</a:t>
            </a:r>
            <a:r>
              <a:rPr lang="en-US" altLang="ko-KR" sz="2000" dirty="0"/>
              <a:t>: </a:t>
            </a:r>
            <a:r>
              <a:rPr lang="ko-KR" altLang="en-US" sz="2000" dirty="0"/>
              <a:t>매번 </a:t>
            </a:r>
            <a:r>
              <a:rPr lang="en-US" altLang="ko-KR" sz="2000" dirty="0"/>
              <a:t>"65kg"</a:t>
            </a:r>
            <a:r>
              <a:rPr lang="ko-KR" altLang="en-US" sz="2000" dirty="0"/>
              <a:t>이라고 나온다 </a:t>
            </a:r>
            <a:r>
              <a:rPr lang="en-US" altLang="ko-KR" sz="2000" dirty="0"/>
              <a:t>(</a:t>
            </a:r>
            <a:r>
              <a:rPr lang="ko-KR" altLang="en-US" sz="2000" dirty="0"/>
              <a:t>일관성 있음</a:t>
            </a:r>
            <a:r>
              <a:rPr lang="en-US" altLang="ko-KR" sz="2000" dirty="0"/>
              <a:t>) ✓ </a:t>
            </a:r>
          </a:p>
          <a:p>
            <a:r>
              <a:rPr lang="ko-KR" altLang="en-US" sz="2000" dirty="0"/>
              <a:t>－　타당도</a:t>
            </a:r>
            <a:r>
              <a:rPr lang="en-US" altLang="ko-KR" sz="2000" dirty="0"/>
              <a:t>: </a:t>
            </a:r>
            <a:r>
              <a:rPr lang="ko-KR" altLang="en-US" sz="2000" dirty="0"/>
              <a:t>실제로 우리가 </a:t>
            </a:r>
            <a:r>
              <a:rPr lang="en-US" altLang="ko-KR" sz="2000" dirty="0"/>
              <a:t>65kg</a:t>
            </a:r>
            <a:r>
              <a:rPr lang="ko-KR" altLang="en-US" sz="2000" dirty="0"/>
              <a:t>인가</a:t>
            </a:r>
            <a:r>
              <a:rPr lang="en-US" altLang="ko-KR" sz="2000" dirty="0"/>
              <a:t>? (</a:t>
            </a:r>
            <a:r>
              <a:rPr lang="ko-KR" altLang="en-US" sz="2000" dirty="0"/>
              <a:t>정말 맞는가</a:t>
            </a:r>
            <a:r>
              <a:rPr lang="en-US" altLang="ko-KR" sz="2000" dirty="0"/>
              <a:t>?) ? </a:t>
            </a:r>
          </a:p>
          <a:p>
            <a:endParaRPr lang="en-US" altLang="ko-KR" sz="2000" dirty="0"/>
          </a:p>
          <a:p>
            <a:r>
              <a:rPr lang="ko-KR" altLang="en-US" sz="2000" dirty="0"/>
              <a:t>　</a:t>
            </a:r>
            <a:r>
              <a:rPr lang="en-US" altLang="ko-KR" sz="2000" dirty="0"/>
              <a:t>→ </a:t>
            </a:r>
            <a:r>
              <a:rPr lang="ko-KR" altLang="en-US" sz="2000" dirty="0"/>
              <a:t>체중계가 항상 </a:t>
            </a:r>
            <a:r>
              <a:rPr lang="en-US" altLang="ko-KR" sz="2000" dirty="0"/>
              <a:t>1kg </a:t>
            </a:r>
            <a:r>
              <a:rPr lang="ko-KR" altLang="en-US" sz="2000" dirty="0"/>
              <a:t>많게 나온다면</a:t>
            </a:r>
            <a:r>
              <a:rPr lang="en-US" altLang="ko-KR" sz="2000" dirty="0"/>
              <a:t>? </a:t>
            </a:r>
            <a:r>
              <a:rPr lang="ko-KR" altLang="en-US" sz="2000" dirty="0"/>
              <a:t>신뢰도는 우수하지만 타당도는 낮음</a:t>
            </a:r>
            <a:r>
              <a:rPr lang="en-US" altLang="ko-KR" sz="2000" dirty="0"/>
              <a:t>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2163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A3AD-8D0C-D2B9-B631-4408DC3E5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6B91E-95F6-9DE2-DB33-C0A3858A62AA}"/>
              </a:ext>
            </a:extLst>
          </p:cNvPr>
          <p:cNvSpPr txBox="1"/>
          <p:nvPr/>
        </p:nvSpPr>
        <p:spPr>
          <a:xfrm>
            <a:off x="138896" y="266217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표본을　바탕으로　한　신뢰도　평가</a:t>
            </a:r>
            <a:endParaRPr lang="en-US" altLang="ko-KR" sz="2400" b="1" dirty="0"/>
          </a:p>
          <a:p>
            <a:r>
              <a:rPr lang="ko-KR" altLang="en-US" sz="2400" b="1" dirty="0"/>
              <a:t>：　타당도　검증</a:t>
            </a:r>
            <a:endParaRPr lang="en-US" altLang="ko-KR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481CD-020A-9DBB-BFA3-7DEB346EFBE6}"/>
              </a:ext>
            </a:extLst>
          </p:cNvPr>
          <p:cNvSpPr txBox="1"/>
          <p:nvPr/>
        </p:nvSpPr>
        <p:spPr>
          <a:xfrm>
            <a:off x="444708" y="1752359"/>
            <a:ext cx="1130258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ANOVA</a:t>
            </a:r>
            <a:r>
              <a:rPr lang="ko-KR" altLang="en-US" sz="2800" dirty="0"/>
              <a:t>란</a:t>
            </a:r>
            <a:r>
              <a:rPr lang="en-US" altLang="ko-KR" sz="2800" dirty="0"/>
              <a:t>?</a:t>
            </a:r>
          </a:p>
          <a:p>
            <a:r>
              <a:rPr lang="ko-KR" altLang="en-US" sz="2800" dirty="0"/>
              <a:t>－　</a:t>
            </a:r>
            <a:r>
              <a:rPr lang="en-US" altLang="ko-KR" sz="2800" dirty="0"/>
              <a:t>ANOVA(</a:t>
            </a:r>
            <a:r>
              <a:rPr lang="ko-KR" altLang="en-US" sz="2800" dirty="0"/>
              <a:t>분산분석</a:t>
            </a:r>
            <a:r>
              <a:rPr lang="en-US" altLang="ko-KR" sz="2800" dirty="0"/>
              <a:t>)</a:t>
            </a:r>
            <a:r>
              <a:rPr lang="ko-KR" altLang="en-US" sz="2800" dirty="0"/>
              <a:t>는 여러 그룹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네 가지 대화주제별</a:t>
            </a:r>
            <a:r>
              <a:rPr lang="en-US" altLang="ko-KR" sz="2800" dirty="0"/>
              <a:t>)</a:t>
            </a:r>
            <a:r>
              <a:rPr lang="ko-KR" altLang="en-US" sz="2800" dirty="0"/>
              <a:t>의 평균이 서로 유의미하게 </a:t>
            </a:r>
            <a:r>
              <a:rPr lang="ko-KR" altLang="en-US" sz="2800" dirty="0" err="1"/>
              <a:t>다른지</a:t>
            </a:r>
            <a:r>
              <a:rPr lang="ko-KR" altLang="en-US" sz="2800" dirty="0"/>
              <a:t> 검정하는 통계 기법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r>
              <a:rPr lang="ko-KR" altLang="en-US" sz="2000" dirty="0"/>
              <a:t>（예시）</a:t>
            </a:r>
            <a:endParaRPr lang="en-US" altLang="ko-KR" sz="2000" dirty="0"/>
          </a:p>
          <a:p>
            <a:r>
              <a:rPr lang="ko-KR" altLang="en-US" sz="2000" dirty="0"/>
              <a:t>－　만약 </a:t>
            </a:r>
            <a:r>
              <a:rPr lang="en-US" altLang="ko-KR" sz="2000" dirty="0"/>
              <a:t>'</a:t>
            </a:r>
            <a:r>
              <a:rPr lang="ko-KR" altLang="en-US" sz="2000" dirty="0"/>
              <a:t>자기인식</a:t>
            </a:r>
            <a:r>
              <a:rPr lang="en-US" altLang="ko-KR" sz="2000" dirty="0"/>
              <a:t>', '</a:t>
            </a:r>
            <a:r>
              <a:rPr lang="ko-KR" altLang="en-US" sz="2000" dirty="0"/>
              <a:t>정서조절</a:t>
            </a:r>
            <a:r>
              <a:rPr lang="en-US" altLang="ko-KR" sz="2000" dirty="0"/>
              <a:t>', '</a:t>
            </a:r>
            <a:r>
              <a:rPr lang="ko-KR" altLang="en-US" sz="2000" dirty="0"/>
              <a:t>관계소통</a:t>
            </a:r>
            <a:r>
              <a:rPr lang="en-US" altLang="ko-KR" sz="2000" dirty="0"/>
              <a:t>', '</a:t>
            </a:r>
            <a:r>
              <a:rPr lang="ko-KR" altLang="en-US" sz="2000" dirty="0"/>
              <a:t>회복적응</a:t>
            </a:r>
            <a:r>
              <a:rPr lang="en-US" altLang="ko-KR" sz="2000" dirty="0"/>
              <a:t>' </a:t>
            </a:r>
            <a:r>
              <a:rPr lang="ko-KR" altLang="en-US" sz="2000" dirty="0"/>
              <a:t>네 그룹의 설문 신뢰도 평균이 정말 </a:t>
            </a:r>
            <a:endParaRPr lang="en-US" altLang="ko-KR" sz="2000" dirty="0"/>
          </a:p>
          <a:p>
            <a:r>
              <a:rPr lang="ko-KR" altLang="en-US" sz="2000" dirty="0"/>
              <a:t>다 다른　지</a:t>
            </a:r>
            <a:r>
              <a:rPr lang="en-US" altLang="ko-KR" sz="2000" dirty="0"/>
              <a:t>, </a:t>
            </a:r>
            <a:r>
              <a:rPr lang="ko-KR" altLang="en-US" sz="2000" dirty="0"/>
              <a:t>아니면 말 그대로 </a:t>
            </a:r>
            <a:r>
              <a:rPr lang="en-US" altLang="ko-KR" sz="2000" dirty="0"/>
              <a:t>'</a:t>
            </a:r>
            <a:r>
              <a:rPr lang="ko-KR" altLang="en-US" sz="2000" dirty="0"/>
              <a:t>그냥 있을 수 있는 차이</a:t>
            </a:r>
            <a:r>
              <a:rPr lang="en-US" altLang="ko-KR" sz="2000" dirty="0"/>
              <a:t>'</a:t>
            </a:r>
            <a:r>
              <a:rPr lang="ko-KR" altLang="en-US" sz="2000" dirty="0"/>
              <a:t>인지 판단할 때 사용한다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9F8DE-6B00-77E5-A9EE-D9CC5AD1D3DC}"/>
              </a:ext>
            </a:extLst>
          </p:cNvPr>
          <p:cNvSpPr txBox="1"/>
          <p:nvPr/>
        </p:nvSpPr>
        <p:spPr>
          <a:xfrm>
            <a:off x="138896" y="5042102"/>
            <a:ext cx="122392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（적용）</a:t>
            </a:r>
            <a:endParaRPr lang="en-US" altLang="ko-KR" sz="2000" dirty="0"/>
          </a:p>
          <a:p>
            <a:r>
              <a:rPr lang="ko-KR" altLang="en-US" sz="2000" dirty="0"/>
              <a:t>１．　수집된　</a:t>
            </a:r>
            <a:r>
              <a:rPr lang="ko-KR" altLang="en-US" sz="2000" dirty="0" err="1"/>
              <a:t>표본들에서</a:t>
            </a:r>
            <a:r>
              <a:rPr lang="ko-KR" altLang="en-US" sz="2000" dirty="0"/>
              <a:t>　신뢰도　점수들을　뽑은　후　각　그룹별　평균과　전체　평균을　구함．</a:t>
            </a:r>
            <a:endParaRPr lang="en-US" altLang="ko-KR" sz="2000" dirty="0"/>
          </a:p>
          <a:p>
            <a:r>
              <a:rPr lang="ko-KR" altLang="en-US" sz="2000" dirty="0"/>
              <a:t>２．　</a:t>
            </a:r>
            <a:r>
              <a:rPr lang="en-US" altLang="ko-KR" sz="2000" dirty="0"/>
              <a:t>ANOVA </a:t>
            </a:r>
            <a:r>
              <a:rPr lang="ko-KR" altLang="en-US" sz="2000" dirty="0"/>
              <a:t>도구를　사용하여　</a:t>
            </a:r>
            <a:r>
              <a:rPr lang="ko-KR" altLang="en-US" sz="2000" dirty="0" err="1"/>
              <a:t>Ｐ</a:t>
            </a:r>
            <a:r>
              <a:rPr lang="ko-KR" altLang="en-US" sz="2000" dirty="0"/>
              <a:t>　및　</a:t>
            </a:r>
            <a:r>
              <a:rPr lang="ko-KR" altLang="en-US" sz="2000" dirty="0" err="1"/>
              <a:t>Ｒ</a:t>
            </a:r>
            <a:r>
              <a:rPr lang="ko-KR" altLang="en-US" sz="2000" dirty="0"/>
              <a:t>　값　계산．</a:t>
            </a:r>
          </a:p>
        </p:txBody>
      </p:sp>
    </p:spTree>
    <p:extLst>
      <p:ext uri="{BB962C8B-B14F-4D97-AF65-F5344CB8AC3E}">
        <p14:creationId xmlns:p14="http://schemas.microsoft.com/office/powerpoint/2010/main" val="239298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5627-195A-F78E-9032-C10D69111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2AC2A0-B92E-7089-726A-FD4CCD5FED6C}"/>
              </a:ext>
            </a:extLst>
          </p:cNvPr>
          <p:cNvSpPr txBox="1"/>
          <p:nvPr/>
        </p:nvSpPr>
        <p:spPr>
          <a:xfrm>
            <a:off x="138896" y="266217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표본을　바탕으로　한　신뢰도　평가</a:t>
            </a:r>
            <a:endParaRPr lang="en-US" altLang="ko-KR" sz="2400" b="1" dirty="0"/>
          </a:p>
          <a:p>
            <a:r>
              <a:rPr lang="ko-KR" altLang="en-US" sz="2400" b="1" dirty="0"/>
              <a:t>：　타당도　검증</a:t>
            </a:r>
            <a:endParaRPr lang="en-US" altLang="ko-KR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BDBF72-B841-1155-1B08-2CC537A7F504}"/>
                  </a:ext>
                </a:extLst>
              </p:cNvPr>
              <p:cNvSpPr txBox="1"/>
              <p:nvPr/>
            </p:nvSpPr>
            <p:spPr>
              <a:xfrm>
                <a:off x="7322038" y="2530326"/>
                <a:ext cx="361829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500" dirty="0"/>
                  <a:t>: </a:t>
                </a:r>
                <a:r>
                  <a:rPr lang="ko-KR" altLang="en-US" sz="1500" dirty="0"/>
                  <a:t>각 응답자의 종합 신뢰도 점수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500" dirty="0"/>
                  <a:t>: </a:t>
                </a:r>
                <a:r>
                  <a:rPr lang="ko-KR" altLang="en-US" sz="1500" dirty="0"/>
                  <a:t>같은 응답자의 타당도 설문 점수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BDBF72-B841-1155-1B08-2CC537A7F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038" y="2530326"/>
                <a:ext cx="3618294" cy="553998"/>
              </a:xfrm>
              <a:prstGeom prst="rect">
                <a:avLst/>
              </a:prstGeom>
              <a:blipFill>
                <a:blip r:embed="rId3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094AC093-8FB4-BA93-3084-08068FECE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238" y="892637"/>
            <a:ext cx="4401124" cy="15011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FA2616-6A09-D45F-4819-9FDF8BA2A060}"/>
                  </a:ext>
                </a:extLst>
              </p:cNvPr>
              <p:cNvSpPr txBox="1"/>
              <p:nvPr/>
            </p:nvSpPr>
            <p:spPr>
              <a:xfrm>
                <a:off x="1341171" y="2530326"/>
                <a:ext cx="4039492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5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ko-KR" alt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5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5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ko-KR" altLang="en-US" sz="1500" dirty="0"/>
                  <a:t> 집단</a:t>
                </a:r>
                <a:r>
                  <a:rPr lang="en-US" altLang="ko-KR" sz="1500" dirty="0"/>
                  <a:t>(</a:t>
                </a:r>
                <a:r>
                  <a:rPr lang="ko-KR" altLang="en-US" sz="1500" dirty="0"/>
                  <a:t>그룹</a:t>
                </a:r>
                <a:r>
                  <a:rPr lang="en-US" altLang="ko-KR" sz="1500" dirty="0"/>
                  <a:t>) </a:t>
                </a:r>
                <a:r>
                  <a:rPr lang="ko-KR" altLang="en-US" sz="1500" dirty="0"/>
                  <a:t>개수 </a:t>
                </a:r>
                <a:r>
                  <a:rPr lang="en-US" altLang="ko-KR" sz="1500" dirty="0"/>
                  <a:t>- 1, 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5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ko-KR" alt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5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5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ko-KR" altLang="en-US" sz="1500" dirty="0"/>
                  <a:t> 전체 데이터 수 </a:t>
                </a:r>
                <a:r>
                  <a:rPr lang="en-US" altLang="ko-KR" sz="1500" dirty="0"/>
                  <a:t>- </a:t>
                </a:r>
                <a:r>
                  <a:rPr lang="ko-KR" altLang="en-US" sz="1500" dirty="0"/>
                  <a:t>집단 개수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FA2616-6A09-D45F-4819-9FDF8BA2A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71" y="2530326"/>
                <a:ext cx="4039492" cy="553998"/>
              </a:xfrm>
              <a:prstGeom prst="rect">
                <a:avLst/>
              </a:prstGeom>
              <a:blipFill>
                <a:blip r:embed="rId5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458A645-52AE-9295-7B33-ADB5AE595FF3}"/>
              </a:ext>
            </a:extLst>
          </p:cNvPr>
          <p:cNvSpPr txBox="1"/>
          <p:nvPr/>
        </p:nvSpPr>
        <p:spPr>
          <a:xfrm>
            <a:off x="327439" y="3282806"/>
            <a:ext cx="576856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즉</a:t>
            </a:r>
            <a:r>
              <a:rPr lang="en-US" altLang="ko-KR" sz="1300" dirty="0"/>
              <a:t>, F</a:t>
            </a:r>
            <a:r>
              <a:rPr lang="ko-KR" altLang="en-US" sz="1300" dirty="0"/>
              <a:t>분포의 누적분포함수</a:t>
            </a:r>
            <a:r>
              <a:rPr lang="en-US" altLang="ko-KR" sz="1300" dirty="0"/>
              <a:t>(CDF)</a:t>
            </a:r>
            <a:r>
              <a:rPr lang="ko-KR" altLang="en-US" sz="1300" dirty="0"/>
              <a:t>를 이용해서</a:t>
            </a:r>
            <a:r>
              <a:rPr lang="en-US" altLang="ko-KR" sz="1300" dirty="0"/>
              <a:t>, </a:t>
            </a:r>
            <a:r>
              <a:rPr lang="ko-KR" altLang="en-US" sz="1300" dirty="0"/>
              <a:t>관측한 </a:t>
            </a:r>
            <a:r>
              <a:rPr lang="en-US" altLang="ko-KR" sz="1300" dirty="0"/>
              <a:t>F</a:t>
            </a:r>
            <a:r>
              <a:rPr lang="ko-KR" altLang="en-US" sz="1300" dirty="0"/>
              <a:t>값보다 큰 확률을 구함</a:t>
            </a:r>
            <a:r>
              <a:rPr lang="en-US" altLang="ko-KR" sz="13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63E820-637E-4722-F556-BF1FD800A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171" y="1412907"/>
            <a:ext cx="3271326" cy="460618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49DBAE-4489-6B9D-3F7C-2ACBE7424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74599"/>
              </p:ext>
            </p:extLst>
          </p:nvPr>
        </p:nvGraphicFramePr>
        <p:xfrm>
          <a:off x="6725325" y="4245253"/>
          <a:ext cx="4800600" cy="18288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235432693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643503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 </a:t>
                      </a:r>
                      <a:r>
                        <a:rPr lang="ko-KR" altLang="en-US" sz="15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해석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691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/>
                        <a:t>0.70 </a:t>
                      </a:r>
                      <a:r>
                        <a:rPr lang="ko-KR" altLang="en-US" sz="1500" b="1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매우 높은 상관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1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dirty="0"/>
                        <a:t>0.50~0.69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높은 상관</a:t>
                      </a:r>
                      <a:endParaRPr lang="en-US" altLang="ko-KR" sz="1500" dirty="0"/>
                    </a:p>
                    <a:p>
                      <a:pPr>
                        <a:buNone/>
                      </a:pPr>
                      <a:r>
                        <a:rPr lang="en-US" altLang="ko-KR" sz="1500" dirty="0"/>
                        <a:t>(</a:t>
                      </a:r>
                      <a:r>
                        <a:rPr lang="ko-KR" altLang="en-US" sz="1500" dirty="0"/>
                        <a:t>준거 타당도 우수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842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/>
                        <a:t>0.30~0.49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보통 상관</a:t>
                      </a:r>
                      <a:r>
                        <a:rPr lang="en-US" altLang="ko-KR" sz="1500" dirty="0"/>
                        <a:t>(</a:t>
                      </a:r>
                      <a:r>
                        <a:rPr lang="ko-KR" altLang="en-US" sz="1500" dirty="0"/>
                        <a:t>추가 개선 필요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5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dirty="0"/>
                        <a:t>0.29 </a:t>
                      </a:r>
                      <a:r>
                        <a:rPr lang="ko-KR" altLang="en-US" sz="1500" b="1" dirty="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낮은 상관</a:t>
                      </a:r>
                      <a:r>
                        <a:rPr lang="en-US" altLang="ko-KR" sz="1500" dirty="0"/>
                        <a:t>(</a:t>
                      </a:r>
                      <a:r>
                        <a:rPr lang="ko-KR" altLang="en-US" sz="1500" dirty="0"/>
                        <a:t>타당도 취약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08567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CFDFA6A-4C4C-3C79-62FF-2818EAA6A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27551"/>
              </p:ext>
            </p:extLst>
          </p:nvPr>
        </p:nvGraphicFramePr>
        <p:xfrm>
          <a:off x="666075" y="4245253"/>
          <a:ext cx="5091288" cy="1828800"/>
        </p:xfrm>
        <a:graphic>
          <a:graphicData uri="http://schemas.openxmlformats.org/drawingml/2006/table">
            <a:tbl>
              <a:tblPr/>
              <a:tblGrid>
                <a:gridCol w="2545644">
                  <a:extLst>
                    <a:ext uri="{9D8B030D-6E8A-4147-A177-3AD203B41FA5}">
                      <a16:colId xmlns:a16="http://schemas.microsoft.com/office/drawing/2014/main" val="1718657049"/>
                    </a:ext>
                  </a:extLst>
                </a:gridCol>
                <a:gridCol w="2545644">
                  <a:extLst>
                    <a:ext uri="{9D8B030D-6E8A-4147-A177-3AD203B41FA5}">
                      <a16:colId xmlns:a16="http://schemas.microsoft.com/office/drawing/2014/main" val="3682182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p-value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해석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81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p &lt; 0.001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매우 강한 통계적 유의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74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 &lt; 0.01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강한 통계적 유의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98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p &lt; 0.05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보통 수준의 통계적 유의</a:t>
                      </a:r>
                      <a:endParaRPr lang="en-US" altLang="ko-KR" sz="1500" dirty="0"/>
                    </a:p>
                    <a:p>
                      <a:pPr>
                        <a:buNone/>
                      </a:pPr>
                      <a:r>
                        <a:rPr lang="en-US" altLang="ko-KR" sz="1500" dirty="0"/>
                        <a:t>(</a:t>
                      </a:r>
                      <a:r>
                        <a:rPr lang="ko-KR" altLang="en-US" sz="1500" dirty="0"/>
                        <a:t>가장 흔히 기준으로 사용</a:t>
                      </a:r>
                      <a:r>
                        <a:rPr lang="en-US" altLang="ko-KR" sz="1500" dirty="0"/>
                        <a:t>)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156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 ≥ 0.05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유의하지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984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99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118A-7F20-99F6-F3F5-ACCC87158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8C6B98-F509-254E-0280-9C50CF00F419}"/>
              </a:ext>
            </a:extLst>
          </p:cNvPr>
          <p:cNvSpPr txBox="1"/>
          <p:nvPr/>
        </p:nvSpPr>
        <p:spPr>
          <a:xfrm>
            <a:off x="138896" y="266217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표본을　바탕으로　한　신뢰도　평가</a:t>
            </a:r>
            <a:endParaRPr lang="en-US" altLang="ko-KR" sz="2400" b="1" dirty="0"/>
          </a:p>
          <a:p>
            <a:r>
              <a:rPr lang="ko-KR" altLang="en-US" sz="2400" b="1" dirty="0"/>
              <a:t>：　타당도　검증</a:t>
            </a:r>
            <a:endParaRPr lang="en-US" altLang="ko-KR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3ABAF-B62D-0190-BBB0-6EA6832F653B}"/>
              </a:ext>
            </a:extLst>
          </p:cNvPr>
          <p:cNvSpPr txBox="1"/>
          <p:nvPr/>
        </p:nvSpPr>
        <p:spPr>
          <a:xfrm>
            <a:off x="1053296" y="1244183"/>
            <a:ext cx="9595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［데이터］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－　종합 신뢰도</a:t>
            </a:r>
            <a:r>
              <a:rPr lang="en-US" altLang="ko-KR" sz="2400" dirty="0"/>
              <a:t>: </a:t>
            </a:r>
            <a:r>
              <a:rPr lang="ko-KR" altLang="en-US" sz="2400" dirty="0"/>
              <a:t>설문으로 측정한 각 사람의 신뢰도 점수 </a:t>
            </a:r>
            <a:r>
              <a:rPr lang="en-US" altLang="ko-KR" sz="2400" dirty="0"/>
              <a:t>(54~94</a:t>
            </a:r>
            <a:r>
              <a:rPr lang="ko-KR" altLang="en-US" sz="2400" dirty="0"/>
              <a:t>점</a:t>
            </a:r>
            <a:r>
              <a:rPr lang="en-US" altLang="ko-KR" sz="2400" dirty="0"/>
              <a:t>)</a:t>
            </a:r>
          </a:p>
          <a:p>
            <a:r>
              <a:rPr lang="ko-KR" altLang="en-US" sz="2400" dirty="0"/>
              <a:t>－　타당도 설문 점수</a:t>
            </a:r>
            <a:r>
              <a:rPr lang="en-US" altLang="ko-KR" sz="2400" dirty="0"/>
              <a:t>: </a:t>
            </a:r>
            <a:r>
              <a:rPr lang="ko-KR" altLang="en-US" sz="2400" dirty="0"/>
              <a:t>설문 후 진행한 별도의 검사 점수 </a:t>
            </a:r>
            <a:r>
              <a:rPr lang="en-US" altLang="ko-KR" sz="2400" dirty="0"/>
              <a:t>(36~100</a:t>
            </a:r>
            <a:r>
              <a:rPr lang="ko-KR" altLang="en-US" sz="2400" dirty="0"/>
              <a:t>점</a:t>
            </a:r>
            <a:r>
              <a:rPr lang="en-US" altLang="ko-KR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A5FAA-969F-29B5-A916-C67A108BE37E}"/>
              </a:ext>
            </a:extLst>
          </p:cNvPr>
          <p:cNvSpPr txBox="1"/>
          <p:nvPr/>
        </p:nvSpPr>
        <p:spPr>
          <a:xfrm>
            <a:off x="1611942" y="3240190"/>
            <a:ext cx="847860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ＡＮＯＶＡ를</a:t>
            </a:r>
            <a:r>
              <a:rPr lang="ko-KR" altLang="en-US" sz="2400" dirty="0"/>
              <a:t>　통한　상관계수　</a:t>
            </a:r>
            <a:r>
              <a:rPr lang="ko-KR" altLang="en-US" sz="2400" dirty="0" err="1"/>
              <a:t>ｒ</a:t>
            </a:r>
            <a:r>
              <a:rPr lang="ko-KR" altLang="en-US" sz="2400" dirty="0"/>
              <a:t>　및　</a:t>
            </a:r>
            <a:r>
              <a:rPr lang="ko-KR" altLang="en-US" sz="2400" dirty="0" err="1"/>
              <a:t>ｐ</a:t>
            </a:r>
            <a:r>
              <a:rPr lang="ko-KR" altLang="en-US" sz="2400" dirty="0"/>
              <a:t>　값　계산</a:t>
            </a:r>
            <a:endParaRPr lang="en-US" altLang="ko-KR" sz="2400" dirty="0"/>
          </a:p>
          <a:p>
            <a:r>
              <a:rPr lang="ko-KR" altLang="en-US" sz="2400" dirty="0"/>
              <a:t>→　</a:t>
            </a:r>
            <a:r>
              <a:rPr lang="ko-KR" altLang="en-US" sz="2400" dirty="0" err="1"/>
              <a:t>ｒ</a:t>
            </a:r>
            <a:r>
              <a:rPr lang="ko-KR" altLang="en-US" sz="2400" dirty="0"/>
              <a:t>　＝　０．２５９　（약한　양의　상관）</a:t>
            </a:r>
            <a:endParaRPr lang="en-US" altLang="ko-KR" sz="2400" dirty="0"/>
          </a:p>
          <a:p>
            <a:r>
              <a:rPr lang="ko-KR" altLang="en-US" sz="2400" dirty="0"/>
              <a:t>→　</a:t>
            </a:r>
            <a:r>
              <a:rPr lang="ko-KR" altLang="en-US" sz="2400" dirty="0" err="1"/>
              <a:t>ｐ</a:t>
            </a:r>
            <a:r>
              <a:rPr lang="ko-KR" altLang="en-US" sz="2400" dirty="0"/>
              <a:t>　＝　０．１０６　（통계적으로　유의하지　않음）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4B613-A81E-E1D2-494D-8802196835B5}"/>
              </a:ext>
            </a:extLst>
          </p:cNvPr>
          <p:cNvSpPr txBox="1"/>
          <p:nvPr/>
        </p:nvSpPr>
        <p:spPr>
          <a:xfrm>
            <a:off x="617577" y="4798209"/>
            <a:ext cx="10956846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즉，　종합　신뢰도는　높으나　상관관계가　약하고　통계적으로　유의하지　않기　때문에</a:t>
            </a:r>
            <a:endParaRPr lang="en-US" altLang="ko-KR" sz="2000" dirty="0"/>
          </a:p>
          <a:p>
            <a:r>
              <a:rPr lang="ko-KR" altLang="en-US" sz="2000" dirty="0"/>
              <a:t>신뢰도　만으로는　타당도를　예측하기가　어려움．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１．　타당도　개선　필요．</a:t>
            </a:r>
            <a:endParaRPr lang="en-US" altLang="ko-KR" sz="2000" dirty="0"/>
          </a:p>
          <a:p>
            <a:r>
              <a:rPr lang="ko-KR" altLang="en-US" sz="2000" dirty="0"/>
              <a:t>２．　추가　검증　권장．</a:t>
            </a:r>
          </a:p>
        </p:txBody>
      </p:sp>
    </p:spTree>
    <p:extLst>
      <p:ext uri="{BB962C8B-B14F-4D97-AF65-F5344CB8AC3E}">
        <p14:creationId xmlns:p14="http://schemas.microsoft.com/office/powerpoint/2010/main" val="106511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F29BB-DD99-C082-FFC8-15961504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447FED7-B3CA-C412-6617-4A0B0A56D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00409"/>
              </p:ext>
            </p:extLst>
          </p:nvPr>
        </p:nvGraphicFramePr>
        <p:xfrm>
          <a:off x="441384" y="1451739"/>
          <a:ext cx="11309231" cy="4351336"/>
        </p:xfrm>
        <a:graphic>
          <a:graphicData uri="http://schemas.openxmlformats.org/drawingml/2006/table">
            <a:tbl>
              <a:tblPr/>
              <a:tblGrid>
                <a:gridCol w="1889185">
                  <a:extLst>
                    <a:ext uri="{9D8B030D-6E8A-4147-A177-3AD203B41FA5}">
                      <a16:colId xmlns:a16="http://schemas.microsoft.com/office/drawing/2014/main" val="1299822625"/>
                    </a:ext>
                  </a:extLst>
                </a:gridCol>
                <a:gridCol w="4382218">
                  <a:extLst>
                    <a:ext uri="{9D8B030D-6E8A-4147-A177-3AD203B41FA5}">
                      <a16:colId xmlns:a16="http://schemas.microsoft.com/office/drawing/2014/main" val="3590667312"/>
                    </a:ext>
                  </a:extLst>
                </a:gridCol>
                <a:gridCol w="5037828">
                  <a:extLst>
                    <a:ext uri="{9D8B030D-6E8A-4147-A177-3AD203B41FA5}">
                      <a16:colId xmlns:a16="http://schemas.microsoft.com/office/drawing/2014/main" val="3309608900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구분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/>
                        <a:t>MBTI</a:t>
                      </a:r>
                      <a:endParaRPr 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/>
                        <a:t>Big Five (OCEAN)</a:t>
                      </a:r>
                      <a:endParaRPr 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596289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/>
                        <a:t>분류 방식</a:t>
                      </a:r>
                      <a:endParaRPr lang="ko-KR" alt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/>
                        <a:t>4</a:t>
                      </a:r>
                      <a:r>
                        <a:rPr lang="ko-KR" altLang="en-US" sz="1700" dirty="0"/>
                        <a:t>가지 이분법 → </a:t>
                      </a:r>
                      <a:r>
                        <a:rPr lang="en-US" altLang="ko-KR" sz="1700" dirty="0"/>
                        <a:t>16</a:t>
                      </a:r>
                      <a:r>
                        <a:rPr lang="ko-KR" altLang="en-US" sz="1700" dirty="0"/>
                        <a:t>가지 유형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700" dirty="0"/>
                        <a:t>5</a:t>
                      </a:r>
                      <a:r>
                        <a:rPr lang="ko-KR" altLang="en-US" sz="1700" dirty="0"/>
                        <a:t>가지 성격요인을 연속 점수</a:t>
                      </a:r>
                      <a:r>
                        <a:rPr lang="en-US" altLang="ko-KR" sz="1700" dirty="0"/>
                        <a:t>(</a:t>
                      </a:r>
                      <a:r>
                        <a:rPr lang="ko-KR" altLang="en-US" sz="1700" dirty="0"/>
                        <a:t>스펙트럼</a:t>
                      </a:r>
                      <a:r>
                        <a:rPr lang="en-US" altLang="ko-KR" sz="1700" dirty="0"/>
                        <a:t>)</a:t>
                      </a:r>
                      <a:r>
                        <a:rPr lang="ko-KR" altLang="en-US" sz="1700" dirty="0"/>
                        <a:t>로 측정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33212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/>
                        <a:t>결과 형태</a:t>
                      </a:r>
                      <a:endParaRPr lang="ko-KR" alt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“</a:t>
                      </a:r>
                      <a:r>
                        <a:rPr lang="en-US" altLang="ko-KR" sz="1700" dirty="0"/>
                        <a:t>ISTJ, ENFP”</a:t>
                      </a:r>
                      <a:r>
                        <a:rPr lang="ko-KR" altLang="en-US" sz="1700" dirty="0"/>
                        <a:t>처럼 유형</a:t>
                      </a:r>
                      <a:r>
                        <a:rPr lang="en-US" altLang="ko-KR" sz="1700" dirty="0"/>
                        <a:t>(Type)</a:t>
                      </a:r>
                      <a:r>
                        <a:rPr lang="ko-KR" altLang="en-US" sz="1700" dirty="0"/>
                        <a:t>으로 분류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각 요인별 </a:t>
                      </a:r>
                      <a:r>
                        <a:rPr lang="en-US" altLang="ko-KR" sz="1700" dirty="0"/>
                        <a:t>0~100</a:t>
                      </a:r>
                      <a:r>
                        <a:rPr lang="ko-KR" altLang="en-US" sz="1700" dirty="0"/>
                        <a:t>점 등 정도</a:t>
                      </a:r>
                      <a:r>
                        <a:rPr lang="en-US" altLang="ko-KR" sz="1700" dirty="0"/>
                        <a:t>(</a:t>
                      </a:r>
                      <a:r>
                        <a:rPr lang="ko-KR" altLang="en-US" sz="1700" dirty="0"/>
                        <a:t>수준</a:t>
                      </a:r>
                      <a:r>
                        <a:rPr lang="en-US" altLang="ko-KR" sz="1700" dirty="0"/>
                        <a:t>)</a:t>
                      </a:r>
                      <a:r>
                        <a:rPr lang="ko-KR" altLang="en-US" sz="1700" dirty="0"/>
                        <a:t>로 표현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74507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/>
                        <a:t>심리학적 근거</a:t>
                      </a:r>
                      <a:endParaRPr lang="ko-KR" alt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이론 중심</a:t>
                      </a:r>
                      <a:r>
                        <a:rPr lang="en-US" altLang="ko-KR" sz="1700" dirty="0"/>
                        <a:t>(</a:t>
                      </a:r>
                      <a:r>
                        <a:rPr lang="ko-KR" altLang="en-US" sz="1700" dirty="0"/>
                        <a:t>융 심리유형론 기반</a:t>
                      </a:r>
                      <a:r>
                        <a:rPr lang="en-US" altLang="ko-KR" sz="1700" dirty="0"/>
                        <a:t>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/>
                        <a:t>실증적</a:t>
                      </a:r>
                      <a:r>
                        <a:rPr lang="en-US" altLang="ko-KR" sz="1700" b="1" dirty="0"/>
                        <a:t>·</a:t>
                      </a:r>
                      <a:r>
                        <a:rPr lang="ko-KR" altLang="en-US" sz="1700" b="1" dirty="0"/>
                        <a:t>통계적</a:t>
                      </a:r>
                      <a:r>
                        <a:rPr lang="en-US" altLang="ko-KR" sz="1700" b="1" dirty="0"/>
                        <a:t>·</a:t>
                      </a:r>
                      <a:r>
                        <a:rPr lang="ko-KR" altLang="en-US" sz="1700" b="1" dirty="0"/>
                        <a:t>과학적 연구 기반</a:t>
                      </a:r>
                      <a:endParaRPr lang="ko-KR" altLang="en-US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659913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/>
                        <a:t>정확도</a:t>
                      </a:r>
                      <a:r>
                        <a:rPr lang="en-US" altLang="ko-KR" sz="1700" b="1"/>
                        <a:t>/</a:t>
                      </a:r>
                      <a:r>
                        <a:rPr lang="ko-KR" altLang="en-US" sz="1700" b="1"/>
                        <a:t>신뢰도</a:t>
                      </a:r>
                      <a:endParaRPr lang="ko-KR" alt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/>
                        <a:t>상대적으로 낮음 </a:t>
                      </a:r>
                      <a:r>
                        <a:rPr lang="en-US" altLang="ko-KR" sz="1700"/>
                        <a:t>(</a:t>
                      </a:r>
                      <a:r>
                        <a:rPr lang="ko-KR" altLang="en-US" sz="1700"/>
                        <a:t>재검사 시 변동률 ↑</a:t>
                      </a:r>
                      <a:r>
                        <a:rPr lang="en-US" altLang="ko-KR" sz="1700"/>
                        <a:t>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/>
                        <a:t>높음</a:t>
                      </a:r>
                      <a:r>
                        <a:rPr lang="ko-KR" altLang="en-US" sz="1700" dirty="0"/>
                        <a:t> </a:t>
                      </a:r>
                      <a:r>
                        <a:rPr lang="en-US" altLang="ko-KR" sz="1700" dirty="0"/>
                        <a:t>(</a:t>
                      </a:r>
                      <a:r>
                        <a:rPr lang="ko-KR" altLang="en-US" sz="1700" dirty="0"/>
                        <a:t>재검사 시 안정적</a:t>
                      </a:r>
                      <a:r>
                        <a:rPr lang="en-US" altLang="ko-KR" sz="1700" dirty="0"/>
                        <a:t>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707893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/>
                        <a:t>실무 활용</a:t>
                      </a:r>
                      <a:endParaRPr lang="ko-KR" alt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/>
                        <a:t>자기이해</a:t>
                      </a:r>
                      <a:r>
                        <a:rPr lang="en-US" altLang="ko-KR" sz="1700"/>
                        <a:t>, </a:t>
                      </a:r>
                      <a:r>
                        <a:rPr lang="ko-KR" altLang="en-US" sz="1700"/>
                        <a:t>커뮤니케이션</a:t>
                      </a:r>
                      <a:r>
                        <a:rPr lang="en-US" altLang="ko-KR" sz="1700"/>
                        <a:t>, </a:t>
                      </a:r>
                      <a:r>
                        <a:rPr lang="ko-KR" altLang="en-US" sz="1700"/>
                        <a:t>팀 빌딩에 적합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임상</a:t>
                      </a:r>
                      <a:r>
                        <a:rPr lang="en-US" altLang="ko-KR" sz="1700" dirty="0"/>
                        <a:t>, </a:t>
                      </a:r>
                      <a:r>
                        <a:rPr lang="ko-KR" altLang="en-US" sz="1700" dirty="0"/>
                        <a:t>인사선발</a:t>
                      </a:r>
                      <a:r>
                        <a:rPr lang="en-US" altLang="ko-KR" sz="1700" dirty="0"/>
                        <a:t>, </a:t>
                      </a:r>
                      <a:r>
                        <a:rPr lang="ko-KR" altLang="en-US" sz="1700" dirty="0"/>
                        <a:t>조직심리 등 </a:t>
                      </a:r>
                      <a:r>
                        <a:rPr lang="ko-KR" altLang="en-US" sz="1700" b="1" dirty="0"/>
                        <a:t>전문 분야 활용</a:t>
                      </a:r>
                      <a:endParaRPr lang="ko-KR" altLang="en-US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3416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/>
                        <a:t>설문 문항 유형</a:t>
                      </a:r>
                      <a:endParaRPr lang="ko-KR" alt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/>
                        <a:t>선호</a:t>
                      </a:r>
                      <a:r>
                        <a:rPr lang="en-US" altLang="ko-KR" sz="1700"/>
                        <a:t>(Preference) </a:t>
                      </a:r>
                      <a:r>
                        <a:rPr lang="ko-KR" altLang="en-US" sz="1700"/>
                        <a:t>질문 중심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행동</a:t>
                      </a:r>
                      <a:r>
                        <a:rPr lang="en-US" altLang="ko-KR" sz="1700" dirty="0"/>
                        <a:t>, </a:t>
                      </a:r>
                      <a:r>
                        <a:rPr lang="ko-KR" altLang="en-US" sz="1700" dirty="0"/>
                        <a:t>정서</a:t>
                      </a:r>
                      <a:r>
                        <a:rPr lang="en-US" altLang="ko-KR" sz="1700" dirty="0"/>
                        <a:t>, </a:t>
                      </a:r>
                      <a:r>
                        <a:rPr lang="ko-KR" altLang="en-US" sz="1700" dirty="0"/>
                        <a:t>사고패턴 등 </a:t>
                      </a:r>
                      <a:r>
                        <a:rPr lang="ko-KR" altLang="en-US" sz="1700" b="1" dirty="0"/>
                        <a:t>경험</a:t>
                      </a:r>
                      <a:r>
                        <a:rPr lang="en-US" altLang="ko-KR" sz="1700" b="1" dirty="0"/>
                        <a:t>/</a:t>
                      </a:r>
                      <a:r>
                        <a:rPr lang="ko-KR" altLang="en-US" sz="1700" b="1" dirty="0"/>
                        <a:t>특성 기반</a:t>
                      </a:r>
                      <a:endParaRPr lang="ko-KR" altLang="en-US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208284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/>
                        <a:t>성과 측정 방식</a:t>
                      </a:r>
                      <a:endParaRPr lang="ko-KR" altLang="en-US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“둘 중 어떤 쪽을 선호하는가</a:t>
                      </a:r>
                      <a:r>
                        <a:rPr lang="en-US" altLang="ko-KR" sz="1700" dirty="0"/>
                        <a:t>?”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“얼마나 그 특성을 갖고 있는가</a:t>
                      </a:r>
                      <a:r>
                        <a:rPr lang="en-US" altLang="ko-KR" sz="1700" dirty="0"/>
                        <a:t>?” </a:t>
                      </a:r>
                      <a:r>
                        <a:rPr lang="ko-KR" altLang="en-US" sz="1700" b="1" dirty="0"/>
                        <a:t>정량적 측정</a:t>
                      </a:r>
                      <a:endParaRPr lang="ko-KR" altLang="en-US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3087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ED90649-5B7C-08A9-59F4-CE706A3E5BF8}"/>
              </a:ext>
            </a:extLst>
          </p:cNvPr>
          <p:cNvSpPr txBox="1"/>
          <p:nvPr/>
        </p:nvSpPr>
        <p:spPr>
          <a:xfrm>
            <a:off x="441384" y="557539"/>
            <a:ext cx="369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MBTI</a:t>
            </a:r>
            <a:r>
              <a:rPr lang="ko-KR" altLang="en-US" sz="2000" b="1" dirty="0"/>
              <a:t>와 </a:t>
            </a:r>
            <a:r>
              <a:rPr lang="en-US" altLang="ko-KR" sz="2000" b="1" dirty="0"/>
              <a:t>Big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Five</a:t>
            </a:r>
            <a:r>
              <a:rPr lang="ko-KR" altLang="en-US" sz="2000" b="1" dirty="0"/>
              <a:t>의 핵심 차이</a:t>
            </a:r>
          </a:p>
        </p:txBody>
      </p:sp>
    </p:spTree>
    <p:extLst>
      <p:ext uri="{BB962C8B-B14F-4D97-AF65-F5344CB8AC3E}">
        <p14:creationId xmlns:p14="http://schemas.microsoft.com/office/powerpoint/2010/main" val="1987029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B33D-5BF5-A6C8-7041-0ADED08B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A31805-5C23-184F-49F2-240FC6EB7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610670"/>
              </p:ext>
            </p:extLst>
          </p:nvPr>
        </p:nvGraphicFramePr>
        <p:xfrm>
          <a:off x="838200" y="1239417"/>
          <a:ext cx="10515600" cy="1828800"/>
        </p:xfrm>
        <a:graphic>
          <a:graphicData uri="http://schemas.openxmlformats.org/drawingml/2006/table">
            <a:tbl>
              <a:tblPr/>
              <a:tblGrid>
                <a:gridCol w="3314700">
                  <a:extLst>
                    <a:ext uri="{9D8B030D-6E8A-4147-A177-3AD203B41FA5}">
                      <a16:colId xmlns:a16="http://schemas.microsoft.com/office/drawing/2014/main" val="127947873"/>
                    </a:ext>
                  </a:extLst>
                </a:gridCol>
                <a:gridCol w="2679221">
                  <a:extLst>
                    <a:ext uri="{9D8B030D-6E8A-4147-A177-3AD203B41FA5}">
                      <a16:colId xmlns:a16="http://schemas.microsoft.com/office/drawing/2014/main" val="2060341773"/>
                    </a:ext>
                  </a:extLst>
                </a:gridCol>
                <a:gridCol w="4521679">
                  <a:extLst>
                    <a:ext uri="{9D8B030D-6E8A-4147-A177-3AD203B41FA5}">
                      <a16:colId xmlns:a16="http://schemas.microsoft.com/office/drawing/2014/main" val="3785028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선택지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에너지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 vs 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혼자서 충전</a:t>
                      </a:r>
                      <a:r>
                        <a:rPr lang="en-US" altLang="ko-KR"/>
                        <a:t>? </a:t>
                      </a:r>
                      <a:r>
                        <a:rPr lang="ko-KR" altLang="en-US"/>
                        <a:t>사람 속에서 충전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정보 인식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해석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입력방식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 vs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감각적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사실 중심</a:t>
                      </a:r>
                      <a:r>
                        <a:rPr lang="en-US" altLang="ko-KR"/>
                        <a:t>? vs </a:t>
                      </a:r>
                      <a:r>
                        <a:rPr lang="ko-KR" altLang="en-US"/>
                        <a:t>직관적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추상 중심</a:t>
                      </a:r>
                      <a:r>
                        <a:rPr lang="en-US" altLang="ko-KR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082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의사결정 기준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처리방식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 vs 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논리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분석 중심</a:t>
                      </a:r>
                      <a:r>
                        <a:rPr lang="en-US" altLang="ko-KR" dirty="0"/>
                        <a:t>? vs </a:t>
                      </a:r>
                      <a:r>
                        <a:rPr lang="ko-KR" altLang="en-US" dirty="0"/>
                        <a:t>가치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감정 중심</a:t>
                      </a:r>
                      <a:r>
                        <a:rPr lang="en-US" altLang="ko-KR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278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삶의 방식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출력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행동 스타일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J vs 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구조적</a:t>
                      </a:r>
                      <a:r>
                        <a:rPr lang="en-US" altLang="ko-KR" dirty="0"/>
                        <a:t>? vs </a:t>
                      </a:r>
                      <a:r>
                        <a:rPr lang="ko-KR" altLang="en-US" dirty="0"/>
                        <a:t>유연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즉흥적</a:t>
                      </a:r>
                      <a:r>
                        <a:rPr lang="en-US" altLang="ko-KR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1901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6DCB74-14BE-75D0-3E3B-21499BD051AC}"/>
              </a:ext>
            </a:extLst>
          </p:cNvPr>
          <p:cNvSpPr txBox="1"/>
          <p:nvPr/>
        </p:nvSpPr>
        <p:spPr>
          <a:xfrm>
            <a:off x="711294" y="471095"/>
            <a:ext cx="5964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MBTI</a:t>
            </a:r>
            <a:r>
              <a:rPr lang="ko-KR" altLang="en-US" sz="2000" b="1" dirty="0"/>
              <a:t>의 분류 기준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심리적 선호</a:t>
            </a:r>
            <a:r>
              <a:rPr lang="en-US" altLang="ko-KR" sz="2000" b="1" dirty="0"/>
              <a:t>(Preference)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2823F-231D-084F-9E27-EDF943844EAB}"/>
              </a:ext>
            </a:extLst>
          </p:cNvPr>
          <p:cNvSpPr txBox="1"/>
          <p:nvPr/>
        </p:nvSpPr>
        <p:spPr>
          <a:xfrm>
            <a:off x="711294" y="3436430"/>
            <a:ext cx="7673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Big Five</a:t>
            </a:r>
            <a:r>
              <a:rPr lang="ko-KR" altLang="en-US" sz="2000" b="1" dirty="0"/>
              <a:t>의 분류기준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실제 행동 특성의 정도</a:t>
            </a:r>
            <a:r>
              <a:rPr lang="en-US" altLang="ko-KR" sz="2000" b="1" dirty="0"/>
              <a:t>(Continuous traits)</a:t>
            </a:r>
            <a:endParaRPr lang="ko-KR" altLang="en-US" sz="20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D89F9DC-FD78-A9A6-7F9B-BBDDAB8E8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40236"/>
              </p:ext>
            </p:extLst>
          </p:nvPr>
        </p:nvGraphicFramePr>
        <p:xfrm>
          <a:off x="838200" y="4150566"/>
          <a:ext cx="10515600" cy="2194560"/>
        </p:xfrm>
        <a:graphic>
          <a:graphicData uri="http://schemas.openxmlformats.org/drawingml/2006/table">
            <a:tbl>
              <a:tblPr/>
              <a:tblGrid>
                <a:gridCol w="1835989">
                  <a:extLst>
                    <a:ext uri="{9D8B030D-6E8A-4147-A177-3AD203B41FA5}">
                      <a16:colId xmlns:a16="http://schemas.microsoft.com/office/drawing/2014/main" val="3155447145"/>
                    </a:ext>
                  </a:extLst>
                </a:gridCol>
                <a:gridCol w="3421811">
                  <a:extLst>
                    <a:ext uri="{9D8B030D-6E8A-4147-A177-3AD203B41FA5}">
                      <a16:colId xmlns:a16="http://schemas.microsoft.com/office/drawing/2014/main" val="13075306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66566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08280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요인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낮을수록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높을수록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153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O: </a:t>
                      </a:r>
                      <a:r>
                        <a:rPr lang="ko-KR" altLang="en-US"/>
                        <a:t>개방성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창의성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호기심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새로운 경험 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익숙함 선호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전통적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창의적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새로운 것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422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C: </a:t>
                      </a:r>
                      <a:r>
                        <a:rPr lang="ko-KR" altLang="en-US" dirty="0"/>
                        <a:t>성실성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자기관리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목표달성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책임감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즉흥적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무계획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체계적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성취지향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92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E: </a:t>
                      </a:r>
                      <a:r>
                        <a:rPr lang="ko-KR" altLang="en-US"/>
                        <a:t>외향성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사교성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활동성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에너지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내향적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차분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외향적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활동적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920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A: </a:t>
                      </a:r>
                      <a:r>
                        <a:rPr lang="ko-KR" altLang="en-US"/>
                        <a:t>친화성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협력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공감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경쟁적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직설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배려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조화 중시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8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N: </a:t>
                      </a:r>
                      <a:r>
                        <a:rPr lang="ko-KR" altLang="en-US"/>
                        <a:t>정서 안정성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감정 안정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스트레스 관리 능력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예민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불안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침착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회복탄력성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27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698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BEA20-AB3B-147B-7621-F9DA4E07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17ED0BC-52B7-71C3-0633-33CD91963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419007"/>
              </p:ext>
            </p:extLst>
          </p:nvPr>
        </p:nvGraphicFramePr>
        <p:xfrm>
          <a:off x="838200" y="1203385"/>
          <a:ext cx="10515600" cy="1828800"/>
        </p:xfrm>
        <a:graphic>
          <a:graphicData uri="http://schemas.openxmlformats.org/drawingml/2006/table">
            <a:tbl>
              <a:tblPr/>
              <a:tblGrid>
                <a:gridCol w="2103408">
                  <a:extLst>
                    <a:ext uri="{9D8B030D-6E8A-4147-A177-3AD203B41FA5}">
                      <a16:colId xmlns:a16="http://schemas.microsoft.com/office/drawing/2014/main" val="1249301626"/>
                    </a:ext>
                  </a:extLst>
                </a:gridCol>
                <a:gridCol w="3950898">
                  <a:extLst>
                    <a:ext uri="{9D8B030D-6E8A-4147-A177-3AD203B41FA5}">
                      <a16:colId xmlns:a16="http://schemas.microsoft.com/office/drawing/2014/main" val="4190322792"/>
                    </a:ext>
                  </a:extLst>
                </a:gridCol>
                <a:gridCol w="4461294">
                  <a:extLst>
                    <a:ext uri="{9D8B030D-6E8A-4147-A177-3AD203B41FA5}">
                      <a16:colId xmlns:a16="http://schemas.microsoft.com/office/drawing/2014/main" val="4191454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MBTI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Big Five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90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“나는 어떤 </a:t>
                      </a:r>
                      <a:r>
                        <a:rPr lang="ko-KR" altLang="en-US" b="1" dirty="0"/>
                        <a:t>타입</a:t>
                      </a:r>
                      <a:r>
                        <a:rPr lang="ko-KR" altLang="en-US" dirty="0"/>
                        <a:t>인가</a:t>
                      </a:r>
                      <a:r>
                        <a:rPr lang="en-US" altLang="ko-KR" dirty="0"/>
                        <a:t>?”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“나는 어떤 </a:t>
                      </a:r>
                      <a:r>
                        <a:rPr lang="ko-KR" altLang="en-US" b="1" dirty="0"/>
                        <a:t>정도</a:t>
                      </a:r>
                      <a:r>
                        <a:rPr lang="ko-KR" altLang="en-US" dirty="0"/>
                        <a:t>로 </a:t>
                      </a:r>
                      <a:r>
                        <a:rPr lang="ko-KR" altLang="en-US" dirty="0" err="1"/>
                        <a:t>그러한가</a:t>
                      </a:r>
                      <a:r>
                        <a:rPr lang="en-US" altLang="ko-KR" dirty="0"/>
                        <a:t>?”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812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이론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데이터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통계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191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정성적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유형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정량적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스펙트럼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12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강점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친숙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이해 쉽고 소통에 유용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과학적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재현성 높고 실무적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68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B1B42F3-3D09-2493-F82E-5CFDE26F64FA}"/>
              </a:ext>
            </a:extLst>
          </p:cNvPr>
          <p:cNvSpPr txBox="1"/>
          <p:nvPr/>
        </p:nvSpPr>
        <p:spPr>
          <a:xfrm>
            <a:off x="1599276" y="4174556"/>
            <a:ext cx="416378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MBTI</a:t>
            </a:r>
          </a:p>
          <a:p>
            <a:pPr algn="ctr"/>
            <a:endParaRPr lang="en-US" altLang="ko-KR" b="1" dirty="0"/>
          </a:p>
          <a:p>
            <a:pPr algn="ctr"/>
            <a:r>
              <a:rPr lang="ko-KR" altLang="en-US" dirty="0"/>
              <a:t>사용자 친숙성↑</a:t>
            </a:r>
            <a:endParaRPr lang="en-US" altLang="ko-KR" dirty="0"/>
          </a:p>
          <a:p>
            <a:pPr algn="ctr"/>
            <a:r>
              <a:rPr lang="ko-KR" altLang="en-US" dirty="0"/>
              <a:t>이해 </a:t>
            </a:r>
            <a:r>
              <a:rPr lang="en-US" altLang="ko-KR" dirty="0"/>
              <a:t>&amp; </a:t>
            </a:r>
            <a:r>
              <a:rPr lang="ko-KR" altLang="en-US" dirty="0"/>
              <a:t>공감 </a:t>
            </a:r>
            <a:r>
              <a:rPr lang="en-US" altLang="ko-KR" dirty="0"/>
              <a:t>&amp; </a:t>
            </a:r>
            <a:r>
              <a:rPr lang="ko-KR" altLang="en-US" dirty="0"/>
              <a:t>자기서사 작성에 도움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3A822-E066-FE3F-BE98-B4F4E08728C2}"/>
              </a:ext>
            </a:extLst>
          </p:cNvPr>
          <p:cNvSpPr txBox="1"/>
          <p:nvPr/>
        </p:nvSpPr>
        <p:spPr>
          <a:xfrm>
            <a:off x="7341490" y="4174555"/>
            <a:ext cx="234042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Big</a:t>
            </a:r>
            <a:r>
              <a:rPr lang="ko-KR" altLang="en-US" b="1" dirty="0"/>
              <a:t> </a:t>
            </a:r>
            <a:r>
              <a:rPr lang="en-US" altLang="ko-KR" b="1" dirty="0"/>
              <a:t>Five</a:t>
            </a:r>
          </a:p>
          <a:p>
            <a:pPr algn="ctr"/>
            <a:endParaRPr lang="en-US" altLang="ko-KR" b="1" dirty="0"/>
          </a:p>
          <a:p>
            <a:pPr algn="ctr"/>
            <a:r>
              <a:rPr lang="ko-KR" altLang="en-US" dirty="0"/>
              <a:t>객관적 성향 분석</a:t>
            </a:r>
            <a:endParaRPr lang="en-US" altLang="ko-KR" dirty="0"/>
          </a:p>
          <a:p>
            <a:pPr algn="ctr"/>
            <a:r>
              <a:rPr lang="ko-KR" altLang="en-US" dirty="0"/>
              <a:t>타당도</a:t>
            </a:r>
            <a:r>
              <a:rPr lang="en-US" altLang="ko-KR" dirty="0"/>
              <a:t>/</a:t>
            </a:r>
            <a:r>
              <a:rPr lang="ko-KR" altLang="en-US" dirty="0"/>
              <a:t>신뢰도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12334-ED1F-151D-5B8A-C02B6C9A4637}"/>
              </a:ext>
            </a:extLst>
          </p:cNvPr>
          <p:cNvSpPr txBox="1"/>
          <p:nvPr/>
        </p:nvSpPr>
        <p:spPr>
          <a:xfrm>
            <a:off x="6190326" y="4590053"/>
            <a:ext cx="72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X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35074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8991E-2E47-EAE9-D5E7-0C625FAA21D1}"/>
              </a:ext>
            </a:extLst>
          </p:cNvPr>
          <p:cNvSpPr txBox="1"/>
          <p:nvPr/>
        </p:nvSpPr>
        <p:spPr>
          <a:xfrm>
            <a:off x="446342" y="419226"/>
            <a:ext cx="60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A</a:t>
            </a:r>
            <a:r>
              <a:rPr lang="ko-KR" altLang="en-US" sz="2000" b="1" dirty="0"/>
              <a:t>단계</a:t>
            </a:r>
            <a:r>
              <a:rPr lang="en-US" altLang="ko-KR" sz="2000" b="1" dirty="0"/>
              <a:t>: HF 4×4 </a:t>
            </a:r>
            <a:r>
              <a:rPr lang="ko-KR" altLang="en-US" sz="2000" b="1" dirty="0"/>
              <a:t>매트릭스 → </a:t>
            </a:r>
            <a:r>
              <a:rPr lang="en-US" altLang="ko-KR" sz="2000" b="1" dirty="0"/>
              <a:t>MBTI </a:t>
            </a:r>
            <a:r>
              <a:rPr lang="ko-KR" altLang="en-US" sz="2000" b="1" dirty="0"/>
              <a:t>매핑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BE8C8F-23D2-847A-DC53-AECB79B6B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702464"/>
              </p:ext>
            </p:extLst>
          </p:nvPr>
        </p:nvGraphicFramePr>
        <p:xfrm>
          <a:off x="838200" y="1928138"/>
          <a:ext cx="10515600" cy="1828800"/>
        </p:xfrm>
        <a:graphic>
          <a:graphicData uri="http://schemas.openxmlformats.org/drawingml/2006/table">
            <a:tbl>
              <a:tblPr/>
              <a:tblGrid>
                <a:gridCol w="1749725">
                  <a:extLst>
                    <a:ext uri="{9D8B030D-6E8A-4147-A177-3AD203B41FA5}">
                      <a16:colId xmlns:a16="http://schemas.microsoft.com/office/drawing/2014/main" val="881949450"/>
                    </a:ext>
                  </a:extLst>
                </a:gridCol>
                <a:gridCol w="2812211">
                  <a:extLst>
                    <a:ext uri="{9D8B030D-6E8A-4147-A177-3AD203B41FA5}">
                      <a16:colId xmlns:a16="http://schemas.microsoft.com/office/drawing/2014/main" val="3212895959"/>
                    </a:ext>
                  </a:extLst>
                </a:gridCol>
                <a:gridCol w="5953664">
                  <a:extLst>
                    <a:ext uri="{9D8B030D-6E8A-4147-A177-3AD203B41FA5}">
                      <a16:colId xmlns:a16="http://schemas.microsoft.com/office/drawing/2014/main" val="3198828283"/>
                    </a:ext>
                  </a:extLst>
                </a:gridCol>
              </a:tblGrid>
              <a:tr h="303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HF </a:t>
                      </a:r>
                      <a:r>
                        <a:rPr lang="ko-KR" altLang="en-US" dirty="0"/>
                        <a:t>대화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정의 요약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MBTI </a:t>
                      </a:r>
                      <a:r>
                        <a:rPr lang="ko-KR" altLang="en-US"/>
                        <a:t>관련 축 </a:t>
                      </a:r>
                      <a:r>
                        <a:rPr lang="en-US" altLang="ko-KR"/>
                        <a:t>&amp; </a:t>
                      </a:r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633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공감형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감정 공감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수용적 태도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/>
                        <a:t>F (Feeling)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타인의 감정과 관계 요소를 중심으로 사고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527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인지형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사고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논리 구조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 (Thinking) + N (Intuition)</a:t>
                      </a:r>
                      <a:r>
                        <a:rPr lang="en-US"/>
                        <a:t>: </a:t>
                      </a:r>
                      <a:r>
                        <a:rPr lang="ko-KR" altLang="en-US"/>
                        <a:t>논리적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패턴과 개념 탐구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701433"/>
                  </a:ext>
                </a:extLst>
              </a:tr>
              <a:tr h="202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동기형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변화 이유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내적 동기 자극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/>
                        <a:t>N (Intuition) + J (Judging)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미래지향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목표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의미 강조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127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행동형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실행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습관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실천 집중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J (Judging) + S (Sensing)</a:t>
                      </a:r>
                      <a:r>
                        <a:rPr lang="en-US" dirty="0"/>
                        <a:t>: </a:t>
                      </a:r>
                      <a:r>
                        <a:rPr lang="ko-KR" altLang="en-US" dirty="0"/>
                        <a:t>실행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습관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실용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24080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F2849DF-97D7-D86D-FB99-C53191F4A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737247"/>
              </p:ext>
            </p:extLst>
          </p:nvPr>
        </p:nvGraphicFramePr>
        <p:xfrm>
          <a:off x="752655" y="4267819"/>
          <a:ext cx="10686690" cy="2103120"/>
        </p:xfrm>
        <a:graphic>
          <a:graphicData uri="http://schemas.openxmlformats.org/drawingml/2006/table">
            <a:tbl>
              <a:tblPr/>
              <a:tblGrid>
                <a:gridCol w="2120097">
                  <a:extLst>
                    <a:ext uri="{9D8B030D-6E8A-4147-A177-3AD203B41FA5}">
                      <a16:colId xmlns:a16="http://schemas.microsoft.com/office/drawing/2014/main" val="587412819"/>
                    </a:ext>
                  </a:extLst>
                </a:gridCol>
                <a:gridCol w="3295853">
                  <a:extLst>
                    <a:ext uri="{9D8B030D-6E8A-4147-A177-3AD203B41FA5}">
                      <a16:colId xmlns:a16="http://schemas.microsoft.com/office/drawing/2014/main" val="3123737460"/>
                    </a:ext>
                  </a:extLst>
                </a:gridCol>
                <a:gridCol w="5270740">
                  <a:extLst>
                    <a:ext uri="{9D8B030D-6E8A-4147-A177-3AD203B41FA5}">
                      <a16:colId xmlns:a16="http://schemas.microsoft.com/office/drawing/2014/main" val="3698350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HF </a:t>
                      </a:r>
                      <a:r>
                        <a:rPr lang="ko-KR" altLang="en-US" dirty="0"/>
                        <a:t>대화 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MBTI </a:t>
                      </a:r>
                      <a:r>
                        <a:rPr lang="ko-KR" altLang="en-US"/>
                        <a:t>관련 축 </a:t>
                      </a:r>
                      <a:r>
                        <a:rPr lang="en-US" altLang="ko-KR"/>
                        <a:t>&amp; </a:t>
                      </a:r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076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자기인식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정서조절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감정 이해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마음관리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자기성찰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 (Introversion) + N+F</a:t>
                      </a:r>
                      <a:r>
                        <a:rPr lang="en-US" dirty="0"/>
                        <a:t>: </a:t>
                      </a:r>
                      <a:r>
                        <a:rPr lang="ko-KR" altLang="en-US" dirty="0"/>
                        <a:t>자기감정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성찰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64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관계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소통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타인과 상호작용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대인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E (Extraversion) + F</a:t>
                      </a:r>
                      <a:r>
                        <a:rPr lang="en-US" dirty="0"/>
                        <a:t>: </a:t>
                      </a:r>
                      <a:r>
                        <a:rPr lang="ko-KR" altLang="en-US" dirty="0"/>
                        <a:t>대인관계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소통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공감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19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회복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적응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스트레스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실패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역경 대처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N + S + T/F </a:t>
                      </a:r>
                      <a:r>
                        <a:rPr lang="ko-KR" altLang="en-US" b="1" dirty="0"/>
                        <a:t>균형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회복력은 전인적이기에 </a:t>
                      </a:r>
                      <a:endParaRPr lang="en-US" altLang="ko-KR" dirty="0"/>
                    </a:p>
                    <a:p>
                      <a:pPr algn="ctr">
                        <a:buNone/>
                      </a:pPr>
                      <a:r>
                        <a:rPr lang="ko-KR" altLang="en-US" dirty="0"/>
                        <a:t>특정 유형 고정</a:t>
                      </a:r>
                      <a:r>
                        <a:rPr lang="en-US" altLang="ko-KR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663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행동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습관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목표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루틴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실천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J (Judging) + S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구조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규칙 있는 생활 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3507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073AE9-5A54-1416-59EC-3C24B5979810}"/>
              </a:ext>
            </a:extLst>
          </p:cNvPr>
          <p:cNvSpPr txBox="1"/>
          <p:nvPr/>
        </p:nvSpPr>
        <p:spPr>
          <a:xfrm>
            <a:off x="446342" y="973493"/>
            <a:ext cx="107305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목적</a:t>
            </a:r>
            <a:r>
              <a:rPr lang="en-US" altLang="ko-KR" dirty="0"/>
              <a:t>: HF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b="1" dirty="0"/>
              <a:t>대화 방식</a:t>
            </a:r>
            <a:r>
              <a:rPr lang="en-US" altLang="ko-KR" b="1" dirty="0"/>
              <a:t>(How)</a:t>
            </a:r>
            <a:r>
              <a:rPr lang="ko-KR" altLang="en-US" dirty="0"/>
              <a:t> 및 </a:t>
            </a:r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ko-KR" altLang="en-US" b="1" dirty="0"/>
              <a:t>대화 주제</a:t>
            </a:r>
            <a:r>
              <a:rPr lang="en-US" altLang="ko-KR" b="1" dirty="0"/>
              <a:t>(What)</a:t>
            </a:r>
            <a:r>
              <a:rPr lang="ko-KR" altLang="en-US" dirty="0"/>
              <a:t>를 </a:t>
            </a:r>
            <a:endParaRPr lang="en-US" altLang="ko-KR" dirty="0"/>
          </a:p>
          <a:p>
            <a:r>
              <a:rPr lang="en-US" altLang="ko-KR" dirty="0"/>
              <a:t>MBTI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가지 축</a:t>
            </a:r>
            <a:r>
              <a:rPr lang="en-US" altLang="ko-KR" dirty="0"/>
              <a:t>(IE / SN / TF / JP)</a:t>
            </a:r>
            <a:r>
              <a:rPr lang="ko-KR" altLang="en-US" dirty="0"/>
              <a:t>과 </a:t>
            </a:r>
            <a:r>
              <a:rPr lang="en-US" altLang="ko-KR" dirty="0"/>
              <a:t>16</a:t>
            </a:r>
            <a:r>
              <a:rPr lang="ko-KR" altLang="en-US" dirty="0"/>
              <a:t>유형에 </a:t>
            </a:r>
            <a:r>
              <a:rPr lang="ko-KR" altLang="en-US" b="1" dirty="0"/>
              <a:t>논리적 근거 기반으로 연결</a:t>
            </a:r>
            <a:r>
              <a:rPr lang="ko-KR" altLang="en-US" dirty="0"/>
              <a:t>하는 것</a:t>
            </a:r>
          </a:p>
        </p:txBody>
      </p:sp>
    </p:spTree>
    <p:extLst>
      <p:ext uri="{BB962C8B-B14F-4D97-AF65-F5344CB8AC3E}">
        <p14:creationId xmlns:p14="http://schemas.microsoft.com/office/powerpoint/2010/main" val="1030273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79D67-32C0-FE5A-79D6-97C047E2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08B1056-CEAE-C6F4-C8C3-A65DADA9C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528663"/>
              </p:ext>
            </p:extLst>
          </p:nvPr>
        </p:nvGraphicFramePr>
        <p:xfrm>
          <a:off x="838200" y="868680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555694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35460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HF </a:t>
                      </a:r>
                      <a:r>
                        <a:rPr lang="ko-KR" altLang="en-US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MBTI</a:t>
                      </a:r>
                      <a:r>
                        <a:rPr lang="ko-KR" altLang="en-US" dirty="0"/>
                        <a:t>와 연결되는 핵심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233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대화 방식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E/I</a:t>
                      </a:r>
                      <a:r>
                        <a:rPr lang="ko-KR" altLang="en-US" dirty="0"/>
                        <a:t>는 낮게 반영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b="1" dirty="0"/>
                        <a:t>T/F, J/P</a:t>
                      </a:r>
                      <a:r>
                        <a:rPr lang="ko-KR" altLang="en-US" dirty="0"/>
                        <a:t>와 강하게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975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대화 주제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S/N, T/F</a:t>
                      </a:r>
                      <a:r>
                        <a:rPr lang="ko-KR" altLang="en-US" dirty="0"/>
                        <a:t>와 매우 강하게 연결됨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0819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DCA973-B7A9-78C6-56ED-E00E18FB7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822714"/>
              </p:ext>
            </p:extLst>
          </p:nvPr>
        </p:nvGraphicFramePr>
        <p:xfrm>
          <a:off x="838200" y="3429000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496441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1020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85189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HF </a:t>
                      </a:r>
                      <a:r>
                        <a:rPr lang="ko-KR" altLang="en-US"/>
                        <a:t>조합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MBTI </a:t>
                      </a:r>
                      <a:r>
                        <a:rPr lang="ko-KR" altLang="en-US"/>
                        <a:t>유사 경향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830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공감형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ESFJ / ENFJ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감정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관계 중심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친사회적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042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공감형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자기인식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INFP / ISFJ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내면 공감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자기 감정 성찰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167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인지형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자기인식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INTJ / INTP / ISTJ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자기분석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구조적 이해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97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인지형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ENTJ / ESTJ / INTJ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전략</a:t>
                      </a:r>
                      <a:r>
                        <a:rPr lang="en-US" altLang="ko-KR"/>
                        <a:t>+</a:t>
                      </a:r>
                      <a:r>
                        <a:rPr lang="ko-KR" altLang="en-US"/>
                        <a:t>실행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7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동기형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회복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ENFP / ENFJ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의미부여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성장과 회복 강조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48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행동형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ESTJ / ISTJ / ISFJ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루틴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실행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4976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3EC8CB-E280-8303-D8DB-B37E519DBF64}"/>
              </a:ext>
            </a:extLst>
          </p:cNvPr>
          <p:cNvSpPr txBox="1"/>
          <p:nvPr/>
        </p:nvSpPr>
        <p:spPr>
          <a:xfrm>
            <a:off x="731668" y="2721502"/>
            <a:ext cx="60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HF </a:t>
            </a:r>
            <a:r>
              <a:rPr lang="ko-KR" altLang="en-US" sz="2000" b="1" dirty="0"/>
              <a:t>결과 유형과 </a:t>
            </a:r>
            <a:r>
              <a:rPr lang="en-US" altLang="ko-KR" sz="2000" b="1" dirty="0"/>
              <a:t>MBTI 16</a:t>
            </a:r>
            <a:r>
              <a:rPr lang="ko-KR" altLang="en-US" sz="2000" b="1" dirty="0"/>
              <a:t>유형 매칭 예시</a:t>
            </a:r>
          </a:p>
        </p:txBody>
      </p:sp>
    </p:spTree>
    <p:extLst>
      <p:ext uri="{BB962C8B-B14F-4D97-AF65-F5344CB8AC3E}">
        <p14:creationId xmlns:p14="http://schemas.microsoft.com/office/powerpoint/2010/main" val="330831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FC98-B54B-37A0-C9F2-FC4148B1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C289BD-CA46-2B59-DEB2-BE86B58AA749}"/>
              </a:ext>
            </a:extLst>
          </p:cNvPr>
          <p:cNvSpPr txBox="1"/>
          <p:nvPr/>
        </p:nvSpPr>
        <p:spPr>
          <a:xfrm>
            <a:off x="446342" y="256197"/>
            <a:ext cx="60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B</a:t>
            </a:r>
            <a:r>
              <a:rPr lang="ko-KR" altLang="en-US" sz="2000" b="1" dirty="0"/>
              <a:t>단계</a:t>
            </a:r>
            <a:r>
              <a:rPr lang="en-US" altLang="ko-KR" sz="2000" b="1" dirty="0"/>
              <a:t>: HF 4×4 </a:t>
            </a:r>
            <a:r>
              <a:rPr lang="ko-KR" altLang="en-US" sz="2000" b="1" dirty="0"/>
              <a:t>매트릭스 → </a:t>
            </a:r>
            <a:r>
              <a:rPr lang="en-US" altLang="ko-KR" sz="2000" b="1" dirty="0"/>
              <a:t>Big Five </a:t>
            </a:r>
            <a:r>
              <a:rPr lang="ko-KR" altLang="en-US" sz="2000" b="1" dirty="0"/>
              <a:t>매핑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E7315-3D1F-BD49-321F-CAB618B8502C}"/>
              </a:ext>
            </a:extLst>
          </p:cNvPr>
          <p:cNvSpPr txBox="1"/>
          <p:nvPr/>
        </p:nvSpPr>
        <p:spPr>
          <a:xfrm>
            <a:off x="446342" y="811914"/>
            <a:ext cx="107305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목적</a:t>
            </a:r>
            <a:r>
              <a:rPr lang="en-US" altLang="ko-KR" dirty="0"/>
              <a:t>: HF</a:t>
            </a:r>
            <a:r>
              <a:rPr lang="ko-KR" altLang="en-US" dirty="0"/>
              <a:t>의 대화방식</a:t>
            </a:r>
            <a:r>
              <a:rPr lang="en-US" altLang="ko-KR" dirty="0"/>
              <a:t>(How) &amp; </a:t>
            </a:r>
            <a:r>
              <a:rPr lang="ko-KR" altLang="en-US" dirty="0"/>
              <a:t>대화주제</a:t>
            </a:r>
            <a:r>
              <a:rPr lang="en-US" altLang="ko-KR" dirty="0"/>
              <a:t>(What)</a:t>
            </a:r>
            <a:r>
              <a:rPr lang="ko-KR" altLang="en-US" dirty="0"/>
              <a:t>가 </a:t>
            </a:r>
            <a:r>
              <a:rPr lang="en-US" altLang="ko-KR" dirty="0"/>
              <a:t>Big Five 5</a:t>
            </a:r>
            <a:r>
              <a:rPr lang="ko-KR" altLang="en-US" dirty="0"/>
              <a:t>요인</a:t>
            </a:r>
            <a:r>
              <a:rPr lang="en-US" altLang="ko-KR" dirty="0"/>
              <a:t>(O·C·E·A·N) </a:t>
            </a:r>
            <a:r>
              <a:rPr lang="ko-KR" altLang="en-US" dirty="0"/>
              <a:t>중 어떤 성향과 연결되는지 </a:t>
            </a:r>
            <a:r>
              <a:rPr lang="ko-KR" altLang="en-US" b="1" dirty="0"/>
              <a:t>과학적 근거 기반으로 설명</a:t>
            </a:r>
            <a:r>
              <a:rPr lang="ko-KR" altLang="en-US" dirty="0"/>
              <a:t>하는 것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3D90E1D-F2C2-960D-110B-79F8CCE3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318545"/>
              </p:ext>
            </p:extLst>
          </p:nvPr>
        </p:nvGraphicFramePr>
        <p:xfrm>
          <a:off x="179614" y="1616838"/>
          <a:ext cx="11832772" cy="2926080"/>
        </p:xfrm>
        <a:graphic>
          <a:graphicData uri="http://schemas.openxmlformats.org/drawingml/2006/table">
            <a:tbl>
              <a:tblPr/>
              <a:tblGrid>
                <a:gridCol w="2455974">
                  <a:extLst>
                    <a:ext uri="{9D8B030D-6E8A-4147-A177-3AD203B41FA5}">
                      <a16:colId xmlns:a16="http://schemas.microsoft.com/office/drawing/2014/main" val="4262486153"/>
                    </a:ext>
                  </a:extLst>
                </a:gridCol>
                <a:gridCol w="3766643">
                  <a:extLst>
                    <a:ext uri="{9D8B030D-6E8A-4147-A177-3AD203B41FA5}">
                      <a16:colId xmlns:a16="http://schemas.microsoft.com/office/drawing/2014/main" val="2739202123"/>
                    </a:ext>
                  </a:extLst>
                </a:gridCol>
                <a:gridCol w="5610155">
                  <a:extLst>
                    <a:ext uri="{9D8B030D-6E8A-4147-A177-3AD203B41FA5}">
                      <a16:colId xmlns:a16="http://schemas.microsoft.com/office/drawing/2014/main" val="3684927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HF </a:t>
                      </a:r>
                      <a:r>
                        <a:rPr lang="ko-KR" altLang="en-US" dirty="0"/>
                        <a:t>대화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Big Five </a:t>
                      </a:r>
                      <a:r>
                        <a:rPr lang="ko-KR" altLang="en-US"/>
                        <a:t>관련 요인 </a:t>
                      </a:r>
                      <a:r>
                        <a:rPr lang="en-US" altLang="ko-KR"/>
                        <a:t>&amp; </a:t>
                      </a:r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8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공감형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감정 공감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수용적 태도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A(</a:t>
                      </a:r>
                      <a:r>
                        <a:rPr lang="ko-KR" altLang="en-US" b="1" dirty="0"/>
                        <a:t>친화성</a:t>
                      </a:r>
                      <a:r>
                        <a:rPr lang="en-US" altLang="ko-KR" b="1" dirty="0"/>
                        <a:t>) ↑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공감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배려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협력 </a:t>
                      </a:r>
                      <a:r>
                        <a:rPr lang="en-US" altLang="ko-KR" dirty="0"/>
                        <a:t>/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b="1" dirty="0"/>
                        <a:t>E(</a:t>
                      </a:r>
                      <a:r>
                        <a:rPr lang="ko-KR" altLang="en-US" b="1" dirty="0"/>
                        <a:t>외향성</a:t>
                      </a:r>
                      <a:r>
                        <a:rPr lang="en-US" altLang="ko-KR" b="1" dirty="0"/>
                        <a:t>) </a:t>
                      </a:r>
                      <a:r>
                        <a:rPr lang="ko-KR" altLang="en-US" b="1" dirty="0"/>
                        <a:t>중간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사회적 상호작용 민감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619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인지형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사고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논리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구조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O(</a:t>
                      </a:r>
                      <a:r>
                        <a:rPr lang="ko-KR" altLang="en-US" b="1" dirty="0"/>
                        <a:t>개방성</a:t>
                      </a:r>
                      <a:r>
                        <a:rPr lang="en-US" altLang="ko-KR" b="1" dirty="0"/>
                        <a:t>) ↑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b="1" dirty="0"/>
                        <a:t>C(</a:t>
                      </a:r>
                      <a:r>
                        <a:rPr lang="ko-KR" altLang="en-US" b="1" dirty="0"/>
                        <a:t>성실성</a:t>
                      </a:r>
                      <a:r>
                        <a:rPr lang="en-US" altLang="ko-KR" b="1" dirty="0"/>
                        <a:t>) ↑</a:t>
                      </a:r>
                      <a:r>
                        <a:rPr lang="en-US" altLang="ko-KR" dirty="0"/>
                        <a:t>: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dirty="0"/>
                        <a:t>분석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사고의 깊이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논리구조 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695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동기형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내적 동기 강화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의미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가치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O(</a:t>
                      </a:r>
                      <a:r>
                        <a:rPr lang="ko-KR" altLang="en-US" b="1" dirty="0"/>
                        <a:t>개방성</a:t>
                      </a:r>
                      <a:r>
                        <a:rPr lang="en-US" altLang="ko-KR" b="1" dirty="0"/>
                        <a:t>) ↑↑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미래지향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의미추구 </a:t>
                      </a:r>
                      <a:r>
                        <a:rPr lang="en-US" altLang="ko-KR" dirty="0"/>
                        <a:t>/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dirty="0"/>
                        <a:t> </a:t>
                      </a:r>
                      <a:r>
                        <a:rPr lang="en-US" altLang="ko-KR" b="1" dirty="0"/>
                        <a:t>E(</a:t>
                      </a:r>
                      <a:r>
                        <a:rPr lang="ko-KR" altLang="en-US" b="1" dirty="0"/>
                        <a:t>외향성</a:t>
                      </a:r>
                      <a:r>
                        <a:rPr lang="en-US" altLang="ko-KR" b="1" dirty="0"/>
                        <a:t>) </a:t>
                      </a:r>
                      <a:r>
                        <a:rPr lang="ko-KR" altLang="en-US" b="1" dirty="0"/>
                        <a:t>중간</a:t>
                      </a:r>
                      <a:r>
                        <a:rPr lang="en-US" altLang="ko-KR" b="1" dirty="0"/>
                        <a:t>~</a:t>
                      </a:r>
                      <a:r>
                        <a:rPr lang="ko-KR" altLang="en-US" b="1" dirty="0"/>
                        <a:t>상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에너지 자극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229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행동형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실행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습관형성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실천 집중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C(</a:t>
                      </a:r>
                      <a:r>
                        <a:rPr lang="ko-KR" altLang="en-US" b="1" dirty="0"/>
                        <a:t>성실성</a:t>
                      </a:r>
                      <a:r>
                        <a:rPr lang="en-US" altLang="ko-KR" b="1" dirty="0"/>
                        <a:t>) ↑↑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목표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규칙 </a:t>
                      </a:r>
                      <a:r>
                        <a:rPr lang="en-US" altLang="ko-KR" dirty="0"/>
                        <a:t>/ 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b="1" dirty="0"/>
                        <a:t>N(</a:t>
                      </a:r>
                      <a:r>
                        <a:rPr lang="ko-KR" altLang="en-US" b="1" dirty="0"/>
                        <a:t>정서안정성</a:t>
                      </a:r>
                      <a:r>
                        <a:rPr lang="en-US" altLang="ko-KR" b="1" dirty="0"/>
                        <a:t>) </a:t>
                      </a:r>
                      <a:r>
                        <a:rPr lang="ko-KR" altLang="en-US" b="1" dirty="0"/>
                        <a:t>영향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자기조절 능력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099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7969F3A-97E6-24E8-A792-895D58074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289714"/>
              </p:ext>
            </p:extLst>
          </p:nvPr>
        </p:nvGraphicFramePr>
        <p:xfrm>
          <a:off x="179614" y="4773003"/>
          <a:ext cx="11832772" cy="1828800"/>
        </p:xfrm>
        <a:graphic>
          <a:graphicData uri="http://schemas.openxmlformats.org/drawingml/2006/table">
            <a:tbl>
              <a:tblPr/>
              <a:tblGrid>
                <a:gridCol w="2294167">
                  <a:extLst>
                    <a:ext uri="{9D8B030D-6E8A-4147-A177-3AD203B41FA5}">
                      <a16:colId xmlns:a16="http://schemas.microsoft.com/office/drawing/2014/main" val="57951189"/>
                    </a:ext>
                  </a:extLst>
                </a:gridCol>
                <a:gridCol w="3126921">
                  <a:extLst>
                    <a:ext uri="{9D8B030D-6E8A-4147-A177-3AD203B41FA5}">
                      <a16:colId xmlns:a16="http://schemas.microsoft.com/office/drawing/2014/main" val="1706033932"/>
                    </a:ext>
                  </a:extLst>
                </a:gridCol>
                <a:gridCol w="6411684">
                  <a:extLst>
                    <a:ext uri="{9D8B030D-6E8A-4147-A177-3AD203B41FA5}">
                      <a16:colId xmlns:a16="http://schemas.microsoft.com/office/drawing/2014/main" val="2563252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HF </a:t>
                      </a:r>
                      <a:r>
                        <a:rPr lang="ko-KR" altLang="en-US" dirty="0"/>
                        <a:t>대화 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Big Five </a:t>
                      </a:r>
                      <a:r>
                        <a:rPr lang="ko-KR" altLang="en-US"/>
                        <a:t>관련 요인 </a:t>
                      </a:r>
                      <a:r>
                        <a:rPr lang="en-US" altLang="ko-KR"/>
                        <a:t>&amp; </a:t>
                      </a:r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345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자기인식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정서조절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감정 이해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조절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자기성찰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N(</a:t>
                      </a:r>
                      <a:r>
                        <a:rPr lang="ko-KR" altLang="en-US" b="1" dirty="0"/>
                        <a:t>정서 안정성</a:t>
                      </a:r>
                      <a:r>
                        <a:rPr lang="en-US" altLang="ko-KR" b="1" dirty="0"/>
                        <a:t>) ↑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감정조절 능력 </a:t>
                      </a:r>
                      <a:r>
                        <a:rPr lang="en-US" altLang="ko-KR" dirty="0"/>
                        <a:t>/ </a:t>
                      </a:r>
                      <a:r>
                        <a:rPr lang="en-US" altLang="ko-KR" b="1" dirty="0"/>
                        <a:t>O(</a:t>
                      </a:r>
                      <a:r>
                        <a:rPr lang="ko-KR" altLang="en-US" b="1" dirty="0"/>
                        <a:t>개방성</a:t>
                      </a:r>
                      <a:r>
                        <a:rPr lang="en-US" altLang="ko-KR" b="1" dirty="0"/>
                        <a:t>) ↑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자기 성찰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90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관계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소통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대인관계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상호작용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소통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/>
                        <a:t>E(</a:t>
                      </a:r>
                      <a:r>
                        <a:rPr lang="ko-KR" altLang="en-US" b="1"/>
                        <a:t>외향성</a:t>
                      </a:r>
                      <a:r>
                        <a:rPr lang="en-US" altLang="ko-KR" b="1"/>
                        <a:t>) ↑</a:t>
                      </a:r>
                      <a:r>
                        <a:rPr lang="en-US" altLang="ko-KR"/>
                        <a:t>, </a:t>
                      </a:r>
                      <a:r>
                        <a:rPr lang="en-US" altLang="ko-KR" b="1"/>
                        <a:t>A(</a:t>
                      </a:r>
                      <a:r>
                        <a:rPr lang="ko-KR" altLang="en-US" b="1"/>
                        <a:t>친화성</a:t>
                      </a:r>
                      <a:r>
                        <a:rPr lang="en-US" altLang="ko-KR" b="1"/>
                        <a:t>) ↑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관계 에너지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공감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105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회복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적응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스트레스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실패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역경 다루기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/>
                        <a:t>N(</a:t>
                      </a:r>
                      <a:r>
                        <a:rPr lang="ko-KR" altLang="en-US" b="1"/>
                        <a:t>정서 안정성</a:t>
                      </a:r>
                      <a:r>
                        <a:rPr lang="en-US" altLang="ko-KR" b="1"/>
                        <a:t>) / </a:t>
                      </a:r>
                      <a:r>
                        <a:rPr lang="ko-KR" altLang="en-US" b="1"/>
                        <a:t>회복탄력성 지표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감정 회복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안정성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75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행동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습관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목표설정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루틴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실천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/>
                        <a:t>C(</a:t>
                      </a:r>
                      <a:r>
                        <a:rPr lang="ko-KR" altLang="en-US" b="1" dirty="0"/>
                        <a:t>성실성</a:t>
                      </a:r>
                      <a:r>
                        <a:rPr lang="en-US" altLang="ko-KR" b="1" dirty="0"/>
                        <a:t>) ↑↑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습관화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자기관리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97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209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5A9C-490A-BF80-0A51-11E10225F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6619E5-46BB-20A2-DE9C-3656772FD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741209"/>
              </p:ext>
            </p:extLst>
          </p:nvPr>
        </p:nvGraphicFramePr>
        <p:xfrm>
          <a:off x="838200" y="860812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697461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47279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Big Five </a:t>
                      </a:r>
                      <a:r>
                        <a:rPr lang="ko-KR" altLang="en-US"/>
                        <a:t>요인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HF</a:t>
                      </a:r>
                      <a:r>
                        <a:rPr lang="ko-KR" altLang="en-US"/>
                        <a:t>와 밀접한 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868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O: </a:t>
                      </a:r>
                      <a:r>
                        <a:rPr lang="ko-KR" altLang="en-US" b="1"/>
                        <a:t>개방성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인지형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동기형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자기인식 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376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C: </a:t>
                      </a:r>
                      <a:r>
                        <a:rPr lang="ko-KR" altLang="en-US" b="1"/>
                        <a:t>성실성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행동형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습관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목표 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62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E: </a:t>
                      </a:r>
                      <a:r>
                        <a:rPr lang="ko-KR" altLang="en-US" b="1"/>
                        <a:t>외향성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관계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소통 주제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동기형 일부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64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A: </a:t>
                      </a:r>
                      <a:r>
                        <a:rPr lang="ko-KR" altLang="en-US" b="1" dirty="0"/>
                        <a:t>친화성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공감형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관계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소통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959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N: </a:t>
                      </a:r>
                      <a:r>
                        <a:rPr lang="ko-KR" altLang="en-US" b="1"/>
                        <a:t>정서 안정성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정서조절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회복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적응 주제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행동 지속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52892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903D897-0808-4CE0-C0F9-0C6578659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249364"/>
              </p:ext>
            </p:extLst>
          </p:nvPr>
        </p:nvGraphicFramePr>
        <p:xfrm>
          <a:off x="838200" y="4398977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067970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8555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HF </a:t>
                      </a:r>
                      <a:r>
                        <a:rPr lang="ko-KR" altLang="en-US" dirty="0"/>
                        <a:t>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Big Five </a:t>
                      </a:r>
                      <a:r>
                        <a:rPr lang="ko-KR" altLang="en-US"/>
                        <a:t>변환 시 강점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585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점 척도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전혀 아니다</a:t>
                      </a:r>
                      <a:r>
                        <a:rPr lang="en-US" altLang="ko-KR" dirty="0"/>
                        <a:t>~</a:t>
                      </a:r>
                      <a:r>
                        <a:rPr lang="ko-KR" altLang="en-US" dirty="0"/>
                        <a:t>매우 그렇다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Big Five</a:t>
                      </a:r>
                      <a:r>
                        <a:rPr lang="ko-KR" altLang="en-US"/>
                        <a:t>와 동일하게 </a:t>
                      </a:r>
                      <a:r>
                        <a:rPr lang="ko-KR" altLang="en-US" b="1"/>
                        <a:t>연속형 점수 변환 가능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4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/>
                        <a:t>주성향</a:t>
                      </a:r>
                      <a:r>
                        <a:rPr lang="en-US" altLang="ko-KR"/>
                        <a:t>+</a:t>
                      </a:r>
                      <a:r>
                        <a:rPr lang="ko-KR" altLang="en-US"/>
                        <a:t>보조성향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Big Five</a:t>
                      </a:r>
                      <a:r>
                        <a:rPr lang="ko-KR" altLang="en-US"/>
                        <a:t>의 </a:t>
                      </a:r>
                      <a:r>
                        <a:rPr lang="en-US" altLang="ko-KR" b="1"/>
                        <a:t>1</a:t>
                      </a:r>
                      <a:r>
                        <a:rPr lang="ko-KR" altLang="en-US" b="1"/>
                        <a:t>차</a:t>
                      </a:r>
                      <a:r>
                        <a:rPr lang="en-US" altLang="ko-KR" b="1"/>
                        <a:t>/2</a:t>
                      </a:r>
                      <a:r>
                        <a:rPr lang="ko-KR" altLang="en-US" b="1"/>
                        <a:t>차 요인 개념과 유사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247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대화 방식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주제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Big Five </a:t>
                      </a:r>
                      <a:r>
                        <a:rPr lang="ko-KR" altLang="en-US" dirty="0"/>
                        <a:t>요인을 </a:t>
                      </a:r>
                      <a:r>
                        <a:rPr lang="ko-KR" altLang="en-US" b="1" dirty="0"/>
                        <a:t>다차원적으로 설명하기 용이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9040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2938F91-23F9-2A78-50C2-6C5BA7BEC767}"/>
              </a:ext>
            </a:extLst>
          </p:cNvPr>
          <p:cNvSpPr txBox="1"/>
          <p:nvPr/>
        </p:nvSpPr>
        <p:spPr>
          <a:xfrm>
            <a:off x="838200" y="3710632"/>
            <a:ext cx="60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HF → Big Five </a:t>
            </a:r>
            <a:r>
              <a:rPr lang="ko-KR" altLang="en-US" sz="2000" b="1" dirty="0"/>
              <a:t>점수화 가능성</a:t>
            </a:r>
          </a:p>
        </p:txBody>
      </p:sp>
    </p:spTree>
    <p:extLst>
      <p:ext uri="{BB962C8B-B14F-4D97-AF65-F5344CB8AC3E}">
        <p14:creationId xmlns:p14="http://schemas.microsoft.com/office/powerpoint/2010/main" val="4239237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E35A-3B11-D474-881C-559FCA72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8FC43F2-DDB0-C4B4-EFBA-F7E7A2E23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614941"/>
              </p:ext>
            </p:extLst>
          </p:nvPr>
        </p:nvGraphicFramePr>
        <p:xfrm>
          <a:off x="838199" y="536734"/>
          <a:ext cx="10515600" cy="23774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7376952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923820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54378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Big5 </a:t>
                      </a:r>
                      <a:r>
                        <a:rPr lang="ko-KR" altLang="en-US" sz="1500" dirty="0"/>
                        <a:t>요인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현재 문항과의 연관 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973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 (</a:t>
                      </a:r>
                      <a:r>
                        <a:rPr lang="ko-KR" altLang="en-US" sz="1500"/>
                        <a:t>친화성</a:t>
                      </a:r>
                      <a:r>
                        <a:rPr lang="en-US" altLang="ko-KR" sz="15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✅ 매우 강함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“배려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공감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상처방지” 문항 다수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959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 (</a:t>
                      </a:r>
                      <a:r>
                        <a:rPr lang="ko-KR" altLang="en-US" sz="1500"/>
                        <a:t>성실성</a:t>
                      </a:r>
                      <a:r>
                        <a:rPr lang="en-US" altLang="ko-KR" sz="15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✅ 매우 강함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“계획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실행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루틴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목표” 다수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066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/>
                        <a:t>N (</a:t>
                      </a:r>
                      <a:r>
                        <a:rPr lang="ko-KR" altLang="en-US" sz="1500"/>
                        <a:t>정서적 안정성</a:t>
                      </a:r>
                      <a:r>
                        <a:rPr lang="en-US" altLang="ko-KR" sz="15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✅ 중</a:t>
                      </a:r>
                      <a:r>
                        <a:rPr lang="en-US" altLang="ko-KR" sz="1500"/>
                        <a:t>~</a:t>
                      </a:r>
                      <a:r>
                        <a:rPr lang="ko-KR" altLang="en-US" sz="1500"/>
                        <a:t>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“회복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감정조절” 문항 다수 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단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더 정교화 필요</a:t>
                      </a:r>
                      <a:r>
                        <a:rPr lang="en-US" altLang="ko-KR" sz="15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1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 (</a:t>
                      </a:r>
                      <a:r>
                        <a:rPr lang="ko-KR" altLang="en-US" sz="1500"/>
                        <a:t>외향성</a:t>
                      </a:r>
                      <a:r>
                        <a:rPr lang="en-US" altLang="ko-KR" sz="15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❌ 매우 부족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활동성보다 정서안정 중심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179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 (</a:t>
                      </a:r>
                      <a:r>
                        <a:rPr lang="ko-KR" altLang="en-US" sz="1500"/>
                        <a:t>개방성</a:t>
                      </a:r>
                      <a:r>
                        <a:rPr lang="en-US" altLang="ko-KR" sz="15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❌ 부족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“새로운 시도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호기심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창의적 접근” </a:t>
                      </a:r>
                      <a:endParaRPr lang="en-US" altLang="ko-KR" sz="1500" dirty="0"/>
                    </a:p>
                    <a:p>
                      <a:pPr>
                        <a:buNone/>
                      </a:pPr>
                      <a:r>
                        <a:rPr lang="ko-KR" altLang="en-US" sz="1500" dirty="0"/>
                        <a:t>관련 문항 부재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86170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45F8CA-7277-C401-090E-80D36E231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402911"/>
              </p:ext>
            </p:extLst>
          </p:nvPr>
        </p:nvGraphicFramePr>
        <p:xfrm>
          <a:off x="245532" y="3268133"/>
          <a:ext cx="11700933" cy="3255505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743298278"/>
                    </a:ext>
                  </a:extLst>
                </a:gridCol>
                <a:gridCol w="4072467">
                  <a:extLst>
                    <a:ext uri="{9D8B030D-6E8A-4147-A177-3AD203B41FA5}">
                      <a16:colId xmlns:a16="http://schemas.microsoft.com/office/drawing/2014/main" val="3366024825"/>
                    </a:ext>
                  </a:extLst>
                </a:gridCol>
                <a:gridCol w="3361266">
                  <a:extLst>
                    <a:ext uri="{9D8B030D-6E8A-4147-A177-3AD203B41FA5}">
                      <a16:colId xmlns:a16="http://schemas.microsoft.com/office/drawing/2014/main" val="2146869119"/>
                    </a:ext>
                  </a:extLst>
                </a:gridCol>
              </a:tblGrid>
              <a:tr h="51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원 질문 </a:t>
                      </a:r>
                      <a:r>
                        <a:rPr lang="en-US" altLang="ko-KR" sz="1500"/>
                        <a:t>(</a:t>
                      </a:r>
                      <a:r>
                        <a:rPr lang="en-US" sz="1500"/>
                        <a:t>HF</a:t>
                      </a:r>
                      <a:r>
                        <a:rPr lang="ko-KR" altLang="en-US" sz="1500"/>
                        <a:t>용</a:t>
                      </a:r>
                      <a:r>
                        <a:rPr lang="en-US" altLang="ko-KR" sz="15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수정 버전 </a:t>
                      </a:r>
                      <a:r>
                        <a:rPr lang="en-US" altLang="ko-KR" sz="1500" dirty="0"/>
                        <a:t>(</a:t>
                      </a:r>
                      <a:r>
                        <a:rPr lang="en-US" sz="1500" dirty="0"/>
                        <a:t>HF + Big5 O or E </a:t>
                      </a:r>
                      <a:r>
                        <a:rPr lang="ko-KR" altLang="en-US" sz="1500" dirty="0"/>
                        <a:t>반영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903199"/>
                  </a:ext>
                </a:extLst>
              </a:tr>
              <a:tr h="731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활동을 하면 기분이 좋아집니다</a:t>
                      </a:r>
                      <a:r>
                        <a:rPr lang="en-US" altLang="ko-KR" sz="15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dirty="0"/>
                        <a:t>사람들과 함께 활동하거나 새로운 활동을 </a:t>
                      </a:r>
                      <a:endParaRPr lang="en-US" altLang="ko-KR" sz="1500" b="1" dirty="0"/>
                    </a:p>
                    <a:p>
                      <a:pPr>
                        <a:buNone/>
                      </a:pPr>
                      <a:r>
                        <a:rPr lang="ko-KR" altLang="en-US" sz="1500" b="1" dirty="0"/>
                        <a:t>하면 기분이 좋아집니다</a:t>
                      </a:r>
                      <a:r>
                        <a:rPr lang="en-US" altLang="ko-KR" sz="1500" b="1" dirty="0"/>
                        <a:t>.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“활동” → 사회성</a:t>
                      </a:r>
                      <a:r>
                        <a:rPr lang="en-US" altLang="ko-KR" sz="1500"/>
                        <a:t>(E) + </a:t>
                      </a:r>
                      <a:r>
                        <a:rPr lang="ko-KR" altLang="en-US" sz="1500"/>
                        <a:t>개방성</a:t>
                      </a:r>
                      <a:r>
                        <a:rPr lang="en-US" altLang="ko-KR" sz="1500"/>
                        <a:t>(O) </a:t>
                      </a:r>
                      <a:r>
                        <a:rPr lang="ko-KR" altLang="en-US" sz="1500"/>
                        <a:t>확장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978799"/>
                  </a:ext>
                </a:extLst>
              </a:tr>
              <a:tr h="731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하루 일과를 미리 정해두면 편안합니다</a:t>
                      </a:r>
                      <a:r>
                        <a:rPr lang="en-US" altLang="ko-KR" sz="15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하루 일과를 </a:t>
                      </a:r>
                      <a:r>
                        <a:rPr lang="ko-KR" altLang="en-US" sz="1500" b="1"/>
                        <a:t>정해진 대로 보내면 편안하지만</a:t>
                      </a:r>
                      <a:r>
                        <a:rPr lang="en-US" altLang="ko-KR" sz="1500" b="1"/>
                        <a:t>, </a:t>
                      </a:r>
                      <a:r>
                        <a:rPr lang="ko-KR" altLang="en-US" sz="1500" b="1"/>
                        <a:t>가끔 새로운 변화를 주면 더 활력이 생깁니다</a:t>
                      </a:r>
                      <a:r>
                        <a:rPr lang="en-US" altLang="ko-KR" sz="1500" b="1"/>
                        <a:t>.</a:t>
                      </a:r>
                      <a:endParaRPr lang="ko-KR" alt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dirty="0"/>
                        <a:t>J/P + O </a:t>
                      </a:r>
                      <a:r>
                        <a:rPr lang="ko-KR" altLang="en-US" sz="1500" dirty="0"/>
                        <a:t>요소 모두 포함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113826"/>
                  </a:ext>
                </a:extLst>
              </a:tr>
              <a:tr h="731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기분이 나쁠 때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왜 그런지 곰곰이 생각합니다</a:t>
                      </a:r>
                      <a:r>
                        <a:rPr lang="en-US" altLang="ko-KR" sz="15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기분이 나쁠 때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b="1" dirty="0"/>
                        <a:t>생각하거나 글을 쓰며 </a:t>
                      </a:r>
                      <a:endParaRPr lang="en-US" altLang="ko-KR" sz="1500" b="1" dirty="0"/>
                    </a:p>
                    <a:p>
                      <a:pPr>
                        <a:buNone/>
                      </a:pPr>
                      <a:r>
                        <a:rPr lang="ko-KR" altLang="en-US" sz="1500" b="1" dirty="0"/>
                        <a:t>다양한 관점에서 이유를 떠올려봅니다</a:t>
                      </a:r>
                      <a:r>
                        <a:rPr lang="en-US" altLang="ko-KR" sz="1500" b="1" dirty="0"/>
                        <a:t>.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인지 </a:t>
                      </a:r>
                      <a:r>
                        <a:rPr lang="en-US" altLang="ko-KR" sz="1500"/>
                        <a:t>+ </a:t>
                      </a:r>
                      <a:r>
                        <a:rPr lang="ko-KR" altLang="en-US" sz="1500"/>
                        <a:t>개방적 사고</a:t>
                      </a:r>
                      <a:r>
                        <a:rPr lang="en-US" altLang="ko-KR" sz="1500"/>
                        <a:t>(O)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097387"/>
                  </a:ext>
                </a:extLst>
              </a:tr>
              <a:tr h="51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관계에서 내 생각을 솔직히 표현할 수 있습니다</a:t>
                      </a:r>
                      <a:r>
                        <a:rPr lang="en-US" altLang="ko-KR" sz="15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관계에서 내 생각을 </a:t>
                      </a:r>
                      <a:r>
                        <a:rPr lang="ko-KR" altLang="en-US" sz="1500" b="1" dirty="0"/>
                        <a:t>직접적이고 당당하게 </a:t>
                      </a:r>
                      <a:endParaRPr lang="en-US" altLang="ko-KR" sz="1500" b="1" dirty="0"/>
                    </a:p>
                    <a:p>
                      <a:pPr>
                        <a:buNone/>
                      </a:pPr>
                      <a:r>
                        <a:rPr lang="ko-KR" altLang="en-US" sz="1500" b="1" dirty="0"/>
                        <a:t>표현할 수 있습니다</a:t>
                      </a:r>
                      <a:r>
                        <a:rPr lang="en-US" altLang="ko-KR" sz="1500" b="1" dirty="0"/>
                        <a:t>.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단순 공감→</a:t>
                      </a:r>
                      <a:r>
                        <a:rPr lang="en-US" altLang="ko-KR" sz="1500" b="1" dirty="0"/>
                        <a:t>E(</a:t>
                      </a:r>
                      <a:r>
                        <a:rPr lang="ko-KR" altLang="en-US" sz="1500" b="1" dirty="0"/>
                        <a:t>표현 에너지</a:t>
                      </a:r>
                      <a:r>
                        <a:rPr lang="en-US" altLang="ko-KR" sz="1500" b="1" dirty="0"/>
                        <a:t>)</a:t>
                      </a:r>
                      <a:r>
                        <a:rPr lang="ko-KR" altLang="en-US" sz="1500" dirty="0"/>
                        <a:t> 강화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06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834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558" y="-44423"/>
            <a:ext cx="5036884" cy="11430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공감형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자기인식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정서조절</a:t>
            </a:r>
            <a:endParaRPr sz="3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944964"/>
            <a:ext cx="8229600" cy="2195473"/>
          </a:xfrm>
          <a:prstGeom prst="rect">
            <a:avLst/>
          </a:prstGeom>
          <a:solidFill>
            <a:srgbClr val="F2B9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+mn-ea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:</a:t>
            </a:r>
            <a:br>
              <a:rPr sz="1500" dirty="0">
                <a:latin typeface="+mn-ea"/>
                <a:cs typeface="Times New Roman" panose="02020603050405020304" pitchFamily="18" charset="0"/>
              </a:rPr>
            </a:br>
            <a:r>
              <a:rPr sz="1500" dirty="0">
                <a:latin typeface="+mn-ea"/>
                <a:cs typeface="Times New Roman" panose="02020603050405020304" pitchFamily="18" charset="0"/>
              </a:rPr>
              <a:t>Focus on emotion validation and acceptance.</a:t>
            </a:r>
            <a:br>
              <a:rPr sz="1500" dirty="0">
                <a:latin typeface="+mn-ea"/>
                <a:cs typeface="Times New Roman" panose="02020603050405020304" pitchFamily="18" charset="0"/>
              </a:rPr>
            </a:br>
            <a:r>
              <a:rPr sz="1500" dirty="0" err="1">
                <a:latin typeface="+mn-ea"/>
                <a:cs typeface="Times New Roman" panose="02020603050405020304" pitchFamily="18" charset="0"/>
              </a:rPr>
              <a:t>감정의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수용과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공감을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중심으로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진행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+mn-ea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:</a:t>
            </a:r>
            <a:br>
              <a:rPr sz="1500" dirty="0">
                <a:latin typeface="+mn-ea"/>
                <a:cs typeface="Times New Roman" panose="02020603050405020304" pitchFamily="18" charset="0"/>
              </a:rPr>
            </a:br>
            <a:r>
              <a:rPr sz="1500" dirty="0">
                <a:latin typeface="+mn-ea"/>
                <a:cs typeface="Times New Roman" panose="02020603050405020304" pitchFamily="18" charset="0"/>
              </a:rPr>
              <a:t>“How did you feel at that moment?” / “그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순간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어떤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감정을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느끼셨나요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+mn-ea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:</a:t>
            </a:r>
            <a:br>
              <a:rPr sz="1500" dirty="0">
                <a:latin typeface="+mn-ea"/>
                <a:cs typeface="Times New Roman" panose="02020603050405020304" pitchFamily="18" charset="0"/>
              </a:rPr>
            </a:br>
            <a:r>
              <a:rPr sz="1500" dirty="0">
                <a:latin typeface="+mn-ea"/>
                <a:cs typeface="Times New Roman" panose="02020603050405020304" pitchFamily="18" charset="0"/>
              </a:rPr>
              <a:t>Encourage the client to name emotions — labeling feelings activates the prefrontal cortex.</a:t>
            </a:r>
            <a:br>
              <a:rPr sz="1500" dirty="0">
                <a:latin typeface="+mn-ea"/>
                <a:cs typeface="Times New Roman" panose="02020603050405020304" pitchFamily="18" charset="0"/>
              </a:rPr>
            </a:br>
            <a:r>
              <a:rPr sz="1500" dirty="0" err="1">
                <a:latin typeface="+mn-ea"/>
                <a:cs typeface="Times New Roman" panose="02020603050405020304" pitchFamily="18" charset="0"/>
              </a:rPr>
              <a:t>감정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명명은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전두엽을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자극하고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정서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조절을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+mn-ea"/>
                <a:cs typeface="Times New Roman" panose="02020603050405020304" pitchFamily="18" charset="0"/>
              </a:rPr>
              <a:t>돕는다</a:t>
            </a:r>
            <a:r>
              <a:rPr sz="1500" dirty="0">
                <a:latin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F6F7DD-283A-AEB2-222E-3C635A5ACD4F}"/>
              </a:ext>
            </a:extLst>
          </p:cNvPr>
          <p:cNvSpPr txBox="1">
            <a:spLocks/>
          </p:cNvSpPr>
          <p:nvPr/>
        </p:nvSpPr>
        <p:spPr>
          <a:xfrm>
            <a:off x="1927412" y="3429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공감형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관계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EDC76-74ED-F53B-A154-CBE91AE21DAB}"/>
              </a:ext>
            </a:extLst>
          </p:cNvPr>
          <p:cNvSpPr txBox="1"/>
          <p:nvPr/>
        </p:nvSpPr>
        <p:spPr>
          <a:xfrm>
            <a:off x="1927412" y="4425673"/>
            <a:ext cx="8229600" cy="2195473"/>
          </a:xfrm>
          <a:prstGeom prst="rect">
            <a:avLst/>
          </a:prstGeom>
          <a:solidFill>
            <a:srgbClr val="F2B9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empathic listening to validate relational pain.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관계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속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공감적으로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경청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“It must have been painful when they said that.” / “그 말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들었을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때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많이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속상하셨죠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resonance fosters safety, allowing rational reflection.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공감은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성찰의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안전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기반을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만든다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공감형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적응</a:t>
            </a:r>
            <a:endParaRPr sz="3000" dirty="0"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987399"/>
            <a:ext cx="8229600" cy="2195473"/>
          </a:xfrm>
          <a:prstGeom prst="rect">
            <a:avLst/>
          </a:prstGeom>
          <a:solidFill>
            <a:srgbClr val="F2B9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comfort and shared resilience.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위로와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메시지를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전달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“You’ve already endured so much.”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여기까지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버텨온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것만으로도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대단해요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Feeling understood reduces stress response, opening cognitive flexibility.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공감받을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때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유연성이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향상된다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EEE75-C72A-5920-23AD-A7465B5B7AE4}"/>
              </a:ext>
            </a:extLst>
          </p:cNvPr>
          <p:cNvSpPr txBox="1"/>
          <p:nvPr/>
        </p:nvSpPr>
        <p:spPr>
          <a:xfrm>
            <a:off x="3863789" y="361627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공감형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습관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E26BA-35A5-5CAF-33B7-49896C7967BE}"/>
              </a:ext>
            </a:extLst>
          </p:cNvPr>
          <p:cNvSpPr txBox="1"/>
          <p:nvPr/>
        </p:nvSpPr>
        <p:spPr>
          <a:xfrm>
            <a:off x="1981200" y="4353006"/>
            <a:ext cx="8229600" cy="2195473"/>
          </a:xfrm>
          <a:prstGeom prst="rect">
            <a:avLst/>
          </a:prstGeom>
          <a:solidFill>
            <a:srgbClr val="F2B9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small steps and emotional readiness.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작은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실천과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준비를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“Even starting small is enough.”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조금씩만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해도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괜찮아요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Lowering emotional pressure enhances motivation.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부담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완화로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실행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기능이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강화된다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81092" y="933008"/>
            <a:ext cx="8229600" cy="2195473"/>
          </a:xfrm>
          <a:prstGeom prst="rect">
            <a:avLst/>
          </a:prstGeom>
          <a:solidFill>
            <a:srgbClr val="B9D5F2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thought-emotion links logically.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감정의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근원을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사고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구조로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탐색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 thoughts led to that emotion?” / “그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어떤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생각에서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비롯됐을까요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Linking emotions to cognition integrates emotional-cognitive processing.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사고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연결은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통합을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돕는다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FF3DDB-41E1-290A-979E-7581DE82A00B}"/>
              </a:ext>
            </a:extLst>
          </p:cNvPr>
          <p:cNvSpPr txBox="1"/>
          <p:nvPr/>
        </p:nvSpPr>
        <p:spPr>
          <a:xfrm>
            <a:off x="3519929" y="283687"/>
            <a:ext cx="53519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인지형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자기인식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정서조절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95082-1378-3807-E4B0-A37E2E4D40A0}"/>
              </a:ext>
            </a:extLst>
          </p:cNvPr>
          <p:cNvSpPr txBox="1"/>
          <p:nvPr/>
        </p:nvSpPr>
        <p:spPr>
          <a:xfrm>
            <a:off x="3810000" y="372952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인지형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관계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소통</a:t>
            </a:r>
            <a:endParaRPr lang="ko-KR" alt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232FB-2F2E-0BBA-2AE7-EA1B948C85EA}"/>
              </a:ext>
            </a:extLst>
          </p:cNvPr>
          <p:cNvSpPr txBox="1"/>
          <p:nvPr/>
        </p:nvSpPr>
        <p:spPr>
          <a:xfrm>
            <a:off x="1981200" y="4378841"/>
            <a:ext cx="8229600" cy="2195473"/>
          </a:xfrm>
          <a:prstGeom prst="rect">
            <a:avLst/>
          </a:prstGeom>
          <a:solidFill>
            <a:srgbClr val="B9D5F2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Reframe misunderstandings objectively.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관계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속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오해를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논리적으로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재구조화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might the other person’s intention differ?”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상대의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의도를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다르게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볼 수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있을까요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Perspective-taking activates empathy-related cognition.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재구성은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공감적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사고를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자극한다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809AE3-8FE8-B9C3-EB8B-0974966E3BDE}"/>
              </a:ext>
            </a:extLst>
          </p:cNvPr>
          <p:cNvSpPr txBox="1"/>
          <p:nvPr/>
        </p:nvSpPr>
        <p:spPr>
          <a:xfrm>
            <a:off x="3810000" y="363553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인지형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적응</a:t>
            </a:r>
            <a:endParaRPr lang="ko-KR" alt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32EA9-1586-96D4-50B7-13AB6BC46516}"/>
              </a:ext>
            </a:extLst>
          </p:cNvPr>
          <p:cNvSpPr txBox="1"/>
          <p:nvPr/>
        </p:nvSpPr>
        <p:spPr>
          <a:xfrm>
            <a:off x="3717792" y="31966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인지형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습관</a:t>
            </a:r>
            <a:endParaRPr lang="ko-KR" altLang="en-US"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48784-BB4E-033A-AD61-8821A1D84577}"/>
              </a:ext>
            </a:extLst>
          </p:cNvPr>
          <p:cNvSpPr txBox="1"/>
          <p:nvPr/>
        </p:nvSpPr>
        <p:spPr>
          <a:xfrm>
            <a:off x="1981200" y="1016742"/>
            <a:ext cx="8229600" cy="2195473"/>
          </a:xfrm>
          <a:prstGeom prst="rect">
            <a:avLst/>
          </a:prstGeom>
          <a:solidFill>
            <a:srgbClr val="B9D5F2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stressors systematically.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스트레스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요인을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체계적으로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분석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“Let’s list what you can and can’t control.”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가능한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것과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불가능한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것을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구분해볼까요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Categorizing stress reduces overload and strengthens coping.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분류와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구조화는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문제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해결력을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높인다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A7305-6170-0F3B-F092-7F837E2D87F5}"/>
              </a:ext>
            </a:extLst>
          </p:cNvPr>
          <p:cNvSpPr txBox="1"/>
          <p:nvPr/>
        </p:nvSpPr>
        <p:spPr>
          <a:xfrm>
            <a:off x="1981200" y="4342867"/>
            <a:ext cx="8229600" cy="2195473"/>
          </a:xfrm>
          <a:prstGeom prst="rect">
            <a:avLst/>
          </a:prstGeom>
          <a:solidFill>
            <a:srgbClr val="B9D5F2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behavioral patterns logically.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행동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루틴을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논리적으로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점검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 part feels inefficient?” / “이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습관의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어떤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부분이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비효율적일까요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evaluation reinforces self-monitoring.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점검은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자기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통제력을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향상시킨다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3D2A-798A-EBF0-5DF8-28D4577D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1FC958-2159-A6F1-E321-59B02679D3EE}"/>
              </a:ext>
            </a:extLst>
          </p:cNvPr>
          <p:cNvSpPr txBox="1"/>
          <p:nvPr/>
        </p:nvSpPr>
        <p:spPr>
          <a:xfrm>
            <a:off x="3519929" y="283687"/>
            <a:ext cx="53519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동기형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자기인식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정서조절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31E40-6440-3181-1725-D282467591A0}"/>
              </a:ext>
            </a:extLst>
          </p:cNvPr>
          <p:cNvSpPr txBox="1"/>
          <p:nvPr/>
        </p:nvSpPr>
        <p:spPr>
          <a:xfrm>
            <a:off x="3810000" y="372952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동기형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관계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소통</a:t>
            </a:r>
            <a:endParaRPr lang="ko-KR" altLang="en-US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03B87F-40F3-5F89-8F1F-44460AD2355F}"/>
              </a:ext>
            </a:extLst>
          </p:cNvPr>
          <p:cNvSpPr txBox="1"/>
          <p:nvPr/>
        </p:nvSpPr>
        <p:spPr>
          <a:xfrm>
            <a:off x="1988457" y="1014383"/>
            <a:ext cx="8229600" cy="2195473"/>
          </a:xfrm>
          <a:prstGeom prst="rect">
            <a:avLst/>
          </a:prstGeom>
          <a:solidFill>
            <a:srgbClr val="BDF2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 reasons for emotional regulation.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조절의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필요성과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긍정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변화를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강조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would your life change?”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잘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다루면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삶이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어떻게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달라질까요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vision stimulates goal-oriented cognition.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미래상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상상은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목표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지향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자극한다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583DF-EC01-694B-E07A-D6F193F151FE}"/>
              </a:ext>
            </a:extLst>
          </p:cNvPr>
          <p:cNvSpPr txBox="1"/>
          <p:nvPr/>
        </p:nvSpPr>
        <p:spPr>
          <a:xfrm>
            <a:off x="1981200" y="4378841"/>
            <a:ext cx="8229600" cy="2195473"/>
          </a:xfrm>
          <a:prstGeom prst="rect">
            <a:avLst/>
          </a:prstGeom>
          <a:solidFill>
            <a:srgbClr val="BDF2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potential for relational improvement.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관계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개선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가능성을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강조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already have the power to change.”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당신은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이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관계를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바꿀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힘이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있어요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Affirmation boosts self-efficacy and decision-making.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확신은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자기효능감을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높인다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5612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C5CC-BB65-A6C4-44FA-78891826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383790-31FC-BC09-68E5-6E757D90F3EE}"/>
              </a:ext>
            </a:extLst>
          </p:cNvPr>
          <p:cNvSpPr txBox="1"/>
          <p:nvPr/>
        </p:nvSpPr>
        <p:spPr>
          <a:xfrm>
            <a:off x="3810000" y="363553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동기형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적응</a:t>
            </a:r>
            <a:endParaRPr lang="ko-KR" alt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1761E-D13C-7FF2-CEB7-9B7C3AB92CA4}"/>
              </a:ext>
            </a:extLst>
          </p:cNvPr>
          <p:cNvSpPr txBox="1"/>
          <p:nvPr/>
        </p:nvSpPr>
        <p:spPr>
          <a:xfrm>
            <a:off x="3717792" y="31966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동기형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습관</a:t>
            </a:r>
            <a:endParaRPr lang="ko-KR" altLang="en-US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81B8DA-82C8-3610-2B44-0E32BB0998E6}"/>
              </a:ext>
            </a:extLst>
          </p:cNvPr>
          <p:cNvSpPr txBox="1"/>
          <p:nvPr/>
        </p:nvSpPr>
        <p:spPr>
          <a:xfrm>
            <a:off x="1981200" y="939801"/>
            <a:ext cx="8229600" cy="2195473"/>
          </a:xfrm>
          <a:prstGeom prst="rect">
            <a:avLst/>
          </a:prstGeom>
          <a:solidFill>
            <a:srgbClr val="BDF2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inner strength and recovery will.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의지와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내적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힘을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자극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“You’ve shown amazing courage.” / “이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상황을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견뎌낸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용기가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대단해요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of resilience sustains cognitive effort.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인정은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지속성을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강화한다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3D3A7-2F8B-BCA3-022C-779F3DF36A53}"/>
              </a:ext>
            </a:extLst>
          </p:cNvPr>
          <p:cNvSpPr txBox="1"/>
          <p:nvPr/>
        </p:nvSpPr>
        <p:spPr>
          <a:xfrm>
            <a:off x="1981200" y="4342867"/>
            <a:ext cx="8229600" cy="2195473"/>
          </a:xfrm>
          <a:prstGeom prst="rect">
            <a:avLst/>
          </a:prstGeom>
          <a:solidFill>
            <a:srgbClr val="BDF2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emotion into motivation.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행동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에너지로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전환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“What’s one small step today?”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오늘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바로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할 수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있는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한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가지는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Linking emotion to behavior enhances planning.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의미는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실행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의지를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높인다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3365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3467E-507B-95C3-C1C9-0FDD67CB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FB453B-43E3-7F68-01CC-BDC0F0923EF8}"/>
              </a:ext>
            </a:extLst>
          </p:cNvPr>
          <p:cNvSpPr txBox="1"/>
          <p:nvPr/>
        </p:nvSpPr>
        <p:spPr>
          <a:xfrm>
            <a:off x="3519929" y="283687"/>
            <a:ext cx="53519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자기인식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정서조절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95036-418C-3A7D-512E-A265C0571F7E}"/>
              </a:ext>
            </a:extLst>
          </p:cNvPr>
          <p:cNvSpPr txBox="1"/>
          <p:nvPr/>
        </p:nvSpPr>
        <p:spPr>
          <a:xfrm>
            <a:off x="3810000" y="372952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관계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소통</a:t>
            </a:r>
            <a:endParaRPr lang="ko-KR" altLang="en-US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BC49F-6C8E-B8D0-26D0-C26F4D46FEAC}"/>
              </a:ext>
            </a:extLst>
          </p:cNvPr>
          <p:cNvSpPr txBox="1"/>
          <p:nvPr/>
        </p:nvSpPr>
        <p:spPr>
          <a:xfrm>
            <a:off x="1981200" y="1042883"/>
            <a:ext cx="8229600" cy="2195473"/>
          </a:xfrm>
          <a:prstGeom prst="rect">
            <a:avLst/>
          </a:prstGeom>
          <a:solidFill>
            <a:srgbClr val="F2E8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concrete emotional regulation tools.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구체적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조절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기술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제시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“Try 5-4-3-2-1 grounding.”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그라운딩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기법을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시도해보세요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grounding connects emotion and cognition.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신체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감각은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안정감을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준다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EE388-22C3-0AD6-FD45-E1BD6DDA681B}"/>
              </a:ext>
            </a:extLst>
          </p:cNvPr>
          <p:cNvSpPr txBox="1"/>
          <p:nvPr/>
        </p:nvSpPr>
        <p:spPr>
          <a:xfrm>
            <a:off x="1981200" y="4388664"/>
            <a:ext cx="8229600" cy="2195473"/>
          </a:xfrm>
          <a:prstGeom prst="rect">
            <a:avLst/>
          </a:prstGeom>
          <a:solidFill>
            <a:srgbClr val="F2E8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communication techniques.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구체적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기술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훈련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“Use ‘I feel… when…’.” / “‘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나는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…할 때 …한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감정을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느껴’라고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말해보세요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rehearsal enhances control.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행동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연습은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사회적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반응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조절을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향상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216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050FD-7ADD-526B-5C87-FCD0A617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98F62-E909-0474-18DC-E1522C84F67C}"/>
              </a:ext>
            </a:extLst>
          </p:cNvPr>
          <p:cNvSpPr txBox="1"/>
          <p:nvPr/>
        </p:nvSpPr>
        <p:spPr>
          <a:xfrm>
            <a:off x="3810000" y="363553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적응</a:t>
            </a:r>
            <a:endParaRPr lang="ko-KR" alt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10E77-6E80-3F9F-9E5F-CA6DC0F73AC5}"/>
              </a:ext>
            </a:extLst>
          </p:cNvPr>
          <p:cNvSpPr txBox="1"/>
          <p:nvPr/>
        </p:nvSpPr>
        <p:spPr>
          <a:xfrm>
            <a:off x="3717792" y="31966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행동형 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행동</a:t>
            </a:r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습관</a:t>
            </a:r>
            <a:endParaRPr lang="ko-KR" alt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279CB-FE06-32D0-1430-F79C3AD84EEF}"/>
              </a:ext>
            </a:extLst>
          </p:cNvPr>
          <p:cNvSpPr txBox="1"/>
          <p:nvPr/>
        </p:nvSpPr>
        <p:spPr>
          <a:xfrm>
            <a:off x="1981200" y="1026997"/>
            <a:ext cx="8229600" cy="2195473"/>
          </a:xfrm>
          <a:prstGeom prst="rect">
            <a:avLst/>
          </a:prstGeom>
          <a:solidFill>
            <a:srgbClr val="F2E8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structured recovery routines.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회복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루틴을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수립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“Plan a 30-min walk daily.”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매일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30분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걷는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루틴을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만들어볼까요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Routine-based coping builds cognitive stability.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루틴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형성은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안정감을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높인다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92863-E691-9F0D-3191-7CD43EDCCCD2}"/>
              </a:ext>
            </a:extLst>
          </p:cNvPr>
          <p:cNvSpPr txBox="1"/>
          <p:nvPr/>
        </p:nvSpPr>
        <p:spPr>
          <a:xfrm>
            <a:off x="1989667" y="4342867"/>
            <a:ext cx="8229600" cy="2195473"/>
          </a:xfrm>
          <a:prstGeom prst="rect">
            <a:avLst/>
          </a:prstGeom>
          <a:solidFill>
            <a:srgbClr val="F2E8B9"/>
          </a:solidFill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Apply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적용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SMART goals and feedback.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목표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설정과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피드백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Conversation Example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대화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예시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“Set weekly goal.” / “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이번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주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목표를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정해볼까요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  <a:p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Emotional–Cognitive Activation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정서를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통한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인지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활성화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progress integrates motivation and execution.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진행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점검은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실행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기능을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통합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8141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3468A-D839-6A77-9F9E-0604D5D6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488BF6-7B06-1E58-DDF6-C4262C868CBD}"/>
              </a:ext>
            </a:extLst>
          </p:cNvPr>
          <p:cNvGraphicFramePr>
            <a:graphicFrameLocks/>
          </p:cNvGraphicFramePr>
          <p:nvPr/>
        </p:nvGraphicFramePr>
        <p:xfrm>
          <a:off x="2006601" y="718641"/>
          <a:ext cx="8178801" cy="5420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121">
                  <a:extLst>
                    <a:ext uri="{9D8B030D-6E8A-4147-A177-3AD203B41FA5}">
                      <a16:colId xmlns:a16="http://schemas.microsoft.com/office/drawing/2014/main" val="248962220"/>
                    </a:ext>
                  </a:extLst>
                </a:gridCol>
                <a:gridCol w="3706130">
                  <a:extLst>
                    <a:ext uri="{9D8B030D-6E8A-4147-A177-3AD203B41FA5}">
                      <a16:colId xmlns:a16="http://schemas.microsoft.com/office/drawing/2014/main" val="713756198"/>
                    </a:ext>
                  </a:extLst>
                </a:gridCol>
                <a:gridCol w="4235550">
                  <a:extLst>
                    <a:ext uri="{9D8B030D-6E8A-4147-A177-3AD203B41FA5}">
                      <a16:colId xmlns:a16="http://schemas.microsoft.com/office/drawing/2014/main" val="2820567520"/>
                    </a:ext>
                  </a:extLst>
                </a:gridCol>
              </a:tblGrid>
              <a:tr h="1500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KR" sz="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References: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1399994825"/>
                  </a:ext>
                </a:extLst>
              </a:tr>
              <a:tr h="376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Wang, Y.; Zai, F.; Zhou, X. The Impact of Emotion Regulation Strategies on Teachers’ Well‑Being and Positive Emotions: A Meta‑</a:t>
                      </a:r>
                      <a:r>
                        <a:rPr lang="en-US" sz="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Analysis.Behav</a:t>
                      </a: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 Sci. 2025, 15(3), 342. (</a:t>
                      </a: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tooltip="The Impact of Emotion Regulation Strategies on Teachers' Well ..."/>
                        </a:rPr>
                        <a:t>MDPI</a:t>
                      </a: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https://doi.org/10.3390/bs15030342</a:t>
                      </a:r>
                      <a:endParaRPr 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3523097911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Anger and emotion regulation strategies: a meta‑analysis. Sci. Rep. (2025) — focusing on anger &amp; regulation.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Anger and emotion regulation strategies: a meta-analysis - Nature"/>
                        </a:rPr>
                        <a:t>Nature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https://www.nature.com/articles/s41598-025-91646-0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3150005864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regulation skills‑focused interventions for chronic pain: A systematic review and meta‑analysis. Eur. J. Pain 2024 Sep;28(8):1276‑1293.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Emotion regulation skills-focused interventions for chronic pain"/>
                        </a:rPr>
                        <a:t>PubMed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https://pubmed.ncbi.nlm.nih.gov/38558425/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1071648544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regulation and mental health across cultures: A systematic review &amp; meta‑analysis.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Emotion regulation and mental health across cultures: a systematic ..."/>
                        </a:rPr>
                        <a:t>PubMed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https://pubmed.ncbi.nlm.nih.gov/40234629/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1634739105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malleability beliefs matter in emotion regulation: A meta‑analysis.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 tooltip="Emotion malleability beliefs matter in emotion regulation - PubMed"/>
                        </a:rPr>
                        <a:t>PubMed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https://pubmed.ncbi.nlm.nih.gov/38546155/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1274487080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Strategies and goals in Emotion Regulation models: A systematic review &amp; conceptual analysis.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2" tooltip="Strategies and goals in Emotion Regulation models: a systematic ..."/>
                        </a:rPr>
                        <a:t>Frontiers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3"/>
                        </a:rPr>
                        <a:t>https://www.frontiersin.org/articles/10.3389/fpsyg.2024.1425465/full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2129859131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emotional competencies at the workplace: BMC Psychology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4" tooltip="Training emotional competencies at the workplace - BMC Psychology"/>
                        </a:rPr>
                        <a:t>BioMed Central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5"/>
                        </a:rPr>
                        <a:t>https://bmcpsychology.biomedcentral.com/articles/10.1186/s40359-024-02198-3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500100840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Psychosocial interventions on children &amp; youth emotion regulation: meta‑analysis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6" tooltip="Effect of Psychosocial Interventions on Children and Youth Emotion ..."/>
                        </a:rPr>
                        <a:t>SpringerLink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7"/>
                        </a:rPr>
                        <a:t>https://link.springer.com/article/10.1007/s10488-024-01373-3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3779523439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regulation difficulties and disordered eating in adolescents: meta‐analysis (2025)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8" tooltip="Emotion regulation difficulties and disordered eating in adolescents ..."/>
                        </a:rPr>
                        <a:t>BioMed Central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9"/>
                        </a:rPr>
                        <a:t>https://jeatdisord.biomedcentral.com/articles/10.1186/s40337-025-01197-y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1374450063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of behavioural interventions with motivational interviewing on physical activity outcomes in adults: systematic review &amp; meta‑analysis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0" tooltip="Effectiveness of behavioural interventions with motivational ..."/>
                        </a:rPr>
                        <a:t>PubMed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1"/>
                        </a:rPr>
                        <a:t>https://pubmed.ncbi.nlm.nih.gov/38986547/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2667005699"/>
                  </a:ext>
                </a:extLst>
              </a:tr>
              <a:tr h="376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impact of motivational interviewing on behavioural change and health outcomes in cancer patients &amp; survivors: systematic review/meta‑analysis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2" tooltip="The impact of motivational interviewing on behavioural change and ..."/>
                        </a:rPr>
                        <a:t>ScienceDirect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3"/>
                        </a:rPr>
                        <a:t>https://www.sciencedirect.com/science/article/pii/S0378512223000130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346352741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Motivational interviewing intervention for the management of hypertensive patients: meta‑analysis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4" tooltip="Motivational interviewing intervention for the management ... - Frontiers"/>
                        </a:rPr>
                        <a:t>Frontiers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5"/>
                        </a:rPr>
                        <a:t>https://www.frontiersin.org/articles/10.3389/fcvm.2024.1457039/full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4141547489"/>
                  </a:ext>
                </a:extLst>
              </a:tr>
              <a:tr h="1500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health behaviour change by motivation and reward (2023)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6" tooltip="Understanding health behavior change by motivation and reward ..."/>
                        </a:rPr>
                        <a:t>Frontiers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7"/>
                        </a:rPr>
                        <a:t>https://www.frontiersin.org/articles/10.3389/fnbeh.2023.1151918/full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2301593506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effect of motivational interviewing and/or cognitive behavioural therapy: meta‑analysis (2023)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8" tooltip="The effect of motivational interviewing and/or cognitive behaviour ..."/>
                        </a:rPr>
                        <a:t>BioMed Central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9"/>
                        </a:rPr>
                        <a:t>https://bmcpublichealth.biomedcentral.com/articles/10.1186/s12889-023-15446-9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1008207824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mind‑body processes and motivational interviewing in health/well‑being coaching (2025)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0" tooltip="Integrating mind-body processes and motivational interviewing in ..."/>
                        </a:rPr>
                        <a:t>Frontiers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1"/>
                        </a:rPr>
                        <a:t>https://www.frontiersin.org/articles/10.3389/fpsyg.2025.1478525/full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4294008914"/>
                  </a:ext>
                </a:extLst>
              </a:tr>
              <a:tr h="1500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Meta‑analysis of cognitive reappraisal and personal resilience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2" tooltip="A meta-analysis of cognitive reappraisal and personal resilience"/>
                        </a:rPr>
                        <a:t>ScienceDirect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3"/>
                        </a:rPr>
                        <a:t>https://www.sciencedirect.com/science/article/abs/pii/S0272735824000497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843387753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Meta‑analysis of evaluation &amp; intervention studies for emotion regulation in ASD children/adolescents (2024)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4" tooltip="A meta-analysis of evaluation and intervention studies - PubMed"/>
                        </a:rPr>
                        <a:t>PubMed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5"/>
                        </a:rPr>
                        <a:t>https://pubmed.ncbi.nlm.nih.gov/38401510/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1661291665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Adapted motivational interviewing (behaviour change counselling) for brief healthcare consultations (2022/23)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6" tooltip="Adapted motivational interviewing for brief healthcare consultations ..."/>
                        </a:rPr>
                        <a:t>BPS Psych Hub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7"/>
                        </a:rPr>
                        <a:t>https://bpspsychub.onlinelibrary.wiley.com/doi/10.1111/bjhp.12664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2353722462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Intervention fidelity in real-world motivational health behaviour change: meta‑analysis (2023) (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8" tooltip="A systematic review and meta-analysis of treatment fidelity in real ..."/>
                        </a:rPr>
                        <a:t>PubMed</a:t>
                      </a: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9"/>
                        </a:rPr>
                        <a:t>https://pubmed.ncbi.nlm.nih.gov/37144242/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2845523767"/>
                  </a:ext>
                </a:extLst>
              </a:tr>
              <a:tr h="26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KR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the regulation &amp; dysregulation of emotions in children/adolescents: review/analysis (2024) (</a:t>
                      </a: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0" tooltip="On the regulation and dysregulation of emotions in child ..."/>
                        </a:rPr>
                        <a:t>PMC</a:t>
                      </a: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437" marR="9437" marT="4718" marB="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1"/>
                        </a:rPr>
                        <a:t>https://www.ncbi.nlm.nih.gov/pmc/articles/PMC11920608/</a:t>
                      </a:r>
                      <a:endParaRPr 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37" marR="9437" marT="4718" marB="4718" anchor="ctr"/>
                </a:tc>
                <a:extLst>
                  <a:ext uri="{0D108BD9-81ED-4DB2-BD59-A6C34878D82A}">
                    <a16:rowId xmlns:a16="http://schemas.microsoft.com/office/drawing/2014/main" val="2366877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851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1683DD-97ED-E2C4-AE73-DE961AEF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7" y="414683"/>
            <a:ext cx="5461493" cy="302206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5462836-0733-2675-EAD8-077941F53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061" y="324642"/>
            <a:ext cx="5461493" cy="311210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C743FA0-6E01-1AFC-27F5-8CFD25CFC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6" y="3866582"/>
            <a:ext cx="5461494" cy="256333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94292F-C0A0-5E47-A8E0-6E601ED5C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061" y="3718121"/>
            <a:ext cx="5461493" cy="2860257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448439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B457-89CF-90D3-4B65-8D349AE7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AC327C-96FE-6D8E-7D8E-DADA09D4BB7B}"/>
              </a:ext>
            </a:extLst>
          </p:cNvPr>
          <p:cNvSpPr txBox="1"/>
          <p:nvPr/>
        </p:nvSpPr>
        <p:spPr>
          <a:xfrm>
            <a:off x="1496785" y="320456"/>
            <a:ext cx="8904514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   | HF </a:t>
            </a:r>
            <a:r>
              <a:rPr lang="ko-KR" altLang="en-US" sz="2000" b="1" dirty="0"/>
              <a:t>유형 </a:t>
            </a:r>
            <a:r>
              <a:rPr lang="en-US" altLang="ko-KR" sz="2000" b="1" dirty="0"/>
              <a:t>| MBTI</a:t>
            </a:r>
            <a:r>
              <a:rPr lang="ko-KR" altLang="en-US" sz="2000" b="1" dirty="0"/>
              <a:t> 유사타입 후보 </a:t>
            </a:r>
            <a:r>
              <a:rPr lang="en-US" altLang="ko-KR" sz="2000" b="1" dirty="0"/>
              <a:t>|       </a:t>
            </a:r>
            <a:r>
              <a:rPr lang="ko-KR" altLang="en-US" sz="2000" b="1" dirty="0"/>
              <a:t>매칭 핵심 근거       </a:t>
            </a:r>
            <a:r>
              <a:rPr lang="en-US" altLang="ko-KR" sz="2000" b="1" dirty="0"/>
              <a:t>|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| </a:t>
            </a:r>
            <a:r>
              <a:rPr lang="ko-KR" altLang="en-US" b="1" dirty="0"/>
              <a:t>공감 </a:t>
            </a:r>
            <a:r>
              <a:rPr lang="en-US" altLang="ko-KR" b="1" dirty="0"/>
              <a:t>× </a:t>
            </a:r>
            <a:r>
              <a:rPr lang="ko-KR" altLang="en-US" b="1" dirty="0"/>
              <a:t>자기인식</a:t>
            </a:r>
            <a:r>
              <a:rPr lang="ko-KR" altLang="en-US" dirty="0"/>
              <a:t> </a:t>
            </a:r>
            <a:r>
              <a:rPr lang="en-US" altLang="ko-KR" dirty="0"/>
              <a:t>| INFP, ISFP, INFJ | </a:t>
            </a:r>
            <a:r>
              <a:rPr lang="ko-KR" altLang="en-US" dirty="0"/>
              <a:t>자기 사고 구조화</a:t>
            </a:r>
            <a:r>
              <a:rPr lang="en-US" altLang="ko-KR" dirty="0"/>
              <a:t>, </a:t>
            </a:r>
            <a:r>
              <a:rPr lang="ko-KR" altLang="en-US" dirty="0"/>
              <a:t>성찰적 분석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공감 </a:t>
            </a:r>
            <a:r>
              <a:rPr lang="en-US" altLang="ko-KR" b="1" dirty="0"/>
              <a:t>× </a:t>
            </a:r>
            <a:r>
              <a:rPr lang="ko-KR" altLang="en-US" b="1" dirty="0"/>
              <a:t>관계소통</a:t>
            </a:r>
            <a:r>
              <a:rPr lang="ko-KR" altLang="en-US" dirty="0"/>
              <a:t> </a:t>
            </a:r>
            <a:r>
              <a:rPr lang="en-US" altLang="ko-KR" dirty="0"/>
              <a:t>| ENFP, ESFJ, ENFJ | </a:t>
            </a:r>
            <a:r>
              <a:rPr lang="ko-KR" altLang="en-US" dirty="0"/>
              <a:t>관계 패턴 분석</a:t>
            </a:r>
            <a:r>
              <a:rPr lang="en-US" altLang="ko-KR" dirty="0"/>
              <a:t>, </a:t>
            </a:r>
            <a:r>
              <a:rPr lang="ko-KR" altLang="en-US" dirty="0"/>
              <a:t>소통 전략 탐구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공감 </a:t>
            </a:r>
            <a:r>
              <a:rPr lang="en-US" altLang="ko-KR" b="1" dirty="0"/>
              <a:t>× </a:t>
            </a:r>
            <a:r>
              <a:rPr lang="ko-KR" altLang="en-US" b="1" dirty="0"/>
              <a:t>회복적응</a:t>
            </a:r>
            <a:r>
              <a:rPr lang="ko-KR" altLang="en-US" dirty="0"/>
              <a:t> </a:t>
            </a:r>
            <a:r>
              <a:rPr lang="en-US" altLang="ko-KR" dirty="0"/>
              <a:t>| ENFJ, INFJ, ISFJ | </a:t>
            </a:r>
            <a:r>
              <a:rPr lang="ko-KR" altLang="en-US" dirty="0"/>
              <a:t>문제 해결 중심 회복 전략 개발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공감 </a:t>
            </a:r>
            <a:r>
              <a:rPr lang="en-US" altLang="ko-KR" b="1" dirty="0"/>
              <a:t>× </a:t>
            </a:r>
            <a:r>
              <a:rPr lang="ko-KR" altLang="en-US" b="1" dirty="0"/>
              <a:t>행동습관</a:t>
            </a:r>
            <a:r>
              <a:rPr lang="ko-KR" altLang="en-US" dirty="0"/>
              <a:t> </a:t>
            </a:r>
            <a:r>
              <a:rPr lang="en-US" altLang="ko-KR" dirty="0"/>
              <a:t>| ESFJ, ISFJ, ENFJ | </a:t>
            </a:r>
            <a:r>
              <a:rPr lang="ko-KR" altLang="en-US" dirty="0"/>
              <a:t>루틴</a:t>
            </a:r>
            <a:r>
              <a:rPr lang="en-US" altLang="ko-KR" dirty="0"/>
              <a:t>·</a:t>
            </a:r>
            <a:r>
              <a:rPr lang="ko-KR" altLang="en-US" dirty="0"/>
              <a:t>습관을 논리적으로 구조화 및 개선 </a:t>
            </a:r>
            <a:r>
              <a:rPr lang="en-US" altLang="ko-KR" dirty="0"/>
              <a:t>|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| </a:t>
            </a:r>
            <a:r>
              <a:rPr lang="ko-KR" altLang="en-US" b="1" dirty="0"/>
              <a:t>인지 </a:t>
            </a:r>
            <a:r>
              <a:rPr lang="en-US" altLang="ko-KR" b="1" dirty="0"/>
              <a:t>× </a:t>
            </a:r>
            <a:r>
              <a:rPr lang="ko-KR" altLang="en-US" b="1" dirty="0"/>
              <a:t>자기인식</a:t>
            </a:r>
            <a:r>
              <a:rPr lang="ko-KR" altLang="en-US" dirty="0"/>
              <a:t> </a:t>
            </a:r>
            <a:r>
              <a:rPr lang="en-US" altLang="ko-KR" dirty="0"/>
              <a:t>| INTJ, INTP, INFJ | </a:t>
            </a:r>
            <a:r>
              <a:rPr lang="ko-KR" altLang="en-US" dirty="0"/>
              <a:t>자기 사고 구조화</a:t>
            </a:r>
            <a:r>
              <a:rPr lang="en-US" altLang="ko-KR" dirty="0"/>
              <a:t>, </a:t>
            </a:r>
            <a:r>
              <a:rPr lang="ko-KR" altLang="en-US" dirty="0"/>
              <a:t>성찰적 분석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인지 </a:t>
            </a:r>
            <a:r>
              <a:rPr lang="en-US" altLang="ko-KR" b="1" dirty="0"/>
              <a:t>× </a:t>
            </a:r>
            <a:r>
              <a:rPr lang="ko-KR" altLang="en-US" b="1" dirty="0"/>
              <a:t>관계소통</a:t>
            </a:r>
            <a:r>
              <a:rPr lang="ko-KR" altLang="en-US" dirty="0"/>
              <a:t> </a:t>
            </a:r>
            <a:r>
              <a:rPr lang="en-US" altLang="ko-KR" dirty="0"/>
              <a:t>| ENTP, INTP, ENFP | </a:t>
            </a:r>
            <a:r>
              <a:rPr lang="ko-KR" altLang="en-US" dirty="0"/>
              <a:t>관계 패턴 분석</a:t>
            </a:r>
            <a:r>
              <a:rPr lang="en-US" altLang="ko-KR" dirty="0"/>
              <a:t>, </a:t>
            </a:r>
            <a:r>
              <a:rPr lang="ko-KR" altLang="en-US" dirty="0"/>
              <a:t>소통 전략 탐구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인지 </a:t>
            </a:r>
            <a:r>
              <a:rPr lang="en-US" altLang="ko-KR" b="1" dirty="0"/>
              <a:t>× </a:t>
            </a:r>
            <a:r>
              <a:rPr lang="ko-KR" altLang="en-US" b="1" dirty="0"/>
              <a:t>회복적응</a:t>
            </a:r>
            <a:r>
              <a:rPr lang="ko-KR" altLang="en-US" dirty="0"/>
              <a:t> </a:t>
            </a:r>
            <a:r>
              <a:rPr lang="en-US" altLang="ko-KR" dirty="0"/>
              <a:t>| INTJ, INTP, ENTP | </a:t>
            </a:r>
            <a:r>
              <a:rPr lang="ko-KR" altLang="en-US" dirty="0"/>
              <a:t>문제 해결 중심 회복 전략 개발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인지 </a:t>
            </a:r>
            <a:r>
              <a:rPr lang="en-US" altLang="ko-KR" b="1" dirty="0"/>
              <a:t>× </a:t>
            </a:r>
            <a:r>
              <a:rPr lang="ko-KR" altLang="en-US" b="1" dirty="0"/>
              <a:t>행동습관</a:t>
            </a:r>
            <a:r>
              <a:rPr lang="ko-KR" altLang="en-US" dirty="0"/>
              <a:t> </a:t>
            </a:r>
            <a:r>
              <a:rPr lang="en-US" altLang="ko-KR" dirty="0"/>
              <a:t>| ISTJ, INTJ, ESTJ | </a:t>
            </a:r>
            <a:r>
              <a:rPr lang="ko-KR" altLang="en-US" dirty="0"/>
              <a:t>루틴</a:t>
            </a:r>
            <a:r>
              <a:rPr lang="en-US" altLang="ko-KR" dirty="0"/>
              <a:t>·</a:t>
            </a:r>
            <a:r>
              <a:rPr lang="ko-KR" altLang="en-US" dirty="0"/>
              <a:t>습관을 논리적으로 구조화 및 개선 </a:t>
            </a:r>
            <a:r>
              <a:rPr lang="en-US" altLang="ko-KR" dirty="0"/>
              <a:t>|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| </a:t>
            </a:r>
            <a:r>
              <a:rPr lang="ko-KR" altLang="en-US" b="1" dirty="0"/>
              <a:t>동기 </a:t>
            </a:r>
            <a:r>
              <a:rPr lang="en-US" altLang="ko-KR" b="1" dirty="0"/>
              <a:t>× </a:t>
            </a:r>
            <a:r>
              <a:rPr lang="ko-KR" altLang="en-US" b="1" dirty="0"/>
              <a:t>자기인식</a:t>
            </a:r>
            <a:r>
              <a:rPr lang="ko-KR" altLang="en-US" dirty="0"/>
              <a:t> </a:t>
            </a:r>
            <a:r>
              <a:rPr lang="en-US" altLang="ko-KR" dirty="0"/>
              <a:t>| ENFP, INFP, ENFJ | </a:t>
            </a:r>
            <a:r>
              <a:rPr lang="ko-KR" altLang="en-US" dirty="0"/>
              <a:t>개인의 가치</a:t>
            </a:r>
            <a:r>
              <a:rPr lang="en-US" altLang="ko-KR" dirty="0"/>
              <a:t>·</a:t>
            </a:r>
            <a:r>
              <a:rPr lang="ko-KR" altLang="en-US" dirty="0"/>
              <a:t>의미 기반 동기 자극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동기 </a:t>
            </a:r>
            <a:r>
              <a:rPr lang="en-US" altLang="ko-KR" b="1" dirty="0"/>
              <a:t>× </a:t>
            </a:r>
            <a:r>
              <a:rPr lang="ko-KR" altLang="en-US" b="1" dirty="0"/>
              <a:t>관계소통</a:t>
            </a:r>
            <a:r>
              <a:rPr lang="ko-KR" altLang="en-US" dirty="0"/>
              <a:t> </a:t>
            </a:r>
            <a:r>
              <a:rPr lang="en-US" altLang="ko-KR" dirty="0"/>
              <a:t>| ENFJ, ENFP, ESFJ | </a:t>
            </a:r>
            <a:r>
              <a:rPr lang="ko-KR" altLang="en-US" dirty="0"/>
              <a:t>관계의 의미를 통해 내적 동기 강화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동기 </a:t>
            </a:r>
            <a:r>
              <a:rPr lang="en-US" altLang="ko-KR" b="1" dirty="0"/>
              <a:t>× </a:t>
            </a:r>
            <a:r>
              <a:rPr lang="ko-KR" altLang="en-US" b="1" dirty="0"/>
              <a:t>회복적응</a:t>
            </a:r>
            <a:r>
              <a:rPr lang="ko-KR" altLang="en-US" dirty="0"/>
              <a:t> </a:t>
            </a:r>
            <a:r>
              <a:rPr lang="en-US" altLang="ko-KR" dirty="0"/>
              <a:t>| ENFP, ENFJ, ENTP | </a:t>
            </a:r>
            <a:r>
              <a:rPr lang="ko-KR" altLang="en-US" dirty="0"/>
              <a:t>재해석</a:t>
            </a:r>
            <a:r>
              <a:rPr lang="en-US" altLang="ko-KR" dirty="0"/>
              <a:t>·</a:t>
            </a:r>
            <a:r>
              <a:rPr lang="ko-KR" altLang="en-US" dirty="0"/>
              <a:t>성장 촉진</a:t>
            </a:r>
            <a:r>
              <a:rPr lang="en-US" altLang="ko-KR" dirty="0"/>
              <a:t>, </a:t>
            </a:r>
            <a:r>
              <a:rPr lang="ko-KR" altLang="en-US" dirty="0"/>
              <a:t>변화 및 도전 의욕 고취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동기 </a:t>
            </a:r>
            <a:r>
              <a:rPr lang="en-US" altLang="ko-KR" b="1" dirty="0"/>
              <a:t>× </a:t>
            </a:r>
            <a:r>
              <a:rPr lang="ko-KR" altLang="en-US" b="1" dirty="0"/>
              <a:t>행동습관</a:t>
            </a:r>
            <a:r>
              <a:rPr lang="ko-KR" altLang="en-US" dirty="0"/>
              <a:t> </a:t>
            </a:r>
            <a:r>
              <a:rPr lang="en-US" altLang="ko-KR" dirty="0"/>
              <a:t>| ENTJ, ENFJ, ESTJ | </a:t>
            </a:r>
            <a:r>
              <a:rPr lang="ko-KR" altLang="en-US" dirty="0"/>
              <a:t>목표 설정</a:t>
            </a:r>
            <a:r>
              <a:rPr lang="en-US" altLang="ko-KR" dirty="0"/>
              <a:t>–</a:t>
            </a:r>
            <a:r>
              <a:rPr lang="ko-KR" altLang="en-US" dirty="0"/>
              <a:t>실행으로 동기 전환 및 행동 촉진 </a:t>
            </a:r>
            <a:r>
              <a:rPr lang="en-US" altLang="ko-KR" dirty="0"/>
              <a:t>|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| </a:t>
            </a:r>
            <a:r>
              <a:rPr lang="ko-KR" altLang="en-US" b="1" dirty="0"/>
              <a:t>행동 </a:t>
            </a:r>
            <a:r>
              <a:rPr lang="en-US" altLang="ko-KR" b="1" dirty="0"/>
              <a:t>× </a:t>
            </a:r>
            <a:r>
              <a:rPr lang="ko-KR" altLang="en-US" b="1" dirty="0"/>
              <a:t>자기인식</a:t>
            </a:r>
            <a:r>
              <a:rPr lang="ko-KR" altLang="en-US" dirty="0"/>
              <a:t> </a:t>
            </a:r>
            <a:r>
              <a:rPr lang="en-US" altLang="ko-KR" dirty="0"/>
              <a:t>| ISFJ, ISTJ, ISFP | </a:t>
            </a:r>
            <a:r>
              <a:rPr lang="ko-KR" altLang="en-US" dirty="0"/>
              <a:t>조용한 실천형 자기 조정</a:t>
            </a:r>
            <a:r>
              <a:rPr lang="en-US" altLang="ko-KR" dirty="0"/>
              <a:t>, </a:t>
            </a:r>
            <a:r>
              <a:rPr lang="ko-KR" altLang="en-US" dirty="0"/>
              <a:t>현실 기반 개선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행동 </a:t>
            </a:r>
            <a:r>
              <a:rPr lang="en-US" altLang="ko-KR" b="1" dirty="0"/>
              <a:t>× </a:t>
            </a:r>
            <a:r>
              <a:rPr lang="ko-KR" altLang="en-US" b="1" dirty="0"/>
              <a:t>관계소통</a:t>
            </a:r>
            <a:r>
              <a:rPr lang="ko-KR" altLang="en-US" dirty="0"/>
              <a:t> </a:t>
            </a:r>
            <a:r>
              <a:rPr lang="en-US" altLang="ko-KR" dirty="0"/>
              <a:t>| ESFJ, ESTJ, ESFP | </a:t>
            </a:r>
            <a:r>
              <a:rPr lang="ko-KR" altLang="en-US" dirty="0"/>
              <a:t>실용적 조언 및 관계 속 실천</a:t>
            </a:r>
            <a:r>
              <a:rPr lang="en-US" altLang="ko-KR" dirty="0"/>
              <a:t>, </a:t>
            </a:r>
            <a:r>
              <a:rPr lang="ko-KR" altLang="en-US" dirty="0" err="1"/>
              <a:t>돌봄형</a:t>
            </a:r>
            <a:r>
              <a:rPr lang="ko-KR" altLang="en-US" dirty="0"/>
              <a:t> 행동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행동 </a:t>
            </a:r>
            <a:r>
              <a:rPr lang="en-US" altLang="ko-KR" b="1" dirty="0"/>
              <a:t>× </a:t>
            </a:r>
            <a:r>
              <a:rPr lang="ko-KR" altLang="en-US" b="1" dirty="0"/>
              <a:t>회복적응</a:t>
            </a:r>
            <a:r>
              <a:rPr lang="ko-KR" altLang="en-US" dirty="0"/>
              <a:t> </a:t>
            </a:r>
            <a:r>
              <a:rPr lang="en-US" altLang="ko-KR" dirty="0"/>
              <a:t>| ISTJ, ISFJ, ESTJ | </a:t>
            </a:r>
            <a:r>
              <a:rPr lang="ko-KR" altLang="en-US" dirty="0"/>
              <a:t>구조</a:t>
            </a:r>
            <a:r>
              <a:rPr lang="en-US" altLang="ko-KR" dirty="0"/>
              <a:t>·</a:t>
            </a:r>
            <a:r>
              <a:rPr lang="ko-KR" altLang="en-US" dirty="0"/>
              <a:t>규칙</a:t>
            </a:r>
            <a:r>
              <a:rPr lang="en-US" altLang="ko-KR" dirty="0"/>
              <a:t>·</a:t>
            </a:r>
            <a:r>
              <a:rPr lang="ko-KR" altLang="en-US" dirty="0"/>
              <a:t>실천으로 위기 극복 및 안정 회복 </a:t>
            </a:r>
            <a:r>
              <a:rPr lang="en-US" altLang="ko-KR" dirty="0"/>
              <a:t>|</a:t>
            </a:r>
            <a:br>
              <a:rPr lang="en-US" altLang="ko-KR" dirty="0"/>
            </a:br>
            <a:r>
              <a:rPr lang="en-US" altLang="ko-KR" dirty="0"/>
              <a:t>| </a:t>
            </a:r>
            <a:r>
              <a:rPr lang="ko-KR" altLang="en-US" b="1" dirty="0"/>
              <a:t>행동 </a:t>
            </a:r>
            <a:r>
              <a:rPr lang="en-US" altLang="ko-KR" b="1" dirty="0"/>
              <a:t>× </a:t>
            </a:r>
            <a:r>
              <a:rPr lang="ko-KR" altLang="en-US" b="1" dirty="0"/>
              <a:t>행동습관</a:t>
            </a:r>
            <a:r>
              <a:rPr lang="ko-KR" altLang="en-US" dirty="0"/>
              <a:t> </a:t>
            </a:r>
            <a:r>
              <a:rPr lang="en-US" altLang="ko-KR" dirty="0"/>
              <a:t>| ESTJ, ISTJ, ESFJ | </a:t>
            </a:r>
            <a:r>
              <a:rPr lang="ko-KR" altLang="en-US" dirty="0"/>
              <a:t>루틴과 계획 기반 습관 형성</a:t>
            </a:r>
            <a:r>
              <a:rPr lang="en-US" altLang="ko-KR" dirty="0"/>
              <a:t>, </a:t>
            </a:r>
            <a:r>
              <a:rPr lang="ko-KR" altLang="en-US" dirty="0"/>
              <a:t>실행력 중심 </a:t>
            </a:r>
            <a:r>
              <a:rPr lang="en-US" altLang="ko-KR" dirty="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98154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2265</TotalTime>
  <Words>6689</Words>
  <Application>Microsoft Office PowerPoint</Application>
  <PresentationFormat>와이드스크린</PresentationFormat>
  <Paragraphs>1160</Paragraphs>
  <Slides>31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공감형 × 자기인식·정서조절</vt:lpstr>
      <vt:lpstr>공감형 × 회복·적응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재은 이</dc:creator>
  <cp:lastModifiedBy>재은 이</cp:lastModifiedBy>
  <cp:revision>4</cp:revision>
  <dcterms:created xsi:type="dcterms:W3CDTF">2025-11-08T15:40:42Z</dcterms:created>
  <dcterms:modified xsi:type="dcterms:W3CDTF">2025-11-11T02:20:05Z</dcterms:modified>
</cp:coreProperties>
</file>